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1 of 2] THE CONTRADICTION
60-min: keep, ~90 seconds for both cold open slides
FIRST THING THE ROOM SEES. No title slide yet. No introduction. Say nothing
for a beat, then read it out flatly:
"The file says one hundred and twenty. The app says ten."
Then STOP TALKING. Count to ten in your head. Let it be uncomfortable.
Do NOT explain it. Do NOT say "who can tell me why". Do not take a guess from
the floor. The only line you say is:
"We'll come back to this."
Then advance.
WHY OPEN HERE: "why externalize configuration" and "how do we load it" are
both expository. Two explanatory beats back to back is a flat first ten
minutes. A small mystery buys attention for the parts that are genuinely just
exposition - and it gets paid off properly at GetDebugView.
This slide and the next are lifted from d01 in the repo. Everything on screen
today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2 of 2] THE DUMP, UNEXPLAINED
60-min: keep
The same dump that comes back later - but with NO gold marker and NO
explanation. They cannot read it yet and that is the point.
Give it five seconds. Say:
"This is the app telling us exactly what happened. By the time we come back to
this slide, you'll be able to read it."
Then advance to the title and introduce yourself.
NOTE THE DEVICE: this image appears twice in the deck. Here it is unmarked and
unexplained. At the payoff slide it is the same dump with a gold marker on the
line that resolves the mystery. Do not mark it here and do not walk it.
If someone shouts out the answer - and occasionally someone does - say "yes,
and in twenty minutes everyone will know why" and move on. Do not let it turn
into a conversation; the whole device depends on the room sitting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BEFORE THIS SLIDE IS ON SCREEN ===
[0-04 min] COLD OPEN - S1.0
Snippet: the d01 output, captured
60-min: keep, 3 min
Black screen. No title slide yet. No setup, no explanation.
DO:
- The file says 120. The app says 10. Both on screen, neither explained.
- The GetDebugView() dump on screen shows an unexpected provider won.
- Let the room sit with it. Fifteen full seconds. Count them.
- Say only: "We'll come back to this." Move on.
WHY THIS OPENING:
"Why externalize configuration" and "how do we load it" are both expository.
Two explanatory beats back to back is a flat first ten minutes. A small mystery
buys attention for the parts that are genuinely just exposition. S2 pays it off.
DO NOT take questions here. It only works while it stays unexplained.
=== THEN BRING UP THIS SLIDE ===
[title card]
60-min: keep
Now introduce yourself - briefly. The mystery from the cold open is already
running, so don't stall here.
- Kevin Griffin, software consultant, Microsoft MVP.
- Repo QR goes here AND on the thanks slide. People photograph the first one.
Frame the next 90 minutes in one line:
"Every app has configuration. Almost nobody revisits it. Today we find out what
it actually does, where it cuts you, and what holds up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60-min: keep, but 30 seconds MAX
Keep this SHORT. Credibility, then move - the room came for configuration, not
for a resume, and the cold open is still unresolved.
The one line that actually matters:
"Everything in this talk is something I got wrong in production first."
That's the license to be opinionated for the next 85 minutes. It also sets up
S6.6 (flag debt) and S4.6 (the idle-app refresh surprise) as scars rather than
trivia.
Do NOT list every technology you've touched. If they want the resume it's on
the site, and the site is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60-min: keep - it's the map, and at 60 minutes the map does more work
Five beats. Read them fast; it's a map, not a stop. Twenty seconds.
  01  How the provider chain really resolves        (S2, S3)
  02  Local dev -&gt; deployment -&gt; shared             (S1.4 spine, S4)
  03  Binding, options, and failing fast            (S5)
  04  Feature flags and flag debt                   (S6)
  05  Choosing a strategy, and where to stop        (S7)
Point at 02 and say "that's the spine - everything hangs off it."
Point at 04 and say "this is about a quarter of the talk, and it's the half
people don't expect."
Then get off this slide. The cold open is STILL unexplained and that tension is
doing work for you until S2.1.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[04-10 min] WHY - S1.1
60-min: compress to 4 min - trust and ownership get one line each
Five answers. First three obvious, last two are why this talk exists in 2026.
1. NO HARD-CODING - a value baked into an assembly changes only by editing code,
   rebuilding, retesting, redeploying. Value and logic have completely different
   rates of change. They shouldn't share a lifecycle.
2. VALUES THAT VARY BY ENVIRONMENT - same binary, local DB / staging API / prod
   endpoint. If the CODE differs per environment, you aren't testing what you ship.
3. CHANGING A VALUE ON THE FLY - timeout, log level, toggle. No deploy window,
   no dropped traffic.
4. TRUST - a credential compiled into an assembly ships everywhere that assembly
   ships: every laptop, build artifact, container layer, decompiler. This is not
   about rate of change, it's about BLAST RADIUS. Arguably reason #1 today.
5. OWNERSHIP - the person who needs to change the value often can't compile the
   code. Configuration is the seam between dev and ops. An SRE raising a timeout
   at 3am shouldn't need your build pipeline, your PR review, or you.
THE PIVOT: reasons 1-2 were solved by web.config twenty years ago.
Reasons 3, 4, 5 are why we're here - and they're the three that COST something.
A value outside the binary can be missing, malformed, stale, or arriving from a
source you forgot about. The rest of the talk is about paying that cost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 min] COLD OPEN PART TWO - S1.2
60-min: fold into the Why block - drop the storytelling, keep the through-line
Three eras. Score each against the five reasons.
1. CONSTANTS AND #if DEBUG
   Hardcoded values, commented-out blocks, a pre-commit ritual.
   Simple and dangerous - failure mode was shipping the wrong uncommented line.
   Fails #1 outright. Fails #4 catastrophically.
2. web.config / app.config + ConfigurationManager.AppSettings
   XML, static, one string-keyed bag. No reload, no layering, framework-only.
   Transforms (Web.Release.config) ran at BUILD time.
   Wins #1 and #2 - but you built one artifact per environment, and #3 was impossible.
3. THE .NET GENERIC HOST (2018, .NET Core 2.1) + IConfiguration
   Provider chain, layering, binding, DI, reload - and the SAME model for a web
   app, a worker, a console tool, and a WinForms app.
   One artifact, many environments. All five reasons, finally.
THE THROUGH-LINE - say this out loud, it comes back twice:
"We traded a build-time decision for a runtime one."
Everything hard about modern configuration comes from that trade.
S6.8 shows feature flags making the same trade one level up.
ON SCREEN: three snippets, one per era, dated. No prose. Walk them in order
and score each against the five reasons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 min] THE TRADE - S1.2 through-line
60-min: keep - it costs 15 seconds and it earns the S6.8 callback
Headline only. Say it, let it sit, move on.
Everything hard about modern configuration comes from this trade. You are no
longer deciding at compile time what the app will do - you are deciding at
startup, or at runtime, or in a portal while the app is serving traffic.
That's the whole reason the rest of the talk has failure modes at all. A
constant can't be missing, malformed, stale, or arriving from a provider you
forgot about. A runtime value can be all four.
COMES BACK TWICE:
- S4.6, when App Configuration moves the decision later still.
- S6.8, when feature flags make the same trade one level up: deploys to flags.
  Point at this slide from there. "Same trade, one level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 min] THESIS - S1.3
60-min: keep - this is the organizing claim
State it plainly:
"If a value could ever differ between two environments, two deployments, or two
moments in time, it belongs in configuration. If a behavior could ever need to
change without a deploy, it belongs behind a feature flag."
The bar is COULD EVER, not DOES TODAY. Moving a value into configuration later is
a code change under time pressure. Putting it there now costs one line. Same
argument for flags: adding one before you ship is cheap; adding one during an
incident is not.
HANDLE TWO OBJECTIONS OUT LOUD - both are fair:
- "Then everything is configurable and nothing is knowable."
  True if you stop at externalizing. That's why S5 binding + ValidateOnStart
  exist. A configurable value that's validated at startup is MORE knowable than
  a constant buried in code - it's declared, typed, and checked in one place.
- "That's a lot of flags."
  Yes, and every one is debt. S6.6 is the discipline that makes this position
  survivable rather than reckless.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 min] THE SPINE - S1.4
60-min: keep, 2 min - at 60 this slide does the organizing work nothing else can
Three stages, increasing in both capability and operational cost.
"Shared" not "scale" on purpose - stage three is about configuration that
outlives or spans a single deployment unit. Scale is one reason you get there,
not the definition.
LOCAL DEV - a developer clones the repo and it runs; secrets never touch git.
  appsettings.json, appsettings.Development.json, user secrets, launchSettings.json
DEPLOYMENT - one artifact, many environments; the platform supplies the values.
  env vars, command line, key-per-file mounts, Key Vault
SHARED - many apps and instances; values that change without a deploy.
  Azure App Configuration - labels, refresh, sentinel keys, feature flags
EACH STAGE IS INTRODUCED BY THE FAILURE THAT FORCES YOU TO THE NEXT ONE.
This is what gives the spine motion instead of making it a list:
  Local dev   -&gt; "works on my machine"       (launchSettings overriding your env
                                             var; secrets on one laptop)
  Deployment  -&gt; "the value didn't make it"  (a provider you forgot was winning;
                                             wrong key shape; secret cached)
  Shared      -&gt; "it changed, but not everywhere at once" (stale caches,
                                             half-applied edits, idle instance)
TWO THINGS TO SAY WITH THIS UP:
- The stages are CUMULATIVE, not alternatives. A stage-three app still has
  appsettings.json for defaults and still takes per-instance values from env vars.
  You add layers; you don't replace them.
- KNOW WHERE TO STOP. Stage three earns its complexity when more than one app
  shares values, or something genuinely must change without a deploy. S7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[motif slide] FOUR FAILURE MODES - S1.5
60-min: keep - it's 30 seconds and it pays off all talk
Not a section. A label to hang on things as they come up. Whatever stage you're
in, almost every configuration bug is one of four things:
1. ORDER    - a provider you forgot about is winning.
2. SHAPE    - the key you set doesn't produce the key the binder looks for.
3. LIFETIME - you cached a value that was supposed to change, or didn't cache
              one that wasn't.
4. TRUST    - a secret is sitting in a file that ships with the app.
NAME THEM OUT LOUD AS THEY COME UP:
  order on Same key. Four winners.    shape on Environment variables
  lifetime on the three interfaces    trust on User secrets
By the anti-patterns slide the audience should be calling them before you do.
That's the win condition for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1] THE SHARED BASELINE
60-min: keep, 30 seconds
FIRST BOUNDARY. Everything from here to the end is one application moving:
the baseline everyone shares -&gt; my machine -&gt; a shared dev server -&gt; production.
The baseline is the part everyone agrees on. It is checked in, it is reviewed,
and it travels with the artifact. Nothing here is secret and nothing here is
machine-specific - those come next, and they OVERRIDE this rather than replace it.
THE QUESTION THIS ACT ANSWERS:
  "Who owns this value, and what does everyone get by default?"
Weather:TimeoutSeconds is the value to follow. It starts at 30 here and it will
cross every boundary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MODEL - S2
60-min: keep, 5 min
Configuration is not "the appsettings.json file." It is an ordered chain of
key/value providers collapsed into ONE flat, case-insensitive dictionary of
strings, plus a binder that projects slices of it onto typed objects.
- Flat IDictionary&lt;string, string?&gt; with ':' as the hierarchy delimiter.
  {"Db": {"Timeout": 30}} is the single key Db:Timeout with the STRING "30".
- KEYS ARE CASE-INSENSITIVE. DB:TIMEOUT == db:timeout.
- VALUES ARE ALWAYS STRINGS. Every int, bool, TimeSpan, Uri is a binder conversion.
- LAST PROVIDER WINS. Add() appends; reads walk the list in reverse, first hit wins.
- ARRAY ELEMENTS ARE KEYS TOO: Servers:0:Host, Servers:1:Host.
- A duplicate key INSIDE one file provider throws FormatException.
  A duplicate key ACROSS providers is the whole point of the system.
Show that these are all the same read:
  config["Db:Timeout"]
  config.GetSection("Db")["Timeout"]
  config.GetSection("Db").GetValue&lt;int&gt;("Timeout")
  config.GetValue&lt;int&gt;("Db:Timeout", defaultValue: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EVERYTHING IS A STRING - S2
60-min: keep - it's 20 seconds and it justifies the whole options block
Headline only.
Every int, every bool, every TimeSpan, every Uri you ever read out of
configuration is a BINDER CONVERSION that happened on your behalf. The
dictionary holds strings. Only strings. Always strings.
WHY THIS MATTERS ENOUGH FOR ITS OWN SLIDE:
This is the fact that makes S5 necessary rather than merely tidy. If every
value is a string, then every value can be the WRONG string - malformed,
empty, or a word where you wanted a number - and nothing in the configuration
system will tell you. Binding plus validation is where the type system
re-enters the story.
It is also why "30" and 30 are the same thing here, why a trailing space in an
environment variable ruins your day, and why an empty string is not null - at
least, it wasn't until .NET 10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[S4.1] THE ARRAY SURPRISE
Snippet: lifted from d03
60-min: FIRST THING TO CUT if you are running long - it is a gasp, not a
load-bearing idea
The reliable audible reaction of the talk. Set it up as a question:
"The base file has three hosts. The Development file has one. How many hosts
does the app see?"
Let them answer ONE. Then show three.
WHY: the environment file merges key by key, and array elements ARE keys.
There is no array in the dictionary - there is Hosts:0, Hosts:1, Hosts:2. The
override only writes Hosts:0. Nothing deletes Hosts:1 and Hosts:2, so they
survive. Point at the right-hand panel and say exactly that.
Call back to the flat dictionary slide. This is that slide's consequence, and
it is the moment people realise the mental model actually predicts behaviour
rather than just describing it.
WHAT TO DO INSTEAD - say it, because someone is about to go fix this today:
- Prefer an object keyed by name over a positional array.
- Or replace the whole section deliberately rather than relying on the overlay.
- Anti-pattern #10 is exactly this assumption in appsettings.Production.json.
This is the slide people quote back to you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STAGE 1 - LOCAL DEV
60-min: compress to 4 min
THE PROBLEM THIS STAGE SOLVES:
A developer clones the repo and it runs. Secrets never touch git.
Sources: appsettings.json, appsettings.Development.json, user secrets,
launchSettings.json
Close the block on its signature failure - "works on my machine" - which is what
pushes you to stage two.
ON SCREEN: the four sources and what each one yields, so the room can follow
the terminal without squinting. The last row is gold because it is the winner.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JSON FILES - S4.1
60-min: keep, brief
appsettings.json - safe defaults, COMMITTED.
appsettings.Development.json - overrides only, COMMITTED.
ApiKey in the base file is a PLACEHOLDER (empty string), never a real value.
POINTS:
- The environment file merges over the base file KEY BY KEY. Not a replacement.
  (The array consequence is the next slide.)
- EnvironmentName is arbitrary. Development / Staging / Production are just the
  framework's well-known values.
- Build Action = Content, Copy = PreserveNewest - or the file isn't next to the
  DLL at runtime. This one bites people in published output, not in F5.
IF SOMEONE ASKS about taking full control:
  builder.Configuration.Sources.Clear();
  then AddJsonFile / AddEnvironmentVariables / AddCommandLine explicitly.
Mention it exists; don't dwell. Most apps shouldn't.
RULE OF THUMB TO STATE HERE (S7.3 #2):
appsettings.json should be safe to publish. If leaking it would matter, something
is in the wrong bucket.
ON SCREEN: three panels. Base, the environment overlay, and what the app
actually sees. Gold marks the values the environment file supplied.
THE ROW THAT TEACHES IT is TimeoutSeconds. The Development file says nothing
about it, so 30 SURVIVES from the base file. That is what "merges key by key"
means, and it is why this is not a file swap.
HOUSEKEEPING - say these, do not slide them:
- EnvironmentName is ARBITRARY. Development / Staging / Production are just the
  framework's well-known values. appsettings.QA-East.json works fine if
  ASPNETCORE_ENVIRONMENT=QA-East. People think the three names are magic.
- Build Action = Content, Copy = PreserveNewest, or the file is not next to the
  DLL at runtime. This bites in published output, never during F5, which is why
  it is always found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USER SECRETS - S4.4
Snippet: lifted from d09
60-min: keep - mention .NET 10 file-based apps in one line
WHAT IT IS NOT: not encrypted, not a vault.
THE SINGLE PURPOSE: keeping secrets out of the repo on a dev box.
  dotnet user-secrets init          (adds &lt;UserSecretsId&gt; to the .csproj)
  dotnet user-secrets set "Weather:ApiKey" "dev-key-12345"
  dotnet user-secrets list / remove / clear
Bulk load by piping JSON into 'dotnet user-secrets set'.
Storage - mention, but tell them NOT to write code against it:
  Windows: %APPDATA%\Microsoft\UserSecrets\&lt;id&gt;\secrets.json
  Linux/macOS: ~/.microsoft/usersecrets/&lt;id&gt;/secrets.json
Registered automatically by the default builders ONLY in Development.
It sits ABOVE the JSON files and BELOW environment variables and command line.
.NET 10 BONUS - file-based apps:
'dotnet run app.cs' programs get a stable UserSecretsId derived from a hash of
the file path.
  dotnet user-secrets set "ApiKey" "value" --file app.cs
A five-line single-file app reading configuration with no .csproj anywhere.
Worth its own slide at 90. At 60, one sentence.
Failure mode #4: TRUST. Name it.
ON SCREEN: the repo holds a GUID. Your laptop holds the actual secret, in
plaintext, in a file anyone with your login can read.
SAY IT PLAINLY: "This is not encryption. This is not a vault. The whole
feature is a convention for putting the file somewhere git will never see."
That is not a criticism - it is exactly the right tool for the job it has. But
half the room believes it is encrypted, and the ones who believe that are the
ones who will reach for it in production.
WHERE IT SITS IN THE CHAIN - say it, do not slide it:
Development environment ONLY. Above the JSON files, below environment
variables and the command line. The precedence table already showed the rank;
point back at it rather than repeating it.
Storage paths, for the record - and tell them NOT to write code against these:
  Windows       %APPDATA%MicrosoftUserSecrets&lt;id&gt;secrets.json
  Linux/macOS   ~/.microsoft/usersecrets/&lt;id&gt;/secrets.json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[S4.4] USER SECRETS - THE COMMANDS
Snippet: lifted from d09
60-min: keep, fast
Five commands and one .NET 10 addition. Do not read them out. Let people
photograph it and say what matters instead.
WHAT MATTERS:
- 'init' writes the UserSecretsId into the .csproj. That id is the only thing
  the repo ever learns about your secrets.
- Values are set by KEY PATH using the colon form - "Weather:ApiKey", not
  nested JSON. The provider flattens it exactly like everything else.
- Bulk load exists: pipe a JSON file into 'dotnet user-secrets set'. Useful
  when onboarding someone. Do not then commit that JSON file.
THE .NET 10 LINE IS THE ONE TO CALL OUT:
'dotnet run app.cs' programs get a stable UserSecretsId derived from a hash of
the FILE PATH. A single-file app with no .csproj anywhere still gets user
secrets, addressed with --file.
That is genuinely new and it lands well - a five-line program reading
configuration properly with no project file. Worth mentioning that moving the
file changes the hash, and therefore changes which secrets it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"WORKS ON MY MACHINE" - S4.2 gotcha
Snippet: lifted from d07
60-min: keep if at all possible - this is the block's whole payoff
THE #1 "works on my machine" configuration story:
launchSettings.json environment variables OVERRIDE machine and user environment
variables during local F5 / dotnet run - and launchSettings.json is a
DEVELOPMENT-ONLY file that never deploys.
So: you set an env var, you run locally, nothing changes, you conclude env vars
don't work. Or worse - it works locally because of launchSettings, and the value
simply isn't there in production.
Show the two side by side: the env var you set, and the launchSettings entry
that quietly beats it. Then the same app with that entry deleted.
CLOSE THE STAGE HERE:
"That's stage one's signature failure. The fix isn't a better laptop - it's
letting the platform supply the values. That's stage two."
Failure mode #1 (ORDER) and #2 (SHAPE) both live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REVEAL] THE launchSettings TRAP
Snippet: lifted from d07
60-min: keep - this is the whole payoff of the stage
Let them sit on 45 for a second before you explain it.
THE TWO-SIDED FAILURE, and both sides bite:
- Locally it works when it should not. launchSettings quietly wins, so you never
  find out your environment variable was not being read.
- In production it breaks when it should not. launchSettings is not deployed, so
  the value that was silently winning is simply gone.
That is why this is the number one "works on my machine" configuration story. It
is not that the machine is different. It is that a development-only file is in
the chain locally and absent everywhere else.
CLOSE THE STAGE HERE:
"That is stage one's signature failure. The fix is not a better laptop - it is
letting the platform supply the values. That is stage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[S3.1] DEFAULT PROVIDER ORDER
60-min: keep - compressed into the order block
HIGHEST PRIORITY FIRST. Reads top-down as "who wins".
The two rows people have never seen are 5 and 6 -
{ApplicationName}.settings.json and its environment variant. They are real,
and they apply to WEB APPS TOO, not just workers. WebApplication.CreateBuilder
constructs a HostApplicationBuilder internally, so it inherits them.
The known exception is CreateSlimBuilder, whose slim defaults omit them.
Verified on SDK 10.0.303: a file-based app web.cs really does probe
web.settings.json and web.settings.Development.json.
ROW 1 IS THE OTHER SURPRISE. The chained provider is added LAST, which makes
host configuration the highest-priority source, not the lowest. People assume
the opposite because it is read first. Read first, applied last.
ROW 2 - the command-line provider is registered TWICE: once during host
configuration so --environment can pick which files load, and once at the end
so it still wins the final read. That is deliberate, not a bug.
WHEN THE DUMP IS ON SCREEN the audience will count more providers than this
table has rows - two MemoryConfigurationProviders and the prefixed env var
providers. Say that those are host plumbing and move on; do not narrate all
thirteen.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[S3.2] HOST CONFIGURATION - THE TWO-PASS READ
60-min: keep - one slide, best "aha" in the order block
A real dump. One command, two effects.
Host configuration is read FIRST and it decides EnvironmentName. EnvironmentName
then decides WHICH appsettings.{Environment}.json even gets loaded. So the
command-line provider is registered TWICE on purpose:
  pass 1  so --environment Staging can influence which files load
  pass 2  so the same argument still wins the final read
Point at the two CommandLineConfigurationProvider lines. They are the same
provider, registered at both ends of the chain. That looks like a bug in the
framework until you see what it buys.
THE LINE TO SAY:
"ASPNETCORE_ENVIRONMENT is not just another setting. It is the input that picks
the rest of your inputs."
That reframing is what makes the two-phase design look deliberate instead of
accidental. It also explains why setting the environment variable AFTER the host
is built does nothing at all.
For a non-web host it is DOTNET_ENVIRONMENT, not ASPNETCORE_ENVIRONMENT. Say it
once; someone in the room is writing a worker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[layering] PRECEDENCE, SHOWN
Snippets: lifted from d02 and d03
60-min: keep this; the array slide is the FIRST thing to cut if you run long
Do not read the slide aloud. Walk down the four rows, name the source each
time, and let the numbers do the work.
THE LAYERS - JSON, then the environment file, then an env var, then a CLI arg.
Same key, four different winners, one at a time. Call out failure mode #1: ORDER.
This is what makes "last provider wins" concrete instead of abstract.
THE ARRAY SURPRISE is the next slide.
appsettings.json has ["a","b","c"]. The environment file has ["x"].
Result: ["x","b","c"] - NOT ["x"].
Why: the environment file MERGES OVER the base file key by key. It is not a
replacement. Arrays don't merge cleanly because index keys overlay individually:
  Servers:0 = "x"   (overwritten)
  Servers:1 = "b"   (survives)
  Servers:2 = "c"   (survives)
This gets an audible reaction every time. But it's a gasp, not a load-bearing
idea - it's the first cut at 60 minutes.
WHAT TO DO INSTEAD: prefer an object keyed by name, or replace the section
deliberately. Also: EnvironmentName is arbitrary - appsettings.QA-East.json works
fine if ASPNETCORE_ENVIRONMENT=QA-East.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DIAGNOSTIC - S2.1
The cold-open dump, now marked
60-min: NEVER CUT
This is the show-don't-tell moment of the talk, and it explains the cold open.
GetDebugView() prints every key, its effective value, AND the provider that
supplied it.
The cold-open dump returns, now with the gold marker. Walk it and point at the
line that explains the wrong value from minute zero.
Output shape:
  Db:
    Timeout=30 (JsonConfigurationProvider for 'appsettings.json' (Optional))
    ConnectionString=*** (EnvironmentVariablesConfigurationProvider Prefix: '')
SAY:
- The processValue overload takes Func&lt;ConfigurationDebugViewContext, string&gt;.
  Context carries Path, Key, Value, ConfigurationProvider.
- REDACT. Filter anything containing secret / password / key before printing.
  Logging GetDebugView() unredacted is anti-pattern #11.
- Gate it on IsDevelopment().
- To enumerate the chain directly: ((IConfigurationRoot)app.Configuration).Providers
This is the single most useful diagnostic in the entire system. If the audience
takes one thing home, make it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DUMP - S2.1 - THE PAYOFF
The cold-open dump, marked this time
60-min: NEVER CUT
THIS IS THE SLIDE THE COLD OPEN WAS FOR.
The gold marker is on TimeoutSeconds=10, supplied by
EnvironmentVariablesConfigurationProvider - even though
appsettings.Development.json clearly says 120 and that is the file everyone
in the room was looking at for the last sixteen minutes.
SAY IT LIKE THIS:
"Sixteen minutes ago I showed you an app with the wrong timeout. Here's why.
The JSON says 120. An environment variable says 10. The environment variable
is later in the chain, so the environment variable wins. That's it. That's the
whole mystery."
Then name failure mode #1 - ORDER - and point at the badge when it turns up
two slides from now.
WHAT THE DUMP GIVES YOU THAT NOTHING ELSE DOES: the provider name in
parentheses. Not the value - anyone can log the value. The SOURCE.
Note ApiKey=*** is redacted by the lambda on the previous slide. Say that out
loud, because someone is about to go add GetDebugView to a production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STAGE 2 - DEPLOYMENT
60-min: compress to 4 min, one slide
THE PROBLEM THIS STAGE SOLVES:
One artifact, many environments. The platform supplies the values.
Sources: environment variables, command line, key-per-file mounts, Key Vault.
Close the block on its signature failure - "the value didn't make it" - which is
what pushes you to stage three.
RULE OF THUMB TO LAND HERE (S7.3 #1):
One artifact, many environments. If you build a different binary per environment,
you have reintroduced Web.Release.config. Configuration is a deployment-time
input, not a build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ENVIRONMENT VARIABLES - S4.2
Snippet: lifted from d04
60-min: keep - this is the core of the compressed stage-2 slide
The workhorse in containers and every PaaS.
':' IS NOT PORTABLE in env var names. '__' is, and maps to ':'.
  Weather__ApiBaseUrl        -&gt; Weather:ApiBaseUrl
  ConnectionStrings__Default -&gt; ConnectionStrings:Default
Arrays use the index as a segment:
  Weather__AllowedOrigins__0, Weather__AllowedOrigins__1
PREFIXES:
  AddEnvironmentVariables(prefix: "MYAPP_") loads only matching variables AND
  STRIPS the prefix from the key.
  MYAPP_Weather__TimeoutSeconds -&gt; Weather:TimeoutSeconds
  Useful for isolating one app on a shared host.
DOTNET_ and ASPNETCORE_ are RESERVED for host settings. Don't reuse them for app
config - you'll get behavior you didn't ask for.
Failure mode #2: SHAPE. This is where it lives - the key you set doesn't produce
the key the binder is looking for. Single underscore instead of double is the
most common version.
ALSO SAY (it comes back in S8): changing an environment variable on a running
container does NOTHING. Env vars are read once at startup. Restart the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KEY-PER-FILE - S4.7
Snippet: lifted from d23, or name it and move on
60-min: CUT to a name on the deployment slide
Docker secrets and Kubernetes mounted secrets are ONE FILE PER VALUE. This is how
you consume them without an Azure round trip.
  builder.Configuration.AddKeyPerFile(directoryPath: "/run/secrets", optional: true);
File NAME is the key, file CONTENTS are the value, '__' is the delimiter.
A file named Weather__ApiKey containing abc123 becomes Weather:ApiKey = abc123.
THE PATH MUST BE ABSOLUTE. Relative paths fail in a way that looks like "the
provider isn't working."
This is the right answer for AKS and Docker Swarm and it costs nothing. Worth
naming even when you skip the snippet - half the room is on Kubernetes and has been
shelling secrets in through env vars.
RELOAD - GET THIS RIGHT: the 3-argument overload above does NOT reload.
AddKeyPerFile(dir, optional) resolves to reloadOnChange: false. You only get
a watcher from the 4-argument overload. And even then, on Kubernetes those
mounts are symlink swaps rather than in-place writes, so the watcher may or
may not fire. Treat restart as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KEY VAULT - S4.5
Snippet: lifted from d18. No Azure dependency now - it is code on a slide.
60-min: one slide covers it; the mechanics were never visual anyway.
  builder.Configuration.AddAzureKeyVault(
      new Uri($"https://{name}.vault.azure.net/"),
      new DefaultAzureCredential());
  - guarded by if (!builder.Environment.IsDevelopment())
FOUR THINGS THAT ACTUALLY MATTER:
1. SECRET NAMING. Key Vault forbids ':' in secret names. The default
   KeyVaultSecretManager maps '--' to the delimiter:
   secret Weather--ApiKey  -&gt;  key Weather:ApiKey
   This is failure mode #2 (SHAPE) wearing a cloud hat.
2. REGISTER IT LAST so it overrides the file providers it's meant to replace.
3. NO RELOAD BY DEFAULT. Secrets are cached for the life of the process.
   ReloadInterval defaults to NULL - meaning never. Opt into polling:
     new AzureKeyVaultConfigurationOptions { ReloadInterval = TimeSpan.FromMinutes(30) }
   Tie to S7.3 #6: "It's in Key Vault" plus a process that caches it forever is a
   secret you cannot rotate.
4. EXPIRED SECRETS ARE STILL LOADED by default. Disabled secrets never are.
   Filter with a custom KeyVaultSecretManager overriding Load(SecretProperties).
CREDENTIALS: DefaultAzureCredential is the DEV CONVENIENCE chain (CLI, VS, env
vars, managed identity). In production prefer ManagedIdentityCredential
explicitly - narrower, and it FAILS FAST instead of silently walking the chain.
User-assigned identity: set AZURE_CLIENT_ID.
ISOLATION: one vault per app AND per environment. Don't multiplex with name
prefixes - that's anti-pattern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OPTIONS - S5
60-min: 8 min - this block survives the cut nearly intact
The longest non-flag block in the talk, and correctly so. This is where
"configuration" stops being strings and starts being types you can validate.
Snippets here: d11 binding, d12 ValidateOnStart, d13 the three interfaces.
The three-interfaces before/after pair is the longest beat in the talk.
DO NOT RUSH IT.
This is also the answer to the thesis objection from S1.3 - "then nothing is
knowable." Binding plus validation is what makes a configurable value MORE
knowable than a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STOP INJECTING ICONFIGURATION - S5.1
60-min: keep
THE DON'T:
  public sealed class WeatherClient(IConfiguration config)
      =&gt; CallAsync(config["Weather:ApiBaseUrl"]!,
                   int.Parse(config["Weather:TimeoutSeconds"]!));
Four things wrong: stringly typed, unvalidated, untestable, re-parsed on every call.
Plus that null-forgiving '!' is anti-pattern #3 all by itself.
THE DO:
  sealed class WeatherOptions with const SectionName, [Required][Url] ApiBaseUrl,
  [Range(1,300)] TimeoutSeconds, [Range(0,10)] Retries, [Required][MinLength(8)] ApiKey
  - required init properties, defaults where sensible.
  public sealed class WeatherClient(IOptions&lt;WeatherOptions&gt; options)
THE ARGUMENT: the class now DECLARES EXACTLY WHAT IT NEEDS. You can read the
options type and know the whole configuration surface of that component. You
cannot do that with IConfiguration - it's a bag of everything.
Say the word "seam" again. This is the same ownership argument from S1.1 #5,
just inside the codebase instead of between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REGISTRATION - S5.2
Snippet: lifted from d11
60-min: merge into the previous slide if tight
  builder.Services
      .AddOptions&lt;WeatherOptions&gt;()
      .Bind(builder.Configuration.GetSection(WeatherOptions.SectionName))
      .ValidateDataAnnotations()
      .Validate(o =&gt; o.Retries == 0 || o.TimeoutSeconds &gt;= 5,
                "TimeoutSeconds must be &gt;= 5 when retries are enabled.")
      .ValidateOnStart();
Or the shorthand that makes fail-fast the DEFAULT POSTURE:
  builder.Services
      .AddOptionsWithValidateOnStart&lt;WeatherOptions&gt;()
      .Bind(builder.Configuration.GetSection(WeatherOptions.SectionName))
      .ValidateDataAnnotations();
Prefer the second form in every sample you show from here on. Modeling the good
default matters more than showing the long form.
ValidateDataAnnotations lives in Microsoft.Extensions.Options.DataAnnotations,
referenced implicitly by the web SDK - so it just works and people wonder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VALIDATION - S5.5
Snippet: lifted from d12
60-min: NEVER CUT
FAIL FAST IS THE WHOLE POINT.
Without ValidateOnStart(), validation runs LAZILY on first .Value access - a bad
deploy looks healthy until the first request reaches the affected code path. With
it, the process refuses to start. That's exactly the behavior you want during a
rolling deployment: the bad instance never takes traffic.
Bad config = no start. Show the startup exception naming the offending property.
NESTED OBJECTS AND COLLECTIONS ARE NOT VALIDATED BY DEFAULT. Opt in:
  [Required, ValidateObjectMembers]  on the nested object
  [ValidateEnumeratedItems]          on the collection
This surprises people who think [Required] recurses. It doesn't.
COMPLEX / CROSS-FIELD / SERVICE-DEPENDENT rules belong in a class:
  IValidateOptions&lt;T&gt;, registered with
  services.TryAddEnumerable(ServiceDescriptor.Singleton&lt;IValidateOptions&lt;T&gt;, V&gt;())
  (TryAddEnumerable, not Add - otherwise duplicate registrations pile up.)
Tie back to S1.3: this is the answer to "everything is configurable and nothing is
knowable." A validated option is more knowable than a buried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[S4.8] IN-MEMORY - THE TESTING PROVIDER
Snippet: lifted from d24
60-min: cut the slide, keep the sentence
Added LAST, so it beats everything. That is the entire trick.
This is the right answer for WebApplicationFactory integration tests: you get
the real application, the real provider chain, the real binding and validation
- and then you overwrite exactly the handful of keys the test cares about.
WHY IT BEATS THE ALTERNATIVES:
- Mocking IConfiguration tests your mock, not your configuration.
- A test appsettings.json is a second file to keep in sync with the first.
- Environment variables in a test runner leak between tests.
Say the ordering point out loud, because it is the whole reason this works:
AddInMemoryCollection is appended, and reads walk the chain in reverse. It
does not matter what appsettings.json says. It does not matter what the
developer has in user secrets. The dictionary wins.
SAME TRICK FOR FEATURE FLAGS - forward reference to S6.7. A flag is just
configuration, so you set feature_management:feature_flags:0:enabled here and
test both sides of the branch. That is the slide people photograph in the
flags block.
The other use, if anyone asks: in-memory as code DEFAULTS, added FIRST so
everything overrides it. Rarer, but it is how you ship a sane fallback
without 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PRODUCTION
60-min: keep, 45 seconds
LAST BOUNDARY, and the one with consequences. Same artifact as the shared dev
server - genuinely the same bytes. What changed is who supplies the values and
what it costs to get one wrong.
THREE THINGS ARE TRUE HERE THAT WERE NOT TRUE ON YOUR LAPTOP:
  OWNERSHIP  the person who needs to change a value may not be a developer
  TRUST      a leaked value here is an incident, not an inconvenience
  UPTIME     a restart is a change window, not a keystroke
That third one is what the rest of this act is about. Say the line:
"Nothing gets rebuilt to change a value. That is the whole point of the last
 forty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THE LIFETIME QUESTION
60-min: keep - it is 20 seconds and it sets up the best beat in the talk
On a laptop you restart the app without thinking. In production a restart is an
event: dropped connections, a cold cache, a change window, maybe an approval.
So production is the first place the question is worth asking at all:
  "Can this value change WITHOUT stopping the process?"
That question has exactly three answers in .NET, and they are the three interfaces
on the next slide. Do not list them here - just land the question and advance.
This is also the slide to point back to from What Actually Reloads. The interface
decides whether your code SEES a change; the provider decides whether a change
ever ARRIVES. Both have to line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THE THREE INTERFACES - S5.3
Snippet: lifted from d13. THE LONGEST BEAT IN THE TALK. DO NOT RUSH IT.
60-min: NEVER CUT
  IOptions&lt;T&gt;          Singleton  no re-read     value can't change at runtime
  IOptionsSnapshot&lt;T&gt;  SCOPED     once per scope per-request consistency (web)
  IOptionsMonitor&lt;T&gt;   Singleton  yes + OnChange singletons &amp; background services
BEFORE / AFTER PAIR: all three interfaces on one slide, then the same three
after appsettings.json changed underneath the running app.
Three different answers to the same question. That image is the slide.
THE CLASSIC BUG: injecting IOptionsSnapshot&lt;T&gt; into a singleton. It's scoped -
the container either throws at validation, or you capture the first scope's value
forever. Anti-pattern #4.
THE OTHER CLASSIC BUG: caching _monitor.CurrentValue in a field at construction.
That quietly turns a monitor back into an IOptions&lt;T&gt;. Anti-pattern #5.
Read CurrentValue at the point of use, every time.
TWO CONVENTIONS IN THE BACKGROUND SERVICE SAMPLE - say them, people copy this code:
- OnChange returns an IDisposable registration. HOLD IT AND DISPOSE IT or you leak
  the subscription.
- The log message is a TEMPLATE with named placeholders, never an interpolated
  string. Structured logging is the house rule.
Failure mode #3: LIFETIME.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[OPTIONS] THE SETUP - BEFORE THE EDIT
Snippet: lifted from d13
60-min: NEVER CUT
All three interfaces, same key, same value. Nothing interesting yet - and that
is the point. Establish the baseline so the reveal has something to move
against.
ASK THE ROOM, and wait for an answer:
"I am about to change appsettings.json to 90 while this is running.
 Which of these three change?"
Most rooms say all three. Some say none. Both are wrong, and being wrong out
loud is what makes the next slide land.
Do not explain lifetimes yet. The table two slides back already told them; this
is the check on whether they believed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[OPTIONS] THE REVEAL - AFTER THE EDIT
Snippet: lifted from d13
60-min: NEVER CUT. This is the longest beat in the talk.
Three columns, because the honest answer has a middle state:
  IOptions          never moves. Bound once at startup, forever.
  IOptionsSnapshot  moves, but only in a NEW SCOPE - normally the next request.
                    A snapshot already resolved in the current request stays at 30.
  IOptionsMonitor   moves immediately. It is a singleton holding a change token.
THE MIDDLE COLUMN IS THE ONE PEOPLE GET WRONG. "Scoped" does not mean "fresh
whenever you ask" - it means fresh per scope. Within one request it is stable,
which is exactly the property you want for per-request consistency.
THEN NAME THE TWO CLASSIC BUGS while this is up:
- IOptionsSnapshot&lt;T&gt; injected into a singleton. It is scoped: the container
  either throws, or you capture the first scope's value forever.
- _monitor.CurrentValue cached in a constructor field, which quietly turns a
  monitor back into an IOptions&lt;T&gt;. Read CurrentValue at the point of use.
Failure mode #3: LIFETIME. Badge is on the table slide;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[S8] RELOAD SEMANTICS
60-min: show the table, do NOT walk it
  appsettings*.json   YES, when reloadOnChange: true (host default)  FileSystemWatcher
  User secrets        YES                                            file watcher
  Environment vars    NO - read once at startup
  Command line        NO - read once at startup
  Azure Key Vault     only if ReloadInterval is set (default: NEVER) polling
  App Configuration   YES, with ConfigureRefresh + a trigger         polling on activity
  Key-per-file        ONLY with the 4-arg overload                   file watcher
  In-memory           NO
  Custom              your call - OnReload()
FOUR CONSEQUENCES - say these out loud, the table alone doesn't land them:
- Changing an environment variable on a running container does NOTHING.
  Restart the container.
- reloadOnChange on a Kubernetes ConfigMap mount is UNRELIABLE - symlink swaps,
  not in-place writes. The watcher may or may not see them. Treat restart as the
  contract.
- A single file save often fires the watcher TWICE (write + metadata). Debounce
  anything expensive hanging off OnChange.
- "CONFIG RELOADED" DOES NOT MEAN "APP RECONFIGURED." Reloading configuration
  does not reconfigure things that read it once at startup: Kestrel endpoints,
  the DI graph, HttpClient handler pipelines.
RULE OF THUMB (S7.3 #4): prefer restart to hot reload unless hot reload is a
requirement someone actually asked for. Hot reload is a distributed-systems
problem wearing a config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[59-64 min] STAGE 3 - SHARED
60-min: compress to 3 min - labels + sentinel key only
THE PROBLEM THIS STAGE SOLVES:
Many apps and instances; values that change without a deploy.
Note this block is only 5 minutes even at 90, because S6 now carries App
Configuration's most interesting behavior. Show the sentinel key here and let
feature flags do the rest.
Close on the signature failure - "it changed, but not everywhere at once" -
which is what forces the discipline: sentinel keys, validation, flag hygiene.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[59-64 min] APP CONFIGURATION - S4.6
Snippet: lifted from d20. No Azure dependency now.
60-min: keep, compressed - labels and the sentinel key are the two ideas
Packages: Microsoft.Extensions.Configuration.AzureAppConfiguration
        + Microsoft.Azure.AppConfiguration.AspNetCore (refresh middleware)
THE SIX THINGS WORTH SAYING:
1. LABELS ARE THE ENVIRONMENT AXIS. One store, Development/Staging/Production
   labels, Selected in order so labeled values overlay unlabeled defaults.
   Select("Weather:*", LabelFilter.Null) then Select("Weather:*", envName).
   Load a SLICE, not the whole store.
2. REFRESH IS NOT AUTOMATIC. You must call ConfigureRefresh and then RegisterAll()
   or Register(key). Feature flags are the exception - UseFeatureFlags self-registers.
   This trips up everyone exactly once.
3. REFRESH IS ACTIVITY-DRIVEN in ASP.NET Core. The middleware checks on an
   incoming request once the interval has elapsed. AN IDLE APP NEVER REFRESHES.
   It is also ASYNCHRONOUS: the request that TRIGGERS the refresh does not
   block on it and may still serve the OLD values. Later requests see the new
   ones. Say this - people assume the triggering request gets the update.
   Background services must inject IConfigurationRefresherProvider and call
   TryRefreshAsync() themselves. Say this slowly - it's the #1 surprise.
   Also: app.UseAzureAppConfiguration() must go EARLY in the pipeline, or another
   middleware short-circuits before refresh ever runs.
4. THE SENTINEL KEY PATTERN - the thing to actually take home.
   Instead of RegisterAll(), watch ONE key you bump AFTER every other edit lands:
     refresh.Register("Weather:Sentinel", refreshAll: true)
   Update the sentinel LAST. Each instance then reloads the selected values
   together in one refresh, so no single process sees a half-applied edit.
   Do NOT say "atomic" - the store is not transactional across keys, and
   instances refresh independently, so they do not all switch at the same
   moment. It answers "half-applied", not "everywhere at once".
5. FAILURE MODE IS GRACEFUL - a failed refresh keeps last known-good and retries.
   STARTUP now retries with backoff, bounded by ConfigureStartupOptions =&gt;
   options.Timeout. If it still cannot load when that budget runs out the
   failure surfaces during startup and normally aborts the process. So
   "a failed connection at startup crashes you" is true but incomplete -
   it retries first.
6. KEY VAULT REFERENCES live in the store as pointers with a distinct content
   type; ConfigureKeyVault dereferences them. Give them their OWN cadence with
   SetSecretRefreshInterval(key, TimeSpan) - a rotated secret is otherwise cached
   forever. MINIMUM is one minute - a shorter interval throws ArgumentOutOfRangeException
   rather than being silently floored. This is the
   App Configuration provider resolving Key Vault REFERENCES, not the
   standalone Key Vault provider, which has its own ReloadInterval. (Same rotation argument as the Key Vault slide.)
Also exists: Map() rewrites keys on the way in, e.g. App__Settings__X -&gt; App:Settings:X.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[64-84 min] FEATURE FLAGS - S6
60-min: 10 min - S6.1-6.4 plus S6.6. Cut variants entirely.
ROUGHLY A QUARTER OF THE TALK. Not an appendix to Azure App Configuration - this
is the second half of the thesis from S1.3, and the only part of the
configuration story where a value changes while someone is watching.
NOTE FOR THE ABSTRACT: the submitted abstract does not mention feature flags. It
only implies them via "Azure App Configuration." If this abstract ever gets
resubmitted, add a clause. At 60 minutes especially, 20% of the room's time is
going somewhere the abstract didn't promise.
Block breakdown at 90:
  64-67  S6.1  a flag is just configuration
  67-72  S6.2-6.3  flags with zero cloud            d28
  72-77  S6.4  filters + the per-call gotcha        d29, d30
  77-80  S6.5  variants                             d31 (optional)
  80-84  S6.6 flag debt + S6.8 counterargument      d32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[64-67 min] FLAGS ARE CONFIGURATION - S6.1
60-min: keep - this is the load-bearing idea of the whole flags block
Microsoft.FeatureManagement IS BUILT ON IConfiguration.
ANY configuration provider can back a feature flag. No new infrastructure, no new
file format, no service dependency.
That means flags inherit EVERYTHING from S2-S4: the provider chain, precedence,
reload semantics, and the debug view. A flag in appsettings.Development.json is
overridden by the same flag in an environment variable, by the same last-wins
rule as any other key.
FLAGS LIVE AT ALL THREE STAGES OF THE SPINE - this is why the slide matters:
  LOCAL DEV    appsettings.json / user secrets
               Branch in code without branching in git. ZERO CLOUD.
  DEPLOYMENT   environment variable per environment
               Ship dark, enable per environment at deploy time.
  SHARED       Azure App Configuration
               Flip at runtime, target a cohort, roll back in seconds.
SHOW THE FIRST ROW BEFORE ANYONE SEES AZURE.
It's the row that makes flags feel FREE. Most of the room believes feature flags
require LaunchDarkly or a platform team. They require a JSON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[67-72 min] LOCAL FLAGS - S6.2, S6.3
Snippet: lifted from d28
60-min: keep
THE SCHEMA:
  "feature_management": { "feature_flags": [
      { "id": "NewCheckout", "enabled": false },
      { "id": "BetaBanner",  "enabled": true }
  ]}
  services.AddFeatureManagement();
SCHEMA NOTES WORTH SAYING OUT LOUD:
- feature_management / feature_flags is the MICROSOFT SCHEMA, shared across the
  .NET, Go, Python and JavaScript libraries. The older .NET-only FeatureManagement
  section still works; when both are present, feature_management wins.
- No "conditions" means the flag is simply enabled. WITH conditions, enabled:true
  means "eligible to be evaluated," NOT "on." That distinction catches people.
- requirement_type defaults to Any; set All when every filter must pass.
- A COLON IS FORBIDDEN in a flag name - flag names are configuration keys.
- Point the library at a custom section with AddFeatureManagement(config.GetSection("MyFlags")).
CONSUMING IT - four shapes, show at least two:
  IVariantFeatureManager.IsEnabledAsync("NewCheckout", ct)   &lt;- the modern interface
  [FeatureGate("NewCheckout")] on a controller/action        &lt;- 404 by default;
                                    override with IDisabledFeaturesHandler
  &lt;feature name="BetaBanner"&gt;  and  &lt;feature negate="true" name="BetaBanner"&gt;
  app.UseForFeature("NewCheckout", branch =&gt; branch.UseMiddleware&lt;...&gt;())
REGISTRATION DETAIL THAT BITES PEOPLE:
AddFeatureManagement() registers feature management as a SINGLETON. If a filter
needs scoped services (current user, a DbContext) you must use
AddScopedFeatureManagement() instead.
PACKAGES: FeatureGate, the tag helper, and UseForFeature need
Microsoft.FeatureManagement.AspNetCore. The core package covers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[72-77 min] FILTERS - S6.4
Snippets: lifted from d29 and d30
60-min: KEEP THE GOTCHA even if you cut the filter catalogue. Never-cut list.
BUILT IN, registered automatically by AddFeatureManagement() - except targeting,
which needs .WithTargeting&lt;T&gt;():
  Microsoft.Percentage   progressive rollout: 5% -&gt; 25% -&gt; 100%
  Microsoft.TimeWindow   scheduled enable/disable, Recurrence for daily/weekly
  Microsoft.Targeting    named users, groups, per-group percentages, exclusions
Targeting needs an ITargetingContextAccessor so the library knows who the current
user is:
  services.AddFeatureManagement().WithTargeting&lt;HttpContextTargetingContextAccessor&gt;();
*** THE SLIDE THAT EARNS ITS OWN MINUTE ***
PLAIN Microsoft.Percentage IS EVALUATED PER CALL, NOT PER USER.
A 50% flag checked twice in one request can answer DIFFERENTLY EACH TIME. A user
can watch the feature flicker between page loads. Nav bar says new checkout,
checkout page says old.
THIS IS THE MOST COMMON FEATURE-FLAG BUG IN THE WILD.
THE FIX: targeting, or variant allocation with a seed. That's what gives a STABLE
per-user assignment.
d29 is the flicker, d30 the stable version. If you only have room for one,
show the flicker and describe the fix - the bug is the memorable half.
CUSTOM FILTERS: implement IFeatureFilter (one method, EvaluateAsync), register
with .AddFeatureFilter&lt;TenantFilter&gt;(). Good example: a flag enabled per 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THE REVEAL - PER CALL, NOT PER USER
Snippet: lifted from d29
60-min: KEEP THE GOTCHA even if you cut the filter catalogue. Never-cut list.
Ten checks. One user. One process. The percentage row flickers; the targeting
row does not. That contrast is the slide.
SAY IT PLAINLY:
"Microsoft.Percentage does not know who you are. It rolls the dice on every
 call. Fifty percent means half the CALLS, not half the USERS."
WHY IT IS NASTY: it is invisible in a single test run and invisible in code
review. It shows up as a user watching a feature flicker between page loads -
nav bar says new checkout, checkout page says old.
THE FIX, and say it immediately so nobody leaves with only the problem:
targeting with an ITargetingContextAccessor, or variant allocation with a seed.
Either gives a stable per-user assignment. A shared seed keeps that assignment
consistent across flags, which is what you want for a coherent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[77-80 min] VARIANTS - S6.5
Snippet: lifted from d31 - optional even at 90
60-min: CUT. Mention in one sentence that flags can return values, move on.
A variant flag returns a VALUE - string, number, bool, or a whole configuration
object - instead of a boolean. This is where feature flags and the options
pattern meet, which is why it belongs in THIS talk and not a generic flags talk.
  Variant variant = await features.GetVariantAsync("CheckoutLayout", ct);
  variant.Configuration.Bind(settings);   // it's an IConfigurationSection -
                                          // bind it like anything else
That last line is the whole point. Land it and you can move on.
ALLOCATION is evaluated in order: user -&gt; group -&gt; percentile, falling back to
default_when_enabled, or default_when_disabled when the flag is off.
A SEED makes percentile assignment stable, and consistent ACROSS flags that share
the same seed. (This is the fix for the S6.4 gotcha.)
status_override (None / Enabled / Disabled) lets a variant flag also answer
IsEnabledAsync, so you can adopt variants without rewriting existing call sites.
You cannot override a flag whose enabled is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[80-84 min] FLAG DEBT - S6.6
Snippet: lifted from d32, the flag inventory endpoint
60-min: NEVER CUT. This is the closing argument.
THIS SECTION IS WHAT SEPARATES THE TALK FROM THE DOCUMENTATION.
It's the thing nobody else in the room will say.
Every flag is a permanent if-statement with an owner and an expiry date.
- A FLAG DOUBLES YOUR CODE PATHS. Ten live flags is up to 1,024 nominal
  combinations. You test maybe three of them.
- NAME FLAGS FOR THEIR REMOVAL.
  "NewCheckout" never gets deleted. It'll be there in 2031 and it will still be
  called New.
  "Checkout_V2_Rollout_2026Q1" files its own expiry.
- CATEGORIZE ON CREATION - lifetime differs by an ORDER OF MAGNITUDE:
    release     days to weeks    delete after rollout
    experiment  weeks            delete after the decision
    ops / kill  permanent        and that's fine
    permission  permanent        and arguably not a flag at all - that's authorization
- DELETING A FLAG IS A CODE CHANGE, NOT A CONFIG CHANGE. Turning it off in the
  portal and walking away leaves the dead branch compiling forever. This is the
  sentence people need to hear.
- INVENTORY THEM. GetFeatureNamesAsync() enumerates every flag the app knows
  about. A health endpoint listing flags and their current state is a five-minute
  build and THE ONE PEOPLE WILL ACTUALLY STEAL. That's d32.
TESTING (S6.7): flags are configuration, so the in-memory provider is the whole
story - or substitute IVariantFeatureManager outright.
THE RULE: test BOTH SIDES of every live flag, or you're shipping an untested
branch behind a switch someone can flip at 2am.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DELETION AND INVENTORY
Snippet: lifted from d32
60-min: keep the first line; the endpoint is optional
THE SENTENCE PEOPLE NEED TO HEAR:
"Turning a flag off in the portal is not deleting it. The dead branch is still
 there, still compiling, still something the next person has to reason about."
Deleting a flag is a pull request, not a portal click. If that is not on
someone's board, it does not happen.
THE ENDPOINT IS THE THING PEOPLE STEAL. Two caveats, say both:
- Name and a boolean is not enough. The previous slide argued owner and expiry
  are what matter, so the record carries them.
- For a percentage or targeting flag that boolean is THIS evaluation, for THIS
  context. Slide 44 just proved it can differ on the very next call. It is an
  inventory of what exists, not a global on/off state.
- Authorize it. An open /flags endpoint hands an attacker your roadmap and your
  operational posture.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[80-84 min] THE COUNTERARGUMENT - S6.8
60-min: keep - it's 45 seconds and it closes the loop
Someone in the room is going to think it, so say it first:
FLAGS CONVERT A DEPLOYMENT PROBLEM INTO A RUNTIME PROBLEM.
You gain instant rollback. You lose "the code that ran is the code in the commit."
A flag flipped in a portal is a PRODUCTION CHANGE WITH NO PR, NO REVIEW, AND NO
DIFF - unless the store keeps history and you treat flag changes as deploys.
Azure App Configuration keeps revisions. Use them.
THE THROUGH-LINE CLOSES HERE:
That is the SAME TRADE as S1.2's build-time-to-runtime move, one level up.
Constants -&gt; web.config -&gt; Generic Host was trading build-time for runtime.
Deploys -&gt; feature flags is the same trade again, one level up.
Call back to the history slide explicitly. This is the moment the talk becomes
one argument instead of a tour of providers.
End the flags block on JUDGMENT, not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THE DECISION
60-min: keep - this is what the room came for
The journey is over. Now it pays out as a decision you can make on Monday.
FOUR QUESTIONS, and they are the whole framework:
  OWNERSHIP    who changes this - a developer, an SRE, a product manager?
  SENSITIVITY  does it hurt if it leaks?
  SCOPE        one app, or many?
  CADENCE      per release, per environment, or while the app is serving traffic?
Say plainly: you do not need stage three. Most apps never do. The next two slides
are a sorting exercise, not a maturity model - nobody is behind for using JSON
files and environment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[84-87 min] THREE BUCKETS - S7.1
60-min: keep
  NON-SECRET, PER-ENVIRONMENT
    base URLs, timeouts, retry counts, log levels, feature toggles
    -&gt; appsettings.{Env}.json in the repo, or App Configuration
  SECRET
    API keys, connection strings with passwords, client secrets
    -&gt; user secrets (dev) -&gt; Key Vault or the platform's secret store (prod)
  PER-INSTANCE / PER-DEPLOYMENT
    environment name, instance id, port, region
    -&gt; environment variables, set by the platform
THE LINE TO SAY:
"If a value is in the wrong bucket, no amount of provider tuning fixes it."
That's the diagnostic. Most configuration pain people bring to you is a bucketing
error, not a provider error - and they've been trying to solve it with provider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[84-87 min] CHOOSING A STRATEGY - S7.2, S7.3
60-min: keep - this is the one people photograph. Pause on it.
LEAVE THIS UP LONGER THAN FEELS COMFORTABLE. Count to five. Let them get the shot.
  ASP.NET Core on App Service   JSON + App Service settings; KV refs
                                App Service settings RESTART the app;
                                App Configuration doesn't
  Container / AKS               JSON baked in + orchestrator env vars;
                                key-per-file mount or KV via workload identity
  Many microservices            App Configuration, labels + per-app key prefix;
                                KV references; sentinel key + refresh
  Worker / background service   JSON + env vars; KV via managed identity;
                                IOptionsMonitor + explicit TryRefreshAsync
  Console / CLI                 JSON + command line + env vars; user secrets in
                                dev; NO hot reload - short-lived process
  Desktop (WinForms/WPF/MAUI)   JSON next to the EXE + per-user AppData;
                                NO SECRETS IN THE CLIENT
SIX RULES OF THUMB (S7.3) - read 1, 2, and 5 aloud at minimum:
  1. One artifact, many environments. A different binary per environment is
     Web.Release.config again.
  2. Commit defaults, never secrets. appsettings.json should be safe to publish.
  3. Reach for cloud configuration when you have a REAL reason: more than one app
     sharing values, or a need to change without a deploy. One app that redeploys
     in five minutes does not need App Configuration.
  4. Prefer restart to hot reload unless someone asked for hot reload.
  5. Validate at startup, always. Cheapest guardrail on every strategy above.
  6. Secrets get a rotation story or they aren't secure.
Rule 2 is on the never-cut list at any talk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[87-90 min] ANTI-PATTERNS - S10
60-min: keep, rapid-fire
Read these FAST. Don't explain them - by now the audience has seen every one.
The point is recognition, not instruction. If they're calling out the four
failure modes before you do, this slide is working.
 1. Secrets committed in appsettings.json - or worse, appsettings.Production.json.
 2. IConfiguration injected into business classes instead of bound options.
 3. config["Some:Key"]! with a null-forgiving operator and no validation.
 4. IOptionsSnapshot&lt;T&gt; in a singleton.
 5. IOptionsMonitor&lt;T&gt;.CurrentValue captured in a constructor field.
 6. Building a throwaway ConfigurationBuilder mid-request to "get a fresh value."
 7. Calling WebApplication.CreateBuilder() a second time just to read configuration.
 8. if (env.IsProduction()) branches in code instead of environment-specific
    configuration VALUES.
 9. One Key Vault for every app and environment, separated by secret-name prefixes.
10. Assuming an array in appsettings.Production.json replaces the base array.
    It doesn't. (Callback to the array slide - they'll remember.)
11. Logging GetDebugView() without redaction.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[87-90 min] DESKTOP - S4.11
60-min: compress to one line inside the choosing slide
THE ABSTRACT PROMISES "cloud-native microservices OR DESKTOP APPS." This is the
section that pays it off. If you're short on time, this is the honest thing to cut
- but say the one-liner.
STRUCTURAL HONESTY - name this rather than letting the structure contradict you:
The S1.4 spine assumes a SERVER. A desktop app has local dev, has "deployment" as
an INSTALL, and has NO STAGE THREE at all - no orchestrator setting env vars, no
central store it should authenticate to, no instance fleet.
THE LINE: "The spine assumes something that gets deployed. Here's what changes
when it gets installed on someone's laptop instead."
The configuration MODEL is identical. What differs is what's wired up for you.
- Console apps and workers get the full default chain from the generic host.
  Same JSON + user secrets + env vars + command line, same precedence - but
  DOTNET_ENVIRONMENT, not ASPNETCORE_ENVIRONMENT, outside ASP.NET Core.
- WinForms/WPF have no host by default. Either build IConfiguration by hand, or
  (preferred) host the desktop app and get DI, logging, and options for free.
FOUR DESKTOP REALITIES:
- SetBasePath(AppContext.BaseDirectory). The working directory of a double-clicked
  EXE is NOT the install directory. Directory.GetCurrentDirectory() will bite you.
- Per-user WRITABLE settings are a different problem. IConfiguration is
  read-optimized and has NO WRITE API. User preferences belong in a JSON file
  under SpecialFolder.ApplicationData that you load as an extra provider and save
  yourself.
- app.config isn't gone, but ConfigurationManager.AppSettings and IConfiguration
  are two UNRELATED systems. Migrating means moving keys, not bridging them.
- CLIENT APPS MUST NOT HOLD CLOUD SECRETS. No Key Vault credential ships in a
  desktop binary. Authenticate the USER, call a backend that holds the secret.
  SAY THIS OUT LOUD - someone always asks.
Flags are the interesting exception: a desktop app absolutely can consume flags
from a file or your own backend. It just can't hold the credential to a flag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60-min: keep - but see the note below about where questions actually go
THE ONE-LINE TAKEAWAY, say it BEFORE you open the floor - otherwise the last
thing the room hears is whatever the final question happened to be:
"GetDebugView() tells you where the value came from. Validate at startup so the
wrong value never takes traffic. And name every flag for the day you delete it."
AT 90 MINUTES: questions have been riding along, so this is a genuine open
floor with a few minutes of slack.
AT 60 MINUTES: the running order takes questions at three breath points -
after the model (14), after Options (31), after flags (48) - so this slide is
a backstop, not the main event.
QUESTIONS YOU WILL GET, AND THE SHORT ANSWERS:
- "When should I NOT use Azure App Configuration?"
  S7.3 rule 3. One app that redeploys in five minutes doesn't need it.
  This is the best question, so if nobody asks it, ask it yourself.
- "What about Aspire?"
  It shapes how configuration is WIRED between services; the provider chain
  underneath is the same model in this talk.
- "Should secrets go in App Configuration?"
  No - Key Vault references. The store holds the pointer, not the secret.
- "How do I test any of this?"
  S4.8 in-memory provider, added last so it beats everything. Same answer for
  feature flags (S6.7).
- "Does IOptionsMonitor work in a console app?"
  Yes, but nothing triggers a refresh for you. That's the S4.6 activity-driven
  point - call TryRefreshAsync yourself.
If the room goes quiet, go to the flag-inventory endpoint (d32). It's the
thing people ask about afterward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60-min: keep, 1 min
LEAVE THIS UP for the rest of the room's time, and through the hallway track.
People photograph the last slide. Put the repo QR here.
  Repo:      github.com/1kevgriff - modern-dotnet-configuration
             (slides, all demos numbered in presentation order, each with its
             own README and the point it's making)
  Web:       consultwithgriff.com
  X:         @1kevgriff
  Bluesky:   @consultwithgriff.com
  LinkedIn:  in/1kevgriff
  YouTube:   youtube.com/@consultwithgriff
  Speaking:  sessionize.com/kevingriffin
Thank the room and thank the organizers by name.
If you have slack left, the honest closer is the callback to S1.2 and S6.8:
"Twenty years ago we traded a build-time decision for a runtime one. Feature
flags are us making that same trade again. It's a good trade - as long as you
remember you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OFF THE MAIN PATH
60-min: never shown; these exist for Q&amp;A and for the repo
Do not walk these. They are here so the answer exists when someone asks, and so
the PDF is complete for whoever reads it later.
  connection-string prefixes          "we moved to Postgres and the name changed"
  named options + source generators   "how do I bind the same shape twice?"
  a custom provider                   "how would I read config from X?"
  .NET 10 null preservation           "we upgraded and a default came back null"
Each one is technically sound and each one interrupts the laptop -&gt; shared dev -&gt;
production story, which is why they are back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CONNSTR PREFIXES - S4.2 - .NET 10 DELTA
Snippet: lifted from d05
60-min: keep as one line on the deployment slide - it's a good "new in 10" beat
Certain prefixed environment variables are rewritten into the ConnectionStrings:
section. This is an App Service compatibility behavior that most people have
never heard of.
.NET 9 recognized FOUR. .NET 10 recognizes ELEVEN.
  CUSTOMCONNSTR_{KEY}       -&gt; ConnectionStrings:{KEY}
  MYSQLCONNSTR_{KEY}        -&gt; + _ProviderName MySql.Data.MySqlClient
  SQLCONNSTR_{KEY}          -&gt; + _ProviderName System.Data.SqlClient
  SQLAZURECONNSTR_{KEY}     -&gt; + _ProviderName System.Data.SqlClient
  NEW IN 10:
  POSTGRESQLCONNSTR_{KEY}   -&gt; + _ProviderName Npgsql
  DOCDBCONNSTR_{KEY}        (Cosmos DB)
  REDISCACHECONNSTR_{KEY}
  SERVICEBUSCONNSTR_{KEY}
  EVENTHUBCONNSTR_{KEY}
  NOTIFICATIONHUBCONNSTR_{KEY}
  APIHUBCONNSTR_{KEY}
d05 SHOWS: set POSTGRESQLCONNSTR_Default, then
Configuration.GetConnectionString("Default") resolving on .NET 10 where it
wouldn't have on .NET 9.
Short, concrete, and it's a genuinely new thing - good energy beat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NAMED OPTIONS + GENERATORS - S5.4, S5.6
60-min: CUT the generator half to a single sentence
NAMED OPTIONS - for "same shape, several times": multiple API clients, queues.
  services.Configure&lt;EndpointOptions&gt;("primary", config.GetSection("Endpoints:Primary"));
  services.Configure&lt;EndpointOptions&gt;("secondary", ...);
  then monitor.Get("primary")
Configure&lt;T&gt;(section) with no name is shorthand for Options.DefaultName ("").
SOURCE GENERATORS - binding and validation both default to REFLECTION. Two opt-ins:
  &lt;EnableConfigurationBindingGenerator&gt;true&lt;/EnableConfigurationBindingGenerator&gt;
  [OptionsValidator]
  public sealed partial class ValidateWeatherOptions : IValidateOptions&lt;WeatherOptions&gt;;
  (empty partial - the generator writes the implementation)
The options validation generator is ON BY DEFAULT when the project references
Microsoft.Extensions.Options 8+ or builds an ASP.NET Core app. It rewrites
[Range], [MinLength], [MaxLength], [Length] into generated equivalents.
With [OptionsValidator] you do NOT also call ValidateDataAnnotations().
OPTIONAL (d17, 90 min only): PublishAot=true surfaces IL2026 / IL3050 warnings
from reflection binding; turn both generators on and they disappear.
Niche. At 60 minutes this is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[S4.10] CUSTOM PROVIDER - THE EXTENSIBILITY POINT
Snippet: lifted from d25
60-min: cut - point at the repo
Two types. That is the whole contract.
  IConfigurationSource   - a factory. Build() hands back a provider.
  ConfigurationProvider  - has a protected IDictionary&lt;string,string?&gt; Data
                           and a virtual Load(). Fill the dictionary.
Then an extension method so it reads like every other provider:
  builder.Configuration.AddSqlConfiguration(connectionString);
THREE THINGS TO LAND, THEN MOVE ON:
1. Load() RUNS ONCE, at build time. It is not lazy. If you want refresh you
   schedule it yourself and call OnReload() - that is what fires the change
   token that makes IOptionsMonitor wake up. Point back at the three
   interfaces slide when you say it.
2. A provider that THROWS in Load() takes the app down at startup. That
   sounds like a bug and is frequently the feature - it is the same
   fail-fast posture as ValidateOnStart.
3. Good real targets: a database-backed provider, a .env reader, a provider
   that pulls from your own internal config service. Bad target: anything
   you could have done with the eleven providers that already exist.
Do not live-code this. Show the shape, say the three things, point at d25 in
the repo. It is interesting to about six people in the room and they will
read the code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[S9] .NET 10 DELTAS
60-min: fold into the slides where each one lives; skip as a standalone
Four talk-relevant deltas from .NET 9:
1. NULL VALUES ARE PRESERVED - *** BREAKING CHANGE ***
   Previously a null in configuration was treated as MISSING and skipped by the
   binder, and the JSON provider converted null to "".
   In .NET 10 the JSON provider reports null unchanged and the binder binds it
   like any other value. Binding of null array elements and empty arrays now works.
   -&gt; A property that used to KEEP ITS DEFAULT when the JSON said null now gets
      OVERWRITTEN WITH NULL.
   This is the one that will actually break someone's upgrade. d06 has the
   before/after. Worth 60 seconds even at 60 minutes.
2. SEVEN NEW CONNECTION-STRING PREFIXES (11 total) - Postgres, Cosmos, Redis,
   Service Bus, Event Hubs, Notification Hubs, API Hubs. Covered on the connstr
   slide; don't repeat it here.
3. AOT-SAFE ValidationContext CONSTRUCTOR taking an explicit displayName,
   removing AOT warnings from options validation.
4. FILE-BASED APPS (dotnet run app.cs) participate in user secrets via a
   path-hash-derived UserSecretsId and 'dotnet user-secrets --file'.
OPTIONAL FORWARD-LOOKING CLOSER - label it clearly as .NET 11 PREVIEW:
generic OptionsBuilder&lt;T&gt;.Validate&lt;TValidator&gt;(), Func&lt;Task&gt; overloads on
ChangeToken.OnChange, and async DataAnnotations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628650" y="1277243"/>
            <a:ext cx="8077200" cy="2581275"/>
          </a:xfrm>
          <a:prstGeom prst="roundRect">
            <a:avLst>
              <a:gd name="adj" fmla="val 1476"/>
            </a:avLst>
          </a:prstGeom>
          <a:solidFill>
            <a:srgbClr val="011627"/>
          </a:solidFill>
          <a:ln/>
        </p:spPr>
      </p:sp>
      <p:sp>
        <p:nvSpPr>
          <p:cNvPr id="4" name="Text 2"/>
          <p:cNvSpPr txBox="1"/>
          <p:nvPr/>
        </p:nvSpPr>
        <p:spPr>
          <a:xfrm>
            <a:off x="704850" y="1362968"/>
            <a:ext cx="7943850" cy="2395538"/>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appsettings.Development.json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"TimeoutSeconds": 120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dotnet run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 timeout is 10 seconds.</a:t>
            </a:r>
            <a:endParaRPr lang="en-US" sz="12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628650" y="1398687"/>
            <a:ext cx="8077200" cy="2338388"/>
          </a:xfrm>
          <a:prstGeom prst="roundRect">
            <a:avLst>
              <a:gd name="adj" fmla="val 1629"/>
            </a:avLst>
          </a:prstGeom>
          <a:solidFill>
            <a:srgbClr val="011627"/>
          </a:solidFill>
          <a:ln/>
        </p:spPr>
      </p:sp>
      <p:sp>
        <p:nvSpPr>
          <p:cNvPr id="4" name="Text 2"/>
          <p:cNvSpPr txBox="1"/>
          <p:nvPr/>
        </p:nvSpPr>
        <p:spPr>
          <a:xfrm>
            <a:off x="704850" y="1484412"/>
            <a:ext cx="7943850" cy="2152650"/>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ApiBaseUrl=https://localhost:7104</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(JsonConfigurationProvider for 'appsettings.Development.json')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Retries=3</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(JsonConfigurationProvider for 'appsettings.json')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TimeoutSeconds=10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(EnvironmentVariablesConfigurationProvider Prefix: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ApiKey=***</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(UserSecretsConfigurationProvider)</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487561" y="1428452"/>
            <a:ext cx="3440162" cy="142875"/>
          </a:xfrm>
          <a:prstGeom prst="rect">
            <a:avLst/>
          </a:prstGeom>
          <a:noFill/>
          <a:ln/>
        </p:spPr>
        <p:txBody>
          <a:bodyPr wrap="none" lIns="0" tIns="0" rIns="0" bIns="0" rtlCol="0" anchor="t"/>
          <a:lstStyle/>
          <a:p>
            <a:pPr algn="l" indent="0" marL="0">
              <a:buNone/>
            </a:pPr>
            <a:r>
              <a:rPr lang="en-US" sz="864" b="1" spc="190" kern="0" dirty="0">
                <a:solidFill>
                  <a:srgbClr val="F4C233"/>
                </a:solidFill>
                <a:latin typeface="Manrope" pitchFamily="34" charset="0"/>
                <a:ea typeface="Manrope" pitchFamily="34" charset="-122"/>
                <a:cs typeface="Manrope" pitchFamily="34" charset="-120"/>
              </a:rPr>
              <a:t>CONFIGURATION · OPTIONS · FEATURE FLAGS</a:t>
            </a:r>
            <a:endParaRPr lang="en-US" sz="864" dirty="0"/>
          </a:p>
        </p:txBody>
      </p:sp>
      <p:sp>
        <p:nvSpPr>
          <p:cNvPr id="4" name="Text 2"/>
          <p:cNvSpPr txBox="1"/>
          <p:nvPr/>
        </p:nvSpPr>
        <p:spPr>
          <a:xfrm>
            <a:off x="487561" y="1669107"/>
            <a:ext cx="4839444" cy="1122015"/>
          </a:xfrm>
          <a:prstGeom prst="rect">
            <a:avLst/>
          </a:prstGeom>
          <a:noFill/>
          <a:ln/>
        </p:spPr>
        <p:txBody>
          <a:bodyPr wrap="square" lIns="0" tIns="0" rIns="0" bIns="0" rtlCol="0" anchor="t"/>
          <a:lstStyle/>
          <a:p>
            <a:pPr algn="l" indent="0" marL="0">
              <a:lnSpc>
                <a:spcPts val="3960"/>
              </a:lnSpc>
              <a:buNone/>
            </a:pPr>
            <a:r>
              <a:rPr lang="en-US" sz="3600" b="1" spc="-72" kern="0" dirty="0">
                <a:solidFill>
                  <a:srgbClr val="F7F6F3"/>
                </a:solidFill>
                <a:latin typeface="Manrope" pitchFamily="34" charset="0"/>
                <a:ea typeface="Manrope" pitchFamily="34" charset="-122"/>
                <a:cs typeface="Manrope" pitchFamily="34" charset="-120"/>
              </a:rPr>
              <a:t>Modern .NET Configuration</a:t>
            </a:r>
            <a:endParaRPr lang="en-US" sz="3600" dirty="0"/>
          </a:p>
        </p:txBody>
      </p:sp>
      <p:sp>
        <p:nvSpPr>
          <p:cNvPr id="5" name="Shape 3"/>
          <p:cNvSpPr/>
          <p:nvPr/>
        </p:nvSpPr>
        <p:spPr>
          <a:xfrm>
            <a:off x="487561" y="3072203"/>
            <a:ext cx="47625" cy="47625"/>
          </a:xfrm>
          <a:prstGeom prst="roundRect">
            <a:avLst>
              <a:gd name="adj" fmla="val 50000"/>
            </a:avLst>
          </a:prstGeom>
          <a:solidFill>
            <a:srgbClr val="F4C233"/>
          </a:solidFill>
          <a:ln/>
        </p:spPr>
      </p:sp>
      <p:sp>
        <p:nvSpPr>
          <p:cNvPr id="6" name="Text 4"/>
          <p:cNvSpPr txBox="1"/>
          <p:nvPr/>
        </p:nvSpPr>
        <p:spPr>
          <a:xfrm>
            <a:off x="632222" y="2982516"/>
            <a:ext cx="987177" cy="219075"/>
          </a:xfrm>
          <a:prstGeom prst="rect">
            <a:avLst/>
          </a:prstGeom>
          <a:noFill/>
          <a:ln/>
        </p:spPr>
        <p:txBody>
          <a:bodyPr wrap="none" lIns="0" tIns="0" rIns="0" bIns="0" rtlCol="0" anchor="t"/>
          <a:lstStyle/>
          <a:p>
            <a:pPr algn="l" indent="0" marL="0">
              <a:buNone/>
            </a:pPr>
            <a:r>
              <a:rPr lang="en-US" sz="1260" dirty="0">
                <a:solidFill>
                  <a:srgbClr val="F7F6F3">
                    <a:alpha val="86000"/>
                  </a:srgbClr>
                </a:solidFill>
                <a:latin typeface="Manrope" pitchFamily="34" charset="0"/>
                <a:ea typeface="Manrope" pitchFamily="34" charset="-122"/>
                <a:cs typeface="Manrope" pitchFamily="34" charset="-120"/>
              </a:rPr>
              <a:t>Kevin Griffin</a:t>
            </a:r>
            <a:endParaRPr lang="en-US" sz="1260" dirty="0"/>
          </a:p>
        </p:txBody>
      </p:sp>
      <p:sp>
        <p:nvSpPr>
          <p:cNvPr id="7" name="Shape 5"/>
          <p:cNvSpPr/>
          <p:nvPr/>
        </p:nvSpPr>
        <p:spPr>
          <a:xfrm>
            <a:off x="487561" y="3360781"/>
            <a:ext cx="47625" cy="47625"/>
          </a:xfrm>
          <a:prstGeom prst="roundRect">
            <a:avLst>
              <a:gd name="adj" fmla="val 50000"/>
            </a:avLst>
          </a:prstGeom>
          <a:solidFill>
            <a:srgbClr val="F4C233"/>
          </a:solidFill>
          <a:ln/>
        </p:spPr>
      </p:sp>
      <p:sp>
        <p:nvSpPr>
          <p:cNvPr id="8" name="Text 6"/>
          <p:cNvSpPr txBox="1"/>
          <p:nvPr/>
        </p:nvSpPr>
        <p:spPr>
          <a:xfrm>
            <a:off x="632222" y="3271093"/>
            <a:ext cx="1183332" cy="219075"/>
          </a:xfrm>
          <a:prstGeom prst="rect">
            <a:avLst/>
          </a:prstGeom>
          <a:noFill/>
          <a:ln/>
        </p:spPr>
        <p:txBody>
          <a:bodyPr wrap="none" lIns="0" tIns="0" rIns="0" bIns="0" rtlCol="0" anchor="t"/>
          <a:lstStyle/>
          <a:p>
            <a:pPr algn="l" indent="0" marL="0">
              <a:buNone/>
            </a:pPr>
            <a:r>
              <a:rPr lang="en-US" sz="1260" dirty="0">
                <a:solidFill>
                  <a:srgbClr val="F7F6F3">
                    <a:alpha val="86000"/>
                  </a:srgbClr>
                </a:solidFill>
                <a:latin typeface="Manrope" pitchFamily="34" charset="0"/>
                <a:ea typeface="Manrope" pitchFamily="34" charset="-122"/>
                <a:cs typeface="Manrope" pitchFamily="34" charset="-120"/>
              </a:rPr>
              <a:t>Microsoft MVP</a:t>
            </a:r>
            <a:endParaRPr lang="en-US" sz="1260" dirty="0"/>
          </a:p>
        </p:txBody>
      </p:sp>
      <p:sp>
        <p:nvSpPr>
          <p:cNvPr id="9" name="Shape 7"/>
          <p:cNvSpPr/>
          <p:nvPr/>
        </p:nvSpPr>
        <p:spPr>
          <a:xfrm>
            <a:off x="487561" y="3649358"/>
            <a:ext cx="47625" cy="47625"/>
          </a:xfrm>
          <a:prstGeom prst="roundRect">
            <a:avLst>
              <a:gd name="adj" fmla="val 50000"/>
            </a:avLst>
          </a:prstGeom>
          <a:solidFill>
            <a:srgbClr val="F4C233"/>
          </a:solidFill>
          <a:ln/>
        </p:spPr>
      </p:sp>
      <p:sp>
        <p:nvSpPr>
          <p:cNvPr id="10" name="Text 8"/>
          <p:cNvSpPr txBox="1"/>
          <p:nvPr/>
        </p:nvSpPr>
        <p:spPr>
          <a:xfrm>
            <a:off x="632222" y="3559671"/>
            <a:ext cx="1214289" cy="219075"/>
          </a:xfrm>
          <a:prstGeom prst="rect">
            <a:avLst/>
          </a:prstGeom>
          <a:noFill/>
          <a:ln/>
        </p:spPr>
        <p:txBody>
          <a:bodyPr wrap="none" lIns="0" tIns="0" rIns="0" bIns="0" rtlCol="0" anchor="t"/>
          <a:lstStyle/>
          <a:p>
            <a:pPr algn="l" indent="0" marL="0">
              <a:buNone/>
            </a:pPr>
            <a:r>
              <a:rPr lang="en-US" sz="1260" dirty="0">
                <a:solidFill>
                  <a:srgbClr val="F7F6F3">
                    <a:alpha val="86000"/>
                  </a:srgbClr>
                </a:solidFill>
                <a:latin typeface="Manrope" pitchFamily="34" charset="0"/>
                <a:ea typeface="Manrope" pitchFamily="34" charset="-122"/>
                <a:cs typeface="Manrope" pitchFamily="34" charset="-120"/>
              </a:rPr>
              <a:t>.NET 10 / C# 14</a:t>
            </a:r>
            <a:endParaRPr lang="en-US" sz="1260" dirty="0"/>
          </a:p>
        </p:txBody>
      </p:sp>
      <p:pic>
        <p:nvPicPr>
          <p:cNvPr id="11" name="Image 0" descr="Rendered as an image because of CSS background-image">    </p:cNvPr>
          <p:cNvPicPr>
            <a:picLocks noChangeAspect="1"/>
          </p:cNvPicPr>
          <p:nvPr/>
        </p:nvPicPr>
        <p:blipFill>
          <a:blip r:embed="rId1"/>
          <a:stretch>
            <a:fillRect/>
          </a:stretch>
        </p:blipFill>
        <p:spPr>
          <a:xfrm>
            <a:off x="5673626" y="0"/>
            <a:ext cx="3660874" cy="5257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87561" y="1617911"/>
            <a:ext cx="2775793" cy="619125"/>
          </a:xfrm>
          <a:prstGeom prst="rect">
            <a:avLst/>
          </a:prstGeom>
          <a:noFill/>
          <a:ln/>
        </p:spPr>
        <p:txBody>
          <a:bodyPr wrap="none" lIns="0" tIns="0" rIns="0" bIns="0" rtlCol="0" anchor="t"/>
          <a:lstStyle/>
          <a:p>
            <a:pPr algn="l" indent="0" marL="0">
              <a:buNone/>
            </a:pPr>
            <a:r>
              <a:rPr lang="en-US" sz="3600" b="1" spc="-72" kern="0" dirty="0">
                <a:solidFill>
                  <a:srgbClr val="16303F"/>
                </a:solidFill>
                <a:latin typeface="Manrope" pitchFamily="34" charset="0"/>
                <a:ea typeface="Manrope" pitchFamily="34" charset="-122"/>
                <a:cs typeface="Manrope" pitchFamily="34" charset="-120"/>
              </a:rPr>
              <a:t>Kevin Griffin</a:t>
            </a:r>
            <a:endParaRPr lang="en-US" sz="3600" dirty="0"/>
          </a:p>
        </p:txBody>
      </p:sp>
      <p:sp>
        <p:nvSpPr>
          <p:cNvPr id="4" name="Shape 2"/>
          <p:cNvSpPr/>
          <p:nvPr/>
        </p:nvSpPr>
        <p:spPr>
          <a:xfrm>
            <a:off x="487561" y="2518116"/>
            <a:ext cx="47625" cy="47625"/>
          </a:xfrm>
          <a:prstGeom prst="roundRect">
            <a:avLst>
              <a:gd name="adj" fmla="val 50000"/>
            </a:avLst>
          </a:prstGeom>
          <a:solidFill>
            <a:srgbClr val="F4C233"/>
          </a:solidFill>
          <a:ln/>
        </p:spPr>
      </p:sp>
      <p:sp>
        <p:nvSpPr>
          <p:cNvPr id="5" name="Text 3"/>
          <p:cNvSpPr txBox="1"/>
          <p:nvPr/>
        </p:nvSpPr>
        <p:spPr>
          <a:xfrm>
            <a:off x="632222" y="2428429"/>
            <a:ext cx="2913608"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Software consultant — .NET and Azure</a:t>
            </a:r>
            <a:endParaRPr lang="en-US" sz="1260" dirty="0"/>
          </a:p>
        </p:txBody>
      </p:sp>
      <p:sp>
        <p:nvSpPr>
          <p:cNvPr id="6" name="Shape 4"/>
          <p:cNvSpPr/>
          <p:nvPr/>
        </p:nvSpPr>
        <p:spPr>
          <a:xfrm>
            <a:off x="487561" y="2806694"/>
            <a:ext cx="47625" cy="47625"/>
          </a:xfrm>
          <a:prstGeom prst="roundRect">
            <a:avLst>
              <a:gd name="adj" fmla="val 50000"/>
            </a:avLst>
          </a:prstGeom>
          <a:solidFill>
            <a:srgbClr val="F4C233"/>
          </a:solidFill>
          <a:ln/>
        </p:spPr>
      </p:sp>
      <p:sp>
        <p:nvSpPr>
          <p:cNvPr id="7" name="Text 5"/>
          <p:cNvSpPr txBox="1"/>
          <p:nvPr/>
        </p:nvSpPr>
        <p:spPr>
          <a:xfrm>
            <a:off x="632222" y="2717006"/>
            <a:ext cx="1183332"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Microsoft MVP</a:t>
            </a:r>
            <a:endParaRPr lang="en-US" sz="1260" dirty="0"/>
          </a:p>
        </p:txBody>
      </p:sp>
      <p:sp>
        <p:nvSpPr>
          <p:cNvPr id="8" name="Shape 6"/>
          <p:cNvSpPr/>
          <p:nvPr/>
        </p:nvSpPr>
        <p:spPr>
          <a:xfrm>
            <a:off x="487561" y="3095271"/>
            <a:ext cx="47625" cy="47625"/>
          </a:xfrm>
          <a:prstGeom prst="roundRect">
            <a:avLst>
              <a:gd name="adj" fmla="val 50000"/>
            </a:avLst>
          </a:prstGeom>
          <a:solidFill>
            <a:srgbClr val="F4C233"/>
          </a:solidFill>
          <a:ln/>
        </p:spPr>
      </p:sp>
      <p:sp>
        <p:nvSpPr>
          <p:cNvPr id="9" name="Text 7"/>
          <p:cNvSpPr txBox="1"/>
          <p:nvPr/>
        </p:nvSpPr>
        <p:spPr>
          <a:xfrm>
            <a:off x="632222" y="3005584"/>
            <a:ext cx="2347764"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Builds and runs Shows On Sale</a:t>
            </a:r>
            <a:endParaRPr lang="en-US" sz="1260" dirty="0"/>
          </a:p>
        </p:txBody>
      </p:sp>
      <p:sp>
        <p:nvSpPr>
          <p:cNvPr id="10" name="Shape 8"/>
          <p:cNvSpPr/>
          <p:nvPr/>
        </p:nvSpPr>
        <p:spPr>
          <a:xfrm>
            <a:off x="487561" y="3383849"/>
            <a:ext cx="47625" cy="47625"/>
          </a:xfrm>
          <a:prstGeom prst="roundRect">
            <a:avLst>
              <a:gd name="adj" fmla="val 50000"/>
            </a:avLst>
          </a:prstGeom>
          <a:solidFill>
            <a:srgbClr val="F4C233"/>
          </a:solidFill>
          <a:ln/>
        </p:spPr>
      </p:sp>
      <p:sp>
        <p:nvSpPr>
          <p:cNvPr id="11" name="Text 9"/>
          <p:cNvSpPr txBox="1"/>
          <p:nvPr/>
        </p:nvSpPr>
        <p:spPr>
          <a:xfrm>
            <a:off x="632222" y="3294162"/>
            <a:ext cx="1633984"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consultwithgriff.com</a:t>
            </a:r>
            <a:endParaRPr lang="en-US" sz="1260" dirty="0"/>
          </a:p>
        </p:txBody>
      </p:sp>
      <p:pic>
        <p:nvPicPr>
          <p:cNvPr id="12" name="Image 0" descr="Rendered as an image because of CSS background-image">    </p:cNvPr>
          <p:cNvPicPr>
            <a:picLocks noChangeAspect="1"/>
          </p:cNvPicPr>
          <p:nvPr/>
        </p:nvPicPr>
        <p:blipFill>
          <a:blip r:embed="rId1"/>
          <a:stretch>
            <a:fillRect/>
          </a:stretch>
        </p:blipFill>
        <p:spPr>
          <a:xfrm>
            <a:off x="5673626" y="0"/>
            <a:ext cx="3660874" cy="52578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0" y="0"/>
            <a:ext cx="1981200" cy="5257800"/>
          </a:xfrm>
          <a:prstGeom prst="rect">
            <a:avLst/>
          </a:prstGeom>
          <a:solidFill>
            <a:srgbClr val="16303F"/>
          </a:solidFill>
          <a:ln/>
        </p:spPr>
      </p:sp>
      <p:sp>
        <p:nvSpPr>
          <p:cNvPr id="4" name="Text 2"/>
          <p:cNvSpPr txBox="1"/>
          <p:nvPr/>
        </p:nvSpPr>
        <p:spPr>
          <a:xfrm>
            <a:off x="243780" y="4379565"/>
            <a:ext cx="1512689" cy="522982"/>
          </a:xfrm>
          <a:prstGeom prst="rect">
            <a:avLst/>
          </a:prstGeom>
          <a:noFill/>
          <a:ln/>
        </p:spPr>
        <p:txBody>
          <a:bodyPr wrap="square" lIns="0" tIns="0" rIns="0" bIns="0" rtlCol="0" anchor="t"/>
          <a:lstStyle/>
          <a:p>
            <a:pPr algn="l" indent="0" marL="0">
              <a:lnSpc>
                <a:spcPts val="1943"/>
              </a:lnSpc>
              <a:buNone/>
            </a:pPr>
            <a:r>
              <a:rPr lang="en-US" sz="1620" b="1" dirty="0">
                <a:solidFill>
                  <a:srgbClr val="F7F6F3"/>
                </a:solidFill>
                <a:latin typeface="Manrope" pitchFamily="34" charset="0"/>
                <a:ea typeface="Manrope" pitchFamily="34" charset="-122"/>
                <a:cs typeface="Manrope" pitchFamily="34" charset="-120"/>
              </a:rPr>
              <a:t>Following one value</a:t>
            </a:r>
            <a:endParaRPr lang="en-US" sz="1620" dirty="0"/>
          </a:p>
        </p:txBody>
      </p:sp>
      <p:sp>
        <p:nvSpPr>
          <p:cNvPr id="5" name="Text 3"/>
          <p:cNvSpPr txBox="1"/>
          <p:nvPr/>
        </p:nvSpPr>
        <p:spPr>
          <a:xfrm>
            <a:off x="2438400" y="1354187"/>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6" name="Text 4"/>
          <p:cNvSpPr txBox="1"/>
          <p:nvPr/>
        </p:nvSpPr>
        <p:spPr>
          <a:xfrm>
            <a:off x="2910780" y="1363712"/>
            <a:ext cx="4036963"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The shared baseline — what everyone gets</a:t>
            </a:r>
            <a:endParaRPr lang="en-US" sz="1536" dirty="0"/>
          </a:p>
        </p:txBody>
      </p:sp>
      <p:sp>
        <p:nvSpPr>
          <p:cNvPr id="7" name="Text 5"/>
          <p:cNvSpPr txBox="1"/>
          <p:nvPr/>
        </p:nvSpPr>
        <p:spPr>
          <a:xfrm>
            <a:off x="2438400" y="1756470"/>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8" name="Text 6"/>
          <p:cNvSpPr txBox="1"/>
          <p:nvPr/>
        </p:nvSpPr>
        <p:spPr>
          <a:xfrm>
            <a:off x="2910780" y="1765995"/>
            <a:ext cx="4416028"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My machine — differing without breaking yours</a:t>
            </a:r>
            <a:endParaRPr lang="en-US" sz="1536" dirty="0"/>
          </a:p>
        </p:txBody>
      </p:sp>
      <p:sp>
        <p:nvSpPr>
          <p:cNvPr id="9" name="Text 7"/>
          <p:cNvSpPr txBox="1"/>
          <p:nvPr/>
        </p:nvSpPr>
        <p:spPr>
          <a:xfrm>
            <a:off x="2438400" y="2158752"/>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10" name="Text 8"/>
          <p:cNvSpPr txBox="1"/>
          <p:nvPr/>
        </p:nvSpPr>
        <p:spPr>
          <a:xfrm>
            <a:off x="2910780" y="2168277"/>
            <a:ext cx="3972371"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The shared dev server — it left your laptop</a:t>
            </a:r>
            <a:endParaRPr lang="en-US" sz="1536" dirty="0"/>
          </a:p>
        </p:txBody>
      </p:sp>
      <p:sp>
        <p:nvSpPr>
          <p:cNvPr id="11" name="Text 9"/>
          <p:cNvSpPr txBox="1"/>
          <p:nvPr/>
        </p:nvSpPr>
        <p:spPr>
          <a:xfrm>
            <a:off x="2438400" y="2561034"/>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12" name="Text 10"/>
          <p:cNvSpPr txBox="1"/>
          <p:nvPr/>
        </p:nvSpPr>
        <p:spPr>
          <a:xfrm>
            <a:off x="2910780" y="2570559"/>
            <a:ext cx="5670649"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Production — ownership, trust, and change without a deploy</a:t>
            </a:r>
            <a:endParaRPr lang="en-US" sz="1536" dirty="0"/>
          </a:p>
        </p:txBody>
      </p:sp>
      <p:sp>
        <p:nvSpPr>
          <p:cNvPr id="13" name="Text 11"/>
          <p:cNvSpPr txBox="1"/>
          <p:nvPr/>
        </p:nvSpPr>
        <p:spPr>
          <a:xfrm>
            <a:off x="2438400" y="2963317"/>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14" name="Text 12"/>
          <p:cNvSpPr txBox="1"/>
          <p:nvPr/>
        </p:nvSpPr>
        <p:spPr>
          <a:xfrm>
            <a:off x="2910780" y="2972842"/>
            <a:ext cx="2801243"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Where should this value live?</a:t>
            </a:r>
            <a:endParaRPr lang="en-US" sz="1536" dirty="0"/>
          </a:p>
        </p:txBody>
      </p:sp>
      <p:sp>
        <p:nvSpPr>
          <p:cNvPr id="15" name="Shape 13"/>
          <p:cNvSpPr/>
          <p:nvPr/>
        </p:nvSpPr>
        <p:spPr>
          <a:xfrm>
            <a:off x="3453110" y="3650010"/>
            <a:ext cx="1903809" cy="202704"/>
          </a:xfrm>
          <a:prstGeom prst="roundRect">
            <a:avLst>
              <a:gd name="adj" fmla="val 18796"/>
            </a:avLst>
          </a:prstGeom>
          <a:solidFill>
            <a:srgbClr val="16303F">
              <a:alpha val="7000"/>
            </a:srgbClr>
          </a:solidFill>
          <a:ln/>
        </p:spPr>
      </p:sp>
      <p:sp>
        <p:nvSpPr>
          <p:cNvPr id="16" name="Text 14"/>
          <p:cNvSpPr txBox="1"/>
          <p:nvPr/>
        </p:nvSpPr>
        <p:spPr>
          <a:xfrm>
            <a:off x="2438400" y="3641824"/>
            <a:ext cx="4167783"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The same key, </a:t>
            </a:r>
            <a:pPr algn="l" indent="0" marL="0">
              <a:buNone/>
            </a:pPr>
            <a:r>
              <a:rPr lang="en-US" sz="1080" dirty="0">
                <a:solidFill>
                  <a:srgbClr val="44535A"/>
                </a:solidFill>
                <a:latin typeface="JetBrains Mono" pitchFamily="34" charset="0"/>
                <a:ea typeface="JetBrains Mono" pitchFamily="34" charset="-122"/>
                <a:cs typeface="JetBrains Mono" pitchFamily="34" charset="-120"/>
              </a:rPr>
              <a:t>Weather:TimeoutSeconds</a:t>
            </a:r>
            <a:pPr algn="l" indent="0" marL="0">
              <a:buNone/>
            </a:pPr>
            <a:r>
              <a:rPr lang="en-US" sz="1200" dirty="0">
                <a:solidFill>
                  <a:srgbClr val="44535A"/>
                </a:solidFill>
                <a:latin typeface="Manrope" pitchFamily="34" charset="0"/>
                <a:ea typeface="Manrope" pitchFamily="34" charset="-122"/>
                <a:cs typeface="Manrope" pitchFamily="34" charset="-120"/>
              </a:rPr>
              <a:t>, crosses all five.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6306741"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Why externalize configuration at all?</a:t>
            </a:r>
            <a:endParaRPr lang="en-US" sz="2820" dirty="0"/>
          </a:p>
        </p:txBody>
      </p:sp>
      <p:sp>
        <p:nvSpPr>
          <p:cNvPr id="4" name="Shape 2"/>
          <p:cNvSpPr/>
          <p:nvPr/>
        </p:nvSpPr>
        <p:spPr>
          <a:xfrm>
            <a:off x="457200" y="1109811"/>
            <a:ext cx="1580406" cy="1249561"/>
          </a:xfrm>
          <a:prstGeom prst="roundRect">
            <a:avLst>
              <a:gd name="adj" fmla="val 7623"/>
            </a:avLst>
          </a:prstGeom>
          <a:solidFill>
            <a:srgbClr val="FFFFFF"/>
          </a:solidFill>
          <a:ln w="9525">
            <a:solidFill>
              <a:srgbClr val="DDD9D2"/>
            </a:solidFill>
            <a:prstDash val="solid"/>
          </a:ln>
        </p:spPr>
      </p:sp>
      <p:sp>
        <p:nvSpPr>
          <p:cNvPr id="5" name="Text 3"/>
          <p:cNvSpPr txBox="1"/>
          <p:nvPr/>
        </p:nvSpPr>
        <p:spPr>
          <a:xfrm>
            <a:off x="641896"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01</a:t>
            </a:r>
            <a:endParaRPr lang="en-US" sz="1500" dirty="0"/>
          </a:p>
        </p:txBody>
      </p:sp>
      <p:sp>
        <p:nvSpPr>
          <p:cNvPr id="6" name="Text 4"/>
          <p:cNvSpPr txBox="1"/>
          <p:nvPr/>
        </p:nvSpPr>
        <p:spPr>
          <a:xfrm>
            <a:off x="641896" y="1549747"/>
            <a:ext cx="1230064" cy="414189"/>
          </a:xfrm>
          <a:prstGeom prst="rect">
            <a:avLst/>
          </a:prstGeom>
          <a:noFill/>
          <a:ln/>
        </p:spPr>
        <p:txBody>
          <a:bodyPr wrap="square" lIns="0" tIns="0" rIns="0" bIns="0" rtlCol="0" anchor="t"/>
          <a:lstStyle/>
          <a:p>
            <a:pPr algn="l" indent="0" marL="0">
              <a:lnSpc>
                <a:spcPts val="1536"/>
              </a:lnSpc>
              <a:buNone/>
            </a:pPr>
            <a:r>
              <a:rPr lang="en-US" sz="1260" b="1" dirty="0">
                <a:solidFill>
                  <a:srgbClr val="16303F"/>
                </a:solidFill>
                <a:latin typeface="Manrope" pitchFamily="34" charset="0"/>
                <a:ea typeface="Manrope" pitchFamily="34" charset="-122"/>
                <a:cs typeface="Manrope" pitchFamily="34" charset="-120"/>
              </a:rPr>
              <a:t>No hard-coding</a:t>
            </a:r>
            <a:endParaRPr lang="en-US" sz="1260" dirty="0"/>
          </a:p>
        </p:txBody>
      </p:sp>
      <p:sp>
        <p:nvSpPr>
          <p:cNvPr id="7" name="Shape 5"/>
          <p:cNvSpPr/>
          <p:nvPr/>
        </p:nvSpPr>
        <p:spPr>
          <a:xfrm>
            <a:off x="2167086" y="1109811"/>
            <a:ext cx="1580406" cy="1249561"/>
          </a:xfrm>
          <a:prstGeom prst="roundRect">
            <a:avLst>
              <a:gd name="adj" fmla="val 7623"/>
            </a:avLst>
          </a:prstGeom>
          <a:solidFill>
            <a:srgbClr val="FFFFFF"/>
          </a:solidFill>
          <a:ln w="9525">
            <a:solidFill>
              <a:srgbClr val="DDD9D2"/>
            </a:solidFill>
            <a:prstDash val="solid"/>
          </a:ln>
        </p:spPr>
      </p:sp>
      <p:sp>
        <p:nvSpPr>
          <p:cNvPr id="8" name="Text 6"/>
          <p:cNvSpPr txBox="1"/>
          <p:nvPr/>
        </p:nvSpPr>
        <p:spPr>
          <a:xfrm>
            <a:off x="2351782"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02</a:t>
            </a:r>
            <a:endParaRPr lang="en-US" sz="1500" dirty="0"/>
          </a:p>
        </p:txBody>
      </p:sp>
      <p:sp>
        <p:nvSpPr>
          <p:cNvPr id="9" name="Text 7"/>
          <p:cNvSpPr txBox="1"/>
          <p:nvPr/>
        </p:nvSpPr>
        <p:spPr>
          <a:xfrm>
            <a:off x="2351782" y="1549747"/>
            <a:ext cx="1230064" cy="414189"/>
          </a:xfrm>
          <a:prstGeom prst="rect">
            <a:avLst/>
          </a:prstGeom>
          <a:noFill/>
          <a:ln/>
        </p:spPr>
        <p:txBody>
          <a:bodyPr wrap="square" lIns="0" tIns="0" rIns="0" bIns="0" rtlCol="0" anchor="t"/>
          <a:lstStyle/>
          <a:p>
            <a:pPr algn="l" indent="0" marL="0">
              <a:lnSpc>
                <a:spcPts val="1536"/>
              </a:lnSpc>
              <a:buNone/>
            </a:pPr>
            <a:r>
              <a:rPr lang="en-US" sz="1260" b="1" dirty="0">
                <a:solidFill>
                  <a:srgbClr val="16303F"/>
                </a:solidFill>
                <a:latin typeface="Manrope" pitchFamily="34" charset="0"/>
                <a:ea typeface="Manrope" pitchFamily="34" charset="-122"/>
                <a:cs typeface="Manrope" pitchFamily="34" charset="-120"/>
              </a:rPr>
              <a:t>Varies by environment</a:t>
            </a:r>
            <a:endParaRPr lang="en-US" sz="1260" dirty="0"/>
          </a:p>
        </p:txBody>
      </p:sp>
      <p:sp>
        <p:nvSpPr>
          <p:cNvPr id="10" name="Shape 8"/>
          <p:cNvSpPr/>
          <p:nvPr/>
        </p:nvSpPr>
        <p:spPr>
          <a:xfrm>
            <a:off x="3876973" y="1109811"/>
            <a:ext cx="1580406" cy="1249561"/>
          </a:xfrm>
          <a:prstGeom prst="roundRect">
            <a:avLst>
              <a:gd name="adj" fmla="val 7623"/>
            </a:avLst>
          </a:prstGeom>
          <a:solidFill>
            <a:srgbClr val="FFFFFF"/>
          </a:solidFill>
          <a:ln w="9525">
            <a:solidFill>
              <a:srgbClr val="DDD9D2"/>
            </a:solidFill>
            <a:prstDash val="solid"/>
          </a:ln>
        </p:spPr>
      </p:sp>
      <p:sp>
        <p:nvSpPr>
          <p:cNvPr id="11" name="Text 9"/>
          <p:cNvSpPr txBox="1"/>
          <p:nvPr/>
        </p:nvSpPr>
        <p:spPr>
          <a:xfrm>
            <a:off x="4061668"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03</a:t>
            </a:r>
            <a:endParaRPr lang="en-US" sz="1500" dirty="0"/>
          </a:p>
        </p:txBody>
      </p:sp>
      <p:sp>
        <p:nvSpPr>
          <p:cNvPr id="12" name="Text 10"/>
          <p:cNvSpPr txBox="1"/>
          <p:nvPr/>
        </p:nvSpPr>
        <p:spPr>
          <a:xfrm>
            <a:off x="4061668" y="1549747"/>
            <a:ext cx="1230064" cy="414189"/>
          </a:xfrm>
          <a:prstGeom prst="rect">
            <a:avLst/>
          </a:prstGeom>
          <a:noFill/>
          <a:ln/>
        </p:spPr>
        <p:txBody>
          <a:bodyPr wrap="square" lIns="0" tIns="0" rIns="0" bIns="0" rtlCol="0" anchor="t"/>
          <a:lstStyle/>
          <a:p>
            <a:pPr algn="l" indent="0" marL="0">
              <a:lnSpc>
                <a:spcPts val="1536"/>
              </a:lnSpc>
              <a:buNone/>
            </a:pPr>
            <a:r>
              <a:rPr lang="en-US" sz="1260" b="1" dirty="0">
                <a:solidFill>
                  <a:srgbClr val="16303F"/>
                </a:solidFill>
                <a:latin typeface="Manrope" pitchFamily="34" charset="0"/>
                <a:ea typeface="Manrope" pitchFamily="34" charset="-122"/>
                <a:cs typeface="Manrope" pitchFamily="34" charset="-120"/>
              </a:rPr>
              <a:t>Change it on the fly</a:t>
            </a:r>
            <a:endParaRPr lang="en-US" sz="1260" dirty="0"/>
          </a:p>
        </p:txBody>
      </p:sp>
      <p:sp>
        <p:nvSpPr>
          <p:cNvPr id="13" name="Shape 11"/>
          <p:cNvSpPr/>
          <p:nvPr/>
        </p:nvSpPr>
        <p:spPr>
          <a:xfrm>
            <a:off x="5586859" y="1109811"/>
            <a:ext cx="1580406" cy="1249561"/>
          </a:xfrm>
          <a:prstGeom prst="roundRect">
            <a:avLst>
              <a:gd name="adj" fmla="val 7623"/>
            </a:avLst>
          </a:prstGeom>
          <a:solidFill>
            <a:srgbClr val="16303F"/>
          </a:solidFill>
          <a:ln w="9525">
            <a:solidFill>
              <a:srgbClr val="16303F"/>
            </a:solidFill>
            <a:prstDash val="solid"/>
          </a:ln>
        </p:spPr>
      </p:sp>
      <p:sp>
        <p:nvSpPr>
          <p:cNvPr id="14" name="Text 12"/>
          <p:cNvSpPr txBox="1"/>
          <p:nvPr/>
        </p:nvSpPr>
        <p:spPr>
          <a:xfrm>
            <a:off x="5771555" y="1258342"/>
            <a:ext cx="342900" cy="247650"/>
          </a:xfrm>
          <a:prstGeom prst="rect">
            <a:avLst/>
          </a:prstGeom>
          <a:noFill/>
          <a:ln/>
        </p:spPr>
        <p:txBody>
          <a:bodyPr wrap="none" lIns="0" tIns="0" rIns="0" bIns="0" rtlCol="0" anchor="t"/>
          <a:lstStyle/>
          <a:p>
            <a:pPr algn="l" indent="0" marL="0">
              <a:buNone/>
            </a:pPr>
            <a:r>
              <a:rPr lang="en-US" sz="1500" b="1" dirty="0">
                <a:solidFill>
                  <a:srgbClr val="F4C233"/>
                </a:solidFill>
                <a:latin typeface="JetBrains Mono" pitchFamily="34" charset="0"/>
                <a:ea typeface="JetBrains Mono" pitchFamily="34" charset="-122"/>
                <a:cs typeface="JetBrains Mono" pitchFamily="34" charset="-120"/>
              </a:rPr>
              <a:t>04</a:t>
            </a:r>
            <a:endParaRPr lang="en-US" sz="1500" dirty="0"/>
          </a:p>
        </p:txBody>
      </p:sp>
      <p:sp>
        <p:nvSpPr>
          <p:cNvPr id="15" name="Text 13"/>
          <p:cNvSpPr txBox="1"/>
          <p:nvPr/>
        </p:nvSpPr>
        <p:spPr>
          <a:xfrm>
            <a:off x="5771555" y="1549747"/>
            <a:ext cx="529977" cy="219075"/>
          </a:xfrm>
          <a:prstGeom prst="rect">
            <a:avLst/>
          </a:prstGeom>
          <a:noFill/>
          <a:ln/>
        </p:spPr>
        <p:txBody>
          <a:bodyPr wrap="none" lIns="0" tIns="0" rIns="0" bIns="0" rtlCol="0" anchor="t"/>
          <a:lstStyle/>
          <a:p>
            <a:pPr algn="l" indent="0" marL="0">
              <a:buNone/>
            </a:pPr>
            <a:r>
              <a:rPr lang="en-US" sz="1260" b="1" dirty="0">
                <a:solidFill>
                  <a:srgbClr val="F7F6F3"/>
                </a:solidFill>
                <a:latin typeface="Manrope" pitchFamily="34" charset="0"/>
                <a:ea typeface="Manrope" pitchFamily="34" charset="-122"/>
                <a:cs typeface="Manrope" pitchFamily="34" charset="-120"/>
              </a:rPr>
              <a:t>Trust</a:t>
            </a:r>
            <a:endParaRPr lang="en-US" sz="1260" dirty="0"/>
          </a:p>
        </p:txBody>
      </p:sp>
      <p:sp>
        <p:nvSpPr>
          <p:cNvPr id="16" name="Shape 14"/>
          <p:cNvSpPr/>
          <p:nvPr/>
        </p:nvSpPr>
        <p:spPr>
          <a:xfrm>
            <a:off x="7296745" y="1109811"/>
            <a:ext cx="1580555" cy="1249561"/>
          </a:xfrm>
          <a:prstGeom prst="roundRect">
            <a:avLst>
              <a:gd name="adj" fmla="val 7623"/>
            </a:avLst>
          </a:prstGeom>
          <a:solidFill>
            <a:srgbClr val="16303F"/>
          </a:solidFill>
          <a:ln w="9525">
            <a:solidFill>
              <a:srgbClr val="16303F"/>
            </a:solidFill>
            <a:prstDash val="solid"/>
          </a:ln>
        </p:spPr>
      </p:sp>
      <p:sp>
        <p:nvSpPr>
          <p:cNvPr id="17" name="Text 15"/>
          <p:cNvSpPr txBox="1"/>
          <p:nvPr/>
        </p:nvSpPr>
        <p:spPr>
          <a:xfrm>
            <a:off x="7481441" y="1258342"/>
            <a:ext cx="342900" cy="247650"/>
          </a:xfrm>
          <a:prstGeom prst="rect">
            <a:avLst/>
          </a:prstGeom>
          <a:noFill/>
          <a:ln/>
        </p:spPr>
        <p:txBody>
          <a:bodyPr wrap="none" lIns="0" tIns="0" rIns="0" bIns="0" rtlCol="0" anchor="t"/>
          <a:lstStyle/>
          <a:p>
            <a:pPr algn="l" indent="0" marL="0">
              <a:buNone/>
            </a:pPr>
            <a:r>
              <a:rPr lang="en-US" sz="1500" b="1" dirty="0">
                <a:solidFill>
                  <a:srgbClr val="F4C233"/>
                </a:solidFill>
                <a:latin typeface="JetBrains Mono" pitchFamily="34" charset="0"/>
                <a:ea typeface="JetBrains Mono" pitchFamily="34" charset="-122"/>
                <a:cs typeface="JetBrains Mono" pitchFamily="34" charset="-120"/>
              </a:rPr>
              <a:t>05</a:t>
            </a:r>
            <a:endParaRPr lang="en-US" sz="1500" dirty="0"/>
          </a:p>
        </p:txBody>
      </p:sp>
      <p:sp>
        <p:nvSpPr>
          <p:cNvPr id="18" name="Text 16"/>
          <p:cNvSpPr txBox="1"/>
          <p:nvPr/>
        </p:nvSpPr>
        <p:spPr>
          <a:xfrm>
            <a:off x="7481441" y="1549747"/>
            <a:ext cx="962174" cy="219075"/>
          </a:xfrm>
          <a:prstGeom prst="rect">
            <a:avLst/>
          </a:prstGeom>
          <a:noFill/>
          <a:ln/>
        </p:spPr>
        <p:txBody>
          <a:bodyPr wrap="none" lIns="0" tIns="0" rIns="0" bIns="0" rtlCol="0" anchor="t"/>
          <a:lstStyle/>
          <a:p>
            <a:pPr algn="l" indent="0" marL="0">
              <a:buNone/>
            </a:pPr>
            <a:r>
              <a:rPr lang="en-US" sz="1260" b="1" dirty="0">
                <a:solidFill>
                  <a:srgbClr val="F7F6F3"/>
                </a:solidFill>
                <a:latin typeface="Manrope" pitchFamily="34" charset="0"/>
                <a:ea typeface="Manrope" pitchFamily="34" charset="-122"/>
                <a:cs typeface="Manrope" pitchFamily="34" charset="-120"/>
              </a:rPr>
              <a:t>Ownership</a:t>
            </a:r>
            <a:endParaRPr lang="en-US" sz="1260" dirty="0"/>
          </a:p>
        </p:txBody>
      </p:sp>
      <p:sp>
        <p:nvSpPr>
          <p:cNvPr id="19" name="Text 17"/>
          <p:cNvSpPr txBox="1"/>
          <p:nvPr/>
        </p:nvSpPr>
        <p:spPr>
          <a:xfrm>
            <a:off x="457200" y="2635597"/>
            <a:ext cx="3005435"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04 and 05 are why this talk exists in 2026.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661839"/>
            <a:ext cx="5233839"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The same problem, three generations</a:t>
            </a:r>
            <a:endParaRPr lang="en-US" sz="2280" dirty="0"/>
          </a:p>
        </p:txBody>
      </p:sp>
      <p:sp>
        <p:nvSpPr>
          <p:cNvPr id="4" name="Shape 2"/>
          <p:cNvSpPr/>
          <p:nvPr/>
        </p:nvSpPr>
        <p:spPr>
          <a:xfrm>
            <a:off x="628650" y="1330672"/>
            <a:ext cx="8077200" cy="3067050"/>
          </a:xfrm>
          <a:prstGeom prst="roundRect">
            <a:avLst>
              <a:gd name="adj" fmla="val 1242"/>
            </a:avLst>
          </a:prstGeom>
          <a:solidFill>
            <a:srgbClr val="011627"/>
          </a:solidFill>
          <a:ln/>
        </p:spPr>
      </p:sp>
      <p:sp>
        <p:nvSpPr>
          <p:cNvPr id="5" name="Text 3"/>
          <p:cNvSpPr txBox="1"/>
          <p:nvPr/>
        </p:nvSpPr>
        <p:spPr>
          <a:xfrm>
            <a:off x="704850" y="1416397"/>
            <a:ext cx="7943850" cy="2881313"/>
          </a:xfrm>
          <a:prstGeom prst="rect">
            <a:avLst/>
          </a:prstGeom>
          <a:noFill/>
          <a:ln/>
        </p:spPr>
        <p:txBody>
          <a:bodyPr wrap="square" lIns="0" tIns="0" rIns="0" bIns="0" rtlCol="0" anchor="t"/>
          <a:lstStyle/>
          <a:p>
            <a:pPr algn="l" indent="0" marL="0">
              <a:lnSpc>
                <a:spcPts val="1913"/>
              </a:lnSpc>
              <a:buNone/>
            </a:pPr>
            <a:r>
              <a:rPr lang="en-US" sz="1275" dirty="0">
                <a:solidFill>
                  <a:srgbClr val="637777"/>
                </a:solidFill>
                <a:latin typeface="JetBrains Mono" pitchFamily="34" charset="0"/>
                <a:ea typeface="JetBrains Mono" pitchFamily="34" charset="-122"/>
                <a:cs typeface="JetBrains Mono" pitchFamily="34" charset="-120"/>
              </a:rPr>
              <a:t>// 2002</a:t>
            </a:r>
            <a:b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if</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DEBUG</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const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Db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localhost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else</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const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Db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sql-prod-01</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endif</a:t>
            </a:r>
            <a:br/>
            <a:pPr algn="l" indent="0" marL="0">
              <a:lnSpc>
                <a:spcPts val="1913"/>
              </a:lnSpc>
              <a:buNone/>
            </a:pPr>
            <a:br/>
            <a:pPr algn="l" indent="0" marL="0">
              <a:lnSpc>
                <a:spcPts val="1913"/>
              </a:lnSpc>
              <a:buNone/>
            </a:pPr>
            <a:r>
              <a:rPr lang="en-US" sz="1275" dirty="0">
                <a:solidFill>
                  <a:srgbClr val="637777"/>
                </a:solidFill>
                <a:latin typeface="JetBrains Mono" pitchFamily="34" charset="0"/>
                <a:ea typeface="JetBrains Mono" pitchFamily="34" charset="-122"/>
                <a:cs typeface="JetBrains Mono" pitchFamily="34" charset="-120"/>
              </a:rPr>
              <a:t>// 2005</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ConfigurationManager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AppSettings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Db</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637777"/>
                </a:solidFill>
                <a:latin typeface="JetBrains Mono" pitchFamily="34" charset="0"/>
                <a:ea typeface="JetBrains Mono" pitchFamily="34" charset="-122"/>
                <a:cs typeface="JetBrains Mono" pitchFamily="34" charset="-120"/>
              </a:rPr>
              <a:t>// 2018</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config</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GetConnectionString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Default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2164259"/>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We traded a build-time decision for a runtime one.</a:t>
            </a:r>
            <a:endParaRPr lang="en-US" sz="25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1532930"/>
            <a:ext cx="7029450" cy="1218902"/>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If an operational value can differ by environment, deployment, or time, configure it.</a:t>
            </a:r>
            <a:endParaRPr lang="en-US" sz="2520" dirty="0"/>
          </a:p>
        </p:txBody>
      </p:sp>
      <p:sp>
        <p:nvSpPr>
          <p:cNvPr id="4" name="Text 2"/>
          <p:cNvSpPr txBox="1"/>
          <p:nvPr/>
        </p:nvSpPr>
        <p:spPr>
          <a:xfrm>
            <a:off x="685800" y="2795439"/>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If a code path must be switchable without a deploy, flag it.</a:t>
            </a:r>
            <a:endParaRPr lang="en-US" sz="25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1686371"/>
            <a:ext cx="1230511"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THE JOURNEY</a:t>
            </a:r>
            <a:endParaRPr lang="en-US" sz="936" dirty="0"/>
          </a:p>
        </p:txBody>
      </p:sp>
      <p:sp>
        <p:nvSpPr>
          <p:cNvPr id="4" name="Text 2"/>
          <p:cNvSpPr txBox="1"/>
          <p:nvPr/>
        </p:nvSpPr>
        <p:spPr>
          <a:xfrm>
            <a:off x="609600" y="1944588"/>
            <a:ext cx="7506146" cy="523875"/>
          </a:xfrm>
          <a:prstGeom prst="rect">
            <a:avLst/>
          </a:prstGeom>
          <a:noFill/>
          <a:ln/>
        </p:spPr>
        <p:txBody>
          <a:bodyPr wrap="none" lIns="0" tIns="0" rIns="0" bIns="0" rtlCol="0" anchor="t"/>
          <a:lstStyle/>
          <a:p>
            <a:pPr algn="l" indent="0" marL="0">
              <a:buNone/>
            </a:pPr>
            <a:r>
              <a:rPr lang="en-US" sz="3000" b="1" spc="-60" kern="0" dirty="0">
                <a:solidFill>
                  <a:srgbClr val="F7F6F3"/>
                </a:solidFill>
                <a:latin typeface="Manrope" pitchFamily="34" charset="0"/>
                <a:ea typeface="Manrope" pitchFamily="34" charset="-122"/>
                <a:cs typeface="Manrope" pitchFamily="34" charset="-120"/>
              </a:rPr>
              <a:t>One application. Four places it has to run.</a:t>
            </a:r>
            <a:endParaRPr lang="en-US" sz="3000" dirty="0"/>
          </a:p>
        </p:txBody>
      </p:sp>
      <p:sp>
        <p:nvSpPr>
          <p:cNvPr id="5" name="Text 3"/>
          <p:cNvSpPr txBox="1"/>
          <p:nvPr/>
        </p:nvSpPr>
        <p:spPr>
          <a:xfrm>
            <a:off x="609600" y="2590354"/>
            <a:ext cx="5330130" cy="209550"/>
          </a:xfrm>
          <a:prstGeom prst="rect">
            <a:avLst/>
          </a:prstGeom>
          <a:noFill/>
          <a:ln/>
        </p:spPr>
        <p:txBody>
          <a:bodyPr wrap="none" lIns="0" tIns="0" rIns="0" bIns="0" rtlCol="0" anchor="t"/>
          <a:lstStyle/>
          <a:p>
            <a:pPr algn="l" indent="0" marL="0">
              <a:buNone/>
            </a:pPr>
            <a:r>
              <a:rPr lang="en-US" sz="1200" b="1" dirty="0">
                <a:solidFill>
                  <a:srgbClr val="F7F6F3"/>
                </a:solidFill>
                <a:latin typeface="Manrope" pitchFamily="34" charset="0"/>
                <a:ea typeface="Manrope" pitchFamily="34" charset="-122"/>
                <a:cs typeface="Manrope" pitchFamily="34" charset="-120"/>
              </a:rPr>
              <a:t>the team’s baseline</a:t>
            </a:r>
            <a:pPr algn="l" indent="0" marL="0">
              <a:buNone/>
            </a:pPr>
            <a:r>
              <a:rPr lang="en-US" sz="1200" dirty="0">
                <a:solidFill>
                  <a:srgbClr val="C7D0D4"/>
                </a:solidFill>
                <a:latin typeface="Manrope" pitchFamily="34" charset="0"/>
                <a:ea typeface="Manrope" pitchFamily="34" charset="-122"/>
                <a:cs typeface="Manrope" pitchFamily="34" charset="-120"/>
              </a:rPr>
              <a:t> → </a:t>
            </a:r>
            <a:pPr algn="l" indent="0" marL="0">
              <a:buNone/>
            </a:pPr>
            <a:r>
              <a:rPr lang="en-US" sz="1200" b="1" dirty="0">
                <a:solidFill>
                  <a:srgbClr val="F7F6F3"/>
                </a:solidFill>
                <a:latin typeface="Manrope" pitchFamily="34" charset="0"/>
                <a:ea typeface="Manrope" pitchFamily="34" charset="-122"/>
                <a:cs typeface="Manrope" pitchFamily="34" charset="-120"/>
              </a:rPr>
              <a:t>my machine</a:t>
            </a:r>
            <a:pPr algn="l" indent="0" marL="0">
              <a:buNone/>
            </a:pPr>
            <a:r>
              <a:rPr lang="en-US" sz="1200" dirty="0">
                <a:solidFill>
                  <a:srgbClr val="C7D0D4"/>
                </a:solidFill>
                <a:latin typeface="Manrope" pitchFamily="34" charset="0"/>
                <a:ea typeface="Manrope" pitchFamily="34" charset="-122"/>
                <a:cs typeface="Manrope" pitchFamily="34" charset="-120"/>
              </a:rPr>
              <a:t> → </a:t>
            </a:r>
            <a:pPr algn="l" indent="0" marL="0">
              <a:buNone/>
            </a:pPr>
            <a:r>
              <a:rPr lang="en-US" sz="1200" b="1" dirty="0">
                <a:solidFill>
                  <a:srgbClr val="F7F6F3"/>
                </a:solidFill>
                <a:latin typeface="Manrope" pitchFamily="34" charset="0"/>
                <a:ea typeface="Manrope" pitchFamily="34" charset="-122"/>
                <a:cs typeface="Manrope" pitchFamily="34" charset="-120"/>
              </a:rPr>
              <a:t>a shared dev server</a:t>
            </a:r>
            <a:pPr algn="l" indent="0" marL="0">
              <a:buNone/>
            </a:pPr>
            <a:r>
              <a:rPr lang="en-US" sz="1200" dirty="0">
                <a:solidFill>
                  <a:srgbClr val="C7D0D4"/>
                </a:solidFill>
                <a:latin typeface="Manrope" pitchFamily="34" charset="0"/>
                <a:ea typeface="Manrope" pitchFamily="34" charset="-122"/>
                <a:cs typeface="Manrope" pitchFamily="34" charset="-120"/>
              </a:rPr>
              <a:t> → </a:t>
            </a:r>
            <a:pPr algn="l" indent="0" marL="0">
              <a:buNone/>
            </a:pPr>
            <a:r>
              <a:rPr lang="en-US" sz="1200" b="1" dirty="0">
                <a:solidFill>
                  <a:srgbClr val="F7F6F3"/>
                </a:solidFill>
                <a:latin typeface="Manrope" pitchFamily="34" charset="0"/>
                <a:ea typeface="Manrope" pitchFamily="34" charset="-122"/>
                <a:cs typeface="Manrope" pitchFamily="34" charset="-120"/>
              </a:rPr>
              <a:t>production</a:t>
            </a:r>
            <a:endParaRPr lang="en-US" sz="1200" dirty="0"/>
          </a:p>
        </p:txBody>
      </p:sp>
      <p:sp>
        <p:nvSpPr>
          <p:cNvPr id="6" name="Text 4"/>
          <p:cNvSpPr txBox="1"/>
          <p:nvPr/>
        </p:nvSpPr>
        <p:spPr>
          <a:xfrm>
            <a:off x="609600" y="2971354"/>
            <a:ext cx="7943850" cy="438150"/>
          </a:xfrm>
          <a:prstGeom prst="rect">
            <a:avLst/>
          </a:prstGeom>
          <a:noFill/>
          <a:ln/>
        </p:spPr>
        <p:txBody>
          <a:bodyPr wrap="square" lIns="0" tIns="0" rIns="0" bIns="0" rtlCol="0" anchor="t"/>
          <a:lstStyle/>
          <a:p>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Each boundary changes </a:t>
            </a:r>
            <a:pPr algn="l" indent="0" marL="0">
              <a:lnSpc>
                <a:spcPts val="1800"/>
              </a:lnSpc>
              <a:buNone/>
            </a:pPr>
            <a:r>
              <a:rPr lang="en-US" sz="1200" i="1" dirty="0">
                <a:solidFill>
                  <a:srgbClr val="C7D0D4"/>
                </a:solidFill>
                <a:latin typeface="Manrope" pitchFamily="34" charset="0"/>
                <a:ea typeface="Manrope" pitchFamily="34" charset="-122"/>
                <a:cs typeface="Manrope" pitchFamily="34" charset="-120"/>
              </a:rPr>
              <a:t>who supplies the value</a:t>
            </a:r>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 and </a:t>
            </a:r>
            <a:pPr algn="l" indent="0" marL="0">
              <a:lnSpc>
                <a:spcPts val="1800"/>
              </a:lnSpc>
              <a:buNone/>
            </a:pPr>
            <a:r>
              <a:rPr lang="en-US" sz="1200" i="1" dirty="0">
                <a:solidFill>
                  <a:srgbClr val="C7D0D4"/>
                </a:solidFill>
                <a:latin typeface="Manrope" pitchFamily="34" charset="0"/>
                <a:ea typeface="Manrope" pitchFamily="34" charset="-122"/>
                <a:cs typeface="Manrope" pitchFamily="34" charset="-120"/>
              </a:rPr>
              <a:t>what it costs to get it wrong</a:t>
            </a:r>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 The application does not change — only the answer to “where did this come from?” does.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58710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Almost every config bug is one of four things</a:t>
            </a:r>
            <a:endParaRPr lang="en-US" sz="2820" dirty="0"/>
          </a:p>
        </p:txBody>
      </p:sp>
      <p:sp>
        <p:nvSpPr>
          <p:cNvPr id="4" name="Shape 2"/>
          <p:cNvSpPr/>
          <p:nvPr/>
        </p:nvSpPr>
        <p:spPr>
          <a:xfrm>
            <a:off x="457200" y="1109811"/>
            <a:ext cx="4145310" cy="1249561"/>
          </a:xfrm>
          <a:prstGeom prst="roundRect">
            <a:avLst>
              <a:gd name="adj" fmla="val 7623"/>
            </a:avLst>
          </a:prstGeom>
          <a:solidFill>
            <a:srgbClr val="FFFFFF"/>
          </a:solidFill>
          <a:ln w="9525">
            <a:solidFill>
              <a:srgbClr val="DDD9D2"/>
            </a:solidFill>
            <a:prstDash val="solid"/>
          </a:ln>
        </p:spPr>
      </p:sp>
      <p:sp>
        <p:nvSpPr>
          <p:cNvPr id="5" name="Text 3"/>
          <p:cNvSpPr txBox="1"/>
          <p:nvPr/>
        </p:nvSpPr>
        <p:spPr>
          <a:xfrm>
            <a:off x="641896"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01</a:t>
            </a:r>
            <a:endParaRPr lang="en-US" sz="1500" dirty="0"/>
          </a:p>
        </p:txBody>
      </p:sp>
      <p:sp>
        <p:nvSpPr>
          <p:cNvPr id="6" name="Text 4"/>
          <p:cNvSpPr txBox="1"/>
          <p:nvPr/>
        </p:nvSpPr>
        <p:spPr>
          <a:xfrm>
            <a:off x="641896" y="1549747"/>
            <a:ext cx="657820"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ORDER</a:t>
            </a:r>
            <a:endParaRPr lang="en-US" sz="1260" dirty="0"/>
          </a:p>
        </p:txBody>
      </p:sp>
      <p:sp>
        <p:nvSpPr>
          <p:cNvPr id="7" name="Text 5"/>
          <p:cNvSpPr txBox="1"/>
          <p:nvPr/>
        </p:nvSpPr>
        <p:spPr>
          <a:xfrm>
            <a:off x="641896" y="1832372"/>
            <a:ext cx="2411164" cy="180975"/>
          </a:xfrm>
          <a:prstGeom prst="rect">
            <a:avLst/>
          </a:prstGeom>
          <a:noFill/>
          <a:ln/>
        </p:spPr>
        <p:txBody>
          <a:bodyPr wrap="none" lIns="0" tIns="0" rIns="0" bIns="0" rtlCol="0" anchor="t"/>
          <a:lstStyle/>
          <a:p>
            <a:pPr algn="l" indent="0" marL="0">
              <a:buNone/>
            </a:pPr>
            <a:r>
              <a:rPr lang="en-US" sz="1032" dirty="0">
                <a:solidFill>
                  <a:srgbClr val="44535A"/>
                </a:solidFill>
                <a:latin typeface="Manrope" pitchFamily="34" charset="0"/>
                <a:ea typeface="Manrope" pitchFamily="34" charset="-122"/>
                <a:cs typeface="Manrope" pitchFamily="34" charset="-120"/>
              </a:rPr>
              <a:t>A provider you forgot about is winning.</a:t>
            </a:r>
            <a:endParaRPr lang="en-US" sz="1032" dirty="0"/>
          </a:p>
        </p:txBody>
      </p:sp>
      <p:sp>
        <p:nvSpPr>
          <p:cNvPr id="8" name="Shape 6"/>
          <p:cNvSpPr/>
          <p:nvPr/>
        </p:nvSpPr>
        <p:spPr>
          <a:xfrm>
            <a:off x="4731990" y="1109811"/>
            <a:ext cx="4145310" cy="1249561"/>
          </a:xfrm>
          <a:prstGeom prst="roundRect">
            <a:avLst>
              <a:gd name="adj" fmla="val 7623"/>
            </a:avLst>
          </a:prstGeom>
          <a:solidFill>
            <a:srgbClr val="FFFFFF"/>
          </a:solidFill>
          <a:ln w="9525">
            <a:solidFill>
              <a:srgbClr val="DDD9D2"/>
            </a:solidFill>
            <a:prstDash val="solid"/>
          </a:ln>
        </p:spPr>
      </p:sp>
      <p:sp>
        <p:nvSpPr>
          <p:cNvPr id="9" name="Text 7"/>
          <p:cNvSpPr txBox="1"/>
          <p:nvPr/>
        </p:nvSpPr>
        <p:spPr>
          <a:xfrm>
            <a:off x="4916686"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02</a:t>
            </a:r>
            <a:endParaRPr lang="en-US" sz="1500" dirty="0"/>
          </a:p>
        </p:txBody>
      </p:sp>
      <p:sp>
        <p:nvSpPr>
          <p:cNvPr id="10" name="Text 8"/>
          <p:cNvSpPr txBox="1"/>
          <p:nvPr/>
        </p:nvSpPr>
        <p:spPr>
          <a:xfrm>
            <a:off x="4916686" y="1549747"/>
            <a:ext cx="646658"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SHAPE</a:t>
            </a:r>
            <a:endParaRPr lang="en-US" sz="1260" dirty="0"/>
          </a:p>
        </p:txBody>
      </p:sp>
      <p:sp>
        <p:nvSpPr>
          <p:cNvPr id="11" name="Text 9"/>
          <p:cNvSpPr txBox="1"/>
          <p:nvPr/>
        </p:nvSpPr>
        <p:spPr>
          <a:xfrm>
            <a:off x="4916686" y="1832372"/>
            <a:ext cx="3740348" cy="180975"/>
          </a:xfrm>
          <a:prstGeom prst="rect">
            <a:avLst/>
          </a:prstGeom>
          <a:noFill/>
          <a:ln/>
        </p:spPr>
        <p:txBody>
          <a:bodyPr wrap="none" lIns="0" tIns="0" rIns="0" bIns="0" rtlCol="0" anchor="t"/>
          <a:lstStyle/>
          <a:p>
            <a:pPr algn="l" indent="0" marL="0">
              <a:buNone/>
            </a:pPr>
            <a:r>
              <a:rPr lang="en-US" sz="1032" dirty="0">
                <a:solidFill>
                  <a:srgbClr val="44535A"/>
                </a:solidFill>
                <a:latin typeface="Manrope" pitchFamily="34" charset="0"/>
                <a:ea typeface="Manrope" pitchFamily="34" charset="-122"/>
                <a:cs typeface="Manrope" pitchFamily="34" charset="-120"/>
              </a:rPr>
              <a:t>The key you set doesn't produce the key the binder looks for.</a:t>
            </a:r>
            <a:endParaRPr lang="en-US" sz="1032" dirty="0"/>
          </a:p>
        </p:txBody>
      </p:sp>
      <p:sp>
        <p:nvSpPr>
          <p:cNvPr id="12" name="Shape 10"/>
          <p:cNvSpPr/>
          <p:nvPr/>
        </p:nvSpPr>
        <p:spPr>
          <a:xfrm>
            <a:off x="457200" y="2488853"/>
            <a:ext cx="4145310" cy="1302693"/>
          </a:xfrm>
          <a:prstGeom prst="roundRect">
            <a:avLst>
              <a:gd name="adj" fmla="val 7312"/>
            </a:avLst>
          </a:prstGeom>
          <a:solidFill>
            <a:srgbClr val="FFFFFF"/>
          </a:solidFill>
          <a:ln w="9525">
            <a:solidFill>
              <a:srgbClr val="DDD9D2"/>
            </a:solidFill>
            <a:prstDash val="solid"/>
          </a:ln>
        </p:spPr>
      </p:sp>
      <p:sp>
        <p:nvSpPr>
          <p:cNvPr id="13" name="Text 11"/>
          <p:cNvSpPr txBox="1"/>
          <p:nvPr/>
        </p:nvSpPr>
        <p:spPr>
          <a:xfrm>
            <a:off x="641896" y="2637383"/>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03</a:t>
            </a:r>
            <a:endParaRPr lang="en-US" sz="1500" dirty="0"/>
          </a:p>
        </p:txBody>
      </p:sp>
      <p:sp>
        <p:nvSpPr>
          <p:cNvPr id="14" name="Text 12"/>
          <p:cNvSpPr txBox="1"/>
          <p:nvPr/>
        </p:nvSpPr>
        <p:spPr>
          <a:xfrm>
            <a:off x="641896" y="2928789"/>
            <a:ext cx="804118"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LIFETIME</a:t>
            </a:r>
            <a:endParaRPr lang="en-US" sz="1260" dirty="0"/>
          </a:p>
        </p:txBody>
      </p:sp>
      <p:sp>
        <p:nvSpPr>
          <p:cNvPr id="15" name="Text 13"/>
          <p:cNvSpPr txBox="1"/>
          <p:nvPr/>
        </p:nvSpPr>
        <p:spPr>
          <a:xfrm>
            <a:off x="641896" y="3211413"/>
            <a:ext cx="3794968" cy="371029"/>
          </a:xfrm>
          <a:prstGeom prst="rect">
            <a:avLst/>
          </a:prstGeom>
          <a:noFill/>
          <a:ln/>
        </p:spPr>
        <p:txBody>
          <a:bodyPr wrap="square" lIns="0" tIns="0" rIns="0" bIns="0" rtlCol="0" anchor="t"/>
          <a:lstStyle/>
          <a:p>
            <a:pPr algn="l" indent="0" marL="0">
              <a:lnSpc>
                <a:spcPts val="1496"/>
              </a:lnSpc>
              <a:buNone/>
            </a:pPr>
            <a:r>
              <a:rPr lang="en-US" sz="1032" dirty="0">
                <a:solidFill>
                  <a:srgbClr val="44535A"/>
                </a:solidFill>
                <a:latin typeface="Manrope" pitchFamily="34" charset="0"/>
                <a:ea typeface="Manrope" pitchFamily="34" charset="-122"/>
                <a:cs typeface="Manrope" pitchFamily="34" charset="-120"/>
              </a:rPr>
              <a:t>You cached a value that was supposed to change — or vice versa.</a:t>
            </a:r>
            <a:endParaRPr lang="en-US" sz="1032" dirty="0"/>
          </a:p>
        </p:txBody>
      </p:sp>
      <p:sp>
        <p:nvSpPr>
          <p:cNvPr id="16" name="Shape 14"/>
          <p:cNvSpPr/>
          <p:nvPr/>
        </p:nvSpPr>
        <p:spPr>
          <a:xfrm>
            <a:off x="4731990" y="2488853"/>
            <a:ext cx="4145310" cy="1302693"/>
          </a:xfrm>
          <a:prstGeom prst="roundRect">
            <a:avLst>
              <a:gd name="adj" fmla="val 7312"/>
            </a:avLst>
          </a:prstGeom>
          <a:solidFill>
            <a:srgbClr val="FFFFFF"/>
          </a:solidFill>
          <a:ln w="9525">
            <a:solidFill>
              <a:srgbClr val="DDD9D2"/>
            </a:solidFill>
            <a:prstDash val="solid"/>
          </a:ln>
        </p:spPr>
      </p:sp>
      <p:sp>
        <p:nvSpPr>
          <p:cNvPr id="17" name="Text 15"/>
          <p:cNvSpPr txBox="1"/>
          <p:nvPr/>
        </p:nvSpPr>
        <p:spPr>
          <a:xfrm>
            <a:off x="4916686" y="2637383"/>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04</a:t>
            </a:r>
            <a:endParaRPr lang="en-US" sz="1500" dirty="0"/>
          </a:p>
        </p:txBody>
      </p:sp>
      <p:sp>
        <p:nvSpPr>
          <p:cNvPr id="18" name="Text 16"/>
          <p:cNvSpPr txBox="1"/>
          <p:nvPr/>
        </p:nvSpPr>
        <p:spPr>
          <a:xfrm>
            <a:off x="4916686" y="2928789"/>
            <a:ext cx="635198"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TRUST</a:t>
            </a:r>
            <a:endParaRPr lang="en-US" sz="1260" dirty="0"/>
          </a:p>
        </p:txBody>
      </p:sp>
      <p:sp>
        <p:nvSpPr>
          <p:cNvPr id="19" name="Text 17"/>
          <p:cNvSpPr txBox="1"/>
          <p:nvPr/>
        </p:nvSpPr>
        <p:spPr>
          <a:xfrm>
            <a:off x="4916686" y="3211413"/>
            <a:ext cx="3034010" cy="180975"/>
          </a:xfrm>
          <a:prstGeom prst="rect">
            <a:avLst/>
          </a:prstGeom>
          <a:noFill/>
          <a:ln/>
        </p:spPr>
        <p:txBody>
          <a:bodyPr wrap="none" lIns="0" tIns="0" rIns="0" bIns="0" rtlCol="0" anchor="t"/>
          <a:lstStyle/>
          <a:p>
            <a:pPr algn="l" indent="0" marL="0">
              <a:buNone/>
            </a:pPr>
            <a:r>
              <a:rPr lang="en-US" sz="1032" dirty="0">
                <a:solidFill>
                  <a:srgbClr val="44535A"/>
                </a:solidFill>
                <a:latin typeface="Manrope" pitchFamily="34" charset="0"/>
                <a:ea typeface="Manrope" pitchFamily="34" charset="-122"/>
                <a:cs typeface="Manrope" pitchFamily="34" charset="-120"/>
              </a:rPr>
              <a:t>A secret is sitting in a file that ships with the app.</a:t>
            </a:r>
            <a:endParaRPr lang="en-US" sz="1032"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2600176"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ACT 1 · THE SHARED BASELINE</a:t>
            </a:r>
            <a:endParaRPr lang="en-US" sz="936" dirty="0"/>
          </a:p>
        </p:txBody>
      </p:sp>
      <p:sp>
        <p:nvSpPr>
          <p:cNvPr id="4" name="Shape 2"/>
          <p:cNvSpPr/>
          <p:nvPr/>
        </p:nvSpPr>
        <p:spPr>
          <a:xfrm>
            <a:off x="609600" y="2340769"/>
            <a:ext cx="3284339" cy="495300"/>
          </a:xfrm>
          <a:prstGeom prst="roundRect">
            <a:avLst>
              <a:gd name="adj" fmla="val 7692"/>
            </a:avLst>
          </a:prstGeom>
          <a:solidFill>
            <a:srgbClr val="F7F6F3">
              <a:alpha val="16000"/>
            </a:srgbClr>
          </a:solidFill>
          <a:ln/>
        </p:spPr>
      </p:sp>
      <p:sp>
        <p:nvSpPr>
          <p:cNvPr id="5" name="Text 3"/>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2700" spc="-60" kern="0" dirty="0">
                <a:solidFill>
                  <a:srgbClr val="F7F6F3"/>
                </a:solidFill>
                <a:latin typeface="JetBrains Mono" pitchFamily="34" charset="0"/>
                <a:ea typeface="JetBrains Mono" pitchFamily="34" charset="-122"/>
                <a:cs typeface="JetBrains Mono" pitchFamily="34" charset="-120"/>
              </a:rPr>
              <a:t>appsettings.json</a:t>
            </a:r>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 is a team decision, and it ships with the app.</a:t>
            </a:r>
            <a:endParaRPr lang="en-US" sz="2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379109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It’s one flat dictionary</a:t>
            </a:r>
            <a:endParaRPr lang="en-US" sz="2820" dirty="0"/>
          </a:p>
        </p:txBody>
      </p:sp>
      <p:sp>
        <p:nvSpPr>
          <p:cNvPr id="4" name="Text 2"/>
          <p:cNvSpPr txBox="1"/>
          <p:nvPr/>
        </p:nvSpPr>
        <p:spPr>
          <a:xfrm>
            <a:off x="304800" y="1071711"/>
            <a:ext cx="1210419"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WHAT YOU WROTE</a:t>
            </a:r>
            <a:endParaRPr lang="en-US" sz="768" dirty="0"/>
          </a:p>
        </p:txBody>
      </p:sp>
      <p:sp>
        <p:nvSpPr>
          <p:cNvPr id="5" name="Shape 3"/>
          <p:cNvSpPr/>
          <p:nvPr/>
        </p:nvSpPr>
        <p:spPr>
          <a:xfrm>
            <a:off x="304800" y="1313855"/>
            <a:ext cx="4103340" cy="1866900"/>
          </a:xfrm>
          <a:prstGeom prst="roundRect">
            <a:avLst>
              <a:gd name="adj" fmla="val 2041"/>
            </a:avLst>
          </a:prstGeom>
          <a:solidFill>
            <a:srgbClr val="011627"/>
          </a:solidFill>
          <a:ln/>
        </p:spPr>
      </p:sp>
      <p:sp>
        <p:nvSpPr>
          <p:cNvPr id="6" name="Text 4"/>
          <p:cNvSpPr txBox="1"/>
          <p:nvPr/>
        </p:nvSpPr>
        <p:spPr>
          <a:xfrm>
            <a:off x="381000" y="1409105"/>
            <a:ext cx="3969990" cy="1676400"/>
          </a:xfrm>
          <a:prstGeom prst="rect">
            <a:avLst/>
          </a:prstGeom>
          <a:noFill/>
          <a:ln/>
        </p:spPr>
        <p:txBody>
          <a:bodyPr wrap="square" lIns="0" tIns="0" rIns="0" bIns="0" rtlCol="0" anchor="t"/>
          <a:lstStyle/>
          <a:p>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840" dirty="0">
                <a:solidFill>
                  <a:srgbClr val="7FDBCA"/>
                </a:solidFill>
                <a:latin typeface="JetBrains Mono" pitchFamily="34" charset="0"/>
                <a:ea typeface="JetBrains Mono" pitchFamily="34" charset="-122"/>
                <a:cs typeface="JetBrains Mono" pitchFamily="34" charset="-120"/>
              </a:rPr>
              <a:t>"Weather"</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 {</a:t>
            </a:r>
            <a:br/>
            <a:pPr algn="l" indent="0" marL="0">
              <a:lnSpc>
                <a:spcPts val="1350"/>
              </a:lnSpc>
              <a:buNone/>
            </a:pPr>
            <a:r>
              <a:rPr lang="en-US" sz="840" dirty="0">
                <a:solidFill>
                  <a:srgbClr val="7FDBCA"/>
                </a:solidFill>
                <a:latin typeface="JetBrains Mono" pitchFamily="34" charset="0"/>
                <a:ea typeface="JetBrains Mono" pitchFamily="34" charset="-122"/>
                <a:cs typeface="JetBrains Mono" pitchFamily="34" charset="-120"/>
              </a:rPr>
              <a:t>"ApiBaseUrl"</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840"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840" dirty="0">
                <a:solidFill>
                  <a:srgbClr val="C789D6"/>
                </a:solidFill>
                <a:latin typeface="JetBrains Mono" pitchFamily="34" charset="0"/>
                <a:ea typeface="JetBrains Mono" pitchFamily="34" charset="-122"/>
                <a:cs typeface="JetBrains Mono" pitchFamily="34" charset="-120"/>
              </a:rPr>
              <a:t>https://api.example.com</a:t>
            </a:r>
            <a:pPr algn="l" indent="0" marL="0">
              <a:lnSpc>
                <a:spcPts val="1350"/>
              </a:lnSpc>
              <a:buNone/>
            </a:pPr>
            <a:r>
              <a:rPr lang="en-US" sz="840"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840" dirty="0">
                <a:solidFill>
                  <a:srgbClr val="7FDBCA"/>
                </a:solidFill>
                <a:latin typeface="JetBrains Mono" pitchFamily="34" charset="0"/>
                <a:ea typeface="JetBrains Mono" pitchFamily="34" charset="-122"/>
                <a:cs typeface="JetBrains Mono" pitchFamily="34" charset="-120"/>
              </a:rPr>
              <a:t>"TimeoutSeconds"</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840" dirty="0">
                <a:solidFill>
                  <a:srgbClr val="F78C6C"/>
                </a:solidFill>
                <a:latin typeface="JetBrains Mono" pitchFamily="34" charset="0"/>
                <a:ea typeface="JetBrains Mono" pitchFamily="34" charset="-122"/>
                <a:cs typeface="JetBrains Mono" pitchFamily="34" charset="-120"/>
              </a:rPr>
              <a:t>30</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840" dirty="0">
                <a:solidFill>
                  <a:srgbClr val="7FDBCA"/>
                </a:solidFill>
                <a:latin typeface="JetBrains Mono" pitchFamily="34" charset="0"/>
                <a:ea typeface="JetBrains Mono" pitchFamily="34" charset="-122"/>
                <a:cs typeface="JetBrains Mono" pitchFamily="34" charset="-120"/>
              </a:rPr>
              <a:t>"ApiKey"</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840"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840" dirty="0">
                <a:solidFill>
                  <a:srgbClr val="C789D6"/>
                </a:solidFill>
                <a:latin typeface="JetBrains Mono" pitchFamily="34" charset="0"/>
                <a:ea typeface="JetBrains Mono" pitchFamily="34" charset="-122"/>
                <a:cs typeface="JetBrains Mono" pitchFamily="34" charset="-120"/>
              </a:rPr>
              <a:t>placeholder-set-a-real-one-with-user-secrets</a:t>
            </a:r>
            <a:pPr algn="l" indent="0" marL="0">
              <a:lnSpc>
                <a:spcPts val="1350"/>
              </a:lnSpc>
              <a:buNone/>
            </a:pPr>
            <a:r>
              <a:rPr lang="en-US" sz="840" dirty="0">
                <a:solidFill>
                  <a:srgbClr val="D9F5DD"/>
                </a:solidFill>
                <a:latin typeface="JetBrains Mono" pitchFamily="34" charset="0"/>
                <a:ea typeface="JetBrains Mono" pitchFamily="34" charset="-122"/>
                <a:cs typeface="JetBrains Mono" pitchFamily="34" charset="-120"/>
              </a:rPr>
              <a:t>"</a:t>
            </a:r>
            <a:b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840" dirty="0">
                <a:solidFill>
                  <a:srgbClr val="7FDBCA"/>
                </a:solidFill>
                <a:latin typeface="JetBrains Mono" pitchFamily="34" charset="0"/>
                <a:ea typeface="JetBrains Mono" pitchFamily="34" charset="-122"/>
                <a:cs typeface="JetBrains Mono" pitchFamily="34" charset="-120"/>
              </a:rPr>
              <a:t>"ConnectionStrings"</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 {</a:t>
            </a:r>
            <a:br/>
            <a:pPr algn="l" indent="0" marL="0">
              <a:lnSpc>
                <a:spcPts val="1350"/>
              </a:lnSpc>
              <a:buNone/>
            </a:pPr>
            <a:r>
              <a:rPr lang="en-US" sz="840" dirty="0">
                <a:solidFill>
                  <a:srgbClr val="7FDBCA"/>
                </a:solidFill>
                <a:latin typeface="JetBrains Mono" pitchFamily="34" charset="0"/>
                <a:ea typeface="JetBrains Mono" pitchFamily="34" charset="-122"/>
                <a:cs typeface="JetBrains Mono" pitchFamily="34" charset="-120"/>
              </a:rPr>
              <a:t>"Default"</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840"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840" dirty="0">
                <a:solidFill>
                  <a:srgbClr val="C789D6"/>
                </a:solidFill>
                <a:latin typeface="JetBrains Mono" pitchFamily="34" charset="0"/>
                <a:ea typeface="JetBrains Mono" pitchFamily="34" charset="-122"/>
                <a:cs typeface="JetBrains Mono" pitchFamily="34" charset="-120"/>
              </a:rPr>
              <a:t>Server=localhost;Database=Demo;...</a:t>
            </a:r>
            <a:pPr algn="l" indent="0" marL="0">
              <a:lnSpc>
                <a:spcPts val="1350"/>
              </a:lnSpc>
              <a:buNone/>
            </a:pPr>
            <a:r>
              <a:rPr lang="en-US" sz="840" dirty="0">
                <a:solidFill>
                  <a:srgbClr val="D9F5DD"/>
                </a:solidFill>
                <a:latin typeface="JetBrains Mono" pitchFamily="34" charset="0"/>
                <a:ea typeface="JetBrains Mono" pitchFamily="34" charset="-122"/>
                <a:cs typeface="JetBrains Mono" pitchFamily="34" charset="-120"/>
              </a:rPr>
              <a:t>"</a:t>
            </a:r>
            <a:b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a:t>
            </a:r>
            <a:endParaRPr lang="en-US" sz="840" dirty="0"/>
          </a:p>
        </p:txBody>
      </p:sp>
      <p:sp>
        <p:nvSpPr>
          <p:cNvPr id="7" name="Text 5"/>
          <p:cNvSpPr txBox="1"/>
          <p:nvPr/>
        </p:nvSpPr>
        <p:spPr>
          <a:xfrm>
            <a:off x="4926211" y="1071711"/>
            <a:ext cx="1578025"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WHAT ACTUALLY EXISTS</a:t>
            </a:r>
            <a:endParaRPr lang="en-US" sz="768" dirty="0"/>
          </a:p>
        </p:txBody>
      </p:sp>
      <p:sp>
        <p:nvSpPr>
          <p:cNvPr id="8" name="Shape 6"/>
          <p:cNvSpPr/>
          <p:nvPr/>
        </p:nvSpPr>
        <p:spPr>
          <a:xfrm>
            <a:off x="4926211" y="1313855"/>
            <a:ext cx="4103489" cy="838200"/>
          </a:xfrm>
          <a:prstGeom prst="roundRect">
            <a:avLst>
              <a:gd name="adj" fmla="val 4545"/>
            </a:avLst>
          </a:prstGeom>
          <a:solidFill>
            <a:srgbClr val="011627"/>
          </a:solidFill>
          <a:ln/>
        </p:spPr>
      </p:sp>
      <p:sp>
        <p:nvSpPr>
          <p:cNvPr id="9" name="Text 7"/>
          <p:cNvSpPr txBox="1"/>
          <p:nvPr/>
        </p:nvSpPr>
        <p:spPr>
          <a:xfrm>
            <a:off x="5002411" y="1409105"/>
            <a:ext cx="3970139" cy="647700"/>
          </a:xfrm>
          <a:prstGeom prst="rect">
            <a:avLst/>
          </a:prstGeom>
          <a:noFill/>
          <a:ln/>
        </p:spPr>
        <p:txBody>
          <a:bodyPr wrap="square" lIns="0" tIns="0" rIns="0" bIns="0" rtlCol="0" anchor="t"/>
          <a:lstStyle/>
          <a:p>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Weather:ApiBaseUrl         "https://api.example.com"</a:t>
            </a:r>
            <a:b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Weather:TimeoutSeconds     "30"</a:t>
            </a:r>
            <a:b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Weather:ApiKey             "placeholder-set-a-real-..."</a:t>
            </a:r>
            <a:b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ConnectionStrings:Default  "Server=localhost;Database=..."</a:t>
            </a:r>
            <a:endParaRPr lang="en-US" sz="840" dirty="0"/>
          </a:p>
        </p:txBody>
      </p:sp>
      <p:pic>
        <p:nvPicPr>
          <p:cNvPr id="10" name="Image 0" descr="Rendered as an image because of CSS transform">    </p:cNvPr>
          <p:cNvPicPr>
            <a:picLocks noChangeAspect="1"/>
          </p:cNvPicPr>
          <p:nvPr/>
        </p:nvPicPr>
        <p:blipFill>
          <a:blip r:embed="rId1"/>
          <a:stretch>
            <a:fillRect/>
          </a:stretch>
        </p:blipFill>
        <p:spPr>
          <a:xfrm>
            <a:off x="4469160" y="2095723"/>
            <a:ext cx="396180" cy="9897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2359372"/>
            <a:ext cx="4317355" cy="438150"/>
          </a:xfrm>
          <a:prstGeom prst="rect">
            <a:avLst/>
          </a:prstGeom>
          <a:noFill/>
          <a:ln/>
        </p:spPr>
        <p:txBody>
          <a:bodyPr wrap="none" lIns="0" tIns="0" rIns="0" bIns="0" rtlCol="0" anchor="t"/>
          <a:lstStyle/>
          <a:p>
            <a:pPr algn="l" indent="0" marL="0">
              <a:buNone/>
            </a:pPr>
            <a:r>
              <a:rPr lang="en-US" sz="2520" b="1" spc="-50" kern="0" dirty="0">
                <a:solidFill>
                  <a:srgbClr val="16303F"/>
                </a:solidFill>
                <a:latin typeface="Manrope" pitchFamily="34" charset="0"/>
                <a:ea typeface="Manrope" pitchFamily="34" charset="-122"/>
                <a:cs typeface="Manrope" pitchFamily="34" charset="-120"/>
              </a:rPr>
              <a:t>Every scalar is text — or null.</a:t>
            </a:r>
            <a:endParaRPr lang="en-US" sz="25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873800"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Arrays overlay. They don’t replace.</a:t>
            </a:r>
            <a:endParaRPr lang="en-US" sz="2820" dirty="0"/>
          </a:p>
        </p:txBody>
      </p:sp>
      <p:sp>
        <p:nvSpPr>
          <p:cNvPr id="4" name="Text 2"/>
          <p:cNvSpPr txBox="1"/>
          <p:nvPr/>
        </p:nvSpPr>
        <p:spPr>
          <a:xfrm>
            <a:off x="304800" y="1071711"/>
            <a:ext cx="2300436"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THE TWO FILES, AND WHAT YOU GET</a:t>
            </a:r>
            <a:endParaRPr lang="en-US" sz="768" dirty="0"/>
          </a:p>
        </p:txBody>
      </p:sp>
      <p:sp>
        <p:nvSpPr>
          <p:cNvPr id="5" name="Shape 3"/>
          <p:cNvSpPr/>
          <p:nvPr/>
        </p:nvSpPr>
        <p:spPr>
          <a:xfrm>
            <a:off x="304800" y="1313855"/>
            <a:ext cx="8724900" cy="1009650"/>
          </a:xfrm>
          <a:prstGeom prst="roundRect">
            <a:avLst>
              <a:gd name="adj" fmla="val 3774"/>
            </a:avLst>
          </a:prstGeom>
          <a:solidFill>
            <a:srgbClr val="011627"/>
          </a:solidFill>
          <a:ln/>
        </p:spPr>
      </p:sp>
      <p:sp>
        <p:nvSpPr>
          <p:cNvPr id="6" name="Text 4"/>
          <p:cNvSpPr txBox="1"/>
          <p:nvPr/>
        </p:nvSpPr>
        <p:spPr>
          <a:xfrm>
            <a:off x="381000" y="1399580"/>
            <a:ext cx="8591550" cy="833437"/>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appsettings.json               a, b, c</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appsettings.Development.json   x</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WHAT YOUR APP BINDS            x, b, c</a:t>
            </a:r>
            <a:endParaRPr lang="en-US" sz="1125" dirty="0"/>
          </a:p>
        </p:txBody>
      </p:sp>
      <p:sp>
        <p:nvSpPr>
          <p:cNvPr id="7" name="Text 5"/>
          <p:cNvSpPr txBox="1"/>
          <p:nvPr/>
        </p:nvSpPr>
        <p:spPr>
          <a:xfrm>
            <a:off x="304800" y="2491085"/>
            <a:ext cx="2376636"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BECAUSE ARRAY ELEMENTS ARE KEYS</a:t>
            </a:r>
            <a:endParaRPr lang="en-US" sz="768" dirty="0"/>
          </a:p>
        </p:txBody>
      </p:sp>
      <p:sp>
        <p:nvSpPr>
          <p:cNvPr id="8" name="Shape 6"/>
          <p:cNvSpPr/>
          <p:nvPr/>
        </p:nvSpPr>
        <p:spPr>
          <a:xfrm>
            <a:off x="304800" y="2733229"/>
            <a:ext cx="8724900" cy="795338"/>
          </a:xfrm>
          <a:prstGeom prst="roundRect">
            <a:avLst>
              <a:gd name="adj" fmla="val 4790"/>
            </a:avLst>
          </a:prstGeom>
          <a:solidFill>
            <a:srgbClr val="011627"/>
          </a:solidFill>
          <a:ln/>
        </p:spPr>
      </p:sp>
      <p:sp>
        <p:nvSpPr>
          <p:cNvPr id="9" name="Text 7"/>
          <p:cNvSpPr txBox="1"/>
          <p:nvPr/>
        </p:nvSpPr>
        <p:spPr>
          <a:xfrm>
            <a:off x="381000" y="2818954"/>
            <a:ext cx="85915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Weather:AllowedOrigins:0  = https://x.example.com   Development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Weather:AllowedOrigins:1  = https://b.example.com   base, survived</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Weather:AllowedOrigins:2  = https://c.example.com   base, survived</a:t>
            </a:r>
            <a:endParaRPr lang="en-US" sz="1125" dirty="0"/>
          </a:p>
        </p:txBody>
      </p:sp>
      <p:sp>
        <p:nvSpPr>
          <p:cNvPr id="10" name="Text 8"/>
          <p:cNvSpPr txBox="1"/>
          <p:nvPr/>
        </p:nvSpPr>
        <p:spPr>
          <a:xfrm>
            <a:off x="304800" y="3926681"/>
            <a:ext cx="5825579"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Only index 0 was overlaid. Precedence then runs per key, exactly as it always does.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1785789"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ACT 2 · MY MACHINE</a:t>
            </a:r>
            <a:endParaRPr lang="en-US" sz="936" dirty="0"/>
          </a:p>
        </p:txBody>
      </p:sp>
      <p:sp>
        <p:nvSpPr>
          <p:cNvPr id="4" name="Text 2"/>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My setup can differ from yours without either of us editing the other’s.</a:t>
            </a:r>
            <a:endParaRPr lang="en-US" sz="3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695086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The environment file merges. Key by key.</a:t>
            </a:r>
            <a:endParaRPr lang="en-US" sz="2820" dirty="0"/>
          </a:p>
        </p:txBody>
      </p:sp>
      <p:sp>
        <p:nvSpPr>
          <p:cNvPr id="4" name="Text 2"/>
          <p:cNvSpPr txBox="1"/>
          <p:nvPr/>
        </p:nvSpPr>
        <p:spPr>
          <a:xfrm>
            <a:off x="304800" y="1071711"/>
            <a:ext cx="1332309"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APPSETTINGS.JSON</a:t>
            </a:r>
            <a:endParaRPr lang="en-US" sz="768" dirty="0"/>
          </a:p>
        </p:txBody>
      </p:sp>
      <p:sp>
        <p:nvSpPr>
          <p:cNvPr id="5" name="Shape 3"/>
          <p:cNvSpPr/>
          <p:nvPr/>
        </p:nvSpPr>
        <p:spPr>
          <a:xfrm>
            <a:off x="304800" y="1313855"/>
            <a:ext cx="2821930" cy="1009650"/>
          </a:xfrm>
          <a:prstGeom prst="roundRect">
            <a:avLst>
              <a:gd name="adj" fmla="val 3774"/>
            </a:avLst>
          </a:prstGeom>
          <a:solidFill>
            <a:srgbClr val="011627"/>
          </a:solidFill>
          <a:ln/>
        </p:spPr>
      </p:sp>
      <p:sp>
        <p:nvSpPr>
          <p:cNvPr id="6" name="Text 4"/>
          <p:cNvSpPr txBox="1"/>
          <p:nvPr/>
        </p:nvSpPr>
        <p:spPr>
          <a:xfrm>
            <a:off x="381000" y="1409105"/>
            <a:ext cx="2688580" cy="819150"/>
          </a:xfrm>
          <a:prstGeom prst="rect">
            <a:avLst/>
          </a:prstGeom>
          <a:noFill/>
          <a:ln/>
        </p:spPr>
        <p:txBody>
          <a:bodyPr wrap="square" lIns="0" tIns="0" rIns="0" bIns="0" rtlCol="0" anchor="t"/>
          <a:lstStyle/>
          <a:p>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ECC48D"/>
                </a:solidFill>
                <a:latin typeface="JetBrains Mono" pitchFamily="34" charset="0"/>
                <a:ea typeface="JetBrains Mono" pitchFamily="34" charset="-122"/>
                <a:cs typeface="JetBrains Mono" pitchFamily="34" charset="-120"/>
              </a:rPr>
              <a:t>Weather</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"ApiBaseUrl"</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C789D6"/>
                </a:solidFill>
                <a:latin typeface="JetBrains Mono" pitchFamily="34" charset="0"/>
                <a:ea typeface="JetBrains Mono" pitchFamily="34" charset="-122"/>
                <a:cs typeface="JetBrains Mono" pitchFamily="34" charset="-120"/>
              </a:rPr>
              <a:t>https://api.example.com</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"TimeoutSeconds"</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F78C6C"/>
                </a:solidFill>
                <a:latin typeface="JetBrains Mono" pitchFamily="34" charset="0"/>
                <a:ea typeface="JetBrains Mono" pitchFamily="34" charset="-122"/>
                <a:cs typeface="JetBrains Mono" pitchFamily="34" charset="-120"/>
              </a:rPr>
              <a:t>30</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"ApiKey"</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C789D6"/>
                </a:solidFill>
                <a:latin typeface="JetBrains Mono" pitchFamily="34" charset="0"/>
                <a:ea typeface="JetBrains Mono" pitchFamily="34" charset="-122"/>
                <a:cs typeface="JetBrains Mono" pitchFamily="34" charset="-120"/>
              </a:rPr>
              <a:t>placeholder-...</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endParaRPr lang="en-US" sz="795" dirty="0"/>
          </a:p>
        </p:txBody>
      </p:sp>
      <p:sp>
        <p:nvSpPr>
          <p:cNvPr id="7" name="Text 5"/>
          <p:cNvSpPr txBox="1"/>
          <p:nvPr/>
        </p:nvSpPr>
        <p:spPr>
          <a:xfrm>
            <a:off x="3256211" y="1071711"/>
            <a:ext cx="2249239"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APPSETTINGS.DEVELOPMENT.JSON</a:t>
            </a:r>
            <a:endParaRPr lang="en-US" sz="768" dirty="0"/>
          </a:p>
        </p:txBody>
      </p:sp>
      <p:sp>
        <p:nvSpPr>
          <p:cNvPr id="8" name="Shape 6"/>
          <p:cNvSpPr/>
          <p:nvPr/>
        </p:nvSpPr>
        <p:spPr>
          <a:xfrm>
            <a:off x="3256211" y="1313855"/>
            <a:ext cx="2821930" cy="666750"/>
          </a:xfrm>
          <a:prstGeom prst="roundRect">
            <a:avLst>
              <a:gd name="adj" fmla="val 5714"/>
            </a:avLst>
          </a:prstGeom>
          <a:solidFill>
            <a:srgbClr val="011627"/>
          </a:solidFill>
          <a:ln/>
        </p:spPr>
      </p:sp>
      <p:sp>
        <p:nvSpPr>
          <p:cNvPr id="9" name="Text 7"/>
          <p:cNvSpPr txBox="1"/>
          <p:nvPr/>
        </p:nvSpPr>
        <p:spPr>
          <a:xfrm>
            <a:off x="3332411" y="1409105"/>
            <a:ext cx="2688580" cy="476250"/>
          </a:xfrm>
          <a:prstGeom prst="rect">
            <a:avLst/>
          </a:prstGeom>
          <a:noFill/>
          <a:ln/>
        </p:spPr>
        <p:txBody>
          <a:bodyPr wrap="square" lIns="0" tIns="0" rIns="0" bIns="0" rtlCol="0" anchor="t"/>
          <a:lstStyle/>
          <a:p>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ECC48D"/>
                </a:solidFill>
                <a:latin typeface="JetBrains Mono" pitchFamily="34" charset="0"/>
                <a:ea typeface="JetBrains Mono" pitchFamily="34" charset="-122"/>
                <a:cs typeface="JetBrains Mono" pitchFamily="34" charset="-120"/>
              </a:rPr>
              <a:t>Weather</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"ApiBaseUrl"</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C789D6"/>
                </a:solidFill>
                <a:latin typeface="JetBrains Mono" pitchFamily="34" charset="0"/>
                <a:ea typeface="JetBrains Mono" pitchFamily="34" charset="-122"/>
                <a:cs typeface="JetBrains Mono" pitchFamily="34" charset="-120"/>
              </a:rPr>
              <a:t>https://localhost:7104</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endParaRPr lang="en-US" sz="795" dirty="0"/>
          </a:p>
        </p:txBody>
      </p:sp>
      <p:sp>
        <p:nvSpPr>
          <p:cNvPr id="10" name="Text 8"/>
          <p:cNvSpPr txBox="1"/>
          <p:nvPr/>
        </p:nvSpPr>
        <p:spPr>
          <a:xfrm>
            <a:off x="6207621" y="1071711"/>
            <a:ext cx="1351657"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WHAT THE APP SEES</a:t>
            </a:r>
            <a:endParaRPr lang="en-US" sz="768" dirty="0"/>
          </a:p>
        </p:txBody>
      </p:sp>
      <p:sp>
        <p:nvSpPr>
          <p:cNvPr id="11" name="Shape 9"/>
          <p:cNvSpPr/>
          <p:nvPr/>
        </p:nvSpPr>
        <p:spPr>
          <a:xfrm>
            <a:off x="6207621" y="1313855"/>
            <a:ext cx="2822079" cy="666750"/>
          </a:xfrm>
          <a:prstGeom prst="roundRect">
            <a:avLst>
              <a:gd name="adj" fmla="val 5714"/>
            </a:avLst>
          </a:prstGeom>
          <a:solidFill>
            <a:srgbClr val="011627"/>
          </a:solidFill>
          <a:ln/>
        </p:spPr>
      </p:sp>
      <p:sp>
        <p:nvSpPr>
          <p:cNvPr id="12" name="Text 10"/>
          <p:cNvSpPr txBox="1"/>
          <p:nvPr/>
        </p:nvSpPr>
        <p:spPr>
          <a:xfrm>
            <a:off x="6283821" y="1409105"/>
            <a:ext cx="2688729" cy="476250"/>
          </a:xfrm>
          <a:prstGeom prst="rect">
            <a:avLst/>
          </a:prstGeom>
          <a:noFill/>
          <a:ln/>
        </p:spPr>
        <p:txBody>
          <a:bodyPr wrap="square" lIns="0" tIns="0" rIns="0" bIns="0" rtlCol="0" anchor="t"/>
          <a:lstStyle/>
          <a:p>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ApiBaseUrl       https://localhost:7104</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TimeoutSeconds   30           &lt;- survived</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ApiKey           placeholder  &lt;- survived</a:t>
            </a:r>
            <a:endParaRPr lang="en-US" sz="795" dirty="0"/>
          </a:p>
        </p:txBody>
      </p:sp>
      <p:sp>
        <p:nvSpPr>
          <p:cNvPr id="13" name="Text 11"/>
          <p:cNvSpPr txBox="1"/>
          <p:nvPr/>
        </p:nvSpPr>
        <p:spPr>
          <a:xfrm>
            <a:off x="304800" y="2721620"/>
            <a:ext cx="5775275"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The surviving rows are the whole point. It merges key by key — it does not replace.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463108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Not encrypted. Not a vault.</a:t>
            </a:r>
            <a:endParaRPr lang="en-US" sz="2820" dirty="0"/>
          </a:p>
        </p:txBody>
      </p:sp>
      <p:sp>
        <p:nvSpPr>
          <p:cNvPr id="4" name="Text 2"/>
          <p:cNvSpPr txBox="1"/>
          <p:nvPr/>
        </p:nvSpPr>
        <p:spPr>
          <a:xfrm>
            <a:off x="304800" y="1071711"/>
            <a:ext cx="873919"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IN THE REPO</a:t>
            </a:r>
            <a:endParaRPr lang="en-US" sz="768" dirty="0"/>
          </a:p>
        </p:txBody>
      </p:sp>
      <p:sp>
        <p:nvSpPr>
          <p:cNvPr id="5" name="Shape 3"/>
          <p:cNvSpPr/>
          <p:nvPr/>
        </p:nvSpPr>
        <p:spPr>
          <a:xfrm>
            <a:off x="304800" y="1313855"/>
            <a:ext cx="8724900" cy="366712"/>
          </a:xfrm>
          <a:prstGeom prst="roundRect">
            <a:avLst>
              <a:gd name="adj" fmla="val 10390"/>
            </a:avLst>
          </a:prstGeom>
          <a:solidFill>
            <a:srgbClr val="011627"/>
          </a:solidFill>
          <a:ln/>
        </p:spPr>
      </p:sp>
      <p:sp>
        <p:nvSpPr>
          <p:cNvPr id="6" name="Text 4"/>
          <p:cNvSpPr txBox="1"/>
          <p:nvPr/>
        </p:nvSpPr>
        <p:spPr>
          <a:xfrm>
            <a:off x="381000" y="1399580"/>
            <a:ext cx="5857875" cy="190500"/>
          </a:xfrm>
          <a:prstGeom prst="rect">
            <a:avLst/>
          </a:prstGeom>
          <a:noFill/>
          <a:ln/>
        </p:spPr>
        <p:txBody>
          <a:bodyPr wrap="none" lIns="0" tIns="0" rIns="0" bIns="0" rtlCol="0" anchor="t"/>
          <a:lstStyle/>
          <a:p>
            <a:pPr algn="l" indent="0" marL="0">
              <a:buNone/>
            </a:pPr>
            <a:r>
              <a:rPr lang="en-US" sz="1125" dirty="0">
                <a:solidFill>
                  <a:srgbClr val="7FDBCA"/>
                </a:solidFill>
                <a:latin typeface="JetBrains Mono" pitchFamily="34" charset="0"/>
                <a:ea typeface="JetBrains Mono" pitchFamily="34" charset="-122"/>
                <a:cs typeface="JetBrains Mono" pitchFamily="34" charset="-120"/>
              </a:rPr>
              <a:t>&lt;</a:t>
            </a:r>
            <a:pPr algn="l" indent="0" marL="0">
              <a:buNone/>
            </a:pPr>
            <a:r>
              <a:rPr lang="en-US" sz="1125" dirty="0">
                <a:solidFill>
                  <a:srgbClr val="CAECE6"/>
                </a:solidFill>
                <a:latin typeface="JetBrains Mono" pitchFamily="34" charset="0"/>
                <a:ea typeface="JetBrains Mono" pitchFamily="34" charset="-122"/>
                <a:cs typeface="JetBrains Mono" pitchFamily="34" charset="-120"/>
              </a:rPr>
              <a:t>UserSecretsId</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&gt;</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d09a1b2c-3d4e-5f60-7182-93a4b5c6d7e8</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&lt;/</a:t>
            </a:r>
            <a:pPr algn="l" indent="0" marL="0">
              <a:buNone/>
            </a:pPr>
            <a:r>
              <a:rPr lang="en-US" sz="1125" dirty="0">
                <a:solidFill>
                  <a:srgbClr val="CAECE6"/>
                </a:solidFill>
                <a:latin typeface="JetBrains Mono" pitchFamily="34" charset="0"/>
                <a:ea typeface="JetBrains Mono" pitchFamily="34" charset="-122"/>
                <a:cs typeface="JetBrains Mono" pitchFamily="34" charset="-120"/>
              </a:rPr>
              <a:t>UserSecretsId</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&gt;</a:t>
            </a:r>
            <a:endParaRPr lang="en-US" sz="1125" dirty="0"/>
          </a:p>
        </p:txBody>
      </p:sp>
      <p:sp>
        <p:nvSpPr>
          <p:cNvPr id="7" name="Text 5"/>
          <p:cNvSpPr txBox="1"/>
          <p:nvPr/>
        </p:nvSpPr>
        <p:spPr>
          <a:xfrm>
            <a:off x="304800" y="1787128"/>
            <a:ext cx="1483519" cy="161925"/>
          </a:xfrm>
          <a:prstGeom prst="rect">
            <a:avLst/>
          </a:prstGeom>
          <a:noFill/>
          <a:ln/>
        </p:spPr>
        <p:txBody>
          <a:bodyPr wrap="none" lIns="0" tIns="0" rIns="0" bIns="0" rtlCol="0" anchor="t"/>
          <a:lstStyle/>
          <a:p>
            <a:pPr algn="l" indent="0" marL="0">
              <a:buNone/>
            </a:pPr>
            <a:r>
              <a:rPr lang="en-US" sz="888" i="1" dirty="0">
                <a:solidFill>
                  <a:srgbClr val="44535A"/>
                </a:solidFill>
                <a:latin typeface="Manrope" pitchFamily="34" charset="0"/>
                <a:ea typeface="Manrope" pitchFamily="34" charset="-122"/>
                <a:cs typeface="Manrope" pitchFamily="34" charset="-120"/>
              </a:rPr>
              <a:t>a pointer, and nothing else</a:t>
            </a:r>
            <a:endParaRPr lang="en-US" sz="888" dirty="0"/>
          </a:p>
        </p:txBody>
      </p:sp>
      <p:sp>
        <p:nvSpPr>
          <p:cNvPr id="8" name="Text 6"/>
          <p:cNvSpPr txBox="1"/>
          <p:nvPr/>
        </p:nvSpPr>
        <p:spPr>
          <a:xfrm>
            <a:off x="304800" y="2085826"/>
            <a:ext cx="1250603"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ON YOUR MACHINE</a:t>
            </a:r>
            <a:endParaRPr lang="en-US" sz="768" dirty="0"/>
          </a:p>
        </p:txBody>
      </p:sp>
      <p:sp>
        <p:nvSpPr>
          <p:cNvPr id="9" name="Shape 7"/>
          <p:cNvSpPr/>
          <p:nvPr/>
        </p:nvSpPr>
        <p:spPr>
          <a:xfrm>
            <a:off x="304800" y="2327970"/>
            <a:ext cx="8724900" cy="795338"/>
          </a:xfrm>
          <a:prstGeom prst="roundRect">
            <a:avLst>
              <a:gd name="adj" fmla="val 4790"/>
            </a:avLst>
          </a:prstGeom>
          <a:solidFill>
            <a:srgbClr val="011627"/>
          </a:solidFill>
          <a:ln/>
        </p:spPr>
      </p:sp>
      <p:sp>
        <p:nvSpPr>
          <p:cNvPr id="10" name="Text 8"/>
          <p:cNvSpPr txBox="1"/>
          <p:nvPr/>
        </p:nvSpPr>
        <p:spPr>
          <a:xfrm>
            <a:off x="381000" y="2413695"/>
            <a:ext cx="85915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%APPDATA%\Microsoft\UserSecrets\d09a1b2c-...\secrets.json</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"Weather:ApiKey": "dev-key-12345" }</a:t>
            </a:r>
            <a:endParaRPr lang="en-US" sz="1125" dirty="0"/>
          </a:p>
        </p:txBody>
      </p:sp>
      <p:sp>
        <p:nvSpPr>
          <p:cNvPr id="11" name="Text 9"/>
          <p:cNvSpPr txBox="1"/>
          <p:nvPr/>
        </p:nvSpPr>
        <p:spPr>
          <a:xfrm>
            <a:off x="304800" y="3229868"/>
            <a:ext cx="1834902" cy="161925"/>
          </a:xfrm>
          <a:prstGeom prst="rect">
            <a:avLst/>
          </a:prstGeom>
          <a:noFill/>
          <a:ln/>
        </p:spPr>
        <p:txBody>
          <a:bodyPr wrap="none" lIns="0" tIns="0" rIns="0" bIns="0" rtlCol="0" anchor="t"/>
          <a:lstStyle/>
          <a:p>
            <a:pPr algn="l" indent="0" marL="0">
              <a:buNone/>
            </a:pPr>
            <a:r>
              <a:rPr lang="en-US" sz="888" b="1" dirty="0">
                <a:solidFill>
                  <a:srgbClr val="16303F"/>
                </a:solidFill>
                <a:latin typeface="Manrope" pitchFamily="34" charset="0"/>
                <a:ea typeface="Manrope" pitchFamily="34" charset="-122"/>
                <a:cs typeface="Manrope" pitchFamily="34" charset="-120"/>
              </a:rPr>
              <a:t>plaintext, on disk, unencrypted</a:t>
            </a:r>
            <a:endParaRPr lang="en-US" sz="888"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1147614"/>
            <a:ext cx="4694337"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User secrets live outside the repo</a:t>
            </a:r>
            <a:endParaRPr lang="en-US" sz="2280" dirty="0"/>
          </a:p>
        </p:txBody>
      </p:sp>
      <p:sp>
        <p:nvSpPr>
          <p:cNvPr id="4" name="Shape 2"/>
          <p:cNvSpPr/>
          <p:nvPr/>
        </p:nvSpPr>
        <p:spPr>
          <a:xfrm>
            <a:off x="628650" y="1816447"/>
            <a:ext cx="8077200" cy="2095500"/>
          </a:xfrm>
          <a:prstGeom prst="roundRect">
            <a:avLst>
              <a:gd name="adj" fmla="val 1818"/>
            </a:avLst>
          </a:prstGeom>
          <a:solidFill>
            <a:srgbClr val="011627"/>
          </a:solidFill>
          <a:ln/>
        </p:spPr>
      </p:sp>
      <p:sp>
        <p:nvSpPr>
          <p:cNvPr id="5" name="Text 3"/>
          <p:cNvSpPr txBox="1"/>
          <p:nvPr/>
        </p:nvSpPr>
        <p:spPr>
          <a:xfrm>
            <a:off x="704850" y="1902172"/>
            <a:ext cx="7943850" cy="1909762"/>
          </a:xfrm>
          <a:prstGeom prst="rect">
            <a:avLst/>
          </a:prstGeom>
          <a:noFill/>
          <a:ln/>
        </p:spPr>
        <p:txBody>
          <a:bodyPr wrap="square" lIns="0" tIns="0" rIns="0" bIns="0" rtlCol="0" anchor="t"/>
          <a:lstStyle/>
          <a:p>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init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set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Weather:ApiKey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dev-key-12345</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list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remove</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Weather:ApiKey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clear</a:t>
            </a:r>
            <a:br/>
            <a:pPr algn="l" indent="0" marL="0">
              <a:lnSpc>
                <a:spcPts val="1913"/>
              </a:lnSpc>
              <a:buNone/>
            </a:pPr>
            <a:br/>
            <a:pPr algn="l" indent="0" marL="0">
              <a:lnSpc>
                <a:spcPts val="1913"/>
              </a:lnSpc>
              <a:buNone/>
            </a:pPr>
            <a:r>
              <a:rPr lang="en-US" sz="1275" dirty="0">
                <a:solidFill>
                  <a:srgbClr val="637777"/>
                </a:solidFill>
                <a:latin typeface="JetBrains Mono" pitchFamily="34" charset="0"/>
                <a:ea typeface="JetBrains Mono" pitchFamily="34" charset="-122"/>
                <a:cs typeface="JetBrains Mono" pitchFamily="34" charset="-120"/>
              </a:rPr>
              <a:t># .NET 10 - file-based apps, no .csproj anywhere</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set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ApiKey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value</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 --file</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app.cs</a:t>
            </a:r>
            <a:endParaRPr lang="en-US" sz="127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4223593"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The launchSettings trap</a:t>
            </a:r>
            <a:endParaRPr lang="en-US" sz="2820" dirty="0"/>
          </a:p>
        </p:txBody>
      </p:sp>
      <p:sp>
        <p:nvSpPr>
          <p:cNvPr id="4" name="Shape 2"/>
          <p:cNvSpPr/>
          <p:nvPr/>
        </p:nvSpPr>
        <p:spPr>
          <a:xfrm>
            <a:off x="457200" y="1163241"/>
            <a:ext cx="38100" cy="1295400"/>
          </a:xfrm>
          <a:prstGeom prst="rect">
            <a:avLst/>
          </a:prstGeom>
          <a:solidFill>
            <a:srgbClr val="F4C233"/>
          </a:solidFill>
          <a:ln/>
        </p:spPr>
      </p:sp>
      <p:sp>
        <p:nvSpPr>
          <p:cNvPr id="5" name="Shape 3"/>
          <p:cNvSpPr/>
          <p:nvPr/>
        </p:nvSpPr>
        <p:spPr>
          <a:xfrm>
            <a:off x="1564481" y="1333351"/>
            <a:ext cx="916186" cy="202704"/>
          </a:xfrm>
          <a:prstGeom prst="roundRect">
            <a:avLst>
              <a:gd name="adj" fmla="val 18796"/>
            </a:avLst>
          </a:prstGeom>
          <a:solidFill>
            <a:srgbClr val="16303F">
              <a:alpha val="7000"/>
            </a:srgbClr>
          </a:solidFill>
          <a:ln/>
        </p:spPr>
      </p:sp>
      <p:sp>
        <p:nvSpPr>
          <p:cNvPr id="6" name="Shape 4"/>
          <p:cNvSpPr/>
          <p:nvPr/>
        </p:nvSpPr>
        <p:spPr>
          <a:xfrm>
            <a:off x="4520208" y="1333351"/>
            <a:ext cx="504676" cy="202704"/>
          </a:xfrm>
          <a:prstGeom prst="roundRect">
            <a:avLst>
              <a:gd name="adj" fmla="val 18796"/>
            </a:avLst>
          </a:prstGeom>
          <a:solidFill>
            <a:srgbClr val="16303F">
              <a:alpha val="7000"/>
            </a:srgbClr>
          </a:solidFill>
          <a:ln/>
        </p:spPr>
      </p:sp>
      <p:sp>
        <p:nvSpPr>
          <p:cNvPr id="7" name="Text 5"/>
          <p:cNvSpPr txBox="1"/>
          <p:nvPr/>
        </p:nvSpPr>
        <p:spPr>
          <a:xfrm>
            <a:off x="617190" y="1325166"/>
            <a:ext cx="5793284"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Deliberately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dotnet run</a:t>
            </a:r>
            <a:pPr algn="l" indent="0" marL="0">
              <a:buNone/>
            </a:pPr>
            <a:r>
              <a:rPr lang="en-US" sz="1200" b="1" dirty="0">
                <a:solidFill>
                  <a:srgbClr val="16303F"/>
                </a:solidFill>
                <a:latin typeface="Manrope" pitchFamily="34" charset="0"/>
                <a:ea typeface="Manrope" pitchFamily="34" charset="-122"/>
                <a:cs typeface="Manrope" pitchFamily="34" charset="-120"/>
              </a:rPr>
              <a:t> in the same shell, not F5. A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$env:</a:t>
            </a:r>
            <a:pPr algn="l" indent="0" marL="0">
              <a:buNone/>
            </a:pPr>
            <a:r>
              <a:rPr lang="en-US" sz="1200" b="1" dirty="0">
                <a:solidFill>
                  <a:srgbClr val="16303F"/>
                </a:solidFill>
                <a:latin typeface="Manrope" pitchFamily="34" charset="0"/>
                <a:ea typeface="Manrope" pitchFamily="34" charset="-122"/>
                <a:cs typeface="Manrope" pitchFamily="34" charset="-120"/>
              </a:rPr>
              <a:t> assignment only</a:t>
            </a:r>
            <a:endParaRPr lang="en-US" sz="1200" dirty="0"/>
          </a:p>
        </p:txBody>
      </p:sp>
      <p:sp>
        <p:nvSpPr>
          <p:cNvPr id="8" name="Text 6"/>
          <p:cNvSpPr txBox="1"/>
          <p:nvPr/>
        </p:nvSpPr>
        <p:spPr>
          <a:xfrm>
            <a:off x="617190" y="1706166"/>
            <a:ext cx="5784503"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affects that PowerShell process and its children — an already-running Visual</a:t>
            </a:r>
            <a:endParaRPr lang="en-US" sz="1200" dirty="0"/>
          </a:p>
        </p:txBody>
      </p:sp>
      <p:sp>
        <p:nvSpPr>
          <p:cNvPr id="9" name="Text 7"/>
          <p:cNvSpPr txBox="1"/>
          <p:nvPr/>
        </p:nvSpPr>
        <p:spPr>
          <a:xfrm>
            <a:off x="617190" y="2087166"/>
            <a:ext cx="4979789"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Studio never sees it, so an F5 version of this would prove nothing.</a:t>
            </a:r>
            <a:endParaRPr lang="en-US" sz="1200" dirty="0"/>
          </a:p>
        </p:txBody>
      </p:sp>
      <p:sp>
        <p:nvSpPr>
          <p:cNvPr id="10" name="Shape 8"/>
          <p:cNvSpPr/>
          <p:nvPr/>
        </p:nvSpPr>
        <p:spPr>
          <a:xfrm>
            <a:off x="457200" y="2796629"/>
            <a:ext cx="8420100" cy="9525"/>
          </a:xfrm>
          <a:prstGeom prst="rect">
            <a:avLst/>
          </a:prstGeom>
          <a:solidFill>
            <a:srgbClr val="9CA3AF">
              <a:alpha val="20000"/>
            </a:srgbClr>
          </a:solidFill>
          <a:ln/>
        </p:spPr>
      </p:sp>
      <p:sp>
        <p:nvSpPr>
          <p:cNvPr id="11" name="Shape 9"/>
          <p:cNvSpPr/>
          <p:nvPr/>
        </p:nvSpPr>
        <p:spPr>
          <a:xfrm>
            <a:off x="457200" y="2787104"/>
            <a:ext cx="3220938" cy="19050"/>
          </a:xfrm>
          <a:prstGeom prst="rect">
            <a:avLst/>
          </a:prstGeom>
          <a:solidFill>
            <a:srgbClr val="16303F"/>
          </a:solidFill>
          <a:ln/>
        </p:spPr>
      </p:sp>
      <p:sp>
        <p:nvSpPr>
          <p:cNvPr id="12" name="Text 10"/>
          <p:cNvSpPr txBox="1"/>
          <p:nvPr/>
        </p:nvSpPr>
        <p:spPr>
          <a:xfrm>
            <a:off x="563761" y="2572792"/>
            <a:ext cx="183773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YOU SET THIS, IN THIS SHELL</a:t>
            </a:r>
            <a:endParaRPr lang="en-US" sz="816" dirty="0"/>
          </a:p>
        </p:txBody>
      </p:sp>
      <p:sp>
        <p:nvSpPr>
          <p:cNvPr id="13" name="Shape 11"/>
          <p:cNvSpPr/>
          <p:nvPr/>
        </p:nvSpPr>
        <p:spPr>
          <a:xfrm>
            <a:off x="3678138" y="2787104"/>
            <a:ext cx="5199162" cy="19050"/>
          </a:xfrm>
          <a:prstGeom prst="rect">
            <a:avLst/>
          </a:prstGeom>
          <a:solidFill>
            <a:srgbClr val="16303F"/>
          </a:solidFill>
          <a:ln/>
        </p:spPr>
      </p:sp>
      <p:sp>
        <p:nvSpPr>
          <p:cNvPr id="14" name="Text 12"/>
          <p:cNvSpPr txBox="1"/>
          <p:nvPr/>
        </p:nvSpPr>
        <p:spPr>
          <a:xfrm>
            <a:off x="3784699" y="2572792"/>
            <a:ext cx="140970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AND THIS FILE EXISTS</a:t>
            </a:r>
            <a:endParaRPr lang="en-US" sz="816" dirty="0"/>
          </a:p>
        </p:txBody>
      </p:sp>
      <p:sp>
        <p:nvSpPr>
          <p:cNvPr id="15" name="Shape 13"/>
          <p:cNvSpPr/>
          <p:nvPr/>
        </p:nvSpPr>
        <p:spPr>
          <a:xfrm>
            <a:off x="457200" y="3142952"/>
            <a:ext cx="8420100" cy="9525"/>
          </a:xfrm>
          <a:prstGeom prst="rect">
            <a:avLst/>
          </a:prstGeom>
          <a:solidFill>
            <a:srgbClr val="9CA3AF">
              <a:alpha val="20000"/>
            </a:srgbClr>
          </a:solidFill>
          <a:ln/>
        </p:spPr>
      </p:sp>
      <p:sp>
        <p:nvSpPr>
          <p:cNvPr id="16" name="Shape 14"/>
          <p:cNvSpPr/>
          <p:nvPr/>
        </p:nvSpPr>
        <p:spPr>
          <a:xfrm>
            <a:off x="457200" y="3142952"/>
            <a:ext cx="3220938" cy="9525"/>
          </a:xfrm>
          <a:prstGeom prst="rect">
            <a:avLst/>
          </a:prstGeom>
          <a:solidFill>
            <a:srgbClr val="DDD9D2"/>
          </a:solidFill>
          <a:ln/>
        </p:spPr>
      </p:sp>
      <p:sp>
        <p:nvSpPr>
          <p:cNvPr id="17" name="Shape 15"/>
          <p:cNvSpPr/>
          <p:nvPr/>
        </p:nvSpPr>
        <p:spPr>
          <a:xfrm>
            <a:off x="563761" y="2898428"/>
            <a:ext cx="2679055" cy="181570"/>
          </a:xfrm>
          <a:prstGeom prst="roundRect">
            <a:avLst>
              <a:gd name="adj" fmla="val 20984"/>
            </a:avLst>
          </a:prstGeom>
          <a:solidFill>
            <a:srgbClr val="16303F">
              <a:alpha val="7000"/>
            </a:srgbClr>
          </a:solidFill>
          <a:ln/>
        </p:spPr>
      </p:sp>
      <p:sp>
        <p:nvSpPr>
          <p:cNvPr id="18" name="Text 16"/>
          <p:cNvSpPr txBox="1"/>
          <p:nvPr/>
        </p:nvSpPr>
        <p:spPr>
          <a:xfrm>
            <a:off x="506611" y="2898428"/>
            <a:ext cx="2793355"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$env:Weather__TimeoutSeconds = "10"</a:t>
            </a:r>
            <a:endParaRPr lang="en-US" sz="972" dirty="0"/>
          </a:p>
        </p:txBody>
      </p:sp>
      <p:sp>
        <p:nvSpPr>
          <p:cNvPr id="19" name="Shape 17"/>
          <p:cNvSpPr/>
          <p:nvPr/>
        </p:nvSpPr>
        <p:spPr>
          <a:xfrm>
            <a:off x="3678138" y="3142952"/>
            <a:ext cx="5199162" cy="9525"/>
          </a:xfrm>
          <a:prstGeom prst="rect">
            <a:avLst/>
          </a:prstGeom>
          <a:solidFill>
            <a:srgbClr val="DDD9D2"/>
          </a:solidFill>
          <a:ln/>
        </p:spPr>
      </p:sp>
      <p:sp>
        <p:nvSpPr>
          <p:cNvPr id="20" name="Shape 18"/>
          <p:cNvSpPr/>
          <p:nvPr/>
        </p:nvSpPr>
        <p:spPr>
          <a:xfrm>
            <a:off x="3784699" y="2898428"/>
            <a:ext cx="2309068" cy="181570"/>
          </a:xfrm>
          <a:prstGeom prst="roundRect">
            <a:avLst>
              <a:gd name="adj" fmla="val 20984"/>
            </a:avLst>
          </a:prstGeom>
          <a:solidFill>
            <a:srgbClr val="16303F">
              <a:alpha val="7000"/>
            </a:srgbClr>
          </a:solidFill>
          <a:ln/>
        </p:spPr>
      </p:sp>
      <p:sp>
        <p:nvSpPr>
          <p:cNvPr id="21" name="Text 19"/>
          <p:cNvSpPr txBox="1"/>
          <p:nvPr/>
        </p:nvSpPr>
        <p:spPr>
          <a:xfrm>
            <a:off x="3727549" y="2898428"/>
            <a:ext cx="2423368"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Properties/launchSettings.json</a:t>
            </a:r>
            <a:endParaRPr lang="en-US" sz="972" dirty="0"/>
          </a:p>
        </p:txBody>
      </p:sp>
      <p:sp>
        <p:nvSpPr>
          <p:cNvPr id="22" name="Shape 20"/>
          <p:cNvSpPr/>
          <p:nvPr/>
        </p:nvSpPr>
        <p:spPr>
          <a:xfrm>
            <a:off x="457200" y="3152477"/>
            <a:ext cx="8420100" cy="341561"/>
          </a:xfrm>
          <a:prstGeom prst="rect">
            <a:avLst/>
          </a:prstGeom>
          <a:solidFill>
            <a:srgbClr val="16303F">
              <a:alpha val="3000"/>
            </a:srgbClr>
          </a:solidFill>
          <a:ln/>
        </p:spPr>
      </p:sp>
      <p:sp>
        <p:nvSpPr>
          <p:cNvPr id="23" name="Shape 21"/>
          <p:cNvSpPr/>
          <p:nvPr/>
        </p:nvSpPr>
        <p:spPr>
          <a:xfrm>
            <a:off x="457200" y="3484513"/>
            <a:ext cx="8420100" cy="9525"/>
          </a:xfrm>
          <a:prstGeom prst="rect">
            <a:avLst/>
          </a:prstGeom>
          <a:solidFill>
            <a:srgbClr val="9CA3AF">
              <a:alpha val="20000"/>
            </a:srgbClr>
          </a:solidFill>
          <a:ln/>
        </p:spPr>
      </p:sp>
      <p:sp>
        <p:nvSpPr>
          <p:cNvPr id="24" name="Shape 22"/>
          <p:cNvSpPr/>
          <p:nvPr/>
        </p:nvSpPr>
        <p:spPr>
          <a:xfrm>
            <a:off x="457200" y="3484513"/>
            <a:ext cx="3220938" cy="9525"/>
          </a:xfrm>
          <a:prstGeom prst="rect">
            <a:avLst/>
          </a:prstGeom>
          <a:solidFill>
            <a:srgbClr val="DDD9D2"/>
          </a:solidFill>
          <a:ln/>
        </p:spPr>
      </p:sp>
      <p:sp>
        <p:nvSpPr>
          <p:cNvPr id="25" name="Shape 23"/>
          <p:cNvSpPr/>
          <p:nvPr/>
        </p:nvSpPr>
        <p:spPr>
          <a:xfrm>
            <a:off x="563761" y="3239988"/>
            <a:ext cx="828824" cy="181570"/>
          </a:xfrm>
          <a:prstGeom prst="roundRect">
            <a:avLst>
              <a:gd name="adj" fmla="val 20984"/>
            </a:avLst>
          </a:prstGeom>
          <a:solidFill>
            <a:srgbClr val="16303F">
              <a:alpha val="7000"/>
            </a:srgbClr>
          </a:solidFill>
          <a:ln/>
        </p:spPr>
      </p:sp>
      <p:sp>
        <p:nvSpPr>
          <p:cNvPr id="26" name="Text 24"/>
          <p:cNvSpPr txBox="1"/>
          <p:nvPr/>
        </p:nvSpPr>
        <p:spPr>
          <a:xfrm>
            <a:off x="506611" y="3239988"/>
            <a:ext cx="943124"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dotnet run</a:t>
            </a:r>
            <a:endParaRPr lang="en-US" sz="972" dirty="0"/>
          </a:p>
        </p:txBody>
      </p:sp>
      <p:sp>
        <p:nvSpPr>
          <p:cNvPr id="27" name="Shape 25"/>
          <p:cNvSpPr/>
          <p:nvPr/>
        </p:nvSpPr>
        <p:spPr>
          <a:xfrm>
            <a:off x="3678138" y="3484513"/>
            <a:ext cx="5199162" cy="9525"/>
          </a:xfrm>
          <a:prstGeom prst="rect">
            <a:avLst/>
          </a:prstGeom>
          <a:solidFill>
            <a:srgbClr val="DDD9D2"/>
          </a:solidFill>
          <a:ln/>
        </p:spPr>
      </p:sp>
      <p:sp>
        <p:nvSpPr>
          <p:cNvPr id="28" name="Shape 26"/>
          <p:cNvSpPr/>
          <p:nvPr/>
        </p:nvSpPr>
        <p:spPr>
          <a:xfrm>
            <a:off x="3784699" y="3239988"/>
            <a:ext cx="4455319" cy="181570"/>
          </a:xfrm>
          <a:prstGeom prst="roundRect">
            <a:avLst>
              <a:gd name="adj" fmla="val 20984"/>
            </a:avLst>
          </a:prstGeom>
          <a:solidFill>
            <a:srgbClr val="16303F">
              <a:alpha val="7000"/>
            </a:srgbClr>
          </a:solidFill>
          <a:ln/>
        </p:spPr>
      </p:sp>
      <p:sp>
        <p:nvSpPr>
          <p:cNvPr id="29" name="Text 27"/>
          <p:cNvSpPr txBox="1"/>
          <p:nvPr/>
        </p:nvSpPr>
        <p:spPr>
          <a:xfrm>
            <a:off x="3727549" y="3239988"/>
            <a:ext cx="456961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"environmentVariables": { "Weather__TimeoutSeconds": "45" }</a:t>
            </a:r>
            <a:endParaRPr lang="en-US" sz="972" dirty="0"/>
          </a:p>
        </p:txBody>
      </p:sp>
      <p:sp>
        <p:nvSpPr>
          <p:cNvPr id="30" name="Shape 28"/>
          <p:cNvSpPr/>
          <p:nvPr/>
        </p:nvSpPr>
        <p:spPr>
          <a:xfrm>
            <a:off x="457200" y="3658791"/>
            <a:ext cx="38100" cy="533400"/>
          </a:xfrm>
          <a:prstGeom prst="rect">
            <a:avLst/>
          </a:prstGeom>
          <a:solidFill>
            <a:srgbClr val="F4C233"/>
          </a:solidFill>
          <a:ln/>
        </p:spPr>
      </p:sp>
      <p:sp>
        <p:nvSpPr>
          <p:cNvPr id="31" name="Text 29"/>
          <p:cNvSpPr txBox="1"/>
          <p:nvPr/>
        </p:nvSpPr>
        <p:spPr>
          <a:xfrm>
            <a:off x="617190" y="3820716"/>
            <a:ext cx="1518196"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“Which one wins?”</a:t>
            </a:r>
            <a:endParaRPr lang="en-US" sz="1200" dirty="0"/>
          </a:p>
        </p:txBody>
      </p:sp>
      <p:sp>
        <p:nvSpPr>
          <p:cNvPr id="32" name="Shape 30"/>
          <p:cNvSpPr/>
          <p:nvPr/>
        </p:nvSpPr>
        <p:spPr>
          <a:xfrm>
            <a:off x="8463260" y="228600"/>
            <a:ext cx="581769" cy="228451"/>
          </a:xfrm>
          <a:prstGeom prst="roundRect">
            <a:avLst>
              <a:gd name="adj" fmla="val 16678"/>
            </a:avLst>
          </a:prstGeom>
          <a:solidFill>
            <a:srgbClr val="16303F"/>
          </a:solidFill>
          <a:ln/>
        </p:spPr>
      </p:sp>
      <p:sp>
        <p:nvSpPr>
          <p:cNvPr id="33" name="Text 31"/>
          <p:cNvSpPr txBox="1"/>
          <p:nvPr/>
        </p:nvSpPr>
        <p:spPr>
          <a:xfrm>
            <a:off x="8557617" y="274290"/>
            <a:ext cx="507355"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ORDER</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628650" y="1349722"/>
            <a:ext cx="8077200" cy="638175"/>
          </a:xfrm>
          <a:prstGeom prst="roundRect">
            <a:avLst>
              <a:gd name="adj" fmla="val 5970"/>
            </a:avLst>
          </a:prstGeom>
          <a:solidFill>
            <a:srgbClr val="011627"/>
          </a:solidFill>
          <a:ln/>
        </p:spPr>
      </p:sp>
      <p:sp>
        <p:nvSpPr>
          <p:cNvPr id="4" name="Text 2"/>
          <p:cNvSpPr txBox="1"/>
          <p:nvPr/>
        </p:nvSpPr>
        <p:spPr>
          <a:xfrm>
            <a:off x="704850" y="1435447"/>
            <a:ext cx="7943850" cy="452437"/>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dotnet run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 timeout is 45 seconds.</a:t>
            </a:r>
            <a:endParaRPr lang="en-US" sz="1275" dirty="0"/>
          </a:p>
        </p:txBody>
      </p:sp>
      <p:sp>
        <p:nvSpPr>
          <p:cNvPr id="5" name="Shape 3"/>
          <p:cNvSpPr/>
          <p:nvPr/>
        </p:nvSpPr>
        <p:spPr>
          <a:xfrm>
            <a:off x="628650" y="2277368"/>
            <a:ext cx="38100" cy="533400"/>
          </a:xfrm>
          <a:prstGeom prst="rect">
            <a:avLst/>
          </a:prstGeom>
          <a:solidFill>
            <a:srgbClr val="F4C233"/>
          </a:solidFill>
          <a:ln/>
        </p:spPr>
      </p:sp>
      <p:sp>
        <p:nvSpPr>
          <p:cNvPr id="6" name="Shape 4"/>
          <p:cNvSpPr/>
          <p:nvPr/>
        </p:nvSpPr>
        <p:spPr>
          <a:xfrm>
            <a:off x="788640" y="2447479"/>
            <a:ext cx="1656904" cy="202704"/>
          </a:xfrm>
          <a:prstGeom prst="roundRect">
            <a:avLst>
              <a:gd name="adj" fmla="val 18796"/>
            </a:avLst>
          </a:prstGeom>
          <a:solidFill>
            <a:srgbClr val="16303F">
              <a:alpha val="7000"/>
            </a:srgbClr>
          </a:solidFill>
          <a:ln/>
        </p:spPr>
      </p:sp>
      <p:sp>
        <p:nvSpPr>
          <p:cNvPr id="7" name="Text 5"/>
          <p:cNvSpPr txBox="1"/>
          <p:nvPr/>
        </p:nvSpPr>
        <p:spPr>
          <a:xfrm>
            <a:off x="835223" y="2439293"/>
            <a:ext cx="5160020"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launchSettings.json</a:t>
            </a:r>
            <a:pPr algn="l" indent="0" marL="0">
              <a:buNone/>
            </a:pPr>
            <a:r>
              <a:rPr lang="en-US" sz="1200" b="1" dirty="0">
                <a:solidFill>
                  <a:srgbClr val="16303F"/>
                </a:solidFill>
                <a:latin typeface="Manrope" pitchFamily="34" charset="0"/>
                <a:ea typeface="Manrope" pitchFamily="34" charset="-122"/>
                <a:cs typeface="Manrope" pitchFamily="34" charset="-120"/>
              </a:rPr>
              <a:t> is a development-only file that never deploys.</a:t>
            </a:r>
            <a:endParaRPr lang="en-US" sz="1080" dirty="0"/>
          </a:p>
        </p:txBody>
      </p:sp>
      <p:sp>
        <p:nvSpPr>
          <p:cNvPr id="8" name="Text 6"/>
          <p:cNvSpPr txBox="1"/>
          <p:nvPr/>
        </p:nvSpPr>
        <p:spPr>
          <a:xfrm>
            <a:off x="628650" y="3224064"/>
            <a:ext cx="80962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So the value you carefully set is beaten locally by a file that will not exist in production — where your environment variable is the only thing left.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84661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Default provider order</a:t>
            </a:r>
            <a:endParaRPr lang="en-US" sz="2820" dirty="0"/>
          </a:p>
        </p:txBody>
      </p:sp>
      <p:sp>
        <p:nvSpPr>
          <p:cNvPr id="4" name="Shape 2"/>
          <p:cNvSpPr/>
          <p:nvPr/>
        </p:nvSpPr>
        <p:spPr>
          <a:xfrm>
            <a:off x="457200" y="1163241"/>
            <a:ext cx="38100" cy="533400"/>
          </a:xfrm>
          <a:prstGeom prst="rect">
            <a:avLst/>
          </a:prstGeom>
          <a:solidFill>
            <a:srgbClr val="F4C233"/>
          </a:solidFill>
          <a:ln/>
        </p:spPr>
      </p:sp>
      <p:sp>
        <p:nvSpPr>
          <p:cNvPr id="5" name="Text 3"/>
          <p:cNvSpPr txBox="1"/>
          <p:nvPr/>
        </p:nvSpPr>
        <p:spPr>
          <a:xfrm>
            <a:off x="617190" y="1325166"/>
            <a:ext cx="3756422"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HIGHEST PRECEDENCE FIRST — row 1 beats row 8.</a:t>
            </a:r>
            <a:endParaRPr lang="en-US" sz="1200" dirty="0"/>
          </a:p>
        </p:txBody>
      </p:sp>
      <p:sp>
        <p:nvSpPr>
          <p:cNvPr id="6" name="Shape 4"/>
          <p:cNvSpPr/>
          <p:nvPr/>
        </p:nvSpPr>
        <p:spPr>
          <a:xfrm>
            <a:off x="457200" y="1989088"/>
            <a:ext cx="8420100" cy="9525"/>
          </a:xfrm>
          <a:prstGeom prst="rect">
            <a:avLst/>
          </a:prstGeom>
          <a:solidFill>
            <a:srgbClr val="9CA3AF">
              <a:alpha val="20000"/>
            </a:srgbClr>
          </a:solidFill>
          <a:ln/>
        </p:spPr>
      </p:sp>
      <p:sp>
        <p:nvSpPr>
          <p:cNvPr id="7" name="Shape 5"/>
          <p:cNvSpPr/>
          <p:nvPr/>
        </p:nvSpPr>
        <p:spPr>
          <a:xfrm>
            <a:off x="457200" y="1979563"/>
            <a:ext cx="461665" cy="19050"/>
          </a:xfrm>
          <a:prstGeom prst="rect">
            <a:avLst/>
          </a:prstGeom>
          <a:solidFill>
            <a:srgbClr val="16303F"/>
          </a:solidFill>
          <a:ln/>
        </p:spPr>
      </p:sp>
      <p:sp>
        <p:nvSpPr>
          <p:cNvPr id="8" name="Shape 6"/>
          <p:cNvSpPr/>
          <p:nvPr/>
        </p:nvSpPr>
        <p:spPr>
          <a:xfrm>
            <a:off x="918865" y="1979563"/>
            <a:ext cx="5486400" cy="19050"/>
          </a:xfrm>
          <a:prstGeom prst="rect">
            <a:avLst/>
          </a:prstGeom>
          <a:solidFill>
            <a:srgbClr val="16303F"/>
          </a:solidFill>
          <a:ln/>
        </p:spPr>
      </p:sp>
      <p:sp>
        <p:nvSpPr>
          <p:cNvPr id="9" name="Text 7"/>
          <p:cNvSpPr txBox="1"/>
          <p:nvPr/>
        </p:nvSpPr>
        <p:spPr>
          <a:xfrm>
            <a:off x="1025426" y="1788021"/>
            <a:ext cx="60468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SOURCE</a:t>
            </a:r>
            <a:endParaRPr lang="en-US" sz="816" dirty="0"/>
          </a:p>
        </p:txBody>
      </p:sp>
      <p:sp>
        <p:nvSpPr>
          <p:cNvPr id="10" name="Shape 8"/>
          <p:cNvSpPr/>
          <p:nvPr/>
        </p:nvSpPr>
        <p:spPr>
          <a:xfrm>
            <a:off x="6405265" y="1979563"/>
            <a:ext cx="2472035" cy="19050"/>
          </a:xfrm>
          <a:prstGeom prst="rect">
            <a:avLst/>
          </a:prstGeom>
          <a:solidFill>
            <a:srgbClr val="16303F"/>
          </a:solidFill>
          <a:ln/>
        </p:spPr>
      </p:sp>
      <p:sp>
        <p:nvSpPr>
          <p:cNvPr id="11" name="Shape 9"/>
          <p:cNvSpPr/>
          <p:nvPr/>
        </p:nvSpPr>
        <p:spPr>
          <a:xfrm>
            <a:off x="457200" y="2280493"/>
            <a:ext cx="8420100" cy="9525"/>
          </a:xfrm>
          <a:prstGeom prst="rect">
            <a:avLst/>
          </a:prstGeom>
          <a:solidFill>
            <a:srgbClr val="9CA3AF">
              <a:alpha val="20000"/>
            </a:srgbClr>
          </a:solidFill>
          <a:ln/>
        </p:spPr>
      </p:sp>
      <p:sp>
        <p:nvSpPr>
          <p:cNvPr id="12" name="Shape 10"/>
          <p:cNvSpPr/>
          <p:nvPr/>
        </p:nvSpPr>
        <p:spPr>
          <a:xfrm>
            <a:off x="457200" y="2280493"/>
            <a:ext cx="461665" cy="9525"/>
          </a:xfrm>
          <a:prstGeom prst="rect">
            <a:avLst/>
          </a:prstGeom>
          <a:solidFill>
            <a:srgbClr val="DDD9D2"/>
          </a:solidFill>
          <a:ln/>
        </p:spPr>
      </p:sp>
      <p:sp>
        <p:nvSpPr>
          <p:cNvPr id="13" name="Text 11"/>
          <p:cNvSpPr txBox="1"/>
          <p:nvPr/>
        </p:nvSpPr>
        <p:spPr>
          <a:xfrm>
            <a:off x="563761" y="2060228"/>
            <a:ext cx="16430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1</a:t>
            </a:r>
            <a:endParaRPr lang="en-US" sz="1008" dirty="0"/>
          </a:p>
        </p:txBody>
      </p:sp>
      <p:sp>
        <p:nvSpPr>
          <p:cNvPr id="14" name="Shape 12"/>
          <p:cNvSpPr/>
          <p:nvPr/>
        </p:nvSpPr>
        <p:spPr>
          <a:xfrm>
            <a:off x="918865" y="2280493"/>
            <a:ext cx="5486400" cy="9525"/>
          </a:xfrm>
          <a:prstGeom prst="rect">
            <a:avLst/>
          </a:prstGeom>
          <a:solidFill>
            <a:srgbClr val="DDD9D2"/>
          </a:solidFill>
          <a:ln/>
        </p:spPr>
      </p:sp>
      <p:sp>
        <p:nvSpPr>
          <p:cNvPr id="15" name="Text 13"/>
          <p:cNvSpPr txBox="1"/>
          <p:nvPr/>
        </p:nvSpPr>
        <p:spPr>
          <a:xfrm>
            <a:off x="1025426" y="2060228"/>
            <a:ext cx="1793528"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Host / chained configuration</a:t>
            </a:r>
            <a:endParaRPr lang="en-US" sz="1008" dirty="0"/>
          </a:p>
        </p:txBody>
      </p:sp>
      <p:sp>
        <p:nvSpPr>
          <p:cNvPr id="16" name="Shape 14"/>
          <p:cNvSpPr/>
          <p:nvPr/>
        </p:nvSpPr>
        <p:spPr>
          <a:xfrm>
            <a:off x="6405265" y="2280493"/>
            <a:ext cx="2472035" cy="9525"/>
          </a:xfrm>
          <a:prstGeom prst="rect">
            <a:avLst/>
          </a:prstGeom>
          <a:solidFill>
            <a:srgbClr val="DDD9D2"/>
          </a:solidFill>
          <a:ln/>
        </p:spPr>
      </p:sp>
      <p:sp>
        <p:nvSpPr>
          <p:cNvPr id="17" name="Text 15"/>
          <p:cNvSpPr txBox="1"/>
          <p:nvPr/>
        </p:nvSpPr>
        <p:spPr>
          <a:xfrm>
            <a:off x="6511826" y="2060228"/>
            <a:ext cx="1406128"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added LAST, so it wins</a:t>
            </a:r>
            <a:endParaRPr lang="en-US" sz="1008" dirty="0"/>
          </a:p>
        </p:txBody>
      </p:sp>
      <p:sp>
        <p:nvSpPr>
          <p:cNvPr id="18" name="Shape 16"/>
          <p:cNvSpPr/>
          <p:nvPr/>
        </p:nvSpPr>
        <p:spPr>
          <a:xfrm>
            <a:off x="457200" y="2290018"/>
            <a:ext cx="8420100" cy="286643"/>
          </a:xfrm>
          <a:prstGeom prst="rect">
            <a:avLst/>
          </a:prstGeom>
          <a:solidFill>
            <a:srgbClr val="16303F">
              <a:alpha val="3000"/>
            </a:srgbClr>
          </a:solidFill>
          <a:ln/>
        </p:spPr>
      </p:sp>
      <p:sp>
        <p:nvSpPr>
          <p:cNvPr id="19" name="Shape 17"/>
          <p:cNvSpPr/>
          <p:nvPr/>
        </p:nvSpPr>
        <p:spPr>
          <a:xfrm>
            <a:off x="457200" y="2567136"/>
            <a:ext cx="8420100" cy="9525"/>
          </a:xfrm>
          <a:prstGeom prst="rect">
            <a:avLst/>
          </a:prstGeom>
          <a:solidFill>
            <a:srgbClr val="9CA3AF">
              <a:alpha val="20000"/>
            </a:srgbClr>
          </a:solidFill>
          <a:ln/>
        </p:spPr>
      </p:sp>
      <p:sp>
        <p:nvSpPr>
          <p:cNvPr id="20" name="Shape 18"/>
          <p:cNvSpPr/>
          <p:nvPr/>
        </p:nvSpPr>
        <p:spPr>
          <a:xfrm>
            <a:off x="457200" y="2567136"/>
            <a:ext cx="461665" cy="9525"/>
          </a:xfrm>
          <a:prstGeom prst="rect">
            <a:avLst/>
          </a:prstGeom>
          <a:solidFill>
            <a:srgbClr val="DDD9D2"/>
          </a:solidFill>
          <a:ln/>
        </p:spPr>
      </p:sp>
      <p:sp>
        <p:nvSpPr>
          <p:cNvPr id="21" name="Text 19"/>
          <p:cNvSpPr txBox="1"/>
          <p:nvPr/>
        </p:nvSpPr>
        <p:spPr>
          <a:xfrm>
            <a:off x="563761" y="2346871"/>
            <a:ext cx="18737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2</a:t>
            </a:r>
            <a:endParaRPr lang="en-US" sz="1008" dirty="0"/>
          </a:p>
        </p:txBody>
      </p:sp>
      <p:sp>
        <p:nvSpPr>
          <p:cNvPr id="22" name="Shape 20"/>
          <p:cNvSpPr/>
          <p:nvPr/>
        </p:nvSpPr>
        <p:spPr>
          <a:xfrm>
            <a:off x="918865" y="2567136"/>
            <a:ext cx="5486400" cy="9525"/>
          </a:xfrm>
          <a:prstGeom prst="rect">
            <a:avLst/>
          </a:prstGeom>
          <a:solidFill>
            <a:srgbClr val="DDD9D2"/>
          </a:solidFill>
          <a:ln/>
        </p:spPr>
      </p:sp>
      <p:sp>
        <p:nvSpPr>
          <p:cNvPr id="23" name="Text 21"/>
          <p:cNvSpPr txBox="1"/>
          <p:nvPr/>
        </p:nvSpPr>
        <p:spPr>
          <a:xfrm>
            <a:off x="1025426" y="2346871"/>
            <a:ext cx="165303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Command-line arguments</a:t>
            </a:r>
            <a:endParaRPr lang="en-US" sz="1008" dirty="0"/>
          </a:p>
        </p:txBody>
      </p:sp>
      <p:sp>
        <p:nvSpPr>
          <p:cNvPr id="24" name="Shape 22"/>
          <p:cNvSpPr/>
          <p:nvPr/>
        </p:nvSpPr>
        <p:spPr>
          <a:xfrm>
            <a:off x="6405265" y="2567136"/>
            <a:ext cx="2472035" cy="9525"/>
          </a:xfrm>
          <a:prstGeom prst="rect">
            <a:avLst/>
          </a:prstGeom>
          <a:solidFill>
            <a:srgbClr val="DDD9D2"/>
          </a:solidFill>
          <a:ln/>
        </p:spPr>
      </p:sp>
      <p:sp>
        <p:nvSpPr>
          <p:cNvPr id="25" name="Text 23"/>
          <p:cNvSpPr txBox="1"/>
          <p:nvPr/>
        </p:nvSpPr>
        <p:spPr>
          <a:xfrm>
            <a:off x="6511826" y="2346871"/>
            <a:ext cx="146744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the provider runs twice</a:t>
            </a:r>
            <a:endParaRPr lang="en-US" sz="1008" dirty="0"/>
          </a:p>
        </p:txBody>
      </p:sp>
      <p:sp>
        <p:nvSpPr>
          <p:cNvPr id="26" name="Shape 24"/>
          <p:cNvSpPr/>
          <p:nvPr/>
        </p:nvSpPr>
        <p:spPr>
          <a:xfrm>
            <a:off x="457200" y="2853779"/>
            <a:ext cx="8420100" cy="9525"/>
          </a:xfrm>
          <a:prstGeom prst="rect">
            <a:avLst/>
          </a:prstGeom>
          <a:solidFill>
            <a:srgbClr val="9CA3AF">
              <a:alpha val="20000"/>
            </a:srgbClr>
          </a:solidFill>
          <a:ln/>
        </p:spPr>
      </p:sp>
      <p:sp>
        <p:nvSpPr>
          <p:cNvPr id="27" name="Shape 25"/>
          <p:cNvSpPr/>
          <p:nvPr/>
        </p:nvSpPr>
        <p:spPr>
          <a:xfrm>
            <a:off x="457200" y="2853779"/>
            <a:ext cx="461665" cy="9525"/>
          </a:xfrm>
          <a:prstGeom prst="rect">
            <a:avLst/>
          </a:prstGeom>
          <a:solidFill>
            <a:srgbClr val="DDD9D2"/>
          </a:solidFill>
          <a:ln/>
        </p:spPr>
      </p:sp>
      <p:sp>
        <p:nvSpPr>
          <p:cNvPr id="28" name="Text 26"/>
          <p:cNvSpPr txBox="1"/>
          <p:nvPr/>
        </p:nvSpPr>
        <p:spPr>
          <a:xfrm>
            <a:off x="563761" y="2633514"/>
            <a:ext cx="18514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3</a:t>
            </a:r>
            <a:endParaRPr lang="en-US" sz="1008" dirty="0"/>
          </a:p>
        </p:txBody>
      </p:sp>
      <p:sp>
        <p:nvSpPr>
          <p:cNvPr id="29" name="Shape 27"/>
          <p:cNvSpPr/>
          <p:nvPr/>
        </p:nvSpPr>
        <p:spPr>
          <a:xfrm>
            <a:off x="918865" y="2853779"/>
            <a:ext cx="5486400" cy="9525"/>
          </a:xfrm>
          <a:prstGeom prst="rect">
            <a:avLst/>
          </a:prstGeom>
          <a:solidFill>
            <a:srgbClr val="DDD9D2"/>
          </a:solidFill>
          <a:ln/>
        </p:spPr>
      </p:sp>
      <p:sp>
        <p:nvSpPr>
          <p:cNvPr id="30" name="Text 28"/>
          <p:cNvSpPr txBox="1"/>
          <p:nvPr/>
        </p:nvSpPr>
        <p:spPr>
          <a:xfrm>
            <a:off x="1025426" y="2633514"/>
            <a:ext cx="141610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Environment variables</a:t>
            </a:r>
            <a:endParaRPr lang="en-US" sz="1008" dirty="0"/>
          </a:p>
        </p:txBody>
      </p:sp>
      <p:sp>
        <p:nvSpPr>
          <p:cNvPr id="31" name="Shape 29"/>
          <p:cNvSpPr/>
          <p:nvPr/>
        </p:nvSpPr>
        <p:spPr>
          <a:xfrm>
            <a:off x="6405265" y="2853779"/>
            <a:ext cx="2472035" cy="9525"/>
          </a:xfrm>
          <a:prstGeom prst="rect">
            <a:avLst/>
          </a:prstGeom>
          <a:solidFill>
            <a:srgbClr val="DDD9D2"/>
          </a:solidFill>
          <a:ln/>
        </p:spPr>
      </p:sp>
      <p:sp>
        <p:nvSpPr>
          <p:cNvPr id="32" name="Text 30"/>
          <p:cNvSpPr txBox="1"/>
          <p:nvPr/>
        </p:nvSpPr>
        <p:spPr>
          <a:xfrm>
            <a:off x="6511826" y="2633514"/>
            <a:ext cx="754707"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unprefixed</a:t>
            </a:r>
            <a:endParaRPr lang="en-US" sz="1008" dirty="0"/>
          </a:p>
        </p:txBody>
      </p:sp>
      <p:sp>
        <p:nvSpPr>
          <p:cNvPr id="33" name="Shape 31"/>
          <p:cNvSpPr/>
          <p:nvPr/>
        </p:nvSpPr>
        <p:spPr>
          <a:xfrm>
            <a:off x="457200" y="2863304"/>
            <a:ext cx="8420100" cy="286643"/>
          </a:xfrm>
          <a:prstGeom prst="rect">
            <a:avLst/>
          </a:prstGeom>
          <a:solidFill>
            <a:srgbClr val="16303F">
              <a:alpha val="3000"/>
            </a:srgbClr>
          </a:solidFill>
          <a:ln/>
        </p:spPr>
      </p:sp>
      <p:sp>
        <p:nvSpPr>
          <p:cNvPr id="34" name="Shape 32"/>
          <p:cNvSpPr/>
          <p:nvPr/>
        </p:nvSpPr>
        <p:spPr>
          <a:xfrm>
            <a:off x="457200" y="3140422"/>
            <a:ext cx="8420100" cy="9525"/>
          </a:xfrm>
          <a:prstGeom prst="rect">
            <a:avLst/>
          </a:prstGeom>
          <a:solidFill>
            <a:srgbClr val="9CA3AF">
              <a:alpha val="20000"/>
            </a:srgbClr>
          </a:solidFill>
          <a:ln/>
        </p:spPr>
      </p:sp>
      <p:sp>
        <p:nvSpPr>
          <p:cNvPr id="35" name="Shape 33"/>
          <p:cNvSpPr/>
          <p:nvPr/>
        </p:nvSpPr>
        <p:spPr>
          <a:xfrm>
            <a:off x="457200" y="3140422"/>
            <a:ext cx="461665" cy="9525"/>
          </a:xfrm>
          <a:prstGeom prst="rect">
            <a:avLst/>
          </a:prstGeom>
          <a:solidFill>
            <a:srgbClr val="DDD9D2"/>
          </a:solidFill>
          <a:ln/>
        </p:spPr>
      </p:sp>
      <p:sp>
        <p:nvSpPr>
          <p:cNvPr id="36" name="Text 34"/>
          <p:cNvSpPr txBox="1"/>
          <p:nvPr/>
        </p:nvSpPr>
        <p:spPr>
          <a:xfrm>
            <a:off x="563761" y="2920157"/>
            <a:ext cx="18990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4</a:t>
            </a:r>
            <a:endParaRPr lang="en-US" sz="1008" dirty="0"/>
          </a:p>
        </p:txBody>
      </p:sp>
      <p:sp>
        <p:nvSpPr>
          <p:cNvPr id="37" name="Shape 35"/>
          <p:cNvSpPr/>
          <p:nvPr/>
        </p:nvSpPr>
        <p:spPr>
          <a:xfrm>
            <a:off x="918865" y="3140422"/>
            <a:ext cx="5486400" cy="9525"/>
          </a:xfrm>
          <a:prstGeom prst="rect">
            <a:avLst/>
          </a:prstGeom>
          <a:solidFill>
            <a:srgbClr val="DDD9D2"/>
          </a:solidFill>
          <a:ln/>
        </p:spPr>
      </p:sp>
      <p:sp>
        <p:nvSpPr>
          <p:cNvPr id="38" name="Text 36"/>
          <p:cNvSpPr txBox="1"/>
          <p:nvPr/>
        </p:nvSpPr>
        <p:spPr>
          <a:xfrm>
            <a:off x="1025426" y="2920157"/>
            <a:ext cx="86915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User secrets</a:t>
            </a:r>
            <a:endParaRPr lang="en-US" sz="1008" dirty="0"/>
          </a:p>
        </p:txBody>
      </p:sp>
      <p:sp>
        <p:nvSpPr>
          <p:cNvPr id="39" name="Shape 37"/>
          <p:cNvSpPr/>
          <p:nvPr/>
        </p:nvSpPr>
        <p:spPr>
          <a:xfrm>
            <a:off x="6405265" y="3140422"/>
            <a:ext cx="2472035" cy="9525"/>
          </a:xfrm>
          <a:prstGeom prst="rect">
            <a:avLst/>
          </a:prstGeom>
          <a:solidFill>
            <a:srgbClr val="DDD9D2"/>
          </a:solidFill>
          <a:ln/>
        </p:spPr>
      </p:sp>
      <p:sp>
        <p:nvSpPr>
          <p:cNvPr id="40" name="Text 38"/>
          <p:cNvSpPr txBox="1"/>
          <p:nvPr/>
        </p:nvSpPr>
        <p:spPr>
          <a:xfrm>
            <a:off x="6511826" y="2920157"/>
            <a:ext cx="117440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Development only</a:t>
            </a:r>
            <a:endParaRPr lang="en-US" sz="1008" dirty="0"/>
          </a:p>
        </p:txBody>
      </p:sp>
      <p:sp>
        <p:nvSpPr>
          <p:cNvPr id="41" name="Shape 39"/>
          <p:cNvSpPr/>
          <p:nvPr/>
        </p:nvSpPr>
        <p:spPr>
          <a:xfrm>
            <a:off x="457200" y="3430637"/>
            <a:ext cx="8420100" cy="9525"/>
          </a:xfrm>
          <a:prstGeom prst="rect">
            <a:avLst/>
          </a:prstGeom>
          <a:solidFill>
            <a:srgbClr val="9CA3AF">
              <a:alpha val="20000"/>
            </a:srgbClr>
          </a:solidFill>
          <a:ln/>
        </p:spPr>
      </p:sp>
      <p:sp>
        <p:nvSpPr>
          <p:cNvPr id="42" name="Shape 40"/>
          <p:cNvSpPr/>
          <p:nvPr/>
        </p:nvSpPr>
        <p:spPr>
          <a:xfrm>
            <a:off x="457200" y="3430637"/>
            <a:ext cx="461665" cy="9525"/>
          </a:xfrm>
          <a:prstGeom prst="rect">
            <a:avLst/>
          </a:prstGeom>
          <a:solidFill>
            <a:srgbClr val="DDD9D2"/>
          </a:solidFill>
          <a:ln/>
        </p:spPr>
      </p:sp>
      <p:sp>
        <p:nvSpPr>
          <p:cNvPr id="43" name="Text 41"/>
          <p:cNvSpPr txBox="1"/>
          <p:nvPr/>
        </p:nvSpPr>
        <p:spPr>
          <a:xfrm>
            <a:off x="563761" y="3206800"/>
            <a:ext cx="188268"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5</a:t>
            </a:r>
            <a:endParaRPr lang="en-US" sz="1008" dirty="0"/>
          </a:p>
        </p:txBody>
      </p:sp>
      <p:sp>
        <p:nvSpPr>
          <p:cNvPr id="44" name="Shape 42"/>
          <p:cNvSpPr/>
          <p:nvPr/>
        </p:nvSpPr>
        <p:spPr>
          <a:xfrm>
            <a:off x="918865" y="3430637"/>
            <a:ext cx="5486400" cy="9525"/>
          </a:xfrm>
          <a:prstGeom prst="rect">
            <a:avLst/>
          </a:prstGeom>
          <a:solidFill>
            <a:srgbClr val="DDD9D2"/>
          </a:solidFill>
          <a:ln/>
        </p:spPr>
      </p:sp>
      <p:sp>
        <p:nvSpPr>
          <p:cNvPr id="45" name="Shape 43"/>
          <p:cNvSpPr/>
          <p:nvPr/>
        </p:nvSpPr>
        <p:spPr>
          <a:xfrm>
            <a:off x="1025426" y="3206948"/>
            <a:ext cx="3263354" cy="180677"/>
          </a:xfrm>
          <a:prstGeom prst="roundRect">
            <a:avLst>
              <a:gd name="adj" fmla="val 21087"/>
            </a:avLst>
          </a:prstGeom>
          <a:solidFill>
            <a:srgbClr val="16303F">
              <a:alpha val="7000"/>
            </a:srgbClr>
          </a:solidFill>
          <a:ln/>
        </p:spPr>
      </p:sp>
      <p:sp>
        <p:nvSpPr>
          <p:cNvPr id="46" name="Text 44"/>
          <p:cNvSpPr txBox="1"/>
          <p:nvPr/>
        </p:nvSpPr>
        <p:spPr>
          <a:xfrm>
            <a:off x="968276" y="3206948"/>
            <a:ext cx="3377654"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{ApplicationName}.settings.{Environment}.json</a:t>
            </a:r>
            <a:endParaRPr lang="en-US" sz="927" dirty="0"/>
          </a:p>
        </p:txBody>
      </p:sp>
      <p:sp>
        <p:nvSpPr>
          <p:cNvPr id="47" name="Shape 45"/>
          <p:cNvSpPr/>
          <p:nvPr/>
        </p:nvSpPr>
        <p:spPr>
          <a:xfrm>
            <a:off x="6405265" y="3430637"/>
            <a:ext cx="2472035" cy="9525"/>
          </a:xfrm>
          <a:prstGeom prst="rect">
            <a:avLst/>
          </a:prstGeom>
          <a:solidFill>
            <a:srgbClr val="DDD9D2"/>
          </a:solidFill>
          <a:ln/>
        </p:spPr>
      </p:sp>
      <p:sp>
        <p:nvSpPr>
          <p:cNvPr id="48" name="Shape 46"/>
          <p:cNvSpPr/>
          <p:nvPr/>
        </p:nvSpPr>
        <p:spPr>
          <a:xfrm>
            <a:off x="457200" y="3440162"/>
            <a:ext cx="8420100" cy="290215"/>
          </a:xfrm>
          <a:prstGeom prst="rect">
            <a:avLst/>
          </a:prstGeom>
          <a:solidFill>
            <a:srgbClr val="16303F">
              <a:alpha val="3000"/>
            </a:srgbClr>
          </a:solidFill>
          <a:ln/>
        </p:spPr>
      </p:sp>
      <p:sp>
        <p:nvSpPr>
          <p:cNvPr id="49" name="Shape 47"/>
          <p:cNvSpPr/>
          <p:nvPr/>
        </p:nvSpPr>
        <p:spPr>
          <a:xfrm>
            <a:off x="457200" y="3720852"/>
            <a:ext cx="8420100" cy="9525"/>
          </a:xfrm>
          <a:prstGeom prst="rect">
            <a:avLst/>
          </a:prstGeom>
          <a:solidFill>
            <a:srgbClr val="9CA3AF">
              <a:alpha val="20000"/>
            </a:srgbClr>
          </a:solidFill>
          <a:ln/>
        </p:spPr>
      </p:sp>
      <p:sp>
        <p:nvSpPr>
          <p:cNvPr id="50" name="Shape 48"/>
          <p:cNvSpPr/>
          <p:nvPr/>
        </p:nvSpPr>
        <p:spPr>
          <a:xfrm>
            <a:off x="457200" y="3720852"/>
            <a:ext cx="461665" cy="9525"/>
          </a:xfrm>
          <a:prstGeom prst="rect">
            <a:avLst/>
          </a:prstGeom>
          <a:solidFill>
            <a:srgbClr val="DDD9D2"/>
          </a:solidFill>
          <a:ln/>
        </p:spPr>
      </p:sp>
      <p:sp>
        <p:nvSpPr>
          <p:cNvPr id="51" name="Text 49"/>
          <p:cNvSpPr txBox="1"/>
          <p:nvPr/>
        </p:nvSpPr>
        <p:spPr>
          <a:xfrm>
            <a:off x="563761" y="3497014"/>
            <a:ext cx="19377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6</a:t>
            </a:r>
            <a:endParaRPr lang="en-US" sz="1008" dirty="0"/>
          </a:p>
        </p:txBody>
      </p:sp>
      <p:sp>
        <p:nvSpPr>
          <p:cNvPr id="52" name="Shape 50"/>
          <p:cNvSpPr/>
          <p:nvPr/>
        </p:nvSpPr>
        <p:spPr>
          <a:xfrm>
            <a:off x="918865" y="3720852"/>
            <a:ext cx="5486400" cy="9525"/>
          </a:xfrm>
          <a:prstGeom prst="rect">
            <a:avLst/>
          </a:prstGeom>
          <a:solidFill>
            <a:srgbClr val="DDD9D2"/>
          </a:solidFill>
          <a:ln/>
        </p:spPr>
      </p:sp>
      <p:sp>
        <p:nvSpPr>
          <p:cNvPr id="53" name="Shape 51"/>
          <p:cNvSpPr/>
          <p:nvPr/>
        </p:nvSpPr>
        <p:spPr>
          <a:xfrm>
            <a:off x="1025426" y="3497163"/>
            <a:ext cx="2274391" cy="180677"/>
          </a:xfrm>
          <a:prstGeom prst="roundRect">
            <a:avLst>
              <a:gd name="adj" fmla="val 21087"/>
            </a:avLst>
          </a:prstGeom>
          <a:solidFill>
            <a:srgbClr val="16303F">
              <a:alpha val="7000"/>
            </a:srgbClr>
          </a:solidFill>
          <a:ln/>
        </p:spPr>
      </p:sp>
      <p:sp>
        <p:nvSpPr>
          <p:cNvPr id="54" name="Text 52"/>
          <p:cNvSpPr txBox="1"/>
          <p:nvPr/>
        </p:nvSpPr>
        <p:spPr>
          <a:xfrm>
            <a:off x="968276" y="3497163"/>
            <a:ext cx="2388691"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{ApplicationName}.settings.json</a:t>
            </a:r>
            <a:endParaRPr lang="en-US" sz="927" dirty="0"/>
          </a:p>
        </p:txBody>
      </p:sp>
      <p:sp>
        <p:nvSpPr>
          <p:cNvPr id="55" name="Shape 53"/>
          <p:cNvSpPr/>
          <p:nvPr/>
        </p:nvSpPr>
        <p:spPr>
          <a:xfrm>
            <a:off x="6405265" y="3720852"/>
            <a:ext cx="2472035" cy="9525"/>
          </a:xfrm>
          <a:prstGeom prst="rect">
            <a:avLst/>
          </a:prstGeom>
          <a:solidFill>
            <a:srgbClr val="DDD9D2"/>
          </a:solidFill>
          <a:ln/>
        </p:spPr>
      </p:sp>
      <p:sp>
        <p:nvSpPr>
          <p:cNvPr id="56" name="Shape 54"/>
          <p:cNvSpPr/>
          <p:nvPr/>
        </p:nvSpPr>
        <p:spPr>
          <a:xfrm>
            <a:off x="457200" y="4011067"/>
            <a:ext cx="8420100" cy="9525"/>
          </a:xfrm>
          <a:prstGeom prst="rect">
            <a:avLst/>
          </a:prstGeom>
          <a:solidFill>
            <a:srgbClr val="9CA3AF">
              <a:alpha val="20000"/>
            </a:srgbClr>
          </a:solidFill>
          <a:ln/>
        </p:spPr>
      </p:sp>
      <p:sp>
        <p:nvSpPr>
          <p:cNvPr id="57" name="Shape 55"/>
          <p:cNvSpPr/>
          <p:nvPr/>
        </p:nvSpPr>
        <p:spPr>
          <a:xfrm>
            <a:off x="457200" y="4011067"/>
            <a:ext cx="461665" cy="9525"/>
          </a:xfrm>
          <a:prstGeom prst="rect">
            <a:avLst/>
          </a:prstGeom>
          <a:solidFill>
            <a:srgbClr val="DDD9D2"/>
          </a:solidFill>
          <a:ln/>
        </p:spPr>
      </p:sp>
      <p:sp>
        <p:nvSpPr>
          <p:cNvPr id="58" name="Text 56"/>
          <p:cNvSpPr txBox="1"/>
          <p:nvPr/>
        </p:nvSpPr>
        <p:spPr>
          <a:xfrm>
            <a:off x="563761" y="3787229"/>
            <a:ext cx="17859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7</a:t>
            </a:r>
            <a:endParaRPr lang="en-US" sz="1008" dirty="0"/>
          </a:p>
        </p:txBody>
      </p:sp>
      <p:sp>
        <p:nvSpPr>
          <p:cNvPr id="59" name="Shape 57"/>
          <p:cNvSpPr/>
          <p:nvPr/>
        </p:nvSpPr>
        <p:spPr>
          <a:xfrm>
            <a:off x="918865" y="4011067"/>
            <a:ext cx="5486400" cy="9525"/>
          </a:xfrm>
          <a:prstGeom prst="rect">
            <a:avLst/>
          </a:prstGeom>
          <a:solidFill>
            <a:srgbClr val="DDD9D2"/>
          </a:solidFill>
          <a:ln/>
        </p:spPr>
      </p:sp>
      <p:sp>
        <p:nvSpPr>
          <p:cNvPr id="60" name="Shape 58"/>
          <p:cNvSpPr/>
          <p:nvPr/>
        </p:nvSpPr>
        <p:spPr>
          <a:xfrm>
            <a:off x="1025426" y="3787378"/>
            <a:ext cx="2203698" cy="180677"/>
          </a:xfrm>
          <a:prstGeom prst="roundRect">
            <a:avLst>
              <a:gd name="adj" fmla="val 21087"/>
            </a:avLst>
          </a:prstGeom>
          <a:solidFill>
            <a:srgbClr val="16303F">
              <a:alpha val="7000"/>
            </a:srgbClr>
          </a:solidFill>
          <a:ln/>
        </p:spPr>
      </p:sp>
      <p:sp>
        <p:nvSpPr>
          <p:cNvPr id="61" name="Text 59"/>
          <p:cNvSpPr txBox="1"/>
          <p:nvPr/>
        </p:nvSpPr>
        <p:spPr>
          <a:xfrm>
            <a:off x="968276" y="3787378"/>
            <a:ext cx="2317998"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appsettings.{Environment}.json</a:t>
            </a:r>
            <a:endParaRPr lang="en-US" sz="927" dirty="0"/>
          </a:p>
        </p:txBody>
      </p:sp>
      <p:sp>
        <p:nvSpPr>
          <p:cNvPr id="62" name="Shape 60"/>
          <p:cNvSpPr/>
          <p:nvPr/>
        </p:nvSpPr>
        <p:spPr>
          <a:xfrm>
            <a:off x="6405265" y="4011067"/>
            <a:ext cx="2472035" cy="9525"/>
          </a:xfrm>
          <a:prstGeom prst="rect">
            <a:avLst/>
          </a:prstGeom>
          <a:solidFill>
            <a:srgbClr val="DDD9D2"/>
          </a:solidFill>
          <a:ln/>
        </p:spPr>
      </p:sp>
      <p:sp>
        <p:nvSpPr>
          <p:cNvPr id="63" name="Shape 61"/>
          <p:cNvSpPr/>
          <p:nvPr/>
        </p:nvSpPr>
        <p:spPr>
          <a:xfrm>
            <a:off x="457200" y="4020592"/>
            <a:ext cx="8420100" cy="290215"/>
          </a:xfrm>
          <a:prstGeom prst="rect">
            <a:avLst/>
          </a:prstGeom>
          <a:solidFill>
            <a:srgbClr val="16303F">
              <a:alpha val="3000"/>
            </a:srgbClr>
          </a:solidFill>
          <a:ln/>
        </p:spPr>
      </p:sp>
      <p:sp>
        <p:nvSpPr>
          <p:cNvPr id="64" name="Shape 62"/>
          <p:cNvSpPr/>
          <p:nvPr/>
        </p:nvSpPr>
        <p:spPr>
          <a:xfrm>
            <a:off x="457200" y="4301282"/>
            <a:ext cx="8420100" cy="9525"/>
          </a:xfrm>
          <a:prstGeom prst="rect">
            <a:avLst/>
          </a:prstGeom>
          <a:solidFill>
            <a:srgbClr val="9CA3AF">
              <a:alpha val="20000"/>
            </a:srgbClr>
          </a:solidFill>
          <a:ln/>
        </p:spPr>
      </p:sp>
      <p:sp>
        <p:nvSpPr>
          <p:cNvPr id="65" name="Shape 63"/>
          <p:cNvSpPr/>
          <p:nvPr/>
        </p:nvSpPr>
        <p:spPr>
          <a:xfrm>
            <a:off x="457200" y="4301282"/>
            <a:ext cx="461665" cy="9525"/>
          </a:xfrm>
          <a:prstGeom prst="rect">
            <a:avLst/>
          </a:prstGeom>
          <a:solidFill>
            <a:srgbClr val="DDD9D2"/>
          </a:solidFill>
          <a:ln/>
        </p:spPr>
      </p:sp>
      <p:sp>
        <p:nvSpPr>
          <p:cNvPr id="66" name="Text 64"/>
          <p:cNvSpPr txBox="1"/>
          <p:nvPr/>
        </p:nvSpPr>
        <p:spPr>
          <a:xfrm>
            <a:off x="563761" y="4077444"/>
            <a:ext cx="18871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8</a:t>
            </a:r>
            <a:endParaRPr lang="en-US" sz="1008" dirty="0"/>
          </a:p>
        </p:txBody>
      </p:sp>
      <p:sp>
        <p:nvSpPr>
          <p:cNvPr id="67" name="Shape 65"/>
          <p:cNvSpPr/>
          <p:nvPr/>
        </p:nvSpPr>
        <p:spPr>
          <a:xfrm>
            <a:off x="918865" y="4301282"/>
            <a:ext cx="5486400" cy="9525"/>
          </a:xfrm>
          <a:prstGeom prst="rect">
            <a:avLst/>
          </a:prstGeom>
          <a:solidFill>
            <a:srgbClr val="DDD9D2"/>
          </a:solidFill>
          <a:ln/>
        </p:spPr>
      </p:sp>
      <p:sp>
        <p:nvSpPr>
          <p:cNvPr id="68" name="Shape 66"/>
          <p:cNvSpPr/>
          <p:nvPr/>
        </p:nvSpPr>
        <p:spPr>
          <a:xfrm>
            <a:off x="1025426" y="4077593"/>
            <a:ext cx="1214735" cy="180677"/>
          </a:xfrm>
          <a:prstGeom prst="roundRect">
            <a:avLst>
              <a:gd name="adj" fmla="val 21087"/>
            </a:avLst>
          </a:prstGeom>
          <a:solidFill>
            <a:srgbClr val="16303F">
              <a:alpha val="7000"/>
            </a:srgbClr>
          </a:solidFill>
          <a:ln/>
        </p:spPr>
      </p:sp>
      <p:sp>
        <p:nvSpPr>
          <p:cNvPr id="69" name="Text 67"/>
          <p:cNvSpPr txBox="1"/>
          <p:nvPr/>
        </p:nvSpPr>
        <p:spPr>
          <a:xfrm>
            <a:off x="968276" y="4077593"/>
            <a:ext cx="1329035"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appsettings.json</a:t>
            </a:r>
            <a:endParaRPr lang="en-US" sz="927" dirty="0"/>
          </a:p>
        </p:txBody>
      </p:sp>
      <p:sp>
        <p:nvSpPr>
          <p:cNvPr id="70" name="Shape 68"/>
          <p:cNvSpPr/>
          <p:nvPr/>
        </p:nvSpPr>
        <p:spPr>
          <a:xfrm>
            <a:off x="6405265" y="4301282"/>
            <a:ext cx="2472035" cy="9525"/>
          </a:xfrm>
          <a:prstGeom prst="rect">
            <a:avLst/>
          </a:prstGeom>
          <a:solidFill>
            <a:srgbClr val="DDD9D2"/>
          </a:solidFill>
          <a:ln/>
        </p:spPr>
      </p:sp>
      <p:sp>
        <p:nvSpPr>
          <p:cNvPr id="71" name="Text 69"/>
          <p:cNvSpPr txBox="1"/>
          <p:nvPr/>
        </p:nvSpPr>
        <p:spPr>
          <a:xfrm>
            <a:off x="457200" y="4637484"/>
            <a:ext cx="6248995"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Rows 5 and 6 are the ones almost nobody knows exist — and they apply to web apps too.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468957"/>
            <a:ext cx="5974259"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The host reads configuration in two passes</a:t>
            </a:r>
            <a:endParaRPr lang="en-US" sz="2280" dirty="0"/>
          </a:p>
        </p:txBody>
      </p:sp>
      <p:sp>
        <p:nvSpPr>
          <p:cNvPr id="4" name="Shape 2"/>
          <p:cNvSpPr/>
          <p:nvPr/>
        </p:nvSpPr>
        <p:spPr>
          <a:xfrm>
            <a:off x="628650" y="1137791"/>
            <a:ext cx="8077200" cy="3452813"/>
          </a:xfrm>
          <a:prstGeom prst="roundRect">
            <a:avLst>
              <a:gd name="adj" fmla="val 1103"/>
            </a:avLst>
          </a:prstGeom>
          <a:solidFill>
            <a:srgbClr val="011627"/>
          </a:solidFill>
          <a:ln/>
        </p:spPr>
      </p:sp>
      <p:sp>
        <p:nvSpPr>
          <p:cNvPr id="5" name="Text 3"/>
          <p:cNvSpPr txBox="1"/>
          <p:nvPr/>
        </p:nvSpPr>
        <p:spPr>
          <a:xfrm>
            <a:off x="704850" y="1223516"/>
            <a:ext cx="8002307" cy="3274219"/>
          </a:xfrm>
          <a:prstGeom prst="rect">
            <a:avLst/>
          </a:prstGeom>
          <a:noFill/>
          <a:ln/>
        </p:spPr>
        <p:txBody>
          <a:bodyPr wrap="square" lIns="0" tIns="0" rIns="0" bIns="0" rtlCol="0" anchor="t"/>
          <a:lstStyle/>
          <a:p>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 dotnet run --environment Staging</a:t>
            </a:r>
            <a:br/>
            <a:pPr algn="l" indent="0" marL="0">
              <a:lnSpc>
                <a:spcPts val="1856"/>
              </a:lnSpc>
              <a:buNone/>
            </a:pP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MemoryConfigurationProvider</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EnvironmentVariablesConfigurationProvider Prefix: 'ASPNETCORE_'</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MemoryConfigurationProvider</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EnvironmentVariablesConfigurationProvider Prefix: 'DOTNET_'</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CommandLineConfigurationProvider                        &lt;--  picks which file loads</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JsonConfigurationProvider for 'appsettings.json'</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JsonConfigurationProvider for 'appsettings.Staging.json'</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JsonConfigurationProvider for 'web.settings.json'</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JsonConfigurationProvider for 'web.settings.Staging.json'</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EnvironmentVariablesConfigurationProvider</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CommandLineConfigurationProvider                        &lt;--  wins the final read</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ChainedConfigurationProvider</a:t>
            </a:r>
            <a:endParaRPr lang="en-US" sz="1238"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415557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Same key. Four winners.</a:t>
            </a:r>
            <a:endParaRPr lang="en-US" sz="2820" dirty="0"/>
          </a:p>
        </p:txBody>
      </p:sp>
      <p:sp>
        <p:nvSpPr>
          <p:cNvPr id="4" name="Shape 2"/>
          <p:cNvSpPr/>
          <p:nvPr/>
        </p:nvSpPr>
        <p:spPr>
          <a:xfrm>
            <a:off x="457200" y="1231553"/>
            <a:ext cx="8420100" cy="9525"/>
          </a:xfrm>
          <a:prstGeom prst="rect">
            <a:avLst/>
          </a:prstGeom>
          <a:solidFill>
            <a:srgbClr val="9CA3AF">
              <a:alpha val="20000"/>
            </a:srgbClr>
          </a:solidFill>
          <a:ln/>
        </p:spPr>
      </p:sp>
      <p:sp>
        <p:nvSpPr>
          <p:cNvPr id="5" name="Shape 3"/>
          <p:cNvSpPr/>
          <p:nvPr/>
        </p:nvSpPr>
        <p:spPr>
          <a:xfrm>
            <a:off x="457200" y="1222028"/>
            <a:ext cx="7144792" cy="19050"/>
          </a:xfrm>
          <a:prstGeom prst="rect">
            <a:avLst/>
          </a:prstGeom>
          <a:solidFill>
            <a:srgbClr val="16303F"/>
          </a:solidFill>
          <a:ln/>
        </p:spPr>
      </p:sp>
      <p:sp>
        <p:nvSpPr>
          <p:cNvPr id="6" name="Shape 4"/>
          <p:cNvSpPr/>
          <p:nvPr/>
        </p:nvSpPr>
        <p:spPr>
          <a:xfrm>
            <a:off x="7601992" y="1222028"/>
            <a:ext cx="1275308" cy="19050"/>
          </a:xfrm>
          <a:prstGeom prst="rect">
            <a:avLst/>
          </a:prstGeom>
          <a:solidFill>
            <a:srgbClr val="16303F"/>
          </a:solidFill>
          <a:ln/>
        </p:spPr>
      </p:sp>
      <p:sp>
        <p:nvSpPr>
          <p:cNvPr id="7" name="Shape 5"/>
          <p:cNvSpPr/>
          <p:nvPr/>
        </p:nvSpPr>
        <p:spPr>
          <a:xfrm>
            <a:off x="457200" y="1577876"/>
            <a:ext cx="8420100" cy="9525"/>
          </a:xfrm>
          <a:prstGeom prst="rect">
            <a:avLst/>
          </a:prstGeom>
          <a:solidFill>
            <a:srgbClr val="9CA3AF">
              <a:alpha val="20000"/>
            </a:srgbClr>
          </a:solidFill>
          <a:ln/>
        </p:spPr>
      </p:sp>
      <p:sp>
        <p:nvSpPr>
          <p:cNvPr id="8" name="Shape 6"/>
          <p:cNvSpPr/>
          <p:nvPr/>
        </p:nvSpPr>
        <p:spPr>
          <a:xfrm>
            <a:off x="457200" y="1577876"/>
            <a:ext cx="7144792" cy="9525"/>
          </a:xfrm>
          <a:prstGeom prst="rect">
            <a:avLst/>
          </a:prstGeom>
          <a:solidFill>
            <a:srgbClr val="DDD9D2"/>
          </a:solidFill>
          <a:ln/>
        </p:spPr>
      </p:sp>
      <p:sp>
        <p:nvSpPr>
          <p:cNvPr id="9" name="Shape 7"/>
          <p:cNvSpPr/>
          <p:nvPr/>
        </p:nvSpPr>
        <p:spPr>
          <a:xfrm>
            <a:off x="563761" y="1333351"/>
            <a:ext cx="1272927" cy="181570"/>
          </a:xfrm>
          <a:prstGeom prst="roundRect">
            <a:avLst>
              <a:gd name="adj" fmla="val 20984"/>
            </a:avLst>
          </a:prstGeom>
          <a:solidFill>
            <a:srgbClr val="16303F">
              <a:alpha val="7000"/>
            </a:srgbClr>
          </a:solidFill>
          <a:ln/>
        </p:spPr>
      </p:sp>
      <p:sp>
        <p:nvSpPr>
          <p:cNvPr id="10" name="Text 8"/>
          <p:cNvSpPr txBox="1"/>
          <p:nvPr/>
        </p:nvSpPr>
        <p:spPr>
          <a:xfrm>
            <a:off x="506611" y="1333351"/>
            <a:ext cx="1387227"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appsettings.json</a:t>
            </a:r>
            <a:endParaRPr lang="en-US" sz="972" dirty="0"/>
          </a:p>
        </p:txBody>
      </p:sp>
      <p:sp>
        <p:nvSpPr>
          <p:cNvPr id="11" name="Shape 9"/>
          <p:cNvSpPr/>
          <p:nvPr/>
        </p:nvSpPr>
        <p:spPr>
          <a:xfrm>
            <a:off x="7601992" y="1577876"/>
            <a:ext cx="1275308" cy="9525"/>
          </a:xfrm>
          <a:prstGeom prst="rect">
            <a:avLst/>
          </a:prstGeom>
          <a:solidFill>
            <a:srgbClr val="DDD9D2"/>
          </a:solidFill>
          <a:ln/>
        </p:spPr>
      </p:sp>
      <p:sp>
        <p:nvSpPr>
          <p:cNvPr id="12" name="Text 10"/>
          <p:cNvSpPr txBox="1"/>
          <p:nvPr/>
        </p:nvSpPr>
        <p:spPr>
          <a:xfrm>
            <a:off x="7708553" y="1324124"/>
            <a:ext cx="27042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30</a:t>
            </a:r>
            <a:endParaRPr lang="en-US" sz="1056" dirty="0"/>
          </a:p>
        </p:txBody>
      </p:sp>
      <p:sp>
        <p:nvSpPr>
          <p:cNvPr id="13" name="Shape 11"/>
          <p:cNvSpPr/>
          <p:nvPr/>
        </p:nvSpPr>
        <p:spPr>
          <a:xfrm>
            <a:off x="457200" y="1587401"/>
            <a:ext cx="8420100" cy="341561"/>
          </a:xfrm>
          <a:prstGeom prst="rect">
            <a:avLst/>
          </a:prstGeom>
          <a:solidFill>
            <a:srgbClr val="16303F">
              <a:alpha val="3000"/>
            </a:srgbClr>
          </a:solidFill>
          <a:ln/>
        </p:spPr>
      </p:sp>
      <p:sp>
        <p:nvSpPr>
          <p:cNvPr id="14" name="Shape 12"/>
          <p:cNvSpPr/>
          <p:nvPr/>
        </p:nvSpPr>
        <p:spPr>
          <a:xfrm>
            <a:off x="457200" y="1919436"/>
            <a:ext cx="8420100" cy="9525"/>
          </a:xfrm>
          <a:prstGeom prst="rect">
            <a:avLst/>
          </a:prstGeom>
          <a:solidFill>
            <a:srgbClr val="9CA3AF">
              <a:alpha val="20000"/>
            </a:srgbClr>
          </a:solidFill>
          <a:ln/>
        </p:spPr>
      </p:sp>
      <p:sp>
        <p:nvSpPr>
          <p:cNvPr id="15" name="Shape 13"/>
          <p:cNvSpPr/>
          <p:nvPr/>
        </p:nvSpPr>
        <p:spPr>
          <a:xfrm>
            <a:off x="457200" y="1919436"/>
            <a:ext cx="7144792" cy="9525"/>
          </a:xfrm>
          <a:prstGeom prst="rect">
            <a:avLst/>
          </a:prstGeom>
          <a:solidFill>
            <a:srgbClr val="DDD9D2"/>
          </a:solidFill>
          <a:ln/>
        </p:spPr>
      </p:sp>
      <p:sp>
        <p:nvSpPr>
          <p:cNvPr id="16" name="Shape 14"/>
          <p:cNvSpPr/>
          <p:nvPr/>
        </p:nvSpPr>
        <p:spPr>
          <a:xfrm>
            <a:off x="563761" y="1674912"/>
            <a:ext cx="2160984" cy="181570"/>
          </a:xfrm>
          <a:prstGeom prst="roundRect">
            <a:avLst>
              <a:gd name="adj" fmla="val 20984"/>
            </a:avLst>
          </a:prstGeom>
          <a:solidFill>
            <a:srgbClr val="16303F">
              <a:alpha val="7000"/>
            </a:srgbClr>
          </a:solidFill>
          <a:ln/>
        </p:spPr>
      </p:sp>
      <p:sp>
        <p:nvSpPr>
          <p:cNvPr id="17" name="Text 15"/>
          <p:cNvSpPr txBox="1"/>
          <p:nvPr/>
        </p:nvSpPr>
        <p:spPr>
          <a:xfrm>
            <a:off x="506611" y="1674912"/>
            <a:ext cx="2275284"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appsettings.Development.json</a:t>
            </a:r>
            <a:endParaRPr lang="en-US" sz="972" dirty="0"/>
          </a:p>
        </p:txBody>
      </p:sp>
      <p:sp>
        <p:nvSpPr>
          <p:cNvPr id="18" name="Shape 16"/>
          <p:cNvSpPr/>
          <p:nvPr/>
        </p:nvSpPr>
        <p:spPr>
          <a:xfrm>
            <a:off x="7601992" y="1919436"/>
            <a:ext cx="1275308" cy="9525"/>
          </a:xfrm>
          <a:prstGeom prst="rect">
            <a:avLst/>
          </a:prstGeom>
          <a:solidFill>
            <a:srgbClr val="DDD9D2"/>
          </a:solidFill>
          <a:ln/>
        </p:spPr>
      </p:sp>
      <p:sp>
        <p:nvSpPr>
          <p:cNvPr id="19" name="Text 17"/>
          <p:cNvSpPr txBox="1"/>
          <p:nvPr/>
        </p:nvSpPr>
        <p:spPr>
          <a:xfrm>
            <a:off x="7708553" y="1665684"/>
            <a:ext cx="32489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120</a:t>
            </a:r>
            <a:endParaRPr lang="en-US" sz="1056" dirty="0"/>
          </a:p>
        </p:txBody>
      </p:sp>
      <p:sp>
        <p:nvSpPr>
          <p:cNvPr id="20" name="Shape 18"/>
          <p:cNvSpPr/>
          <p:nvPr/>
        </p:nvSpPr>
        <p:spPr>
          <a:xfrm>
            <a:off x="457200" y="2260997"/>
            <a:ext cx="8420100" cy="9525"/>
          </a:xfrm>
          <a:prstGeom prst="rect">
            <a:avLst/>
          </a:prstGeom>
          <a:solidFill>
            <a:srgbClr val="9CA3AF">
              <a:alpha val="20000"/>
            </a:srgbClr>
          </a:solidFill>
          <a:ln/>
        </p:spPr>
      </p:sp>
      <p:sp>
        <p:nvSpPr>
          <p:cNvPr id="21" name="Shape 19"/>
          <p:cNvSpPr/>
          <p:nvPr/>
        </p:nvSpPr>
        <p:spPr>
          <a:xfrm>
            <a:off x="457200" y="2260997"/>
            <a:ext cx="7144792" cy="9525"/>
          </a:xfrm>
          <a:prstGeom prst="rect">
            <a:avLst/>
          </a:prstGeom>
          <a:solidFill>
            <a:srgbClr val="DDD9D2"/>
          </a:solidFill>
          <a:ln/>
        </p:spPr>
      </p:sp>
      <p:sp>
        <p:nvSpPr>
          <p:cNvPr id="22" name="Shape 20"/>
          <p:cNvSpPr/>
          <p:nvPr/>
        </p:nvSpPr>
        <p:spPr>
          <a:xfrm>
            <a:off x="563761" y="2016472"/>
            <a:ext cx="1790998" cy="181570"/>
          </a:xfrm>
          <a:prstGeom prst="roundRect">
            <a:avLst>
              <a:gd name="adj" fmla="val 20984"/>
            </a:avLst>
          </a:prstGeom>
          <a:solidFill>
            <a:srgbClr val="16303F">
              <a:alpha val="7000"/>
            </a:srgbClr>
          </a:solidFill>
          <a:ln/>
        </p:spPr>
      </p:sp>
      <p:sp>
        <p:nvSpPr>
          <p:cNvPr id="23" name="Text 21"/>
          <p:cNvSpPr txBox="1"/>
          <p:nvPr/>
        </p:nvSpPr>
        <p:spPr>
          <a:xfrm>
            <a:off x="506611" y="2016472"/>
            <a:ext cx="1905298"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Weather__TimeoutSeconds</a:t>
            </a:r>
            <a:endParaRPr lang="en-US" sz="972" dirty="0"/>
          </a:p>
        </p:txBody>
      </p:sp>
      <p:sp>
        <p:nvSpPr>
          <p:cNvPr id="24" name="Shape 22"/>
          <p:cNvSpPr/>
          <p:nvPr/>
        </p:nvSpPr>
        <p:spPr>
          <a:xfrm>
            <a:off x="7601992" y="2260997"/>
            <a:ext cx="1275308" cy="9525"/>
          </a:xfrm>
          <a:prstGeom prst="rect">
            <a:avLst/>
          </a:prstGeom>
          <a:solidFill>
            <a:srgbClr val="DDD9D2"/>
          </a:solidFill>
          <a:ln/>
        </p:spPr>
      </p:sp>
      <p:sp>
        <p:nvSpPr>
          <p:cNvPr id="25" name="Text 23"/>
          <p:cNvSpPr txBox="1"/>
          <p:nvPr/>
        </p:nvSpPr>
        <p:spPr>
          <a:xfrm>
            <a:off x="7708553" y="2007245"/>
            <a:ext cx="24854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10</a:t>
            </a:r>
            <a:endParaRPr lang="en-US" sz="1056" dirty="0"/>
          </a:p>
        </p:txBody>
      </p:sp>
      <p:sp>
        <p:nvSpPr>
          <p:cNvPr id="26" name="Shape 24"/>
          <p:cNvSpPr/>
          <p:nvPr/>
        </p:nvSpPr>
        <p:spPr>
          <a:xfrm>
            <a:off x="457200" y="2270522"/>
            <a:ext cx="8420100" cy="388888"/>
          </a:xfrm>
          <a:prstGeom prst="rect">
            <a:avLst/>
          </a:prstGeom>
          <a:solidFill>
            <a:srgbClr val="16303F"/>
          </a:solidFill>
          <a:ln/>
        </p:spPr>
      </p:sp>
      <p:sp>
        <p:nvSpPr>
          <p:cNvPr id="27" name="Shape 25"/>
          <p:cNvSpPr/>
          <p:nvPr/>
        </p:nvSpPr>
        <p:spPr>
          <a:xfrm>
            <a:off x="457200" y="2649885"/>
            <a:ext cx="8420100" cy="9525"/>
          </a:xfrm>
          <a:prstGeom prst="rect">
            <a:avLst/>
          </a:prstGeom>
          <a:solidFill>
            <a:srgbClr val="9CA3AF">
              <a:alpha val="20000"/>
            </a:srgbClr>
          </a:solidFill>
          <a:ln/>
        </p:spPr>
      </p:sp>
      <p:sp>
        <p:nvSpPr>
          <p:cNvPr id="28" name="Shape 26"/>
          <p:cNvSpPr/>
          <p:nvPr/>
        </p:nvSpPr>
        <p:spPr>
          <a:xfrm>
            <a:off x="457200" y="2649885"/>
            <a:ext cx="7144792" cy="9525"/>
          </a:xfrm>
          <a:prstGeom prst="rect">
            <a:avLst/>
          </a:prstGeom>
          <a:solidFill>
            <a:srgbClr val="16303F"/>
          </a:solidFill>
          <a:ln/>
        </p:spPr>
      </p:sp>
      <p:sp>
        <p:nvSpPr>
          <p:cNvPr id="29" name="Shape 27"/>
          <p:cNvSpPr/>
          <p:nvPr/>
        </p:nvSpPr>
        <p:spPr>
          <a:xfrm>
            <a:off x="563761" y="2358033"/>
            <a:ext cx="1864965" cy="181570"/>
          </a:xfrm>
          <a:prstGeom prst="roundRect">
            <a:avLst>
              <a:gd name="adj" fmla="val 20984"/>
            </a:avLst>
          </a:prstGeom>
          <a:solidFill>
            <a:srgbClr val="F7F6F3">
              <a:alpha val="14000"/>
            </a:srgbClr>
          </a:solidFill>
          <a:ln/>
        </p:spPr>
      </p:sp>
      <p:sp>
        <p:nvSpPr>
          <p:cNvPr id="30" name="Text 28"/>
          <p:cNvSpPr txBox="1"/>
          <p:nvPr/>
        </p:nvSpPr>
        <p:spPr>
          <a:xfrm>
            <a:off x="608112" y="2367855"/>
            <a:ext cx="1890564" cy="161925"/>
          </a:xfrm>
          <a:prstGeom prst="rect">
            <a:avLst/>
          </a:prstGeom>
          <a:noFill/>
          <a:ln/>
        </p:spPr>
        <p:txBody>
          <a:bodyPr wrap="none" lIns="0" tIns="0" rIns="0" bIns="0" rtlCol="0" anchor="t"/>
          <a:lstStyle/>
          <a:p>
            <a:pPr algn="l" indent="0" marL="0">
              <a:buNone/>
            </a:pPr>
            <a:r>
              <a:rPr lang="en-US" sz="972" dirty="0">
                <a:solidFill>
                  <a:srgbClr val="F7F6F3"/>
                </a:solidFill>
                <a:latin typeface="JetBrains Mono" pitchFamily="34" charset="0"/>
                <a:ea typeface="JetBrains Mono" pitchFamily="34" charset="-122"/>
                <a:cs typeface="JetBrains Mono" pitchFamily="34" charset="-120"/>
              </a:rPr>
              <a:t>--Weather:TimeoutSeconds</a:t>
            </a:r>
            <a:endParaRPr lang="en-US" sz="972" dirty="0"/>
          </a:p>
        </p:txBody>
      </p:sp>
      <p:sp>
        <p:nvSpPr>
          <p:cNvPr id="31" name="Shape 29"/>
          <p:cNvSpPr/>
          <p:nvPr/>
        </p:nvSpPr>
        <p:spPr>
          <a:xfrm>
            <a:off x="7601992" y="2649885"/>
            <a:ext cx="1275308" cy="9525"/>
          </a:xfrm>
          <a:prstGeom prst="rect">
            <a:avLst/>
          </a:prstGeom>
          <a:solidFill>
            <a:srgbClr val="16303F"/>
          </a:solidFill>
          <a:ln/>
        </p:spPr>
      </p:sp>
      <p:sp>
        <p:nvSpPr>
          <p:cNvPr id="32" name="Text 30"/>
          <p:cNvSpPr txBox="1"/>
          <p:nvPr/>
        </p:nvSpPr>
        <p:spPr>
          <a:xfrm>
            <a:off x="7708553" y="2348805"/>
            <a:ext cx="213122" cy="228600"/>
          </a:xfrm>
          <a:prstGeom prst="rect">
            <a:avLst/>
          </a:prstGeom>
          <a:noFill/>
          <a:ln/>
        </p:spPr>
        <p:txBody>
          <a:bodyPr wrap="none" lIns="0" tIns="0" rIns="0" bIns="0" rtlCol="0" anchor="t"/>
          <a:lstStyle/>
          <a:p>
            <a:pPr algn="l" indent="0" marL="0">
              <a:buNone/>
            </a:pPr>
            <a:r>
              <a:rPr lang="en-US" sz="1320" b="1" dirty="0">
                <a:solidFill>
                  <a:srgbClr val="F4C233"/>
                </a:solidFill>
                <a:latin typeface="Manrope" pitchFamily="34" charset="0"/>
                <a:ea typeface="Manrope" pitchFamily="34" charset="-122"/>
                <a:cs typeface="Manrope" pitchFamily="34" charset="-120"/>
              </a:rPr>
              <a:t>5</a:t>
            </a:r>
            <a:endParaRPr lang="en-US" sz="1320" dirty="0"/>
          </a:p>
        </p:txBody>
      </p:sp>
      <p:sp>
        <p:nvSpPr>
          <p:cNvPr id="33" name="Text 31"/>
          <p:cNvSpPr txBox="1"/>
          <p:nvPr/>
        </p:nvSpPr>
        <p:spPr>
          <a:xfrm>
            <a:off x="457200" y="2986088"/>
            <a:ext cx="1028998" cy="209550"/>
          </a:xfrm>
          <a:prstGeom prst="rect">
            <a:avLst/>
          </a:prstGeom>
          <a:noFill/>
          <a:ln/>
        </p:spPr>
        <p:txBody>
          <a:bodyPr wrap="none" lIns="0" tIns="0" rIns="0" bIns="0" rtlCol="0" anchor="t"/>
          <a:lstStyle/>
          <a:p>
            <a:pPr algn="l" indent="0" marL="0">
              <a:buNone/>
            </a:pPr>
            <a:r>
              <a:rPr lang="en-US" sz="1200" i="1" dirty="0">
                <a:solidFill>
                  <a:srgbClr val="44535A"/>
                </a:solidFill>
                <a:latin typeface="Manrope" pitchFamily="34" charset="0"/>
                <a:ea typeface="Manrope" pitchFamily="34" charset="-122"/>
                <a:cs typeface="Manrope" pitchFamily="34" charset="-120"/>
              </a:rPr>
              <a:t>last one wins</a:t>
            </a:r>
            <a:endParaRPr lang="en-US" sz="1200" dirty="0"/>
          </a:p>
        </p:txBody>
      </p:sp>
      <p:sp>
        <p:nvSpPr>
          <p:cNvPr id="34" name="Shape 32"/>
          <p:cNvSpPr/>
          <p:nvPr/>
        </p:nvSpPr>
        <p:spPr>
          <a:xfrm>
            <a:off x="8463260" y="228600"/>
            <a:ext cx="581769" cy="228451"/>
          </a:xfrm>
          <a:prstGeom prst="roundRect">
            <a:avLst>
              <a:gd name="adj" fmla="val 16678"/>
            </a:avLst>
          </a:prstGeom>
          <a:solidFill>
            <a:srgbClr val="16303F"/>
          </a:solidFill>
          <a:ln/>
        </p:spPr>
      </p:sp>
      <p:sp>
        <p:nvSpPr>
          <p:cNvPr id="35" name="Text 33"/>
          <p:cNvSpPr txBox="1"/>
          <p:nvPr/>
        </p:nvSpPr>
        <p:spPr>
          <a:xfrm>
            <a:off x="8557617" y="274290"/>
            <a:ext cx="507355"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ORDER</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374303"/>
            <a:ext cx="3617714"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Prove which provider won</a:t>
            </a:r>
            <a:endParaRPr lang="en-US" sz="2280" dirty="0"/>
          </a:p>
        </p:txBody>
      </p:sp>
      <p:sp>
        <p:nvSpPr>
          <p:cNvPr id="4" name="Shape 2"/>
          <p:cNvSpPr/>
          <p:nvPr/>
        </p:nvSpPr>
        <p:spPr>
          <a:xfrm>
            <a:off x="628650" y="1043136"/>
            <a:ext cx="8077200" cy="2095500"/>
          </a:xfrm>
          <a:prstGeom prst="roundRect">
            <a:avLst>
              <a:gd name="adj" fmla="val 1818"/>
            </a:avLst>
          </a:prstGeom>
          <a:solidFill>
            <a:srgbClr val="011627"/>
          </a:solidFill>
          <a:ln/>
        </p:spPr>
      </p:sp>
      <p:sp>
        <p:nvSpPr>
          <p:cNvPr id="5" name="Text 3"/>
          <p:cNvSpPr txBox="1"/>
          <p:nvPr/>
        </p:nvSpPr>
        <p:spPr>
          <a:xfrm>
            <a:off x="704850" y="1128861"/>
            <a:ext cx="7943850" cy="1909762"/>
          </a:xfrm>
          <a:prstGeom prst="rect">
            <a:avLst/>
          </a:prstGeom>
          <a:noFill/>
          <a:ln/>
        </p:spPr>
        <p:txBody>
          <a:bodyPr wrap="square" lIns="0" tIns="0" rIns="0" bIns="0" rtlCol="0" anchor="t"/>
          <a:lstStyle/>
          <a:p>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var</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dump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((IConfigurationRoot)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app</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GetDebugView</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(ctx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Contains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secret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StringComparison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OrdinalIgnoreCase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Contains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password</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StringComparison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OrdinalIgnoreCase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Contains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StringComparison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OrdinalIgnoreCase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 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Value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app</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Logger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LogInformation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\n</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{Dump}</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dump);</a:t>
            </a:r>
            <a:endParaRPr lang="en-US" sz="1275" dirty="0"/>
          </a:p>
        </p:txBody>
      </p:sp>
      <p:sp>
        <p:nvSpPr>
          <p:cNvPr id="6" name="Shape 4"/>
          <p:cNvSpPr/>
          <p:nvPr/>
        </p:nvSpPr>
        <p:spPr>
          <a:xfrm>
            <a:off x="628650" y="3428107"/>
            <a:ext cx="38100" cy="1295400"/>
          </a:xfrm>
          <a:prstGeom prst="rect">
            <a:avLst/>
          </a:prstGeom>
          <a:solidFill>
            <a:srgbClr val="F4C233"/>
          </a:solidFill>
          <a:ln/>
        </p:spPr>
      </p:sp>
      <p:sp>
        <p:nvSpPr>
          <p:cNvPr id="7" name="Text 5"/>
          <p:cNvSpPr txBox="1"/>
          <p:nvPr/>
        </p:nvSpPr>
        <p:spPr>
          <a:xfrm>
            <a:off x="788640" y="3590032"/>
            <a:ext cx="5643414"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Development only.</a:t>
            </a:r>
            <a:pPr algn="l" indent="0" marL="0">
              <a:buNone/>
            </a:pPr>
            <a:r>
              <a:rPr lang="en-US" sz="1200" b="1" dirty="0">
                <a:solidFill>
                  <a:srgbClr val="16303F"/>
                </a:solidFill>
                <a:latin typeface="Manrope" pitchFamily="34" charset="0"/>
                <a:ea typeface="Manrope" pitchFamily="34" charset="-122"/>
                <a:cs typeface="Manrope" pitchFamily="34" charset="-120"/>
              </a:rPr>
              <a:t> That filter is a denylist, so it misses tokens, connection</a:t>
            </a:r>
            <a:endParaRPr lang="en-US" sz="1200" dirty="0"/>
          </a:p>
        </p:txBody>
      </p:sp>
      <p:sp>
        <p:nvSpPr>
          <p:cNvPr id="8" name="Shape 6"/>
          <p:cNvSpPr/>
          <p:nvPr/>
        </p:nvSpPr>
        <p:spPr>
          <a:xfrm>
            <a:off x="3373189" y="3979218"/>
            <a:ext cx="1327696" cy="202704"/>
          </a:xfrm>
          <a:prstGeom prst="roundRect">
            <a:avLst>
              <a:gd name="adj" fmla="val 18796"/>
            </a:avLst>
          </a:prstGeom>
          <a:solidFill>
            <a:srgbClr val="16303F">
              <a:alpha val="7000"/>
            </a:srgbClr>
          </a:solidFill>
          <a:ln/>
        </p:spPr>
      </p:sp>
      <p:sp>
        <p:nvSpPr>
          <p:cNvPr id="9" name="Text 7"/>
          <p:cNvSpPr txBox="1"/>
          <p:nvPr/>
        </p:nvSpPr>
        <p:spPr>
          <a:xfrm>
            <a:off x="788640" y="3971032"/>
            <a:ext cx="6000452"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strings and certificates. Gate it on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IsDevelopment()</a:t>
            </a:r>
            <a:pPr algn="l" indent="0" marL="0">
              <a:buNone/>
            </a:pPr>
            <a:r>
              <a:rPr lang="en-US" sz="1200" b="1" dirty="0">
                <a:solidFill>
                  <a:srgbClr val="16303F"/>
                </a:solidFill>
                <a:latin typeface="Manrope" pitchFamily="34" charset="0"/>
                <a:ea typeface="Manrope" pitchFamily="34" charset="-122"/>
                <a:cs typeface="Manrope" pitchFamily="34" charset="-120"/>
              </a:rPr>
              <a:t>, and prefer inspecting the</a:t>
            </a:r>
            <a:endParaRPr lang="en-US" sz="1200" dirty="0"/>
          </a:p>
        </p:txBody>
      </p:sp>
      <p:sp>
        <p:nvSpPr>
          <p:cNvPr id="10" name="Text 8"/>
          <p:cNvSpPr txBox="1"/>
          <p:nvPr/>
        </p:nvSpPr>
        <p:spPr>
          <a:xfrm>
            <a:off x="788640" y="4352032"/>
            <a:ext cx="3080445"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handful of keys you actually care about.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783282"/>
            <a:ext cx="3740795"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The provider is why 10 won</a:t>
            </a:r>
            <a:endParaRPr lang="en-US" sz="2280" dirty="0"/>
          </a:p>
        </p:txBody>
      </p:sp>
      <p:sp>
        <p:nvSpPr>
          <p:cNvPr id="4" name="Shape 2"/>
          <p:cNvSpPr/>
          <p:nvPr/>
        </p:nvSpPr>
        <p:spPr>
          <a:xfrm>
            <a:off x="628650" y="1452116"/>
            <a:ext cx="8077200" cy="2824163"/>
          </a:xfrm>
          <a:prstGeom prst="roundRect">
            <a:avLst>
              <a:gd name="adj" fmla="val 1349"/>
            </a:avLst>
          </a:prstGeom>
          <a:solidFill>
            <a:srgbClr val="011627"/>
          </a:solidFill>
          <a:ln/>
        </p:spPr>
      </p:sp>
      <p:sp>
        <p:nvSpPr>
          <p:cNvPr id="5" name="Shape 3"/>
          <p:cNvSpPr/>
          <p:nvPr/>
        </p:nvSpPr>
        <p:spPr>
          <a:xfrm>
            <a:off x="704850" y="2742754"/>
            <a:ext cx="7924800" cy="242888"/>
          </a:xfrm>
          <a:prstGeom prst="rect">
            <a:avLst/>
          </a:prstGeom>
          <a:solidFill>
            <a:srgbClr val="F4C233">
              <a:alpha val="16000"/>
            </a:srgbClr>
          </a:solidFill>
          <a:ln/>
        </p:spPr>
      </p:sp>
      <p:sp>
        <p:nvSpPr>
          <p:cNvPr id="6" name="Shape 4"/>
          <p:cNvSpPr/>
          <p:nvPr/>
        </p:nvSpPr>
        <p:spPr>
          <a:xfrm>
            <a:off x="704850" y="3228529"/>
            <a:ext cx="7924800" cy="242888"/>
          </a:xfrm>
          <a:prstGeom prst="rect">
            <a:avLst/>
          </a:prstGeom>
          <a:solidFill>
            <a:srgbClr val="F4C233">
              <a:alpha val="16000"/>
            </a:srgbClr>
          </a:solidFill>
          <a:ln/>
        </p:spPr>
      </p:sp>
      <p:sp>
        <p:nvSpPr>
          <p:cNvPr id="7" name="Text 5"/>
          <p:cNvSpPr txBox="1"/>
          <p:nvPr/>
        </p:nvSpPr>
        <p:spPr>
          <a:xfrm>
            <a:off x="704850" y="2752279"/>
            <a:ext cx="1960364" cy="209550"/>
          </a:xfrm>
          <a:prstGeom prst="rect">
            <a:avLst/>
          </a:prstGeom>
          <a:noFill/>
          <a:ln/>
        </p:spPr>
        <p:txBody>
          <a:bodyPr wrap="none" lIns="0" tIns="0" rIns="0" bIns="0" rtlCol="0" anchor="t"/>
          <a:lstStyle/>
          <a:p>
            <a:pPr algn="l" indent="0" marL="0">
              <a:buNone/>
            </a:pPr>
            <a:r>
              <a:rPr lang="en-US" sz="1275" dirty="0">
                <a:solidFill>
                  <a:srgbClr val="D6DEEB"/>
                </a:solidFill>
                <a:latin typeface="JetBrains Mono" pitchFamily="34" charset="0"/>
                <a:ea typeface="JetBrains Mono" pitchFamily="34" charset="-122"/>
                <a:cs typeface="JetBrains Mono" pitchFamily="34" charset="-120"/>
              </a:rPr>
              <a:t>TimeoutSeconds=10</a:t>
            </a:r>
            <a:endParaRPr lang="en-US" sz="1275" dirty="0"/>
          </a:p>
        </p:txBody>
      </p:sp>
      <p:sp>
        <p:nvSpPr>
          <p:cNvPr id="8" name="Text 6"/>
          <p:cNvSpPr txBox="1"/>
          <p:nvPr/>
        </p:nvSpPr>
        <p:spPr>
          <a:xfrm>
            <a:off x="704850" y="3238054"/>
            <a:ext cx="5749379" cy="209550"/>
          </a:xfrm>
          <a:prstGeom prst="rect">
            <a:avLst/>
          </a:prstGeom>
          <a:noFill/>
          <a:ln/>
        </p:spPr>
        <p:txBody>
          <a:bodyPr wrap="none" lIns="0" tIns="0" rIns="0" bIns="0" rtlCol="0" anchor="t"/>
          <a:lstStyle/>
          <a:p>
            <a:pPr algn="l" indent="0" marL="0">
              <a:buNone/>
            </a:pPr>
            <a:r>
              <a:rPr lang="en-US" sz="1275" dirty="0">
                <a:solidFill>
                  <a:srgbClr val="D6DEEB"/>
                </a:solidFill>
                <a:latin typeface="JetBrains Mono" pitchFamily="34" charset="0"/>
                <a:ea typeface="JetBrains Mono" pitchFamily="34" charset="-122"/>
                <a:cs typeface="JetBrains Mono" pitchFamily="34" charset="-120"/>
              </a:rPr>
              <a:t>(EnvironmentVariablesConfigurationProvider Prefix: '')</a:t>
            </a:r>
            <a:endParaRPr lang="en-US" sz="1275" dirty="0"/>
          </a:p>
        </p:txBody>
      </p:sp>
      <p:sp>
        <p:nvSpPr>
          <p:cNvPr id="9" name="Text 7"/>
          <p:cNvSpPr txBox="1"/>
          <p:nvPr/>
        </p:nvSpPr>
        <p:spPr>
          <a:xfrm>
            <a:off x="704850" y="1537841"/>
            <a:ext cx="7943850" cy="2638425"/>
          </a:xfrm>
          <a:prstGeom prst="rect">
            <a:avLst/>
          </a:prstGeom>
          <a:noFill/>
          <a:ln/>
        </p:spPr>
        <p:txBody>
          <a:bodyPr wrap="square" lIns="0" tIns="0" rIns="0" bIns="0" rtlCol="0" anchor="t"/>
          <a:lstStyle/>
          <a:p>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Weather:</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ApiBaseUrl=https://localhost:7104</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(JsonConfigurationProvider for 'appsettings.Development.json')</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Retries=3</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(JsonConfigurationProvider for 'appsettings.json')</a:t>
            </a:r>
            <a:br/>
            <a:pPr algn="l" indent="0" marL="0">
              <a:lnSpc>
                <a:spcPts val="1913"/>
              </a:lnSpc>
              <a:buNone/>
            </a:pPr>
            <a:br/>
            <a:pPr algn="l" indent="0" marL="0">
              <a:lnSpc>
                <a:spcPts val="1913"/>
              </a:lnSpc>
              <a:buNone/>
            </a:pP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ApiKey=***</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(UserSecretsConfigurationProvider)</a:t>
            </a:r>
            <a:endParaRPr lang="en-US" sz="1275"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3369022"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ACT 3 · THE SHARED DEV ENVIRONMENT</a:t>
            </a:r>
            <a:endParaRPr lang="en-US" sz="936" dirty="0"/>
          </a:p>
        </p:txBody>
      </p:sp>
      <p:sp>
        <p:nvSpPr>
          <p:cNvPr id="4" name="Shape 2"/>
          <p:cNvSpPr/>
          <p:nvPr/>
        </p:nvSpPr>
        <p:spPr>
          <a:xfrm>
            <a:off x="3866108" y="2340769"/>
            <a:ext cx="2888010" cy="495300"/>
          </a:xfrm>
          <a:prstGeom prst="roundRect">
            <a:avLst>
              <a:gd name="adj" fmla="val 7692"/>
            </a:avLst>
          </a:prstGeom>
          <a:solidFill>
            <a:srgbClr val="F7F6F3">
              <a:alpha val="16000"/>
            </a:srgbClr>
          </a:solidFill>
          <a:ln/>
        </p:spPr>
      </p:sp>
      <p:sp>
        <p:nvSpPr>
          <p:cNvPr id="5" name="Text 3"/>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It left your laptop. </a:t>
            </a:r>
            <a:pPr algn="l" indent="0" marL="0">
              <a:lnSpc>
                <a:spcPts val="3360"/>
              </a:lnSpc>
              <a:buNone/>
            </a:pPr>
            <a:r>
              <a:rPr lang="en-US" sz="2700" spc="-60" kern="0" dirty="0">
                <a:solidFill>
                  <a:srgbClr val="F7F6F3"/>
                </a:solidFill>
                <a:latin typeface="JetBrains Mono" pitchFamily="34" charset="0"/>
                <a:ea typeface="JetBrains Mono" pitchFamily="34" charset="-122"/>
                <a:cs typeface="JetBrains Mono" pitchFamily="34" charset="-120"/>
              </a:rPr>
              <a:t>launchSettings</a:t>
            </a:r>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 and user secrets are gone.</a:t>
            </a:r>
            <a:endParaRPr lang="en-US" sz="3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91001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Environment variables</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4281190" cy="19050"/>
          </a:xfrm>
          <a:prstGeom prst="rect">
            <a:avLst/>
          </a:prstGeom>
          <a:solidFill>
            <a:srgbClr val="16303F"/>
          </a:solidFill>
          <a:ln/>
        </p:spPr>
      </p:sp>
      <p:sp>
        <p:nvSpPr>
          <p:cNvPr id="6" name="Text 4"/>
          <p:cNvSpPr txBox="1"/>
          <p:nvPr/>
        </p:nvSpPr>
        <p:spPr>
          <a:xfrm>
            <a:off x="563761" y="1163092"/>
            <a:ext cx="123884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WHAT YOU EXPORT</a:t>
            </a:r>
            <a:endParaRPr lang="en-US" sz="816" dirty="0"/>
          </a:p>
        </p:txBody>
      </p:sp>
      <p:sp>
        <p:nvSpPr>
          <p:cNvPr id="7" name="Shape 5"/>
          <p:cNvSpPr/>
          <p:nvPr/>
        </p:nvSpPr>
        <p:spPr>
          <a:xfrm>
            <a:off x="4738390" y="1377404"/>
            <a:ext cx="4138910" cy="19050"/>
          </a:xfrm>
          <a:prstGeom prst="rect">
            <a:avLst/>
          </a:prstGeom>
          <a:solidFill>
            <a:srgbClr val="16303F"/>
          </a:solidFill>
          <a:ln/>
        </p:spPr>
      </p:sp>
      <p:sp>
        <p:nvSpPr>
          <p:cNvPr id="8" name="Text 6"/>
          <p:cNvSpPr txBox="1"/>
          <p:nvPr/>
        </p:nvSpPr>
        <p:spPr>
          <a:xfrm>
            <a:off x="4844951" y="1163092"/>
            <a:ext cx="1345704"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 KEY IT BECOMES</a:t>
            </a:r>
            <a:endParaRPr lang="en-US" sz="816" dirty="0"/>
          </a:p>
        </p:txBody>
      </p:sp>
      <p:sp>
        <p:nvSpPr>
          <p:cNvPr id="9" name="Shape 7"/>
          <p:cNvSpPr/>
          <p:nvPr/>
        </p:nvSpPr>
        <p:spPr>
          <a:xfrm>
            <a:off x="457200" y="1733252"/>
            <a:ext cx="8420100" cy="9525"/>
          </a:xfrm>
          <a:prstGeom prst="rect">
            <a:avLst/>
          </a:prstGeom>
          <a:solidFill>
            <a:srgbClr val="9CA3AF">
              <a:alpha val="20000"/>
            </a:srgbClr>
          </a:solidFill>
          <a:ln/>
        </p:spPr>
      </p:sp>
      <p:sp>
        <p:nvSpPr>
          <p:cNvPr id="10" name="Shape 8"/>
          <p:cNvSpPr/>
          <p:nvPr/>
        </p:nvSpPr>
        <p:spPr>
          <a:xfrm>
            <a:off x="457200" y="1733252"/>
            <a:ext cx="4281190" cy="9525"/>
          </a:xfrm>
          <a:prstGeom prst="rect">
            <a:avLst/>
          </a:prstGeom>
          <a:solidFill>
            <a:srgbClr val="DDD9D2"/>
          </a:solidFill>
          <a:ln/>
        </p:spPr>
      </p:sp>
      <p:sp>
        <p:nvSpPr>
          <p:cNvPr id="11" name="Shape 9"/>
          <p:cNvSpPr/>
          <p:nvPr/>
        </p:nvSpPr>
        <p:spPr>
          <a:xfrm>
            <a:off x="563761" y="1488728"/>
            <a:ext cx="1494979" cy="181570"/>
          </a:xfrm>
          <a:prstGeom prst="roundRect">
            <a:avLst>
              <a:gd name="adj" fmla="val 20984"/>
            </a:avLst>
          </a:prstGeom>
          <a:solidFill>
            <a:srgbClr val="16303F">
              <a:alpha val="7000"/>
            </a:srgbClr>
          </a:solidFill>
          <a:ln/>
        </p:spPr>
      </p:sp>
      <p:sp>
        <p:nvSpPr>
          <p:cNvPr id="12" name="Text 10"/>
          <p:cNvSpPr txBox="1"/>
          <p:nvPr/>
        </p:nvSpPr>
        <p:spPr>
          <a:xfrm>
            <a:off x="506611" y="1488728"/>
            <a:ext cx="160927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Weather__ApiBaseUrl</a:t>
            </a:r>
            <a:endParaRPr lang="en-US" sz="972" dirty="0"/>
          </a:p>
        </p:txBody>
      </p:sp>
      <p:sp>
        <p:nvSpPr>
          <p:cNvPr id="13" name="Shape 11"/>
          <p:cNvSpPr/>
          <p:nvPr/>
        </p:nvSpPr>
        <p:spPr>
          <a:xfrm>
            <a:off x="4738390" y="1733252"/>
            <a:ext cx="4138910" cy="9525"/>
          </a:xfrm>
          <a:prstGeom prst="rect">
            <a:avLst/>
          </a:prstGeom>
          <a:solidFill>
            <a:srgbClr val="DDD9D2"/>
          </a:solidFill>
          <a:ln/>
        </p:spPr>
      </p:sp>
      <p:sp>
        <p:nvSpPr>
          <p:cNvPr id="14" name="Shape 12"/>
          <p:cNvSpPr/>
          <p:nvPr/>
        </p:nvSpPr>
        <p:spPr>
          <a:xfrm>
            <a:off x="4844951" y="1488728"/>
            <a:ext cx="1421011" cy="181570"/>
          </a:xfrm>
          <a:prstGeom prst="roundRect">
            <a:avLst>
              <a:gd name="adj" fmla="val 20984"/>
            </a:avLst>
          </a:prstGeom>
          <a:solidFill>
            <a:srgbClr val="16303F">
              <a:alpha val="7000"/>
            </a:srgbClr>
          </a:solidFill>
          <a:ln/>
        </p:spPr>
      </p:sp>
      <p:sp>
        <p:nvSpPr>
          <p:cNvPr id="15" name="Text 13"/>
          <p:cNvSpPr txBox="1"/>
          <p:nvPr/>
        </p:nvSpPr>
        <p:spPr>
          <a:xfrm>
            <a:off x="4787801" y="1488728"/>
            <a:ext cx="1535311"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Weather:ApiBaseUrl</a:t>
            </a:r>
            <a:endParaRPr lang="en-US" sz="972" dirty="0"/>
          </a:p>
        </p:txBody>
      </p:sp>
      <p:sp>
        <p:nvSpPr>
          <p:cNvPr id="16" name="Shape 14"/>
          <p:cNvSpPr/>
          <p:nvPr/>
        </p:nvSpPr>
        <p:spPr>
          <a:xfrm>
            <a:off x="457200" y="1742777"/>
            <a:ext cx="8420100" cy="341561"/>
          </a:xfrm>
          <a:prstGeom prst="rect">
            <a:avLst/>
          </a:prstGeom>
          <a:solidFill>
            <a:srgbClr val="16303F">
              <a:alpha val="3000"/>
            </a:srgbClr>
          </a:solidFill>
          <a:ln/>
        </p:spPr>
      </p:sp>
      <p:sp>
        <p:nvSpPr>
          <p:cNvPr id="17" name="Shape 15"/>
          <p:cNvSpPr/>
          <p:nvPr/>
        </p:nvSpPr>
        <p:spPr>
          <a:xfrm>
            <a:off x="457200" y="2074813"/>
            <a:ext cx="8420100" cy="9525"/>
          </a:xfrm>
          <a:prstGeom prst="rect">
            <a:avLst/>
          </a:prstGeom>
          <a:solidFill>
            <a:srgbClr val="9CA3AF">
              <a:alpha val="20000"/>
            </a:srgbClr>
          </a:solidFill>
          <a:ln/>
        </p:spPr>
      </p:sp>
      <p:sp>
        <p:nvSpPr>
          <p:cNvPr id="18" name="Shape 16"/>
          <p:cNvSpPr/>
          <p:nvPr/>
        </p:nvSpPr>
        <p:spPr>
          <a:xfrm>
            <a:off x="457200" y="2074813"/>
            <a:ext cx="4281190" cy="9525"/>
          </a:xfrm>
          <a:prstGeom prst="rect">
            <a:avLst/>
          </a:prstGeom>
          <a:solidFill>
            <a:srgbClr val="DDD9D2"/>
          </a:solidFill>
          <a:ln/>
        </p:spPr>
      </p:sp>
      <p:sp>
        <p:nvSpPr>
          <p:cNvPr id="19" name="Shape 17"/>
          <p:cNvSpPr/>
          <p:nvPr/>
        </p:nvSpPr>
        <p:spPr>
          <a:xfrm>
            <a:off x="563761" y="1830288"/>
            <a:ext cx="2013049" cy="181570"/>
          </a:xfrm>
          <a:prstGeom prst="roundRect">
            <a:avLst>
              <a:gd name="adj" fmla="val 20984"/>
            </a:avLst>
          </a:prstGeom>
          <a:solidFill>
            <a:srgbClr val="16303F">
              <a:alpha val="7000"/>
            </a:srgbClr>
          </a:solidFill>
          <a:ln/>
        </p:spPr>
      </p:sp>
      <p:sp>
        <p:nvSpPr>
          <p:cNvPr id="20" name="Text 18"/>
          <p:cNvSpPr txBox="1"/>
          <p:nvPr/>
        </p:nvSpPr>
        <p:spPr>
          <a:xfrm>
            <a:off x="506611" y="1830288"/>
            <a:ext cx="212734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Weather__AllowedOrigins__0</a:t>
            </a:r>
            <a:endParaRPr lang="en-US" sz="972" dirty="0"/>
          </a:p>
        </p:txBody>
      </p:sp>
      <p:sp>
        <p:nvSpPr>
          <p:cNvPr id="21" name="Shape 19"/>
          <p:cNvSpPr/>
          <p:nvPr/>
        </p:nvSpPr>
        <p:spPr>
          <a:xfrm>
            <a:off x="4738390" y="2074813"/>
            <a:ext cx="4138910" cy="9525"/>
          </a:xfrm>
          <a:prstGeom prst="rect">
            <a:avLst/>
          </a:prstGeom>
          <a:solidFill>
            <a:srgbClr val="DDD9D2"/>
          </a:solidFill>
          <a:ln/>
        </p:spPr>
      </p:sp>
      <p:sp>
        <p:nvSpPr>
          <p:cNvPr id="22" name="Shape 20"/>
          <p:cNvSpPr/>
          <p:nvPr/>
        </p:nvSpPr>
        <p:spPr>
          <a:xfrm>
            <a:off x="4844951" y="1830288"/>
            <a:ext cx="1864965" cy="181570"/>
          </a:xfrm>
          <a:prstGeom prst="roundRect">
            <a:avLst>
              <a:gd name="adj" fmla="val 20984"/>
            </a:avLst>
          </a:prstGeom>
          <a:solidFill>
            <a:srgbClr val="16303F">
              <a:alpha val="7000"/>
            </a:srgbClr>
          </a:solidFill>
          <a:ln/>
        </p:spPr>
      </p:sp>
      <p:sp>
        <p:nvSpPr>
          <p:cNvPr id="23" name="Text 21"/>
          <p:cNvSpPr txBox="1"/>
          <p:nvPr/>
        </p:nvSpPr>
        <p:spPr>
          <a:xfrm>
            <a:off x="4787801" y="1830288"/>
            <a:ext cx="1979265"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Weather:AllowedOrigins:0</a:t>
            </a:r>
            <a:endParaRPr lang="en-US" sz="972" dirty="0"/>
          </a:p>
        </p:txBody>
      </p:sp>
      <p:sp>
        <p:nvSpPr>
          <p:cNvPr id="24" name="Shape 22"/>
          <p:cNvSpPr/>
          <p:nvPr/>
        </p:nvSpPr>
        <p:spPr>
          <a:xfrm>
            <a:off x="457200" y="2416373"/>
            <a:ext cx="8420100" cy="9525"/>
          </a:xfrm>
          <a:prstGeom prst="rect">
            <a:avLst/>
          </a:prstGeom>
          <a:solidFill>
            <a:srgbClr val="9CA3AF">
              <a:alpha val="20000"/>
            </a:srgbClr>
          </a:solidFill>
          <a:ln/>
        </p:spPr>
      </p:sp>
      <p:sp>
        <p:nvSpPr>
          <p:cNvPr id="25" name="Shape 23"/>
          <p:cNvSpPr/>
          <p:nvPr/>
        </p:nvSpPr>
        <p:spPr>
          <a:xfrm>
            <a:off x="457200" y="2416373"/>
            <a:ext cx="4281190" cy="9525"/>
          </a:xfrm>
          <a:prstGeom prst="rect">
            <a:avLst/>
          </a:prstGeom>
          <a:solidFill>
            <a:srgbClr val="DDD9D2"/>
          </a:solidFill>
          <a:ln/>
        </p:spPr>
      </p:sp>
      <p:sp>
        <p:nvSpPr>
          <p:cNvPr id="26" name="Shape 24"/>
          <p:cNvSpPr/>
          <p:nvPr/>
        </p:nvSpPr>
        <p:spPr>
          <a:xfrm>
            <a:off x="563761" y="2171849"/>
            <a:ext cx="2013049" cy="181570"/>
          </a:xfrm>
          <a:prstGeom prst="roundRect">
            <a:avLst>
              <a:gd name="adj" fmla="val 20984"/>
            </a:avLst>
          </a:prstGeom>
          <a:solidFill>
            <a:srgbClr val="16303F">
              <a:alpha val="7000"/>
            </a:srgbClr>
          </a:solidFill>
          <a:ln/>
        </p:spPr>
      </p:sp>
      <p:sp>
        <p:nvSpPr>
          <p:cNvPr id="27" name="Text 25"/>
          <p:cNvSpPr txBox="1"/>
          <p:nvPr/>
        </p:nvSpPr>
        <p:spPr>
          <a:xfrm>
            <a:off x="506611" y="2171849"/>
            <a:ext cx="212734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ConnectionStrings__Default</a:t>
            </a:r>
            <a:endParaRPr lang="en-US" sz="972" dirty="0"/>
          </a:p>
        </p:txBody>
      </p:sp>
      <p:sp>
        <p:nvSpPr>
          <p:cNvPr id="28" name="Shape 26"/>
          <p:cNvSpPr/>
          <p:nvPr/>
        </p:nvSpPr>
        <p:spPr>
          <a:xfrm>
            <a:off x="4738390" y="2416373"/>
            <a:ext cx="4138910" cy="9525"/>
          </a:xfrm>
          <a:prstGeom prst="rect">
            <a:avLst/>
          </a:prstGeom>
          <a:solidFill>
            <a:srgbClr val="DDD9D2"/>
          </a:solidFill>
          <a:ln/>
        </p:spPr>
      </p:sp>
      <p:sp>
        <p:nvSpPr>
          <p:cNvPr id="29" name="Shape 27"/>
          <p:cNvSpPr/>
          <p:nvPr/>
        </p:nvSpPr>
        <p:spPr>
          <a:xfrm>
            <a:off x="4844951" y="2171849"/>
            <a:ext cx="1938933" cy="181570"/>
          </a:xfrm>
          <a:prstGeom prst="roundRect">
            <a:avLst>
              <a:gd name="adj" fmla="val 20984"/>
            </a:avLst>
          </a:prstGeom>
          <a:solidFill>
            <a:srgbClr val="16303F">
              <a:alpha val="7000"/>
            </a:srgbClr>
          </a:solidFill>
          <a:ln/>
        </p:spPr>
      </p:sp>
      <p:sp>
        <p:nvSpPr>
          <p:cNvPr id="30" name="Text 28"/>
          <p:cNvSpPr txBox="1"/>
          <p:nvPr/>
        </p:nvSpPr>
        <p:spPr>
          <a:xfrm>
            <a:off x="4787801" y="2171849"/>
            <a:ext cx="205323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ConnectionStrings:Default</a:t>
            </a:r>
            <a:endParaRPr lang="en-US" sz="972" dirty="0"/>
          </a:p>
        </p:txBody>
      </p:sp>
      <p:sp>
        <p:nvSpPr>
          <p:cNvPr id="31" name="Shape 29"/>
          <p:cNvSpPr/>
          <p:nvPr/>
        </p:nvSpPr>
        <p:spPr>
          <a:xfrm>
            <a:off x="457200" y="2590651"/>
            <a:ext cx="38100" cy="533400"/>
          </a:xfrm>
          <a:prstGeom prst="rect">
            <a:avLst/>
          </a:prstGeom>
          <a:solidFill>
            <a:srgbClr val="F4C233"/>
          </a:solidFill>
          <a:ln/>
        </p:spPr>
      </p:sp>
      <p:sp>
        <p:nvSpPr>
          <p:cNvPr id="32" name="Shape 30"/>
          <p:cNvSpPr/>
          <p:nvPr/>
        </p:nvSpPr>
        <p:spPr>
          <a:xfrm>
            <a:off x="617190" y="2760762"/>
            <a:ext cx="175468" cy="202704"/>
          </a:xfrm>
          <a:prstGeom prst="roundRect">
            <a:avLst>
              <a:gd name="adj" fmla="val 21713"/>
            </a:avLst>
          </a:prstGeom>
          <a:solidFill>
            <a:srgbClr val="16303F">
              <a:alpha val="7000"/>
            </a:srgbClr>
          </a:solidFill>
          <a:ln/>
        </p:spPr>
      </p:sp>
      <p:sp>
        <p:nvSpPr>
          <p:cNvPr id="33" name="Shape 31"/>
          <p:cNvSpPr/>
          <p:nvPr/>
        </p:nvSpPr>
        <p:spPr>
          <a:xfrm>
            <a:off x="4453235" y="2760762"/>
            <a:ext cx="257770" cy="202704"/>
          </a:xfrm>
          <a:prstGeom prst="roundRect">
            <a:avLst>
              <a:gd name="adj" fmla="val 18796"/>
            </a:avLst>
          </a:prstGeom>
          <a:solidFill>
            <a:srgbClr val="16303F">
              <a:alpha val="7000"/>
            </a:srgbClr>
          </a:solidFill>
          <a:ln/>
        </p:spPr>
      </p:sp>
      <p:sp>
        <p:nvSpPr>
          <p:cNvPr id="34" name="Text 32"/>
          <p:cNvSpPr txBox="1"/>
          <p:nvPr/>
        </p:nvSpPr>
        <p:spPr>
          <a:xfrm>
            <a:off x="663773" y="2752576"/>
            <a:ext cx="4369296"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a:t>
            </a:r>
            <a:pPr algn="l" indent="0" marL="0">
              <a:buNone/>
            </a:pPr>
            <a:r>
              <a:rPr lang="en-US" sz="1200" b="1" dirty="0">
                <a:solidFill>
                  <a:srgbClr val="16303F"/>
                </a:solidFill>
                <a:latin typeface="Manrope" pitchFamily="34" charset="0"/>
                <a:ea typeface="Manrope" pitchFamily="34" charset="-122"/>
                <a:cs typeface="Manrope" pitchFamily="34" charset="-120"/>
              </a:rPr>
              <a:t> is not portable in an environment variable name.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__</a:t>
            </a:r>
            <a:pPr algn="l" indent="0" marL="0">
              <a:buNone/>
            </a:pPr>
            <a:r>
              <a:rPr lang="en-US" sz="1200" b="1" dirty="0">
                <a:solidFill>
                  <a:srgbClr val="16303F"/>
                </a:solidFill>
                <a:latin typeface="Manrope" pitchFamily="34" charset="0"/>
                <a:ea typeface="Manrope" pitchFamily="34" charset="-122"/>
                <a:cs typeface="Manrope" pitchFamily="34" charset="-120"/>
              </a:rPr>
              <a:t> is.</a:t>
            </a:r>
            <a:endParaRPr lang="en-US" sz="1080" dirty="0"/>
          </a:p>
        </p:txBody>
      </p:sp>
      <p:sp>
        <p:nvSpPr>
          <p:cNvPr id="35" name="Shape 33"/>
          <p:cNvSpPr/>
          <p:nvPr/>
        </p:nvSpPr>
        <p:spPr>
          <a:xfrm>
            <a:off x="8469660" y="228600"/>
            <a:ext cx="575370" cy="228451"/>
          </a:xfrm>
          <a:prstGeom prst="roundRect">
            <a:avLst>
              <a:gd name="adj" fmla="val 16678"/>
            </a:avLst>
          </a:prstGeom>
          <a:solidFill>
            <a:srgbClr val="16303F"/>
          </a:solidFill>
          <a:ln/>
        </p:spPr>
      </p:sp>
      <p:sp>
        <p:nvSpPr>
          <p:cNvPr id="36" name="Text 34"/>
          <p:cNvSpPr txBox="1"/>
          <p:nvPr/>
        </p:nvSpPr>
        <p:spPr>
          <a:xfrm>
            <a:off x="8564017" y="274290"/>
            <a:ext cx="500955"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SHAPE</a:t>
            </a:r>
            <a:endParaRPr lang="en-US" sz="7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213300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Key-per-file</a:t>
            </a:r>
            <a:endParaRPr lang="en-US" sz="2820" dirty="0"/>
          </a:p>
        </p:txBody>
      </p:sp>
      <p:sp>
        <p:nvSpPr>
          <p:cNvPr id="4" name="Shape 2"/>
          <p:cNvSpPr/>
          <p:nvPr/>
        </p:nvSpPr>
        <p:spPr>
          <a:xfrm>
            <a:off x="457200" y="1087041"/>
            <a:ext cx="8420100" cy="795338"/>
          </a:xfrm>
          <a:prstGeom prst="roundRect">
            <a:avLst>
              <a:gd name="adj" fmla="val 4790"/>
            </a:avLst>
          </a:prstGeom>
          <a:solidFill>
            <a:srgbClr val="011627"/>
          </a:solidFill>
          <a:ln/>
        </p:spPr>
      </p:sp>
      <p:sp>
        <p:nvSpPr>
          <p:cNvPr id="5" name="Text 3"/>
          <p:cNvSpPr txBox="1"/>
          <p:nvPr/>
        </p:nvSpPr>
        <p:spPr>
          <a:xfrm>
            <a:off x="533400" y="1172766"/>
            <a:ext cx="82867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/run/secrets/</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Weather__ApiKey            -&gt;   Weather:ApiKey</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ConnectionStrings__Default -&gt;   ConnectionStrings:Default</a:t>
            </a:r>
            <a:endParaRPr lang="en-US" sz="1125" dirty="0"/>
          </a:p>
        </p:txBody>
      </p:sp>
      <p:sp>
        <p:nvSpPr>
          <p:cNvPr id="6" name="Shape 4"/>
          <p:cNvSpPr/>
          <p:nvPr/>
        </p:nvSpPr>
        <p:spPr>
          <a:xfrm>
            <a:off x="457200" y="1958578"/>
            <a:ext cx="8420100" cy="581025"/>
          </a:xfrm>
          <a:prstGeom prst="roundRect">
            <a:avLst>
              <a:gd name="adj" fmla="val 6557"/>
            </a:avLst>
          </a:prstGeom>
          <a:solidFill>
            <a:srgbClr val="011627"/>
          </a:solidFill>
          <a:ln/>
        </p:spPr>
      </p:sp>
      <p:sp>
        <p:nvSpPr>
          <p:cNvPr id="7" name="Text 5"/>
          <p:cNvSpPr txBox="1"/>
          <p:nvPr/>
        </p:nvSpPr>
        <p:spPr>
          <a:xfrm>
            <a:off x="533400" y="2044303"/>
            <a:ext cx="8286750" cy="404813"/>
          </a:xfrm>
          <a:prstGeom prst="rect">
            <a:avLst/>
          </a:prstGeom>
          <a:noFill/>
          <a:ln/>
        </p:spPr>
        <p:txBody>
          <a:bodyPr wrap="square" lIns="0" tIns="0" rIns="0" bIns="0" rtlCol="0" anchor="t"/>
          <a:lstStyle/>
          <a:p>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AddKeyPerFile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(dir, optional: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637777"/>
                </a:solidFill>
                <a:latin typeface="JetBrains Mono" pitchFamily="34" charset="0"/>
                <a:ea typeface="JetBrains Mono" pitchFamily="34" charset="-122"/>
                <a:cs typeface="JetBrains Mono" pitchFamily="34" charset="-120"/>
              </a:rPr>
              <a:t>// does NOT reload</a:t>
            </a:r>
            <a:b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AddKeyPerFile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(dir, optional: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reloadOnChange: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637777"/>
                </a:solidFill>
                <a:latin typeface="JetBrains Mono" pitchFamily="34" charset="0"/>
                <a:ea typeface="JetBrains Mono" pitchFamily="34" charset="-122"/>
                <a:cs typeface="JetBrains Mono" pitchFamily="34" charset="-120"/>
              </a:rPr>
              <a:t>// does</a:t>
            </a:r>
            <a:endParaRPr lang="en-US" sz="1125" dirty="0"/>
          </a:p>
        </p:txBody>
      </p:sp>
      <p:sp>
        <p:nvSpPr>
          <p:cNvPr id="8" name="Text 6"/>
          <p:cNvSpPr txBox="1"/>
          <p:nvPr/>
        </p:nvSpPr>
        <p:spPr>
          <a:xfrm>
            <a:off x="457200" y="2853928"/>
            <a:ext cx="8517228"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path must be absolute. On Kubernetes the mounts are symlink swaps, so even the reloading overload may not fire — treat restart as the contract.</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273665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Azure Key Vault</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4044107" cy="19050"/>
          </a:xfrm>
          <a:prstGeom prst="rect">
            <a:avLst/>
          </a:prstGeom>
          <a:solidFill>
            <a:srgbClr val="16303F"/>
          </a:solidFill>
          <a:ln/>
        </p:spPr>
      </p:sp>
      <p:sp>
        <p:nvSpPr>
          <p:cNvPr id="6" name="Text 4"/>
          <p:cNvSpPr txBox="1"/>
          <p:nvPr/>
        </p:nvSpPr>
        <p:spPr>
          <a:xfrm>
            <a:off x="563761" y="1163092"/>
            <a:ext cx="138945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SECRET IN THE VAULT</a:t>
            </a:r>
            <a:endParaRPr lang="en-US" sz="816" dirty="0"/>
          </a:p>
        </p:txBody>
      </p:sp>
      <p:sp>
        <p:nvSpPr>
          <p:cNvPr id="7" name="Shape 5"/>
          <p:cNvSpPr/>
          <p:nvPr/>
        </p:nvSpPr>
        <p:spPr>
          <a:xfrm>
            <a:off x="4501307" y="1377404"/>
            <a:ext cx="4375993" cy="19050"/>
          </a:xfrm>
          <a:prstGeom prst="rect">
            <a:avLst/>
          </a:prstGeom>
          <a:solidFill>
            <a:srgbClr val="16303F"/>
          </a:solidFill>
          <a:ln/>
        </p:spPr>
      </p:sp>
      <p:sp>
        <p:nvSpPr>
          <p:cNvPr id="8" name="Text 6"/>
          <p:cNvSpPr txBox="1"/>
          <p:nvPr/>
        </p:nvSpPr>
        <p:spPr>
          <a:xfrm>
            <a:off x="4607868" y="1163092"/>
            <a:ext cx="151149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KEY IN CONFIGURATION</a:t>
            </a:r>
            <a:endParaRPr lang="en-US" sz="816" dirty="0"/>
          </a:p>
        </p:txBody>
      </p:sp>
      <p:sp>
        <p:nvSpPr>
          <p:cNvPr id="9" name="Shape 7"/>
          <p:cNvSpPr/>
          <p:nvPr/>
        </p:nvSpPr>
        <p:spPr>
          <a:xfrm>
            <a:off x="457200" y="1733252"/>
            <a:ext cx="8420100" cy="9525"/>
          </a:xfrm>
          <a:prstGeom prst="rect">
            <a:avLst/>
          </a:prstGeom>
          <a:solidFill>
            <a:srgbClr val="9CA3AF">
              <a:alpha val="20000"/>
            </a:srgbClr>
          </a:solidFill>
          <a:ln/>
        </p:spPr>
      </p:sp>
      <p:sp>
        <p:nvSpPr>
          <p:cNvPr id="10" name="Shape 8"/>
          <p:cNvSpPr/>
          <p:nvPr/>
        </p:nvSpPr>
        <p:spPr>
          <a:xfrm>
            <a:off x="457200" y="1733252"/>
            <a:ext cx="4044107" cy="9525"/>
          </a:xfrm>
          <a:prstGeom prst="rect">
            <a:avLst/>
          </a:prstGeom>
          <a:solidFill>
            <a:srgbClr val="DDD9D2"/>
          </a:solidFill>
          <a:ln/>
        </p:spPr>
      </p:sp>
      <p:sp>
        <p:nvSpPr>
          <p:cNvPr id="11" name="Shape 9"/>
          <p:cNvSpPr/>
          <p:nvPr/>
        </p:nvSpPr>
        <p:spPr>
          <a:xfrm>
            <a:off x="563761" y="1488728"/>
            <a:ext cx="1198959" cy="181570"/>
          </a:xfrm>
          <a:prstGeom prst="roundRect">
            <a:avLst>
              <a:gd name="adj" fmla="val 20984"/>
            </a:avLst>
          </a:prstGeom>
          <a:solidFill>
            <a:srgbClr val="16303F">
              <a:alpha val="7000"/>
            </a:srgbClr>
          </a:solidFill>
          <a:ln/>
        </p:spPr>
      </p:sp>
      <p:sp>
        <p:nvSpPr>
          <p:cNvPr id="12" name="Text 10"/>
          <p:cNvSpPr txBox="1"/>
          <p:nvPr/>
        </p:nvSpPr>
        <p:spPr>
          <a:xfrm>
            <a:off x="506611" y="1488728"/>
            <a:ext cx="131325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13" name="Shape 11"/>
          <p:cNvSpPr/>
          <p:nvPr/>
        </p:nvSpPr>
        <p:spPr>
          <a:xfrm>
            <a:off x="4501307" y="1733252"/>
            <a:ext cx="4375993" cy="9525"/>
          </a:xfrm>
          <a:prstGeom prst="rect">
            <a:avLst/>
          </a:prstGeom>
          <a:solidFill>
            <a:srgbClr val="DDD9D2"/>
          </a:solidFill>
          <a:ln/>
        </p:spPr>
      </p:sp>
      <p:sp>
        <p:nvSpPr>
          <p:cNvPr id="14" name="Shape 12"/>
          <p:cNvSpPr/>
          <p:nvPr/>
        </p:nvSpPr>
        <p:spPr>
          <a:xfrm>
            <a:off x="4607868" y="1488728"/>
            <a:ext cx="1124843" cy="181570"/>
          </a:xfrm>
          <a:prstGeom prst="roundRect">
            <a:avLst>
              <a:gd name="adj" fmla="val 20984"/>
            </a:avLst>
          </a:prstGeom>
          <a:solidFill>
            <a:srgbClr val="16303F">
              <a:alpha val="7000"/>
            </a:srgbClr>
          </a:solidFill>
          <a:ln/>
        </p:spPr>
      </p:sp>
      <p:sp>
        <p:nvSpPr>
          <p:cNvPr id="15" name="Text 13"/>
          <p:cNvSpPr txBox="1"/>
          <p:nvPr/>
        </p:nvSpPr>
        <p:spPr>
          <a:xfrm>
            <a:off x="4550718" y="1488728"/>
            <a:ext cx="123914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16" name="Shape 14"/>
          <p:cNvSpPr/>
          <p:nvPr/>
        </p:nvSpPr>
        <p:spPr>
          <a:xfrm>
            <a:off x="457200" y="1831330"/>
            <a:ext cx="8420100" cy="795338"/>
          </a:xfrm>
          <a:prstGeom prst="roundRect">
            <a:avLst>
              <a:gd name="adj" fmla="val 4790"/>
            </a:avLst>
          </a:prstGeom>
          <a:solidFill>
            <a:srgbClr val="011627"/>
          </a:solidFill>
          <a:ln/>
        </p:spPr>
      </p:sp>
      <p:sp>
        <p:nvSpPr>
          <p:cNvPr id="17" name="Text 15"/>
          <p:cNvSpPr txBox="1"/>
          <p:nvPr/>
        </p:nvSpPr>
        <p:spPr>
          <a:xfrm>
            <a:off x="533400" y="1917055"/>
            <a:ext cx="8286750" cy="619125"/>
          </a:xfrm>
          <a:prstGeom prst="rect">
            <a:avLst/>
          </a:prstGeom>
          <a:noFill/>
          <a:ln/>
        </p:spPr>
        <p:txBody>
          <a:bodyPr wrap="square" lIns="0" tIns="0" rIns="0" bIns="0" rtlCol="0" anchor="t"/>
          <a:lstStyle/>
          <a:p>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builder</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AF39F"/>
                </a:solidFill>
                <a:latin typeface="JetBrains Mono" pitchFamily="34" charset="0"/>
                <a:ea typeface="JetBrains Mono" pitchFamily="34" charset="-122"/>
                <a:cs typeface="JetBrains Mono" pitchFamily="34" charset="-120"/>
              </a:rPr>
              <a:t>Configuration</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AddAzureKeyVault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new</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Uri(</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https://</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vaultName</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.vault.azure.net/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new</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DefaultAzureCredential());</a:t>
            </a:r>
            <a:endParaRPr lang="en-US" sz="1125" dirty="0"/>
          </a:p>
        </p:txBody>
      </p:sp>
      <p:sp>
        <p:nvSpPr>
          <p:cNvPr id="18" name="Shape 16"/>
          <p:cNvSpPr/>
          <p:nvPr/>
        </p:nvSpPr>
        <p:spPr>
          <a:xfrm>
            <a:off x="457200" y="2949178"/>
            <a:ext cx="257770" cy="202704"/>
          </a:xfrm>
          <a:prstGeom prst="roundRect">
            <a:avLst>
              <a:gd name="adj" fmla="val 18796"/>
            </a:avLst>
          </a:prstGeom>
          <a:solidFill>
            <a:srgbClr val="16303F">
              <a:alpha val="7000"/>
            </a:srgbClr>
          </a:solidFill>
          <a:ln/>
        </p:spPr>
      </p:sp>
      <p:sp>
        <p:nvSpPr>
          <p:cNvPr id="19" name="Shape 17"/>
          <p:cNvSpPr/>
          <p:nvPr/>
        </p:nvSpPr>
        <p:spPr>
          <a:xfrm>
            <a:off x="1425327" y="2949178"/>
            <a:ext cx="175468" cy="202704"/>
          </a:xfrm>
          <a:prstGeom prst="roundRect">
            <a:avLst>
              <a:gd name="adj" fmla="val 21713"/>
            </a:avLst>
          </a:prstGeom>
          <a:solidFill>
            <a:srgbClr val="16303F">
              <a:alpha val="7000"/>
            </a:srgbClr>
          </a:solidFill>
          <a:ln/>
        </p:spPr>
      </p:sp>
      <p:sp>
        <p:nvSpPr>
          <p:cNvPr id="20" name="Shape 18"/>
          <p:cNvSpPr/>
          <p:nvPr/>
        </p:nvSpPr>
        <p:spPr>
          <a:xfrm>
            <a:off x="6792813" y="2949178"/>
            <a:ext cx="1245394" cy="202704"/>
          </a:xfrm>
          <a:prstGeom prst="roundRect">
            <a:avLst>
              <a:gd name="adj" fmla="val 18796"/>
            </a:avLst>
          </a:prstGeom>
          <a:solidFill>
            <a:srgbClr val="16303F">
              <a:alpha val="7000"/>
            </a:srgbClr>
          </a:solidFill>
          <a:ln/>
        </p:spPr>
      </p:sp>
      <p:sp>
        <p:nvSpPr>
          <p:cNvPr id="21" name="Text 19"/>
          <p:cNvSpPr txBox="1"/>
          <p:nvPr/>
        </p:nvSpPr>
        <p:spPr>
          <a:xfrm>
            <a:off x="457200" y="2940993"/>
            <a:ext cx="8539695" cy="438150"/>
          </a:xfrm>
          <a:prstGeom prst="rect">
            <a:avLst/>
          </a:prstGeom>
          <a:noFill/>
          <a:ln/>
        </p:spPr>
        <p:txBody>
          <a:bodyPr wrap="square" lIns="0" tIns="0" rIns="0" bIns="0" rtlCol="0" anchor="t"/>
          <a:lstStyle/>
          <a:p>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becomes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because Key Vault forbids a colon in a secret name. No reload by default —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ReloadInterval</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is null until you set it.</a:t>
            </a:r>
            <a:endParaRPr lang="en-US" sz="108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805904"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BINDING</a:t>
            </a:r>
            <a:endParaRPr lang="en-US" sz="936" dirty="0"/>
          </a:p>
        </p:txBody>
      </p:sp>
      <p:sp>
        <p:nvSpPr>
          <p:cNvPr id="4" name="Text 2"/>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Binding turns loose strings into an application contract.</a:t>
            </a:r>
            <a:endParaRPr lang="en-US" sz="3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06610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Stop injecting IConfiguration</a:t>
            </a:r>
            <a:endParaRPr lang="en-US" sz="2820" dirty="0"/>
          </a:p>
        </p:txBody>
      </p:sp>
      <p:sp>
        <p:nvSpPr>
          <p:cNvPr id="4" name="Text 2"/>
          <p:cNvSpPr txBox="1"/>
          <p:nvPr/>
        </p:nvSpPr>
        <p:spPr>
          <a:xfrm>
            <a:off x="304800" y="1071711"/>
            <a:ext cx="493068"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DON'T</a:t>
            </a:r>
            <a:endParaRPr lang="en-US" sz="768" dirty="0"/>
          </a:p>
        </p:txBody>
      </p:sp>
      <p:sp>
        <p:nvSpPr>
          <p:cNvPr id="5" name="Shape 3"/>
          <p:cNvSpPr/>
          <p:nvPr/>
        </p:nvSpPr>
        <p:spPr>
          <a:xfrm>
            <a:off x="304800" y="1313855"/>
            <a:ext cx="8724900" cy="1381720"/>
          </a:xfrm>
          <a:prstGeom prst="roundRect">
            <a:avLst>
              <a:gd name="adj" fmla="val 2757"/>
            </a:avLst>
          </a:prstGeom>
          <a:solidFill>
            <a:srgbClr val="011627"/>
          </a:solidFill>
          <a:ln/>
        </p:spPr>
      </p:sp>
      <p:sp>
        <p:nvSpPr>
          <p:cNvPr id="6" name="Text 4"/>
          <p:cNvSpPr txBox="1"/>
          <p:nvPr/>
        </p:nvSpPr>
        <p:spPr>
          <a:xfrm>
            <a:off x="381000" y="1390055"/>
            <a:ext cx="8591550" cy="1215628"/>
          </a:xfrm>
          <a:prstGeom prst="rect">
            <a:avLst/>
          </a:prstGeom>
          <a:noFill/>
          <a:ln/>
        </p:spPr>
        <p:txBody>
          <a:bodyPr wrap="square" lIns="0" tIns="0" rIns="0" bIns="0" rtlCol="0" anchor="t"/>
          <a:lstStyle/>
          <a:p>
            <a:pPr algn="l" indent="0" marL="0">
              <a:lnSpc>
                <a:spcPts val="1383"/>
              </a:lnSpc>
              <a:buNone/>
            </a:pPr>
            <a:r>
              <a:rPr lang="en-US" sz="923" dirty="0">
                <a:solidFill>
                  <a:srgbClr val="637777"/>
                </a:solidFill>
                <a:latin typeface="JetBrains Mono" pitchFamily="34" charset="0"/>
                <a:ea typeface="JetBrains Mono" pitchFamily="34" charset="-122"/>
                <a:cs typeface="JetBrains Mono" pitchFamily="34" charset="-120"/>
              </a:rPr>
              <a:t>// DON'T - over-broad dependency, stringly typed, unvalidated, re-parsed</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public</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sealed</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class</a:t>
            </a:r>
            <a:pPr algn="l" indent="0" marL="0">
              <a:lnSpc>
                <a:spcPts val="1383"/>
              </a:lnSpc>
              <a:buNone/>
            </a:pPr>
            <a:r>
              <a:rPr lang="en-US" sz="923" dirty="0">
                <a:solidFill>
                  <a:srgbClr val="FFCB8B"/>
                </a:solidFill>
                <a:latin typeface="JetBrains Mono" pitchFamily="34" charset="0"/>
                <a:ea typeface="JetBrains Mono" pitchFamily="34" charset="-122"/>
                <a:cs typeface="JetBrains Mono" pitchFamily="34" charset="-120"/>
              </a:rPr>
              <a:t> WeatherClient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(IConfiguration config)</a:t>
            </a:r>
            <a:b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public</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 Task&lt;Forecast&gt; </a:t>
            </a:r>
            <a:pPr algn="l" indent="0" marL="0">
              <a:lnSpc>
                <a:spcPts val="1383"/>
              </a:lnSpc>
              <a:buNone/>
            </a:pPr>
            <a:r>
              <a:rPr lang="en-US" sz="923" dirty="0">
                <a:solidFill>
                  <a:srgbClr val="82AAFF"/>
                </a:solidFill>
                <a:latin typeface="JetBrains Mono" pitchFamily="34" charset="0"/>
                <a:ea typeface="JetBrains Mono" pitchFamily="34" charset="-122"/>
                <a:cs typeface="JetBrains Mono" pitchFamily="34" charset="-120"/>
              </a:rPr>
              <a:t>GetAsync</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 </a:t>
            </a:r>
            <a:pPr algn="l" indent="0" marL="0">
              <a:lnSpc>
                <a:spcPts val="1383"/>
              </a:lnSpc>
              <a:buNone/>
            </a:pPr>
            <a:r>
              <a:rPr lang="en-US" sz="923" dirty="0">
                <a:solidFill>
                  <a:srgbClr val="7FDBCA"/>
                </a:solidFill>
                <a:latin typeface="JetBrains Mono" pitchFamily="34" charset="0"/>
                <a:ea typeface="JetBrains Mono" pitchFamily="34" charset="-122"/>
                <a:cs typeface="JetBrains Mono" pitchFamily="34" charset="-120"/>
              </a:rPr>
              <a:t>=&gt;</a:t>
            </a:r>
            <a:br/>
            <a:pPr algn="l" indent="0" marL="0">
              <a:lnSpc>
                <a:spcPts val="1383"/>
              </a:lnSpc>
              <a:buNone/>
            </a:pPr>
            <a:r>
              <a:rPr lang="en-US" sz="923" dirty="0">
                <a:solidFill>
                  <a:srgbClr val="82AAFF"/>
                </a:solidFill>
                <a:latin typeface="JetBrains Mono" pitchFamily="34" charset="0"/>
                <a:ea typeface="JetBrains Mono" pitchFamily="34" charset="-122"/>
                <a:cs typeface="JetBrains Mono" pitchFamily="34" charset="-120"/>
              </a:rPr>
              <a:t>CallAsync</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FAF39F"/>
                </a:solidFill>
                <a:latin typeface="JetBrains Mono" pitchFamily="34" charset="0"/>
                <a:ea typeface="JetBrains Mono" pitchFamily="34" charset="-122"/>
                <a:cs typeface="JetBrains Mono" pitchFamily="34" charset="-120"/>
              </a:rPr>
              <a:t>config</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9F5DD"/>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ECC48D"/>
                </a:solidFill>
                <a:latin typeface="JetBrains Mono" pitchFamily="34" charset="0"/>
                <a:ea typeface="JetBrains Mono" pitchFamily="34" charset="-122"/>
                <a:cs typeface="JetBrains Mono" pitchFamily="34" charset="-120"/>
              </a:rPr>
              <a:t>Weather:ApiBaseUrl</a:t>
            </a:r>
            <a:pPr algn="l" indent="0" marL="0">
              <a:lnSpc>
                <a:spcPts val="1383"/>
              </a:lnSpc>
              <a:buNone/>
            </a:pPr>
            <a:r>
              <a:rPr lang="en-US" sz="923" dirty="0">
                <a:solidFill>
                  <a:srgbClr val="D9F5DD"/>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int</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82AAFF"/>
                </a:solidFill>
                <a:latin typeface="JetBrains Mono" pitchFamily="34" charset="0"/>
                <a:ea typeface="JetBrains Mono" pitchFamily="34" charset="-122"/>
                <a:cs typeface="JetBrains Mono" pitchFamily="34" charset="-120"/>
              </a:rPr>
              <a:t>Parse</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FAF39F"/>
                </a:solidFill>
                <a:latin typeface="JetBrains Mono" pitchFamily="34" charset="0"/>
                <a:ea typeface="JetBrains Mono" pitchFamily="34" charset="-122"/>
                <a:cs typeface="JetBrains Mono" pitchFamily="34" charset="-120"/>
              </a:rPr>
              <a:t>config</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9F5DD"/>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ECC48D"/>
                </a:solidFill>
                <a:latin typeface="JetBrains Mono" pitchFamily="34" charset="0"/>
                <a:ea typeface="JetBrains Mono" pitchFamily="34" charset="-122"/>
                <a:cs typeface="JetBrains Mono" pitchFamily="34" charset="-120"/>
              </a:rPr>
              <a:t>Weather:TimeoutSeconds</a:t>
            </a:r>
            <a:pPr algn="l" indent="0" marL="0">
              <a:lnSpc>
                <a:spcPts val="1383"/>
              </a:lnSpc>
              <a:buNone/>
            </a:pPr>
            <a:r>
              <a:rPr lang="en-US" sz="923" dirty="0">
                <a:solidFill>
                  <a:srgbClr val="D9F5DD"/>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endParaRPr lang="en-US" sz="923" dirty="0"/>
          </a:p>
        </p:txBody>
      </p:sp>
      <p:sp>
        <p:nvSpPr>
          <p:cNvPr id="7" name="Text 5"/>
          <p:cNvSpPr txBox="1"/>
          <p:nvPr/>
        </p:nvSpPr>
        <p:spPr>
          <a:xfrm>
            <a:off x="304800" y="2863155"/>
            <a:ext cx="288727"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DO</a:t>
            </a:r>
            <a:endParaRPr lang="en-US" sz="768" dirty="0"/>
          </a:p>
        </p:txBody>
      </p:sp>
      <p:sp>
        <p:nvSpPr>
          <p:cNvPr id="8" name="Shape 6"/>
          <p:cNvSpPr/>
          <p:nvPr/>
        </p:nvSpPr>
        <p:spPr>
          <a:xfrm>
            <a:off x="304800" y="3105299"/>
            <a:ext cx="8724900" cy="1030486"/>
          </a:xfrm>
          <a:prstGeom prst="roundRect">
            <a:avLst>
              <a:gd name="adj" fmla="val 3697"/>
            </a:avLst>
          </a:prstGeom>
          <a:solidFill>
            <a:srgbClr val="011627"/>
          </a:solidFill>
          <a:ln/>
        </p:spPr>
      </p:sp>
      <p:sp>
        <p:nvSpPr>
          <p:cNvPr id="9" name="Text 7"/>
          <p:cNvSpPr txBox="1"/>
          <p:nvPr/>
        </p:nvSpPr>
        <p:spPr>
          <a:xfrm>
            <a:off x="381000" y="3181499"/>
            <a:ext cx="8591550" cy="864394"/>
          </a:xfrm>
          <a:prstGeom prst="rect">
            <a:avLst/>
          </a:prstGeom>
          <a:noFill/>
          <a:ln/>
        </p:spPr>
        <p:txBody>
          <a:bodyPr wrap="square" lIns="0" tIns="0" rIns="0" bIns="0" rtlCol="0" anchor="t"/>
          <a:lstStyle/>
          <a:p>
            <a:pPr algn="l" indent="0" marL="0">
              <a:lnSpc>
                <a:spcPts val="1383"/>
              </a:lnSpc>
              <a:buNone/>
            </a:pPr>
            <a:r>
              <a:rPr lang="en-US" sz="923" dirty="0">
                <a:solidFill>
                  <a:srgbClr val="637777"/>
                </a:solidFill>
                <a:latin typeface="JetBrains Mono" pitchFamily="34" charset="0"/>
                <a:ea typeface="JetBrains Mono" pitchFamily="34" charset="-122"/>
                <a:cs typeface="JetBrains Mono" pitchFamily="34" charset="-120"/>
              </a:rPr>
              <a:t>// DO - the class declares exactly what it needs</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public</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sealed</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class</a:t>
            </a:r>
            <a:pPr algn="l" indent="0" marL="0">
              <a:lnSpc>
                <a:spcPts val="1383"/>
              </a:lnSpc>
              <a:buNone/>
            </a:pPr>
            <a:r>
              <a:rPr lang="en-US" sz="923" dirty="0">
                <a:solidFill>
                  <a:srgbClr val="FFCB8B"/>
                </a:solidFill>
                <a:latin typeface="JetBrains Mono" pitchFamily="34" charset="0"/>
                <a:ea typeface="JetBrains Mono" pitchFamily="34" charset="-122"/>
                <a:cs typeface="JetBrains Mono" pitchFamily="34" charset="-120"/>
              </a:rPr>
              <a:t> WeatherClient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(IOptions&lt;WeatherOptions&gt; options)</a:t>
            </a:r>
            <a:b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private</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readonly</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 WeatherOptions _options </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B2CCD6"/>
                </a:solidFill>
                <a:latin typeface="JetBrains Mono" pitchFamily="34" charset="0"/>
                <a:ea typeface="JetBrains Mono" pitchFamily="34" charset="-122"/>
                <a:cs typeface="JetBrains Mono" pitchFamily="34" charset="-120"/>
              </a:rPr>
              <a:t> options</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FAF39F"/>
                </a:solidFill>
                <a:latin typeface="JetBrains Mono" pitchFamily="34" charset="0"/>
                <a:ea typeface="JetBrains Mono" pitchFamily="34" charset="-122"/>
                <a:cs typeface="JetBrains Mono" pitchFamily="34" charset="-120"/>
              </a:rPr>
              <a:t>Value</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endParaRPr lang="en-US" sz="923" dirty="0"/>
          </a:p>
        </p:txBody>
      </p:sp>
      <p:sp>
        <p:nvSpPr>
          <p:cNvPr id="10" name="Shape 8"/>
          <p:cNvSpPr/>
          <p:nvPr/>
        </p:nvSpPr>
        <p:spPr>
          <a:xfrm>
            <a:off x="304800" y="4371975"/>
            <a:ext cx="38100" cy="533400"/>
          </a:xfrm>
          <a:prstGeom prst="rect">
            <a:avLst/>
          </a:prstGeom>
          <a:solidFill>
            <a:srgbClr val="F4C233"/>
          </a:solidFill>
          <a:ln/>
        </p:spPr>
      </p:sp>
      <p:sp>
        <p:nvSpPr>
          <p:cNvPr id="11" name="Shape 9"/>
          <p:cNvSpPr/>
          <p:nvPr/>
        </p:nvSpPr>
        <p:spPr>
          <a:xfrm>
            <a:off x="841772" y="4542086"/>
            <a:ext cx="175468" cy="202704"/>
          </a:xfrm>
          <a:prstGeom prst="roundRect">
            <a:avLst>
              <a:gd name="adj" fmla="val 21713"/>
            </a:avLst>
          </a:prstGeom>
          <a:solidFill>
            <a:srgbClr val="16303F">
              <a:alpha val="7000"/>
            </a:srgbClr>
          </a:solidFill>
          <a:ln/>
        </p:spPr>
      </p:sp>
      <p:sp>
        <p:nvSpPr>
          <p:cNvPr id="12" name="Text 10"/>
          <p:cNvSpPr txBox="1"/>
          <p:nvPr/>
        </p:nvSpPr>
        <p:spPr>
          <a:xfrm>
            <a:off x="464790" y="4533900"/>
            <a:ext cx="2886670"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That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a:t>
            </a:r>
            <a:pPr algn="l" indent="0" marL="0">
              <a:buNone/>
            </a:pPr>
            <a:r>
              <a:rPr lang="en-US" sz="1200" b="1" dirty="0">
                <a:solidFill>
                  <a:srgbClr val="16303F"/>
                </a:solidFill>
                <a:latin typeface="Manrope" pitchFamily="34" charset="0"/>
                <a:ea typeface="Manrope" pitchFamily="34" charset="-122"/>
                <a:cs typeface="Manrope" pitchFamily="34" charset="-120"/>
              </a:rPr>
              <a:t> is anti-pattern #3 on its own.</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540395"/>
            <a:ext cx="4941094"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Define the contract, then enforce it</a:t>
            </a:r>
            <a:endParaRPr lang="en-US" sz="2280" dirty="0"/>
          </a:p>
        </p:txBody>
      </p:sp>
      <p:sp>
        <p:nvSpPr>
          <p:cNvPr id="4" name="Shape 2"/>
          <p:cNvSpPr/>
          <p:nvPr/>
        </p:nvSpPr>
        <p:spPr>
          <a:xfrm>
            <a:off x="628650" y="1209229"/>
            <a:ext cx="8077200" cy="3309938"/>
          </a:xfrm>
          <a:prstGeom prst="roundRect">
            <a:avLst>
              <a:gd name="adj" fmla="val 1151"/>
            </a:avLst>
          </a:prstGeom>
          <a:solidFill>
            <a:srgbClr val="011627"/>
          </a:solidFill>
          <a:ln/>
        </p:spPr>
      </p:sp>
      <p:sp>
        <p:nvSpPr>
          <p:cNvPr id="5" name="Text 3"/>
          <p:cNvSpPr txBox="1"/>
          <p:nvPr/>
        </p:nvSpPr>
        <p:spPr>
          <a:xfrm>
            <a:off x="704850" y="1294954"/>
            <a:ext cx="7943850" cy="3124200"/>
          </a:xfrm>
          <a:prstGeom prst="rect">
            <a:avLst/>
          </a:prstGeom>
          <a:noFill/>
          <a:ln/>
        </p:spPr>
        <p:txBody>
          <a:bodyPr wrap="square" lIns="0" tIns="0" rIns="0" bIns="0" rtlCol="0" anchor="t"/>
          <a:lstStyle/>
          <a:p>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sealed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class</a:t>
            </a: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 WeatherOptions</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const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SectionName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[Required, Url]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required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ApiBaseUrl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get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init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[Range(</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1</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300</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int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TimeoutSeconds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get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init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 30</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[Required, MinLength(</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8</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required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ApiKey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get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init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Services</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AddOptionsWithValidateOnStart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&lt;WeatherOptions&gt;()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Bind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GetSection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WeatherOptions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SectionName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ValidateDataAnnotations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09225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An invalid environment fails before traffic</a:t>
            </a:r>
            <a:endParaRPr lang="en-US" sz="2820" dirty="0"/>
          </a:p>
        </p:txBody>
      </p:sp>
      <p:sp>
        <p:nvSpPr>
          <p:cNvPr id="4" name="Shape 2"/>
          <p:cNvSpPr/>
          <p:nvPr/>
        </p:nvSpPr>
        <p:spPr>
          <a:xfrm>
            <a:off x="457200" y="1087041"/>
            <a:ext cx="8420100" cy="1009650"/>
          </a:xfrm>
          <a:prstGeom prst="roundRect">
            <a:avLst>
              <a:gd name="adj" fmla="val 3774"/>
            </a:avLst>
          </a:prstGeom>
          <a:solidFill>
            <a:srgbClr val="011627"/>
          </a:solidFill>
          <a:ln/>
        </p:spPr>
      </p:sp>
      <p:sp>
        <p:nvSpPr>
          <p:cNvPr id="5" name="Text 3"/>
          <p:cNvSpPr txBox="1"/>
          <p:nvPr/>
        </p:nvSpPr>
        <p:spPr>
          <a:xfrm>
            <a:off x="533400" y="1172766"/>
            <a:ext cx="8286750" cy="833437"/>
          </a:xfrm>
          <a:prstGeom prst="rect">
            <a:avLst/>
          </a:prstGeom>
          <a:noFill/>
          <a:ln/>
        </p:spPr>
        <p:txBody>
          <a:bodyPr wrap="square" lIns="0" tIns="0" rIns="0" bIns="0" rtlCol="0" anchor="t"/>
          <a:lstStyle/>
          <a:p>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builder</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AF39F"/>
                </a:solidFill>
                <a:latin typeface="JetBrains Mono" pitchFamily="34" charset="0"/>
                <a:ea typeface="JetBrains Mono" pitchFamily="34" charset="-122"/>
                <a:cs typeface="JetBrains Mono" pitchFamily="34" charset="-120"/>
              </a:rPr>
              <a:t>Services</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AddOptionsWithValidateOnStart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&lt;WeatherOptions&gt;()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Bind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builder</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AF39F"/>
                </a:solidFill>
                <a:latin typeface="JetBrains Mono" pitchFamily="34" charset="0"/>
                <a:ea typeface="JetBrains Mono" pitchFamily="34" charset="-122"/>
                <a:cs typeface="JetBrains Mono" pitchFamily="34" charset="-120"/>
              </a:rPr>
              <a:t>Configuration</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GetSection</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Weather</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ValidateDataAnnotations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
        <p:nvSpPr>
          <p:cNvPr id="6" name="Shape 4"/>
          <p:cNvSpPr/>
          <p:nvPr/>
        </p:nvSpPr>
        <p:spPr>
          <a:xfrm>
            <a:off x="457200" y="2172891"/>
            <a:ext cx="8420100" cy="795338"/>
          </a:xfrm>
          <a:prstGeom prst="roundRect">
            <a:avLst>
              <a:gd name="adj" fmla="val 4790"/>
            </a:avLst>
          </a:prstGeom>
          <a:solidFill>
            <a:srgbClr val="011627"/>
          </a:solidFill>
          <a:ln/>
        </p:spPr>
      </p:sp>
      <p:sp>
        <p:nvSpPr>
          <p:cNvPr id="7" name="Text 5"/>
          <p:cNvSpPr txBox="1"/>
          <p:nvPr/>
        </p:nvSpPr>
        <p:spPr>
          <a:xfrm>
            <a:off x="533400" y="2258616"/>
            <a:ext cx="82867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Unhandled exception. Microsoft.Extensions.Options.OptionsValidationException:</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DataAnnotation validation failed for 'WeatherOptions' members:</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'TimeoutSeconds' with the error: 'The field TimeoutSeconds must be between 1 and 300.'</a:t>
            </a:r>
            <a:endParaRPr lang="en-US" sz="1125" dirty="0"/>
          </a:p>
        </p:txBody>
      </p:sp>
      <p:sp>
        <p:nvSpPr>
          <p:cNvPr id="8" name="Shape 6"/>
          <p:cNvSpPr/>
          <p:nvPr/>
        </p:nvSpPr>
        <p:spPr>
          <a:xfrm>
            <a:off x="6414046" y="3290739"/>
            <a:ext cx="1327696" cy="202704"/>
          </a:xfrm>
          <a:prstGeom prst="roundRect">
            <a:avLst>
              <a:gd name="adj" fmla="val 18796"/>
            </a:avLst>
          </a:prstGeom>
          <a:solidFill>
            <a:srgbClr val="16303F">
              <a:alpha val="7000"/>
            </a:srgbClr>
          </a:solidFill>
          <a:ln/>
        </p:spPr>
      </p:sp>
      <p:sp>
        <p:nvSpPr>
          <p:cNvPr id="9" name="Shape 7"/>
          <p:cNvSpPr/>
          <p:nvPr/>
        </p:nvSpPr>
        <p:spPr>
          <a:xfrm>
            <a:off x="772567" y="3519339"/>
            <a:ext cx="586978" cy="202704"/>
          </a:xfrm>
          <a:prstGeom prst="roundRect">
            <a:avLst>
              <a:gd name="adj" fmla="val 18796"/>
            </a:avLst>
          </a:prstGeom>
          <a:solidFill>
            <a:srgbClr val="16303F">
              <a:alpha val="7000"/>
            </a:srgbClr>
          </a:solidFill>
          <a:ln/>
        </p:spPr>
      </p:sp>
      <p:sp>
        <p:nvSpPr>
          <p:cNvPr id="10" name="Text 8"/>
          <p:cNvSpPr txBox="1"/>
          <p:nvPr/>
        </p:nvSpPr>
        <p:spPr>
          <a:xfrm>
            <a:off x="457200" y="3282553"/>
            <a:ext cx="8450738"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point is </a:t>
            </a:r>
            <a:pPr algn="l" indent="0" marL="0">
              <a:lnSpc>
                <a:spcPts val="1800"/>
              </a:lnSpc>
              <a:buNone/>
            </a:pPr>
            <a:r>
              <a:rPr lang="en-US" sz="1200" i="1" dirty="0">
                <a:solidFill>
                  <a:srgbClr val="44535A"/>
                </a:solidFill>
                <a:latin typeface="Manrope" pitchFamily="34" charset="0"/>
                <a:ea typeface="Manrope" pitchFamily="34" charset="-122"/>
                <a:cs typeface="Manrope" pitchFamily="34" charset="-120"/>
              </a:rPr>
              <a:t>where</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this happened: at startup, before the process took traffic. Without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ValidateOnStart</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it happens on first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.Value</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access — in production, on the first request that reaches that code path.</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904726"/>
            <a:ext cx="5179070"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Tests must satisfy the same contract</a:t>
            </a:r>
            <a:endParaRPr lang="en-US" sz="2280" dirty="0"/>
          </a:p>
        </p:txBody>
      </p:sp>
      <p:sp>
        <p:nvSpPr>
          <p:cNvPr id="4" name="Shape 2"/>
          <p:cNvSpPr/>
          <p:nvPr/>
        </p:nvSpPr>
        <p:spPr>
          <a:xfrm>
            <a:off x="628650" y="1573560"/>
            <a:ext cx="8077200" cy="2581275"/>
          </a:xfrm>
          <a:prstGeom prst="roundRect">
            <a:avLst>
              <a:gd name="adj" fmla="val 1476"/>
            </a:avLst>
          </a:prstGeom>
          <a:solidFill>
            <a:srgbClr val="011627"/>
          </a:solidFill>
          <a:ln/>
        </p:spPr>
      </p:sp>
      <p:sp>
        <p:nvSpPr>
          <p:cNvPr id="5" name="Text 3"/>
          <p:cNvSpPr txBox="1"/>
          <p:nvPr/>
        </p:nvSpPr>
        <p:spPr>
          <a:xfrm>
            <a:off x="704850" y="1659285"/>
            <a:ext cx="7943850" cy="2395538"/>
          </a:xfrm>
          <a:prstGeom prst="rect">
            <a:avLst/>
          </a:prstGeom>
          <a:noFill/>
          <a:ln/>
        </p:spPr>
        <p:txBody>
          <a:bodyPr wrap="square" lIns="0" tIns="0" rIns="0" bIns="0" rtlCol="0" anchor="t"/>
          <a:lstStyle/>
          <a:p>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sealed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class</a:t>
            </a: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 ApiFactory</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 WebApplicationFactory&lt;Program&gt;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protected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override</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void</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 ConfigureWebHost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(IWebHostBuilder builder)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ConfigureAppConfiguration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(config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config</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AddInMemoryCollection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new</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Dictionary&lt;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Weather:ApiBaseUrl</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http://localhost/stub</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Weather:TimeoutSeconds</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1</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1832967"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ACT 4 · PRODUCTION</a:t>
            </a:r>
            <a:endParaRPr lang="en-US" sz="936" dirty="0"/>
          </a:p>
        </p:txBody>
      </p:sp>
      <p:sp>
        <p:nvSpPr>
          <p:cNvPr id="4" name="Text 2"/>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Production supplies the values. Nothing gets rebuilt to change one.</a:t>
            </a:r>
            <a:endParaRPr lang="en-US" sz="3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1450181"/>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Production adds a question the other environments never asked:</a:t>
            </a:r>
            <a:endParaRPr lang="en-US" sz="2520" dirty="0"/>
          </a:p>
        </p:txBody>
      </p:sp>
      <p:sp>
        <p:nvSpPr>
          <p:cNvPr id="4" name="Text 2"/>
          <p:cNvSpPr txBox="1"/>
          <p:nvPr/>
        </p:nvSpPr>
        <p:spPr>
          <a:xfrm>
            <a:off x="685800" y="2322314"/>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can this value change while the process is running?</a:t>
            </a:r>
            <a:endParaRPr lang="en-US" sz="2520" dirty="0"/>
          </a:p>
        </p:txBody>
      </p:sp>
      <p:sp>
        <p:nvSpPr>
          <p:cNvPr id="5" name="Text 3"/>
          <p:cNvSpPr txBox="1"/>
          <p:nvPr/>
        </p:nvSpPr>
        <p:spPr>
          <a:xfrm>
            <a:off x="685800" y="3308747"/>
            <a:ext cx="7046848" cy="458986"/>
          </a:xfrm>
          <a:prstGeom prst="rect">
            <a:avLst/>
          </a:prstGeom>
          <a:noFill/>
          <a:ln/>
        </p:spPr>
        <p:txBody>
          <a:bodyPr wrap="square" lIns="0" tIns="0" rIns="0" bIns="0" rtlCol="0" anchor="t"/>
          <a:lstStyle/>
          <a:p>
            <a:pPr algn="l" indent="0" marL="0">
              <a:lnSpc>
                <a:spcPts val="1889"/>
              </a:lnSpc>
              <a:buNone/>
            </a:pPr>
            <a:r>
              <a:rPr lang="en-US" sz="1260" dirty="0">
                <a:solidFill>
                  <a:srgbClr val="44535A"/>
                </a:solidFill>
                <a:latin typeface="Manrope" pitchFamily="34" charset="0"/>
                <a:ea typeface="Manrope" pitchFamily="34" charset="-122"/>
                <a:cs typeface="Manrope" pitchFamily="34" charset="-120"/>
              </a:rPr>
              <a:t>Binding and validation answered </a:t>
            </a:r>
            <a:pPr algn="l" indent="0" marL="0">
              <a:lnSpc>
                <a:spcPts val="1889"/>
              </a:lnSpc>
              <a:buNone/>
            </a:pPr>
            <a:r>
              <a:rPr lang="en-US" sz="1260" i="1" dirty="0">
                <a:solidFill>
                  <a:srgbClr val="44535A"/>
                </a:solidFill>
                <a:latin typeface="Manrope" pitchFamily="34" charset="0"/>
                <a:ea typeface="Manrope" pitchFamily="34" charset="-122"/>
                <a:cs typeface="Manrope" pitchFamily="34" charset="-120"/>
              </a:rPr>
              <a:t>is it there, and is it valid</a:t>
            </a:r>
            <a:pPr algn="l" indent="0" marL="0">
              <a:lnSpc>
                <a:spcPts val="1889"/>
              </a:lnSpc>
              <a:buNone/>
            </a:pPr>
            <a:r>
              <a:rPr lang="en-US" sz="1260" dirty="0">
                <a:solidFill>
                  <a:srgbClr val="44535A"/>
                </a:solidFill>
                <a:latin typeface="Manrope" pitchFamily="34" charset="0"/>
                <a:ea typeface="Manrope" pitchFamily="34" charset="-122"/>
                <a:cs typeface="Manrope" pitchFamily="34" charset="-120"/>
              </a:rPr>
              <a:t>. Lifetime answers </a:t>
            </a:r>
            <a:pPr algn="l" indent="0" marL="0">
              <a:lnSpc>
                <a:spcPts val="1889"/>
              </a:lnSpc>
              <a:buNone/>
            </a:pPr>
            <a:r>
              <a:rPr lang="en-US" sz="1260" i="1" dirty="0">
                <a:solidFill>
                  <a:srgbClr val="44535A"/>
                </a:solidFill>
                <a:latin typeface="Manrope" pitchFamily="34" charset="0"/>
                <a:ea typeface="Manrope" pitchFamily="34" charset="-122"/>
                <a:cs typeface="Manrope" pitchFamily="34" charset="-120"/>
              </a:rPr>
              <a:t>and does it still hold five minutes from now</a:t>
            </a:r>
            <a:pPr algn="l" indent="0" marL="0">
              <a:lnSpc>
                <a:spcPts val="1889"/>
              </a:lnSpc>
              <a:buNone/>
            </a:pPr>
            <a:r>
              <a:rPr lang="en-US" sz="1260" dirty="0">
                <a:solidFill>
                  <a:srgbClr val="44535A"/>
                </a:solidFill>
                <a:latin typeface="Manrope" pitchFamily="34" charset="0"/>
                <a:ea typeface="Manrope" pitchFamily="34" charset="-122"/>
                <a:cs typeface="Manrope" pitchFamily="34" charset="-120"/>
              </a:rPr>
              <a:t>.</a:t>
            </a:r>
            <a:endParaRPr lang="en-US" sz="12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805440"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IOptions, IOptionsSnapshot, IOptionsMonitor</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2110234" cy="19050"/>
          </a:xfrm>
          <a:prstGeom prst="rect">
            <a:avLst/>
          </a:prstGeom>
          <a:solidFill>
            <a:srgbClr val="16303F"/>
          </a:solidFill>
          <a:ln/>
        </p:spPr>
      </p:sp>
      <p:sp>
        <p:nvSpPr>
          <p:cNvPr id="6" name="Shape 4"/>
          <p:cNvSpPr/>
          <p:nvPr/>
        </p:nvSpPr>
        <p:spPr>
          <a:xfrm>
            <a:off x="2567434" y="1377404"/>
            <a:ext cx="995511" cy="19050"/>
          </a:xfrm>
          <a:prstGeom prst="rect">
            <a:avLst/>
          </a:prstGeom>
          <a:solidFill>
            <a:srgbClr val="16303F"/>
          </a:solidFill>
          <a:ln/>
        </p:spPr>
      </p:sp>
      <p:sp>
        <p:nvSpPr>
          <p:cNvPr id="7" name="Text 5"/>
          <p:cNvSpPr txBox="1"/>
          <p:nvPr/>
        </p:nvSpPr>
        <p:spPr>
          <a:xfrm>
            <a:off x="2673995" y="1163092"/>
            <a:ext cx="64427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LIFETIME</a:t>
            </a:r>
            <a:endParaRPr lang="en-US" sz="816" dirty="0"/>
          </a:p>
        </p:txBody>
      </p:sp>
      <p:sp>
        <p:nvSpPr>
          <p:cNvPr id="8" name="Shape 6"/>
          <p:cNvSpPr/>
          <p:nvPr/>
        </p:nvSpPr>
        <p:spPr>
          <a:xfrm>
            <a:off x="3562945" y="1377404"/>
            <a:ext cx="2192238" cy="19050"/>
          </a:xfrm>
          <a:prstGeom prst="rect">
            <a:avLst/>
          </a:prstGeom>
          <a:solidFill>
            <a:srgbClr val="16303F"/>
          </a:solidFill>
          <a:ln/>
        </p:spPr>
      </p:sp>
      <p:sp>
        <p:nvSpPr>
          <p:cNvPr id="9" name="Text 7"/>
          <p:cNvSpPr txBox="1"/>
          <p:nvPr/>
        </p:nvSpPr>
        <p:spPr>
          <a:xfrm>
            <a:off x="3669506" y="1163092"/>
            <a:ext cx="127158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RE-READS CONFIG?</a:t>
            </a:r>
            <a:endParaRPr lang="en-US" sz="816" dirty="0"/>
          </a:p>
        </p:txBody>
      </p:sp>
      <p:sp>
        <p:nvSpPr>
          <p:cNvPr id="10" name="Shape 8"/>
          <p:cNvSpPr/>
          <p:nvPr/>
        </p:nvSpPr>
        <p:spPr>
          <a:xfrm>
            <a:off x="5755184" y="1377404"/>
            <a:ext cx="3122116" cy="19050"/>
          </a:xfrm>
          <a:prstGeom prst="rect">
            <a:avLst/>
          </a:prstGeom>
          <a:solidFill>
            <a:srgbClr val="16303F"/>
          </a:solidFill>
          <a:ln/>
        </p:spPr>
      </p:sp>
      <p:sp>
        <p:nvSpPr>
          <p:cNvPr id="11" name="Text 9"/>
          <p:cNvSpPr txBox="1"/>
          <p:nvPr/>
        </p:nvSpPr>
        <p:spPr>
          <a:xfrm>
            <a:off x="5861745" y="1163092"/>
            <a:ext cx="736104"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USE WHEN</a:t>
            </a:r>
            <a:endParaRPr lang="en-US" sz="816" dirty="0"/>
          </a:p>
        </p:txBody>
      </p:sp>
      <p:sp>
        <p:nvSpPr>
          <p:cNvPr id="12" name="Shape 10"/>
          <p:cNvSpPr/>
          <p:nvPr/>
        </p:nvSpPr>
        <p:spPr>
          <a:xfrm>
            <a:off x="457200" y="1733252"/>
            <a:ext cx="8420100" cy="9525"/>
          </a:xfrm>
          <a:prstGeom prst="rect">
            <a:avLst/>
          </a:prstGeom>
          <a:solidFill>
            <a:srgbClr val="9CA3AF">
              <a:alpha val="20000"/>
            </a:srgbClr>
          </a:solidFill>
          <a:ln/>
        </p:spPr>
      </p:sp>
      <p:sp>
        <p:nvSpPr>
          <p:cNvPr id="13" name="Shape 11"/>
          <p:cNvSpPr/>
          <p:nvPr/>
        </p:nvSpPr>
        <p:spPr>
          <a:xfrm>
            <a:off x="457200" y="1733252"/>
            <a:ext cx="2110234" cy="9525"/>
          </a:xfrm>
          <a:prstGeom prst="rect">
            <a:avLst/>
          </a:prstGeom>
          <a:solidFill>
            <a:srgbClr val="DDD9D2"/>
          </a:solidFill>
          <a:ln/>
        </p:spPr>
      </p:sp>
      <p:sp>
        <p:nvSpPr>
          <p:cNvPr id="14" name="Shape 12"/>
          <p:cNvSpPr/>
          <p:nvPr/>
        </p:nvSpPr>
        <p:spPr>
          <a:xfrm>
            <a:off x="563761" y="1488728"/>
            <a:ext cx="902940" cy="181570"/>
          </a:xfrm>
          <a:prstGeom prst="roundRect">
            <a:avLst>
              <a:gd name="adj" fmla="val 20984"/>
            </a:avLst>
          </a:prstGeom>
          <a:solidFill>
            <a:srgbClr val="16303F">
              <a:alpha val="7000"/>
            </a:srgbClr>
          </a:solidFill>
          <a:ln/>
        </p:spPr>
      </p:sp>
      <p:sp>
        <p:nvSpPr>
          <p:cNvPr id="15" name="Text 13"/>
          <p:cNvSpPr txBox="1"/>
          <p:nvPr/>
        </p:nvSpPr>
        <p:spPr>
          <a:xfrm>
            <a:off x="506611" y="1488728"/>
            <a:ext cx="1017240"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IOptions&lt;T&gt;</a:t>
            </a:r>
            <a:endParaRPr lang="en-US" sz="972" dirty="0"/>
          </a:p>
        </p:txBody>
      </p:sp>
      <p:sp>
        <p:nvSpPr>
          <p:cNvPr id="16" name="Shape 14"/>
          <p:cNvSpPr/>
          <p:nvPr/>
        </p:nvSpPr>
        <p:spPr>
          <a:xfrm>
            <a:off x="2567434" y="1733252"/>
            <a:ext cx="995511" cy="9525"/>
          </a:xfrm>
          <a:prstGeom prst="rect">
            <a:avLst/>
          </a:prstGeom>
          <a:solidFill>
            <a:srgbClr val="DDD9D2"/>
          </a:solidFill>
          <a:ln/>
        </p:spPr>
      </p:sp>
      <p:sp>
        <p:nvSpPr>
          <p:cNvPr id="17" name="Text 15"/>
          <p:cNvSpPr txBox="1"/>
          <p:nvPr/>
        </p:nvSpPr>
        <p:spPr>
          <a:xfrm>
            <a:off x="2673995" y="1479500"/>
            <a:ext cx="70708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Singleton</a:t>
            </a:r>
            <a:endParaRPr lang="en-US" sz="1056" dirty="0"/>
          </a:p>
        </p:txBody>
      </p:sp>
      <p:sp>
        <p:nvSpPr>
          <p:cNvPr id="18" name="Shape 16"/>
          <p:cNvSpPr/>
          <p:nvPr/>
        </p:nvSpPr>
        <p:spPr>
          <a:xfrm>
            <a:off x="3562945" y="1733252"/>
            <a:ext cx="2192238" cy="9525"/>
          </a:xfrm>
          <a:prstGeom prst="rect">
            <a:avLst/>
          </a:prstGeom>
          <a:solidFill>
            <a:srgbClr val="DDD9D2"/>
          </a:solidFill>
          <a:ln/>
        </p:spPr>
      </p:sp>
      <p:sp>
        <p:nvSpPr>
          <p:cNvPr id="19" name="Text 17"/>
          <p:cNvSpPr txBox="1"/>
          <p:nvPr/>
        </p:nvSpPr>
        <p:spPr>
          <a:xfrm>
            <a:off x="3669506" y="1479500"/>
            <a:ext cx="167565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No — bound once, forever</a:t>
            </a:r>
            <a:endParaRPr lang="en-US" sz="1056" dirty="0"/>
          </a:p>
        </p:txBody>
      </p:sp>
      <p:sp>
        <p:nvSpPr>
          <p:cNvPr id="20" name="Shape 18"/>
          <p:cNvSpPr/>
          <p:nvPr/>
        </p:nvSpPr>
        <p:spPr>
          <a:xfrm>
            <a:off x="5755184" y="1733252"/>
            <a:ext cx="3122116" cy="9525"/>
          </a:xfrm>
          <a:prstGeom prst="rect">
            <a:avLst/>
          </a:prstGeom>
          <a:solidFill>
            <a:srgbClr val="DDD9D2"/>
          </a:solidFill>
          <a:ln/>
        </p:spPr>
      </p:sp>
      <p:sp>
        <p:nvSpPr>
          <p:cNvPr id="21" name="Text 19"/>
          <p:cNvSpPr txBox="1"/>
          <p:nvPr/>
        </p:nvSpPr>
        <p:spPr>
          <a:xfrm>
            <a:off x="5861745" y="1479500"/>
            <a:ext cx="219893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The value can’t change at runtime</a:t>
            </a:r>
            <a:endParaRPr lang="en-US" sz="1056" dirty="0"/>
          </a:p>
        </p:txBody>
      </p:sp>
      <p:sp>
        <p:nvSpPr>
          <p:cNvPr id="22" name="Shape 20"/>
          <p:cNvSpPr/>
          <p:nvPr/>
        </p:nvSpPr>
        <p:spPr>
          <a:xfrm>
            <a:off x="457200" y="1742777"/>
            <a:ext cx="8420100" cy="341561"/>
          </a:xfrm>
          <a:prstGeom prst="rect">
            <a:avLst/>
          </a:prstGeom>
          <a:solidFill>
            <a:srgbClr val="16303F">
              <a:alpha val="3000"/>
            </a:srgbClr>
          </a:solidFill>
          <a:ln/>
        </p:spPr>
      </p:sp>
      <p:sp>
        <p:nvSpPr>
          <p:cNvPr id="23" name="Shape 21"/>
          <p:cNvSpPr/>
          <p:nvPr/>
        </p:nvSpPr>
        <p:spPr>
          <a:xfrm>
            <a:off x="457200" y="2074813"/>
            <a:ext cx="8420100" cy="9525"/>
          </a:xfrm>
          <a:prstGeom prst="rect">
            <a:avLst/>
          </a:prstGeom>
          <a:solidFill>
            <a:srgbClr val="9CA3AF">
              <a:alpha val="20000"/>
            </a:srgbClr>
          </a:solidFill>
          <a:ln/>
        </p:spPr>
      </p:sp>
      <p:sp>
        <p:nvSpPr>
          <p:cNvPr id="24" name="Shape 22"/>
          <p:cNvSpPr/>
          <p:nvPr/>
        </p:nvSpPr>
        <p:spPr>
          <a:xfrm>
            <a:off x="457200" y="2074813"/>
            <a:ext cx="2110234" cy="9525"/>
          </a:xfrm>
          <a:prstGeom prst="rect">
            <a:avLst/>
          </a:prstGeom>
          <a:solidFill>
            <a:srgbClr val="DDD9D2"/>
          </a:solidFill>
          <a:ln/>
        </p:spPr>
      </p:sp>
      <p:sp>
        <p:nvSpPr>
          <p:cNvPr id="25" name="Shape 23"/>
          <p:cNvSpPr/>
          <p:nvPr/>
        </p:nvSpPr>
        <p:spPr>
          <a:xfrm>
            <a:off x="563761" y="1830288"/>
            <a:ext cx="1494979" cy="181570"/>
          </a:xfrm>
          <a:prstGeom prst="roundRect">
            <a:avLst>
              <a:gd name="adj" fmla="val 20984"/>
            </a:avLst>
          </a:prstGeom>
          <a:solidFill>
            <a:srgbClr val="16303F">
              <a:alpha val="7000"/>
            </a:srgbClr>
          </a:solidFill>
          <a:ln/>
        </p:spPr>
      </p:sp>
      <p:sp>
        <p:nvSpPr>
          <p:cNvPr id="26" name="Text 24"/>
          <p:cNvSpPr txBox="1"/>
          <p:nvPr/>
        </p:nvSpPr>
        <p:spPr>
          <a:xfrm>
            <a:off x="506611" y="1830288"/>
            <a:ext cx="160927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IOptionsSnapshot&lt;T&gt;</a:t>
            </a:r>
            <a:endParaRPr lang="en-US" sz="972" dirty="0"/>
          </a:p>
        </p:txBody>
      </p:sp>
      <p:sp>
        <p:nvSpPr>
          <p:cNvPr id="27" name="Shape 25"/>
          <p:cNvSpPr/>
          <p:nvPr/>
        </p:nvSpPr>
        <p:spPr>
          <a:xfrm>
            <a:off x="2567434" y="2074813"/>
            <a:ext cx="995511" cy="9525"/>
          </a:xfrm>
          <a:prstGeom prst="rect">
            <a:avLst/>
          </a:prstGeom>
          <a:solidFill>
            <a:srgbClr val="DDD9D2"/>
          </a:solidFill>
          <a:ln/>
        </p:spPr>
      </p:sp>
      <p:sp>
        <p:nvSpPr>
          <p:cNvPr id="28" name="Text 26"/>
          <p:cNvSpPr txBox="1"/>
          <p:nvPr/>
        </p:nvSpPr>
        <p:spPr>
          <a:xfrm>
            <a:off x="2673995" y="1821061"/>
            <a:ext cx="613618"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Scoped</a:t>
            </a:r>
            <a:endParaRPr lang="en-US" sz="1056" dirty="0"/>
          </a:p>
        </p:txBody>
      </p:sp>
      <p:sp>
        <p:nvSpPr>
          <p:cNvPr id="29" name="Shape 27"/>
          <p:cNvSpPr/>
          <p:nvPr/>
        </p:nvSpPr>
        <p:spPr>
          <a:xfrm>
            <a:off x="3562945" y="2074813"/>
            <a:ext cx="2192238" cy="9525"/>
          </a:xfrm>
          <a:prstGeom prst="rect">
            <a:avLst/>
          </a:prstGeom>
          <a:solidFill>
            <a:srgbClr val="DDD9D2"/>
          </a:solidFill>
          <a:ln/>
        </p:spPr>
      </p:sp>
      <p:sp>
        <p:nvSpPr>
          <p:cNvPr id="30" name="Text 28"/>
          <p:cNvSpPr txBox="1"/>
          <p:nvPr/>
        </p:nvSpPr>
        <p:spPr>
          <a:xfrm>
            <a:off x="3669506" y="1821061"/>
            <a:ext cx="1188095"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Once per request</a:t>
            </a:r>
            <a:endParaRPr lang="en-US" sz="1056" dirty="0"/>
          </a:p>
        </p:txBody>
      </p:sp>
      <p:sp>
        <p:nvSpPr>
          <p:cNvPr id="31" name="Shape 29"/>
          <p:cNvSpPr/>
          <p:nvPr/>
        </p:nvSpPr>
        <p:spPr>
          <a:xfrm>
            <a:off x="5755184" y="2074813"/>
            <a:ext cx="3122116" cy="9525"/>
          </a:xfrm>
          <a:prstGeom prst="rect">
            <a:avLst/>
          </a:prstGeom>
          <a:solidFill>
            <a:srgbClr val="DDD9D2"/>
          </a:solidFill>
          <a:ln/>
        </p:spPr>
      </p:sp>
      <p:sp>
        <p:nvSpPr>
          <p:cNvPr id="32" name="Text 30"/>
          <p:cNvSpPr txBox="1"/>
          <p:nvPr/>
        </p:nvSpPr>
        <p:spPr>
          <a:xfrm>
            <a:off x="5861745" y="1821061"/>
            <a:ext cx="242813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Per-request consistency in a web app</a:t>
            </a:r>
            <a:endParaRPr lang="en-US" sz="1056" dirty="0"/>
          </a:p>
        </p:txBody>
      </p:sp>
      <p:sp>
        <p:nvSpPr>
          <p:cNvPr id="33" name="Shape 31"/>
          <p:cNvSpPr/>
          <p:nvPr/>
        </p:nvSpPr>
        <p:spPr>
          <a:xfrm>
            <a:off x="457200" y="2416373"/>
            <a:ext cx="8420100" cy="9525"/>
          </a:xfrm>
          <a:prstGeom prst="rect">
            <a:avLst/>
          </a:prstGeom>
          <a:solidFill>
            <a:srgbClr val="9CA3AF">
              <a:alpha val="20000"/>
            </a:srgbClr>
          </a:solidFill>
          <a:ln/>
        </p:spPr>
      </p:sp>
      <p:sp>
        <p:nvSpPr>
          <p:cNvPr id="34" name="Shape 32"/>
          <p:cNvSpPr/>
          <p:nvPr/>
        </p:nvSpPr>
        <p:spPr>
          <a:xfrm>
            <a:off x="457200" y="2416373"/>
            <a:ext cx="2110234" cy="9525"/>
          </a:xfrm>
          <a:prstGeom prst="rect">
            <a:avLst/>
          </a:prstGeom>
          <a:solidFill>
            <a:srgbClr val="DDD9D2"/>
          </a:solidFill>
          <a:ln/>
        </p:spPr>
      </p:sp>
      <p:sp>
        <p:nvSpPr>
          <p:cNvPr id="35" name="Shape 33"/>
          <p:cNvSpPr/>
          <p:nvPr/>
        </p:nvSpPr>
        <p:spPr>
          <a:xfrm>
            <a:off x="563761" y="2171849"/>
            <a:ext cx="1421011" cy="181570"/>
          </a:xfrm>
          <a:prstGeom prst="roundRect">
            <a:avLst>
              <a:gd name="adj" fmla="val 20984"/>
            </a:avLst>
          </a:prstGeom>
          <a:solidFill>
            <a:srgbClr val="16303F">
              <a:alpha val="7000"/>
            </a:srgbClr>
          </a:solidFill>
          <a:ln/>
        </p:spPr>
      </p:sp>
      <p:sp>
        <p:nvSpPr>
          <p:cNvPr id="36" name="Text 34"/>
          <p:cNvSpPr txBox="1"/>
          <p:nvPr/>
        </p:nvSpPr>
        <p:spPr>
          <a:xfrm>
            <a:off x="506611" y="2171849"/>
            <a:ext cx="1535311"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IOptionsMonitor&lt;T&gt;</a:t>
            </a:r>
            <a:endParaRPr lang="en-US" sz="972" dirty="0"/>
          </a:p>
        </p:txBody>
      </p:sp>
      <p:sp>
        <p:nvSpPr>
          <p:cNvPr id="37" name="Shape 35"/>
          <p:cNvSpPr/>
          <p:nvPr/>
        </p:nvSpPr>
        <p:spPr>
          <a:xfrm>
            <a:off x="2567434" y="2416373"/>
            <a:ext cx="995511" cy="9525"/>
          </a:xfrm>
          <a:prstGeom prst="rect">
            <a:avLst/>
          </a:prstGeom>
          <a:solidFill>
            <a:srgbClr val="DDD9D2"/>
          </a:solidFill>
          <a:ln/>
        </p:spPr>
      </p:sp>
      <p:sp>
        <p:nvSpPr>
          <p:cNvPr id="38" name="Text 36"/>
          <p:cNvSpPr txBox="1"/>
          <p:nvPr/>
        </p:nvSpPr>
        <p:spPr>
          <a:xfrm>
            <a:off x="2673995" y="2162621"/>
            <a:ext cx="70708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Singleton</a:t>
            </a:r>
            <a:endParaRPr lang="en-US" sz="1056" dirty="0"/>
          </a:p>
        </p:txBody>
      </p:sp>
      <p:sp>
        <p:nvSpPr>
          <p:cNvPr id="39" name="Shape 37"/>
          <p:cNvSpPr/>
          <p:nvPr/>
        </p:nvSpPr>
        <p:spPr>
          <a:xfrm>
            <a:off x="3562945" y="2416373"/>
            <a:ext cx="2192238" cy="9525"/>
          </a:xfrm>
          <a:prstGeom prst="rect">
            <a:avLst/>
          </a:prstGeom>
          <a:solidFill>
            <a:srgbClr val="DDD9D2"/>
          </a:solidFill>
          <a:ln/>
        </p:spPr>
      </p:sp>
      <p:sp>
        <p:nvSpPr>
          <p:cNvPr id="40" name="Shape 38"/>
          <p:cNvSpPr/>
          <p:nvPr/>
        </p:nvSpPr>
        <p:spPr>
          <a:xfrm>
            <a:off x="4239071" y="2171849"/>
            <a:ext cx="680889" cy="181570"/>
          </a:xfrm>
          <a:prstGeom prst="roundRect">
            <a:avLst>
              <a:gd name="adj" fmla="val 20984"/>
            </a:avLst>
          </a:prstGeom>
          <a:solidFill>
            <a:srgbClr val="16303F">
              <a:alpha val="7000"/>
            </a:srgbClr>
          </a:solidFill>
          <a:ln/>
        </p:spPr>
      </p:sp>
      <p:sp>
        <p:nvSpPr>
          <p:cNvPr id="41" name="Text 39"/>
          <p:cNvSpPr txBox="1"/>
          <p:nvPr/>
        </p:nvSpPr>
        <p:spPr>
          <a:xfrm>
            <a:off x="3669506" y="2162621"/>
            <a:ext cx="132040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 with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OnChange</a:t>
            </a:r>
            <a:endParaRPr lang="en-US" sz="1056" dirty="0"/>
          </a:p>
        </p:txBody>
      </p:sp>
      <p:sp>
        <p:nvSpPr>
          <p:cNvPr id="42" name="Shape 40"/>
          <p:cNvSpPr/>
          <p:nvPr/>
        </p:nvSpPr>
        <p:spPr>
          <a:xfrm>
            <a:off x="5755184" y="2416373"/>
            <a:ext cx="3122116" cy="9525"/>
          </a:xfrm>
          <a:prstGeom prst="rect">
            <a:avLst/>
          </a:prstGeom>
          <a:solidFill>
            <a:srgbClr val="DDD9D2"/>
          </a:solidFill>
          <a:ln/>
        </p:spPr>
      </p:sp>
      <p:sp>
        <p:nvSpPr>
          <p:cNvPr id="43" name="Text 41"/>
          <p:cNvSpPr txBox="1"/>
          <p:nvPr/>
        </p:nvSpPr>
        <p:spPr>
          <a:xfrm>
            <a:off x="5861745" y="2162621"/>
            <a:ext cx="234746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Singletons and background services</a:t>
            </a:r>
            <a:endParaRPr lang="en-US" sz="1056" dirty="0"/>
          </a:p>
        </p:txBody>
      </p:sp>
      <p:sp>
        <p:nvSpPr>
          <p:cNvPr id="44" name="Shape 42"/>
          <p:cNvSpPr/>
          <p:nvPr/>
        </p:nvSpPr>
        <p:spPr>
          <a:xfrm>
            <a:off x="8330208" y="228600"/>
            <a:ext cx="714821" cy="228451"/>
          </a:xfrm>
          <a:prstGeom prst="roundRect">
            <a:avLst>
              <a:gd name="adj" fmla="val 16678"/>
            </a:avLst>
          </a:prstGeom>
          <a:solidFill>
            <a:srgbClr val="16303F"/>
          </a:solidFill>
          <a:ln/>
        </p:spPr>
      </p:sp>
      <p:sp>
        <p:nvSpPr>
          <p:cNvPr id="45" name="Text 43"/>
          <p:cNvSpPr txBox="1"/>
          <p:nvPr/>
        </p:nvSpPr>
        <p:spPr>
          <a:xfrm>
            <a:off x="8424565" y="274290"/>
            <a:ext cx="640407"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LIFETIME</a:t>
            </a:r>
            <a:endParaRPr lang="en-US" sz="7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288310" cy="419100"/>
          </a:xfrm>
          <a:prstGeom prst="rect">
            <a:avLst/>
          </a:prstGeom>
          <a:noFill/>
          <a:ln/>
        </p:spPr>
        <p:txBody>
          <a:bodyPr wrap="none" lIns="0" tIns="0" rIns="0" bIns="0" rtlCol="0" anchor="t"/>
          <a:lstStyle/>
          <a:p>
            <a:pPr algn="l" indent="0" marL="0">
              <a:buNone/>
            </a:pPr>
            <a:r>
              <a:rPr lang="en-US" sz="2400" b="1" spc="-48" kern="0" dirty="0">
                <a:solidFill>
                  <a:srgbClr val="16303F"/>
                </a:solidFill>
                <a:latin typeface="Manrope" pitchFamily="34" charset="0"/>
                <a:ea typeface="Manrope" pitchFamily="34" charset="-122"/>
                <a:cs typeface="Manrope" pitchFamily="34" charset="-120"/>
              </a:rPr>
              <a:t>Same three interfaces. One file edit.</a:t>
            </a:r>
            <a:endParaRPr lang="en-US" sz="2400" dirty="0"/>
          </a:p>
        </p:txBody>
      </p:sp>
      <p:sp>
        <p:nvSpPr>
          <p:cNvPr id="4" name="Shape 2"/>
          <p:cNvSpPr/>
          <p:nvPr/>
        </p:nvSpPr>
        <p:spPr>
          <a:xfrm>
            <a:off x="304800" y="1058912"/>
            <a:ext cx="8724900" cy="881063"/>
          </a:xfrm>
          <a:prstGeom prst="roundRect">
            <a:avLst>
              <a:gd name="adj" fmla="val 4324"/>
            </a:avLst>
          </a:prstGeom>
          <a:solidFill>
            <a:srgbClr val="011627"/>
          </a:solidFill>
          <a:ln/>
        </p:spPr>
      </p:sp>
      <p:sp>
        <p:nvSpPr>
          <p:cNvPr id="5" name="Text 3"/>
          <p:cNvSpPr txBox="1"/>
          <p:nvPr/>
        </p:nvSpPr>
        <p:spPr>
          <a:xfrm>
            <a:off x="381000" y="1144637"/>
            <a:ext cx="8591550" cy="695325"/>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IOptions&lt;T&gt;          30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IOptionsSnapshot&lt;T&gt;  30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IOptionsMonitor&lt;T&gt;   30</a:t>
            </a:r>
            <a:endParaRPr lang="en-US" sz="1275" dirty="0"/>
          </a:p>
        </p:txBody>
      </p:sp>
      <p:sp>
        <p:nvSpPr>
          <p:cNvPr id="6" name="Shape 4"/>
          <p:cNvSpPr/>
          <p:nvPr/>
        </p:nvSpPr>
        <p:spPr>
          <a:xfrm>
            <a:off x="629394" y="2262485"/>
            <a:ext cx="1409998" cy="202704"/>
          </a:xfrm>
          <a:prstGeom prst="roundRect">
            <a:avLst>
              <a:gd name="adj" fmla="val 18796"/>
            </a:avLst>
          </a:prstGeom>
          <a:solidFill>
            <a:srgbClr val="16303F">
              <a:alpha val="7000"/>
            </a:srgbClr>
          </a:solidFill>
          <a:ln/>
        </p:spPr>
      </p:sp>
      <p:sp>
        <p:nvSpPr>
          <p:cNvPr id="7" name="Text 5"/>
          <p:cNvSpPr txBox="1"/>
          <p:nvPr/>
        </p:nvSpPr>
        <p:spPr>
          <a:xfrm>
            <a:off x="304800" y="2254300"/>
            <a:ext cx="4920109" cy="209550"/>
          </a:xfrm>
          <a:prstGeom prst="rect">
            <a:avLst/>
          </a:prstGeom>
          <a:noFill/>
          <a:ln/>
        </p:spPr>
        <p:txBody>
          <a:bodyPr wrap="none" lIns="0" tIns="0" rIns="0" bIns="0" rtlCol="0" anchor="t"/>
          <a:lstStyle/>
          <a:p>
            <a:pPr algn="l" indent="0" marL="0">
              <a:buNone/>
            </a:pPr>
            <a:r>
              <a:rPr lang="en-US" sz="1200" i="1" dirty="0">
                <a:solidFill>
                  <a:srgbClr val="44535A"/>
                </a:solidFill>
                <a:latin typeface="Manrope" pitchFamily="34" charset="0"/>
                <a:ea typeface="Manrope" pitchFamily="34" charset="-122"/>
                <a:cs typeface="Manrope" pitchFamily="34" charset="-120"/>
              </a:rPr>
              <a:t>now </a:t>
            </a:r>
            <a:pPr algn="l" indent="0" marL="0">
              <a:buNone/>
            </a:pPr>
            <a:r>
              <a:rPr lang="en-US" sz="1080" i="1" dirty="0">
                <a:solidFill>
                  <a:srgbClr val="44535A"/>
                </a:solidFill>
                <a:latin typeface="JetBrains Mono" pitchFamily="34" charset="0"/>
                <a:ea typeface="JetBrains Mono" pitchFamily="34" charset="-122"/>
                <a:cs typeface="JetBrains Mono" pitchFamily="34" charset="-120"/>
              </a:rPr>
              <a:t>appsettings.json</a:t>
            </a:r>
            <a:pPr algn="l" indent="0" marL="0">
              <a:buNone/>
            </a:pPr>
            <a:r>
              <a:rPr lang="en-US" sz="1200" i="1" dirty="0">
                <a:solidFill>
                  <a:srgbClr val="44535A"/>
                </a:solidFill>
                <a:latin typeface="Manrope" pitchFamily="34" charset="0"/>
                <a:ea typeface="Manrope" pitchFamily="34" charset="-122"/>
                <a:cs typeface="Manrope" pitchFamily="34" charset="-120"/>
              </a:rPr>
              <a:t> changes to 90 underneath the running app.</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288310" cy="419100"/>
          </a:xfrm>
          <a:prstGeom prst="rect">
            <a:avLst/>
          </a:prstGeom>
          <a:noFill/>
          <a:ln/>
        </p:spPr>
        <p:txBody>
          <a:bodyPr wrap="none" lIns="0" tIns="0" rIns="0" bIns="0" rtlCol="0" anchor="t"/>
          <a:lstStyle/>
          <a:p>
            <a:pPr algn="l" indent="0" marL="0">
              <a:buNone/>
            </a:pPr>
            <a:r>
              <a:rPr lang="en-US" sz="2400" b="1" spc="-48" kern="0" dirty="0">
                <a:solidFill>
                  <a:srgbClr val="16303F"/>
                </a:solidFill>
                <a:latin typeface="Manrope" pitchFamily="34" charset="0"/>
                <a:ea typeface="Manrope" pitchFamily="34" charset="-122"/>
                <a:cs typeface="Manrope" pitchFamily="34" charset="-120"/>
              </a:rPr>
              <a:t>Same three interfaces. One file edit.</a:t>
            </a:r>
            <a:endParaRPr lang="en-US" sz="2400" dirty="0"/>
          </a:p>
        </p:txBody>
      </p:sp>
      <p:sp>
        <p:nvSpPr>
          <p:cNvPr id="4" name="Shape 2"/>
          <p:cNvSpPr/>
          <p:nvPr/>
        </p:nvSpPr>
        <p:spPr>
          <a:xfrm>
            <a:off x="304800" y="1058912"/>
            <a:ext cx="8724900" cy="1123950"/>
          </a:xfrm>
          <a:prstGeom prst="roundRect">
            <a:avLst>
              <a:gd name="adj" fmla="val 3390"/>
            </a:avLst>
          </a:prstGeom>
          <a:solidFill>
            <a:srgbClr val="011627"/>
          </a:solidFill>
          <a:ln/>
        </p:spPr>
      </p:sp>
      <p:sp>
        <p:nvSpPr>
          <p:cNvPr id="5" name="Text 3"/>
          <p:cNvSpPr txBox="1"/>
          <p:nvPr/>
        </p:nvSpPr>
        <p:spPr>
          <a:xfrm>
            <a:off x="381000" y="1144637"/>
            <a:ext cx="8591550" cy="93821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same request      next request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IOptions&lt;T&gt;          30        30                30      &lt;- never moves</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IOptionsSnapshot&lt;T&gt;  30        30                90      &lt;- new scope only</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IOptionsMonitor&lt;T&gt;   30        90                90      &lt;- immediately</a:t>
            </a:r>
            <a:endParaRPr lang="en-US" sz="1275" dirty="0"/>
          </a:p>
        </p:txBody>
      </p:sp>
      <p:sp>
        <p:nvSpPr>
          <p:cNvPr id="6" name="Text 4"/>
          <p:cNvSpPr txBox="1"/>
          <p:nvPr/>
        </p:nvSpPr>
        <p:spPr>
          <a:xfrm>
            <a:off x="304800" y="2497187"/>
            <a:ext cx="87439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middle column matters: a snapshot already resolved in the current request stays at 30. It is scoped, so it only picks up the change in a </a:t>
            </a:r>
            <a:pPr algn="l" indent="0" marL="0">
              <a:lnSpc>
                <a:spcPts val="1800"/>
              </a:lnSpc>
              <a:buNone/>
            </a:pPr>
            <a:r>
              <a:rPr lang="en-US" sz="1200" b="1" dirty="0">
                <a:solidFill>
                  <a:srgbClr val="44535A"/>
                </a:solidFill>
                <a:latin typeface="Manrope" pitchFamily="34" charset="0"/>
                <a:ea typeface="Manrope" pitchFamily="34" charset="-122"/>
                <a:cs typeface="Manrope" pitchFamily="34" charset="-120"/>
              </a:rPr>
              <a:t>new scope</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normally the next request.</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806130"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What actually reloads</a:t>
            </a:r>
            <a:endParaRPr lang="en-US" sz="2820" dirty="0"/>
          </a:p>
        </p:txBody>
      </p:sp>
      <p:sp>
        <p:nvSpPr>
          <p:cNvPr id="4" name="Shape 2"/>
          <p:cNvSpPr/>
          <p:nvPr/>
        </p:nvSpPr>
        <p:spPr>
          <a:xfrm>
            <a:off x="457200" y="1341388"/>
            <a:ext cx="8420100" cy="9525"/>
          </a:xfrm>
          <a:prstGeom prst="rect">
            <a:avLst/>
          </a:prstGeom>
          <a:solidFill>
            <a:srgbClr val="9CA3AF">
              <a:alpha val="20000"/>
            </a:srgbClr>
          </a:solidFill>
          <a:ln/>
        </p:spPr>
      </p:sp>
      <p:sp>
        <p:nvSpPr>
          <p:cNvPr id="5" name="Shape 3"/>
          <p:cNvSpPr/>
          <p:nvPr/>
        </p:nvSpPr>
        <p:spPr>
          <a:xfrm>
            <a:off x="457200" y="1331863"/>
            <a:ext cx="2413397" cy="19050"/>
          </a:xfrm>
          <a:prstGeom prst="rect">
            <a:avLst/>
          </a:prstGeom>
          <a:solidFill>
            <a:srgbClr val="16303F"/>
          </a:solidFill>
          <a:ln/>
        </p:spPr>
      </p:sp>
      <p:sp>
        <p:nvSpPr>
          <p:cNvPr id="6" name="Text 4"/>
          <p:cNvSpPr txBox="1"/>
          <p:nvPr/>
        </p:nvSpPr>
        <p:spPr>
          <a:xfrm>
            <a:off x="563761" y="1140321"/>
            <a:ext cx="60468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SOURCE</a:t>
            </a:r>
            <a:endParaRPr lang="en-US" sz="816" dirty="0"/>
          </a:p>
        </p:txBody>
      </p:sp>
      <p:sp>
        <p:nvSpPr>
          <p:cNvPr id="7" name="Shape 5"/>
          <p:cNvSpPr/>
          <p:nvPr/>
        </p:nvSpPr>
        <p:spPr>
          <a:xfrm>
            <a:off x="2870597" y="1331863"/>
            <a:ext cx="3829943" cy="19050"/>
          </a:xfrm>
          <a:prstGeom prst="rect">
            <a:avLst/>
          </a:prstGeom>
          <a:solidFill>
            <a:srgbClr val="16303F"/>
          </a:solidFill>
          <a:ln/>
        </p:spPr>
      </p:sp>
      <p:sp>
        <p:nvSpPr>
          <p:cNvPr id="8" name="Text 6"/>
          <p:cNvSpPr txBox="1"/>
          <p:nvPr/>
        </p:nvSpPr>
        <p:spPr>
          <a:xfrm>
            <a:off x="2977158" y="1140321"/>
            <a:ext cx="73059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RELOADS?</a:t>
            </a:r>
            <a:endParaRPr lang="en-US" sz="816" dirty="0"/>
          </a:p>
        </p:txBody>
      </p:sp>
      <p:sp>
        <p:nvSpPr>
          <p:cNvPr id="9" name="Shape 7"/>
          <p:cNvSpPr/>
          <p:nvPr/>
        </p:nvSpPr>
        <p:spPr>
          <a:xfrm>
            <a:off x="6700540" y="1331863"/>
            <a:ext cx="2176760" cy="19050"/>
          </a:xfrm>
          <a:prstGeom prst="rect">
            <a:avLst/>
          </a:prstGeom>
          <a:solidFill>
            <a:srgbClr val="16303F"/>
          </a:solidFill>
          <a:ln/>
        </p:spPr>
      </p:sp>
      <p:sp>
        <p:nvSpPr>
          <p:cNvPr id="10" name="Text 8"/>
          <p:cNvSpPr txBox="1"/>
          <p:nvPr/>
        </p:nvSpPr>
        <p:spPr>
          <a:xfrm>
            <a:off x="6807101" y="1140321"/>
            <a:ext cx="39945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HOW</a:t>
            </a:r>
            <a:endParaRPr lang="en-US" sz="816" dirty="0"/>
          </a:p>
        </p:txBody>
      </p:sp>
      <p:sp>
        <p:nvSpPr>
          <p:cNvPr id="11" name="Shape 9"/>
          <p:cNvSpPr/>
          <p:nvPr/>
        </p:nvSpPr>
        <p:spPr>
          <a:xfrm>
            <a:off x="457200" y="1636365"/>
            <a:ext cx="8420100" cy="9525"/>
          </a:xfrm>
          <a:prstGeom prst="rect">
            <a:avLst/>
          </a:prstGeom>
          <a:solidFill>
            <a:srgbClr val="9CA3AF">
              <a:alpha val="20000"/>
            </a:srgbClr>
          </a:solidFill>
          <a:ln/>
        </p:spPr>
      </p:sp>
      <p:sp>
        <p:nvSpPr>
          <p:cNvPr id="12" name="Shape 10"/>
          <p:cNvSpPr/>
          <p:nvPr/>
        </p:nvSpPr>
        <p:spPr>
          <a:xfrm>
            <a:off x="457200" y="1636365"/>
            <a:ext cx="2413397" cy="9525"/>
          </a:xfrm>
          <a:prstGeom prst="rect">
            <a:avLst/>
          </a:prstGeom>
          <a:solidFill>
            <a:srgbClr val="DDD9D2"/>
          </a:solidFill>
          <a:ln/>
        </p:spPr>
      </p:sp>
      <p:sp>
        <p:nvSpPr>
          <p:cNvPr id="13" name="Shape 11"/>
          <p:cNvSpPr/>
          <p:nvPr/>
        </p:nvSpPr>
        <p:spPr>
          <a:xfrm>
            <a:off x="563761" y="1412677"/>
            <a:ext cx="1285429" cy="180677"/>
          </a:xfrm>
          <a:prstGeom prst="roundRect">
            <a:avLst>
              <a:gd name="adj" fmla="val 21087"/>
            </a:avLst>
          </a:prstGeom>
          <a:solidFill>
            <a:srgbClr val="16303F">
              <a:alpha val="7000"/>
            </a:srgbClr>
          </a:solidFill>
          <a:ln/>
        </p:spPr>
      </p:sp>
      <p:sp>
        <p:nvSpPr>
          <p:cNvPr id="14" name="Text 12"/>
          <p:cNvSpPr txBox="1"/>
          <p:nvPr/>
        </p:nvSpPr>
        <p:spPr>
          <a:xfrm>
            <a:off x="506611" y="1412677"/>
            <a:ext cx="1399729"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appsettings*.json</a:t>
            </a:r>
            <a:endParaRPr lang="en-US" sz="927" dirty="0"/>
          </a:p>
        </p:txBody>
      </p:sp>
      <p:sp>
        <p:nvSpPr>
          <p:cNvPr id="15" name="Shape 13"/>
          <p:cNvSpPr/>
          <p:nvPr/>
        </p:nvSpPr>
        <p:spPr>
          <a:xfrm>
            <a:off x="2870597" y="1636365"/>
            <a:ext cx="3829943" cy="9525"/>
          </a:xfrm>
          <a:prstGeom prst="rect">
            <a:avLst/>
          </a:prstGeom>
          <a:solidFill>
            <a:srgbClr val="DDD9D2"/>
          </a:solidFill>
          <a:ln/>
        </p:spPr>
      </p:sp>
      <p:sp>
        <p:nvSpPr>
          <p:cNvPr id="16" name="Text 14"/>
          <p:cNvSpPr txBox="1"/>
          <p:nvPr/>
        </p:nvSpPr>
        <p:spPr>
          <a:xfrm>
            <a:off x="2977158" y="1412528"/>
            <a:ext cx="116964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Yes (host default)</a:t>
            </a:r>
            <a:endParaRPr lang="en-US" sz="1008" dirty="0"/>
          </a:p>
        </p:txBody>
      </p:sp>
      <p:sp>
        <p:nvSpPr>
          <p:cNvPr id="17" name="Shape 15"/>
          <p:cNvSpPr/>
          <p:nvPr/>
        </p:nvSpPr>
        <p:spPr>
          <a:xfrm>
            <a:off x="6700540" y="1636365"/>
            <a:ext cx="2176760" cy="9525"/>
          </a:xfrm>
          <a:prstGeom prst="rect">
            <a:avLst/>
          </a:prstGeom>
          <a:solidFill>
            <a:srgbClr val="DDD9D2"/>
          </a:solidFill>
          <a:ln/>
        </p:spPr>
      </p:sp>
      <p:sp>
        <p:nvSpPr>
          <p:cNvPr id="18" name="Shape 16"/>
          <p:cNvSpPr/>
          <p:nvPr/>
        </p:nvSpPr>
        <p:spPr>
          <a:xfrm>
            <a:off x="6807101" y="1412677"/>
            <a:ext cx="1285429" cy="180677"/>
          </a:xfrm>
          <a:prstGeom prst="roundRect">
            <a:avLst>
              <a:gd name="adj" fmla="val 21087"/>
            </a:avLst>
          </a:prstGeom>
          <a:solidFill>
            <a:srgbClr val="16303F">
              <a:alpha val="7000"/>
            </a:srgbClr>
          </a:solidFill>
          <a:ln/>
        </p:spPr>
      </p:sp>
      <p:sp>
        <p:nvSpPr>
          <p:cNvPr id="19" name="Text 17"/>
          <p:cNvSpPr txBox="1"/>
          <p:nvPr/>
        </p:nvSpPr>
        <p:spPr>
          <a:xfrm>
            <a:off x="6749951" y="1412677"/>
            <a:ext cx="1399729"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FileSystemWatcher</a:t>
            </a:r>
            <a:endParaRPr lang="en-US" sz="927" dirty="0"/>
          </a:p>
        </p:txBody>
      </p:sp>
      <p:sp>
        <p:nvSpPr>
          <p:cNvPr id="20" name="Shape 18"/>
          <p:cNvSpPr/>
          <p:nvPr/>
        </p:nvSpPr>
        <p:spPr>
          <a:xfrm>
            <a:off x="457200" y="1645890"/>
            <a:ext cx="8420100" cy="286643"/>
          </a:xfrm>
          <a:prstGeom prst="rect">
            <a:avLst/>
          </a:prstGeom>
          <a:solidFill>
            <a:srgbClr val="16303F">
              <a:alpha val="3000"/>
            </a:srgbClr>
          </a:solidFill>
          <a:ln/>
        </p:spPr>
      </p:sp>
      <p:sp>
        <p:nvSpPr>
          <p:cNvPr id="21" name="Shape 19"/>
          <p:cNvSpPr/>
          <p:nvPr/>
        </p:nvSpPr>
        <p:spPr>
          <a:xfrm>
            <a:off x="457200" y="1923008"/>
            <a:ext cx="8420100" cy="9525"/>
          </a:xfrm>
          <a:prstGeom prst="rect">
            <a:avLst/>
          </a:prstGeom>
          <a:solidFill>
            <a:srgbClr val="9CA3AF">
              <a:alpha val="20000"/>
            </a:srgbClr>
          </a:solidFill>
          <a:ln/>
        </p:spPr>
      </p:sp>
      <p:sp>
        <p:nvSpPr>
          <p:cNvPr id="22" name="Shape 20"/>
          <p:cNvSpPr/>
          <p:nvPr/>
        </p:nvSpPr>
        <p:spPr>
          <a:xfrm>
            <a:off x="457200" y="1923008"/>
            <a:ext cx="2413397" cy="9525"/>
          </a:xfrm>
          <a:prstGeom prst="rect">
            <a:avLst/>
          </a:prstGeom>
          <a:solidFill>
            <a:srgbClr val="DDD9D2"/>
          </a:solidFill>
          <a:ln/>
        </p:spPr>
      </p:sp>
      <p:sp>
        <p:nvSpPr>
          <p:cNvPr id="23" name="Text 21"/>
          <p:cNvSpPr txBox="1"/>
          <p:nvPr/>
        </p:nvSpPr>
        <p:spPr>
          <a:xfrm>
            <a:off x="563761" y="1702743"/>
            <a:ext cx="86915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User secrets</a:t>
            </a:r>
            <a:endParaRPr lang="en-US" sz="1008" dirty="0"/>
          </a:p>
        </p:txBody>
      </p:sp>
      <p:sp>
        <p:nvSpPr>
          <p:cNvPr id="24" name="Shape 22"/>
          <p:cNvSpPr/>
          <p:nvPr/>
        </p:nvSpPr>
        <p:spPr>
          <a:xfrm>
            <a:off x="2870597" y="1923008"/>
            <a:ext cx="3829943" cy="9525"/>
          </a:xfrm>
          <a:prstGeom prst="rect">
            <a:avLst/>
          </a:prstGeom>
          <a:solidFill>
            <a:srgbClr val="DDD9D2"/>
          </a:solidFill>
          <a:ln/>
        </p:spPr>
      </p:sp>
      <p:sp>
        <p:nvSpPr>
          <p:cNvPr id="25" name="Text 23"/>
          <p:cNvSpPr txBox="1"/>
          <p:nvPr/>
        </p:nvSpPr>
        <p:spPr>
          <a:xfrm>
            <a:off x="2977158" y="1702743"/>
            <a:ext cx="31730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Yes</a:t>
            </a:r>
            <a:endParaRPr lang="en-US" sz="1008" dirty="0"/>
          </a:p>
        </p:txBody>
      </p:sp>
      <p:sp>
        <p:nvSpPr>
          <p:cNvPr id="26" name="Shape 24"/>
          <p:cNvSpPr/>
          <p:nvPr/>
        </p:nvSpPr>
        <p:spPr>
          <a:xfrm>
            <a:off x="6700540" y="1923008"/>
            <a:ext cx="2176760" cy="9525"/>
          </a:xfrm>
          <a:prstGeom prst="rect">
            <a:avLst/>
          </a:prstGeom>
          <a:solidFill>
            <a:srgbClr val="DDD9D2"/>
          </a:solidFill>
          <a:ln/>
        </p:spPr>
      </p:sp>
      <p:sp>
        <p:nvSpPr>
          <p:cNvPr id="27" name="Text 25"/>
          <p:cNvSpPr txBox="1"/>
          <p:nvPr/>
        </p:nvSpPr>
        <p:spPr>
          <a:xfrm>
            <a:off x="6807101" y="1702743"/>
            <a:ext cx="80397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file watcher</a:t>
            </a:r>
            <a:endParaRPr lang="en-US" sz="1008" dirty="0"/>
          </a:p>
        </p:txBody>
      </p:sp>
      <p:sp>
        <p:nvSpPr>
          <p:cNvPr id="28" name="Shape 26"/>
          <p:cNvSpPr/>
          <p:nvPr/>
        </p:nvSpPr>
        <p:spPr>
          <a:xfrm>
            <a:off x="457200" y="2209651"/>
            <a:ext cx="8420100" cy="9525"/>
          </a:xfrm>
          <a:prstGeom prst="rect">
            <a:avLst/>
          </a:prstGeom>
          <a:solidFill>
            <a:srgbClr val="9CA3AF">
              <a:alpha val="20000"/>
            </a:srgbClr>
          </a:solidFill>
          <a:ln/>
        </p:spPr>
      </p:sp>
      <p:sp>
        <p:nvSpPr>
          <p:cNvPr id="29" name="Shape 27"/>
          <p:cNvSpPr/>
          <p:nvPr/>
        </p:nvSpPr>
        <p:spPr>
          <a:xfrm>
            <a:off x="457200" y="2209651"/>
            <a:ext cx="2413397" cy="9525"/>
          </a:xfrm>
          <a:prstGeom prst="rect">
            <a:avLst/>
          </a:prstGeom>
          <a:solidFill>
            <a:srgbClr val="DDD9D2"/>
          </a:solidFill>
          <a:ln/>
        </p:spPr>
      </p:sp>
      <p:sp>
        <p:nvSpPr>
          <p:cNvPr id="30" name="Text 28"/>
          <p:cNvSpPr txBox="1"/>
          <p:nvPr/>
        </p:nvSpPr>
        <p:spPr>
          <a:xfrm>
            <a:off x="563761" y="1989386"/>
            <a:ext cx="141610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Environment variables</a:t>
            </a:r>
            <a:endParaRPr lang="en-US" sz="1008" dirty="0"/>
          </a:p>
        </p:txBody>
      </p:sp>
      <p:sp>
        <p:nvSpPr>
          <p:cNvPr id="31" name="Shape 29"/>
          <p:cNvSpPr/>
          <p:nvPr/>
        </p:nvSpPr>
        <p:spPr>
          <a:xfrm>
            <a:off x="2870597" y="2209651"/>
            <a:ext cx="3829943" cy="9525"/>
          </a:xfrm>
          <a:prstGeom prst="rect">
            <a:avLst/>
          </a:prstGeom>
          <a:solidFill>
            <a:srgbClr val="DDD9D2"/>
          </a:solidFill>
          <a:ln/>
        </p:spPr>
      </p:sp>
      <p:sp>
        <p:nvSpPr>
          <p:cNvPr id="32" name="Text 30"/>
          <p:cNvSpPr txBox="1"/>
          <p:nvPr/>
        </p:nvSpPr>
        <p:spPr>
          <a:xfrm>
            <a:off x="2977158" y="1989386"/>
            <a:ext cx="287982" cy="171450"/>
          </a:xfrm>
          <a:prstGeom prst="rect">
            <a:avLst/>
          </a:prstGeom>
          <a:noFill/>
          <a:ln/>
        </p:spPr>
        <p:txBody>
          <a:bodyPr wrap="none" lIns="0" tIns="0" rIns="0" bIns="0" rtlCol="0" anchor="t"/>
          <a:lstStyle/>
          <a:p>
            <a:pPr algn="l" indent="0" marL="0">
              <a:buNone/>
            </a:pPr>
            <a:r>
              <a:rPr lang="en-US" sz="1008" b="1" dirty="0">
                <a:solidFill>
                  <a:srgbClr val="16303F"/>
                </a:solidFill>
                <a:latin typeface="Manrope" pitchFamily="34" charset="0"/>
                <a:ea typeface="Manrope" pitchFamily="34" charset="-122"/>
                <a:cs typeface="Manrope" pitchFamily="34" charset="-120"/>
              </a:rPr>
              <a:t>No</a:t>
            </a:r>
            <a:endParaRPr lang="en-US" sz="1008" dirty="0"/>
          </a:p>
        </p:txBody>
      </p:sp>
      <p:sp>
        <p:nvSpPr>
          <p:cNvPr id="33" name="Shape 31"/>
          <p:cNvSpPr/>
          <p:nvPr/>
        </p:nvSpPr>
        <p:spPr>
          <a:xfrm>
            <a:off x="6700540" y="2209651"/>
            <a:ext cx="2176760" cy="9525"/>
          </a:xfrm>
          <a:prstGeom prst="rect">
            <a:avLst/>
          </a:prstGeom>
          <a:solidFill>
            <a:srgbClr val="DDD9D2"/>
          </a:solidFill>
          <a:ln/>
        </p:spPr>
      </p:sp>
      <p:sp>
        <p:nvSpPr>
          <p:cNvPr id="34" name="Text 32"/>
          <p:cNvSpPr txBox="1"/>
          <p:nvPr/>
        </p:nvSpPr>
        <p:spPr>
          <a:xfrm>
            <a:off x="6807101" y="1989386"/>
            <a:ext cx="131281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read once at startup</a:t>
            </a:r>
            <a:endParaRPr lang="en-US" sz="1008" dirty="0"/>
          </a:p>
        </p:txBody>
      </p:sp>
      <p:sp>
        <p:nvSpPr>
          <p:cNvPr id="35" name="Shape 33"/>
          <p:cNvSpPr/>
          <p:nvPr/>
        </p:nvSpPr>
        <p:spPr>
          <a:xfrm>
            <a:off x="457200" y="2219176"/>
            <a:ext cx="8420100" cy="286643"/>
          </a:xfrm>
          <a:prstGeom prst="rect">
            <a:avLst/>
          </a:prstGeom>
          <a:solidFill>
            <a:srgbClr val="16303F">
              <a:alpha val="3000"/>
            </a:srgbClr>
          </a:solidFill>
          <a:ln/>
        </p:spPr>
      </p:sp>
      <p:sp>
        <p:nvSpPr>
          <p:cNvPr id="36" name="Shape 34"/>
          <p:cNvSpPr/>
          <p:nvPr/>
        </p:nvSpPr>
        <p:spPr>
          <a:xfrm>
            <a:off x="457200" y="2496294"/>
            <a:ext cx="8420100" cy="9525"/>
          </a:xfrm>
          <a:prstGeom prst="rect">
            <a:avLst/>
          </a:prstGeom>
          <a:solidFill>
            <a:srgbClr val="9CA3AF">
              <a:alpha val="20000"/>
            </a:srgbClr>
          </a:solidFill>
          <a:ln/>
        </p:spPr>
      </p:sp>
      <p:sp>
        <p:nvSpPr>
          <p:cNvPr id="37" name="Shape 35"/>
          <p:cNvSpPr/>
          <p:nvPr/>
        </p:nvSpPr>
        <p:spPr>
          <a:xfrm>
            <a:off x="457200" y="2496294"/>
            <a:ext cx="2413397" cy="9525"/>
          </a:xfrm>
          <a:prstGeom prst="rect">
            <a:avLst/>
          </a:prstGeom>
          <a:solidFill>
            <a:srgbClr val="DDD9D2"/>
          </a:solidFill>
          <a:ln/>
        </p:spPr>
      </p:sp>
      <p:sp>
        <p:nvSpPr>
          <p:cNvPr id="38" name="Text 36"/>
          <p:cNvSpPr txBox="1"/>
          <p:nvPr/>
        </p:nvSpPr>
        <p:spPr>
          <a:xfrm>
            <a:off x="563761" y="2276029"/>
            <a:ext cx="95726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Command line</a:t>
            </a:r>
            <a:endParaRPr lang="en-US" sz="1008" dirty="0"/>
          </a:p>
        </p:txBody>
      </p:sp>
      <p:sp>
        <p:nvSpPr>
          <p:cNvPr id="39" name="Shape 37"/>
          <p:cNvSpPr/>
          <p:nvPr/>
        </p:nvSpPr>
        <p:spPr>
          <a:xfrm>
            <a:off x="2870597" y="2496294"/>
            <a:ext cx="3829943" cy="9525"/>
          </a:xfrm>
          <a:prstGeom prst="rect">
            <a:avLst/>
          </a:prstGeom>
          <a:solidFill>
            <a:srgbClr val="DDD9D2"/>
          </a:solidFill>
          <a:ln/>
        </p:spPr>
      </p:sp>
      <p:sp>
        <p:nvSpPr>
          <p:cNvPr id="40" name="Text 38"/>
          <p:cNvSpPr txBox="1"/>
          <p:nvPr/>
        </p:nvSpPr>
        <p:spPr>
          <a:xfrm>
            <a:off x="2977158" y="2276029"/>
            <a:ext cx="287982" cy="171450"/>
          </a:xfrm>
          <a:prstGeom prst="rect">
            <a:avLst/>
          </a:prstGeom>
          <a:noFill/>
          <a:ln/>
        </p:spPr>
        <p:txBody>
          <a:bodyPr wrap="none" lIns="0" tIns="0" rIns="0" bIns="0" rtlCol="0" anchor="t"/>
          <a:lstStyle/>
          <a:p>
            <a:pPr algn="l" indent="0" marL="0">
              <a:buNone/>
            </a:pPr>
            <a:r>
              <a:rPr lang="en-US" sz="1008" b="1" dirty="0">
                <a:solidFill>
                  <a:srgbClr val="16303F"/>
                </a:solidFill>
                <a:latin typeface="Manrope" pitchFamily="34" charset="0"/>
                <a:ea typeface="Manrope" pitchFamily="34" charset="-122"/>
                <a:cs typeface="Manrope" pitchFamily="34" charset="-120"/>
              </a:rPr>
              <a:t>No</a:t>
            </a:r>
            <a:endParaRPr lang="en-US" sz="1008" dirty="0"/>
          </a:p>
        </p:txBody>
      </p:sp>
      <p:sp>
        <p:nvSpPr>
          <p:cNvPr id="41" name="Shape 39"/>
          <p:cNvSpPr/>
          <p:nvPr/>
        </p:nvSpPr>
        <p:spPr>
          <a:xfrm>
            <a:off x="6700540" y="2496294"/>
            <a:ext cx="2176760" cy="9525"/>
          </a:xfrm>
          <a:prstGeom prst="rect">
            <a:avLst/>
          </a:prstGeom>
          <a:solidFill>
            <a:srgbClr val="DDD9D2"/>
          </a:solidFill>
          <a:ln/>
        </p:spPr>
      </p:sp>
      <p:sp>
        <p:nvSpPr>
          <p:cNvPr id="42" name="Text 40"/>
          <p:cNvSpPr txBox="1"/>
          <p:nvPr/>
        </p:nvSpPr>
        <p:spPr>
          <a:xfrm>
            <a:off x="6807101" y="2276029"/>
            <a:ext cx="131281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read once at startup</a:t>
            </a:r>
            <a:endParaRPr lang="en-US" sz="1008" dirty="0"/>
          </a:p>
        </p:txBody>
      </p:sp>
      <p:sp>
        <p:nvSpPr>
          <p:cNvPr id="43" name="Shape 41"/>
          <p:cNvSpPr/>
          <p:nvPr/>
        </p:nvSpPr>
        <p:spPr>
          <a:xfrm>
            <a:off x="457200" y="2786509"/>
            <a:ext cx="8420100" cy="9525"/>
          </a:xfrm>
          <a:prstGeom prst="rect">
            <a:avLst/>
          </a:prstGeom>
          <a:solidFill>
            <a:srgbClr val="9CA3AF">
              <a:alpha val="20000"/>
            </a:srgbClr>
          </a:solidFill>
          <a:ln/>
        </p:spPr>
      </p:sp>
      <p:sp>
        <p:nvSpPr>
          <p:cNvPr id="44" name="Shape 42"/>
          <p:cNvSpPr/>
          <p:nvPr/>
        </p:nvSpPr>
        <p:spPr>
          <a:xfrm>
            <a:off x="457200" y="2786509"/>
            <a:ext cx="2413397" cy="9525"/>
          </a:xfrm>
          <a:prstGeom prst="rect">
            <a:avLst/>
          </a:prstGeom>
          <a:solidFill>
            <a:srgbClr val="DDD9D2"/>
          </a:solidFill>
          <a:ln/>
        </p:spPr>
      </p:sp>
      <p:sp>
        <p:nvSpPr>
          <p:cNvPr id="45" name="Text 43"/>
          <p:cNvSpPr txBox="1"/>
          <p:nvPr/>
        </p:nvSpPr>
        <p:spPr>
          <a:xfrm>
            <a:off x="563761" y="2562671"/>
            <a:ext cx="102200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Azure Key Vault</a:t>
            </a:r>
            <a:endParaRPr lang="en-US" sz="1008" dirty="0"/>
          </a:p>
        </p:txBody>
      </p:sp>
      <p:sp>
        <p:nvSpPr>
          <p:cNvPr id="46" name="Shape 44"/>
          <p:cNvSpPr/>
          <p:nvPr/>
        </p:nvSpPr>
        <p:spPr>
          <a:xfrm>
            <a:off x="2870597" y="2786509"/>
            <a:ext cx="3829943" cy="9525"/>
          </a:xfrm>
          <a:prstGeom prst="rect">
            <a:avLst/>
          </a:prstGeom>
          <a:solidFill>
            <a:srgbClr val="DDD9D2"/>
          </a:solidFill>
          <a:ln/>
        </p:spPr>
      </p:sp>
      <p:sp>
        <p:nvSpPr>
          <p:cNvPr id="47" name="Shape 45"/>
          <p:cNvSpPr/>
          <p:nvPr/>
        </p:nvSpPr>
        <p:spPr>
          <a:xfrm>
            <a:off x="3369766" y="2562820"/>
            <a:ext cx="1073497" cy="180677"/>
          </a:xfrm>
          <a:prstGeom prst="roundRect">
            <a:avLst>
              <a:gd name="adj" fmla="val 21087"/>
            </a:avLst>
          </a:prstGeom>
          <a:solidFill>
            <a:srgbClr val="16303F">
              <a:alpha val="7000"/>
            </a:srgbClr>
          </a:solidFill>
          <a:ln/>
        </p:spPr>
      </p:sp>
      <p:sp>
        <p:nvSpPr>
          <p:cNvPr id="48" name="Text 46"/>
          <p:cNvSpPr txBox="1"/>
          <p:nvPr/>
        </p:nvSpPr>
        <p:spPr>
          <a:xfrm>
            <a:off x="2977158" y="2562671"/>
            <a:ext cx="179933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Only if </a:t>
            </a:r>
            <a:pPr algn="l" indent="0" marL="0">
              <a:buNone/>
            </a:pPr>
            <a:r>
              <a:rPr lang="en-US" sz="927" dirty="0">
                <a:solidFill>
                  <a:srgbClr val="16303F"/>
                </a:solidFill>
                <a:latin typeface="JetBrains Mono" pitchFamily="34" charset="0"/>
                <a:ea typeface="JetBrains Mono" pitchFamily="34" charset="-122"/>
                <a:cs typeface="JetBrains Mono" pitchFamily="34" charset="-120"/>
              </a:rPr>
              <a:t>ReloadInterval</a:t>
            </a:r>
            <a:pPr algn="l" indent="0" marL="0">
              <a:buNone/>
            </a:pPr>
            <a:r>
              <a:rPr lang="en-US" sz="1008" dirty="0">
                <a:solidFill>
                  <a:srgbClr val="16303F"/>
                </a:solidFill>
                <a:latin typeface="Manrope" pitchFamily="34" charset="0"/>
                <a:ea typeface="Manrope" pitchFamily="34" charset="-122"/>
                <a:cs typeface="Manrope" pitchFamily="34" charset="-120"/>
              </a:rPr>
              <a:t> set</a:t>
            </a:r>
            <a:endParaRPr lang="en-US" sz="1008" dirty="0"/>
          </a:p>
        </p:txBody>
      </p:sp>
      <p:sp>
        <p:nvSpPr>
          <p:cNvPr id="49" name="Shape 47"/>
          <p:cNvSpPr/>
          <p:nvPr/>
        </p:nvSpPr>
        <p:spPr>
          <a:xfrm>
            <a:off x="6700540" y="2786509"/>
            <a:ext cx="2176760" cy="9525"/>
          </a:xfrm>
          <a:prstGeom prst="rect">
            <a:avLst/>
          </a:prstGeom>
          <a:solidFill>
            <a:srgbClr val="DDD9D2"/>
          </a:solidFill>
          <a:ln/>
        </p:spPr>
      </p:sp>
      <p:sp>
        <p:nvSpPr>
          <p:cNvPr id="50" name="Text 48"/>
          <p:cNvSpPr txBox="1"/>
          <p:nvPr/>
        </p:nvSpPr>
        <p:spPr>
          <a:xfrm>
            <a:off x="6807101" y="2562671"/>
            <a:ext cx="50735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polling</a:t>
            </a:r>
            <a:endParaRPr lang="en-US" sz="1008" dirty="0"/>
          </a:p>
        </p:txBody>
      </p:sp>
      <p:sp>
        <p:nvSpPr>
          <p:cNvPr id="51" name="Shape 49"/>
          <p:cNvSpPr/>
          <p:nvPr/>
        </p:nvSpPr>
        <p:spPr>
          <a:xfrm>
            <a:off x="457200" y="2796034"/>
            <a:ext cx="8420100" cy="290215"/>
          </a:xfrm>
          <a:prstGeom prst="rect">
            <a:avLst/>
          </a:prstGeom>
          <a:solidFill>
            <a:srgbClr val="16303F">
              <a:alpha val="3000"/>
            </a:srgbClr>
          </a:solidFill>
          <a:ln/>
        </p:spPr>
      </p:sp>
      <p:sp>
        <p:nvSpPr>
          <p:cNvPr id="52" name="Shape 50"/>
          <p:cNvSpPr/>
          <p:nvPr/>
        </p:nvSpPr>
        <p:spPr>
          <a:xfrm>
            <a:off x="457200" y="3076724"/>
            <a:ext cx="8420100" cy="9525"/>
          </a:xfrm>
          <a:prstGeom prst="rect">
            <a:avLst/>
          </a:prstGeom>
          <a:solidFill>
            <a:srgbClr val="9CA3AF">
              <a:alpha val="20000"/>
            </a:srgbClr>
          </a:solidFill>
          <a:ln/>
        </p:spPr>
      </p:sp>
      <p:sp>
        <p:nvSpPr>
          <p:cNvPr id="53" name="Shape 51"/>
          <p:cNvSpPr/>
          <p:nvPr/>
        </p:nvSpPr>
        <p:spPr>
          <a:xfrm>
            <a:off x="457200" y="3076724"/>
            <a:ext cx="2413397" cy="9525"/>
          </a:xfrm>
          <a:prstGeom prst="rect">
            <a:avLst/>
          </a:prstGeom>
          <a:solidFill>
            <a:srgbClr val="DDD9D2"/>
          </a:solidFill>
          <a:ln/>
        </p:spPr>
      </p:sp>
      <p:sp>
        <p:nvSpPr>
          <p:cNvPr id="54" name="Text 52"/>
          <p:cNvSpPr txBox="1"/>
          <p:nvPr/>
        </p:nvSpPr>
        <p:spPr>
          <a:xfrm>
            <a:off x="563761" y="2852886"/>
            <a:ext cx="156284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Azure App Configuration</a:t>
            </a:r>
            <a:endParaRPr lang="en-US" sz="1008" dirty="0"/>
          </a:p>
        </p:txBody>
      </p:sp>
      <p:sp>
        <p:nvSpPr>
          <p:cNvPr id="55" name="Shape 53"/>
          <p:cNvSpPr/>
          <p:nvPr/>
        </p:nvSpPr>
        <p:spPr>
          <a:xfrm>
            <a:off x="2870597" y="3076724"/>
            <a:ext cx="3829943" cy="9525"/>
          </a:xfrm>
          <a:prstGeom prst="rect">
            <a:avLst/>
          </a:prstGeom>
          <a:solidFill>
            <a:srgbClr val="DDD9D2"/>
          </a:solidFill>
          <a:ln/>
        </p:spPr>
      </p:sp>
      <p:sp>
        <p:nvSpPr>
          <p:cNvPr id="56" name="Shape 54"/>
          <p:cNvSpPr/>
          <p:nvPr/>
        </p:nvSpPr>
        <p:spPr>
          <a:xfrm>
            <a:off x="3520827" y="2853035"/>
            <a:ext cx="1214735" cy="180677"/>
          </a:xfrm>
          <a:prstGeom prst="roundRect">
            <a:avLst>
              <a:gd name="adj" fmla="val 21087"/>
            </a:avLst>
          </a:prstGeom>
          <a:solidFill>
            <a:srgbClr val="16303F">
              <a:alpha val="7000"/>
            </a:srgbClr>
          </a:solidFill>
          <a:ln/>
        </p:spPr>
      </p:sp>
      <p:sp>
        <p:nvSpPr>
          <p:cNvPr id="57" name="Text 55"/>
          <p:cNvSpPr txBox="1"/>
          <p:nvPr/>
        </p:nvSpPr>
        <p:spPr>
          <a:xfrm>
            <a:off x="2977158" y="2852886"/>
            <a:ext cx="1830437"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Yes, with </a:t>
            </a:r>
            <a:pPr algn="l" indent="0" marL="0">
              <a:buNone/>
            </a:pPr>
            <a:r>
              <a:rPr lang="en-US" sz="927" dirty="0">
                <a:solidFill>
                  <a:srgbClr val="16303F"/>
                </a:solidFill>
                <a:latin typeface="JetBrains Mono" pitchFamily="34" charset="0"/>
                <a:ea typeface="JetBrains Mono" pitchFamily="34" charset="-122"/>
                <a:cs typeface="JetBrains Mono" pitchFamily="34" charset="-120"/>
              </a:rPr>
              <a:t>ConfigureRefresh</a:t>
            </a:r>
            <a:endParaRPr lang="en-US" sz="1008" dirty="0"/>
          </a:p>
        </p:txBody>
      </p:sp>
      <p:sp>
        <p:nvSpPr>
          <p:cNvPr id="58" name="Shape 56"/>
          <p:cNvSpPr/>
          <p:nvPr/>
        </p:nvSpPr>
        <p:spPr>
          <a:xfrm>
            <a:off x="6700540" y="3076724"/>
            <a:ext cx="2176760" cy="9525"/>
          </a:xfrm>
          <a:prstGeom prst="rect">
            <a:avLst/>
          </a:prstGeom>
          <a:solidFill>
            <a:srgbClr val="DDD9D2"/>
          </a:solidFill>
          <a:ln/>
        </p:spPr>
      </p:sp>
      <p:sp>
        <p:nvSpPr>
          <p:cNvPr id="59" name="Text 57"/>
          <p:cNvSpPr txBox="1"/>
          <p:nvPr/>
        </p:nvSpPr>
        <p:spPr>
          <a:xfrm>
            <a:off x="6807101" y="2852886"/>
            <a:ext cx="114523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polling on activity</a:t>
            </a:r>
            <a:endParaRPr lang="en-US" sz="1008" dirty="0"/>
          </a:p>
        </p:txBody>
      </p:sp>
      <p:sp>
        <p:nvSpPr>
          <p:cNvPr id="60" name="Shape 58"/>
          <p:cNvSpPr/>
          <p:nvPr/>
        </p:nvSpPr>
        <p:spPr>
          <a:xfrm>
            <a:off x="457200" y="3366939"/>
            <a:ext cx="8420100" cy="9525"/>
          </a:xfrm>
          <a:prstGeom prst="rect">
            <a:avLst/>
          </a:prstGeom>
          <a:solidFill>
            <a:srgbClr val="9CA3AF">
              <a:alpha val="20000"/>
            </a:srgbClr>
          </a:solidFill>
          <a:ln/>
        </p:spPr>
      </p:sp>
      <p:sp>
        <p:nvSpPr>
          <p:cNvPr id="61" name="Shape 59"/>
          <p:cNvSpPr/>
          <p:nvPr/>
        </p:nvSpPr>
        <p:spPr>
          <a:xfrm>
            <a:off x="457200" y="3366939"/>
            <a:ext cx="2413397" cy="9525"/>
          </a:xfrm>
          <a:prstGeom prst="rect">
            <a:avLst/>
          </a:prstGeom>
          <a:solidFill>
            <a:srgbClr val="DDD9D2"/>
          </a:solidFill>
          <a:ln/>
        </p:spPr>
      </p:sp>
      <p:sp>
        <p:nvSpPr>
          <p:cNvPr id="62" name="Text 60"/>
          <p:cNvSpPr txBox="1"/>
          <p:nvPr/>
        </p:nvSpPr>
        <p:spPr>
          <a:xfrm>
            <a:off x="563761" y="3143101"/>
            <a:ext cx="81245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Key-per-file</a:t>
            </a:r>
            <a:endParaRPr lang="en-US" sz="1008" dirty="0"/>
          </a:p>
        </p:txBody>
      </p:sp>
      <p:sp>
        <p:nvSpPr>
          <p:cNvPr id="63" name="Shape 61"/>
          <p:cNvSpPr/>
          <p:nvPr/>
        </p:nvSpPr>
        <p:spPr>
          <a:xfrm>
            <a:off x="2870597" y="3366939"/>
            <a:ext cx="3829943" cy="9525"/>
          </a:xfrm>
          <a:prstGeom prst="rect">
            <a:avLst/>
          </a:prstGeom>
          <a:solidFill>
            <a:srgbClr val="DDD9D2"/>
          </a:solidFill>
          <a:ln/>
        </p:spPr>
      </p:sp>
      <p:sp>
        <p:nvSpPr>
          <p:cNvPr id="64" name="Shape 62"/>
          <p:cNvSpPr/>
          <p:nvPr/>
        </p:nvSpPr>
        <p:spPr>
          <a:xfrm>
            <a:off x="3660725" y="3143250"/>
            <a:ext cx="1073497" cy="180677"/>
          </a:xfrm>
          <a:prstGeom prst="roundRect">
            <a:avLst>
              <a:gd name="adj" fmla="val 21087"/>
            </a:avLst>
          </a:prstGeom>
          <a:solidFill>
            <a:srgbClr val="16303F">
              <a:alpha val="7000"/>
            </a:srgbClr>
          </a:solidFill>
          <a:ln/>
        </p:spPr>
      </p:sp>
      <p:sp>
        <p:nvSpPr>
          <p:cNvPr id="65" name="Text 63"/>
          <p:cNvSpPr txBox="1"/>
          <p:nvPr/>
        </p:nvSpPr>
        <p:spPr>
          <a:xfrm>
            <a:off x="2977158" y="3143101"/>
            <a:ext cx="2538115" cy="171450"/>
          </a:xfrm>
          <a:prstGeom prst="rect">
            <a:avLst/>
          </a:prstGeom>
          <a:noFill/>
          <a:ln/>
        </p:spPr>
        <p:txBody>
          <a:bodyPr wrap="none" lIns="0" tIns="0" rIns="0" bIns="0" rtlCol="0" anchor="t"/>
          <a:lstStyle/>
          <a:p>
            <a:pPr algn="l" indent="0" marL="0">
              <a:buNone/>
            </a:pPr>
            <a:r>
              <a:rPr lang="en-US" sz="1008" b="1" dirty="0">
                <a:solidFill>
                  <a:srgbClr val="16303F"/>
                </a:solidFill>
                <a:latin typeface="Manrope" pitchFamily="34" charset="0"/>
                <a:ea typeface="Manrope" pitchFamily="34" charset="-122"/>
                <a:cs typeface="Manrope" pitchFamily="34" charset="-120"/>
              </a:rPr>
              <a:t>Only when </a:t>
            </a:r>
            <a:pPr algn="l" indent="0" marL="0">
              <a:buNone/>
            </a:pPr>
            <a:r>
              <a:rPr lang="en-US" sz="927" dirty="0">
                <a:solidFill>
                  <a:srgbClr val="16303F"/>
                </a:solidFill>
                <a:latin typeface="JetBrains Mono" pitchFamily="34" charset="0"/>
                <a:ea typeface="JetBrains Mono" pitchFamily="34" charset="-122"/>
                <a:cs typeface="JetBrains Mono" pitchFamily="34" charset="-120"/>
              </a:rPr>
              <a:t>reloadOnChange</a:t>
            </a:r>
            <a:pPr algn="l" indent="0" marL="0">
              <a:buNone/>
            </a:pPr>
            <a:r>
              <a:rPr lang="en-US" sz="1008" b="1" dirty="0">
                <a:solidFill>
                  <a:srgbClr val="16303F"/>
                </a:solidFill>
                <a:latin typeface="Manrope" pitchFamily="34" charset="0"/>
                <a:ea typeface="Manrope" pitchFamily="34" charset="-122"/>
                <a:cs typeface="Manrope" pitchFamily="34" charset="-120"/>
              </a:rPr>
              <a:t> is enabled</a:t>
            </a:r>
            <a:endParaRPr lang="en-US" sz="1008" dirty="0"/>
          </a:p>
        </p:txBody>
      </p:sp>
      <p:sp>
        <p:nvSpPr>
          <p:cNvPr id="66" name="Shape 64"/>
          <p:cNvSpPr/>
          <p:nvPr/>
        </p:nvSpPr>
        <p:spPr>
          <a:xfrm>
            <a:off x="6700540" y="3366939"/>
            <a:ext cx="2176760" cy="9525"/>
          </a:xfrm>
          <a:prstGeom prst="rect">
            <a:avLst/>
          </a:prstGeom>
          <a:solidFill>
            <a:srgbClr val="DDD9D2"/>
          </a:solidFill>
          <a:ln/>
        </p:spPr>
      </p:sp>
      <p:sp>
        <p:nvSpPr>
          <p:cNvPr id="67" name="Text 65"/>
          <p:cNvSpPr txBox="1"/>
          <p:nvPr/>
        </p:nvSpPr>
        <p:spPr>
          <a:xfrm>
            <a:off x="6807101" y="3143101"/>
            <a:ext cx="80397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file watcher</a:t>
            </a:r>
            <a:endParaRPr lang="en-US" sz="1008" dirty="0"/>
          </a:p>
        </p:txBody>
      </p:sp>
      <p:sp>
        <p:nvSpPr>
          <p:cNvPr id="68" name="Shape 66"/>
          <p:cNvSpPr/>
          <p:nvPr/>
        </p:nvSpPr>
        <p:spPr>
          <a:xfrm>
            <a:off x="457200" y="3376464"/>
            <a:ext cx="8420100" cy="286643"/>
          </a:xfrm>
          <a:prstGeom prst="rect">
            <a:avLst/>
          </a:prstGeom>
          <a:solidFill>
            <a:srgbClr val="16303F">
              <a:alpha val="3000"/>
            </a:srgbClr>
          </a:solidFill>
          <a:ln/>
        </p:spPr>
      </p:sp>
      <p:sp>
        <p:nvSpPr>
          <p:cNvPr id="69" name="Shape 67"/>
          <p:cNvSpPr/>
          <p:nvPr/>
        </p:nvSpPr>
        <p:spPr>
          <a:xfrm>
            <a:off x="457200" y="3653582"/>
            <a:ext cx="8420100" cy="9525"/>
          </a:xfrm>
          <a:prstGeom prst="rect">
            <a:avLst/>
          </a:prstGeom>
          <a:solidFill>
            <a:srgbClr val="9CA3AF">
              <a:alpha val="20000"/>
            </a:srgbClr>
          </a:solidFill>
          <a:ln/>
        </p:spPr>
      </p:sp>
      <p:sp>
        <p:nvSpPr>
          <p:cNvPr id="70" name="Shape 68"/>
          <p:cNvSpPr/>
          <p:nvPr/>
        </p:nvSpPr>
        <p:spPr>
          <a:xfrm>
            <a:off x="457200" y="3653582"/>
            <a:ext cx="2413397" cy="9525"/>
          </a:xfrm>
          <a:prstGeom prst="rect">
            <a:avLst/>
          </a:prstGeom>
          <a:solidFill>
            <a:srgbClr val="DDD9D2"/>
          </a:solidFill>
          <a:ln/>
        </p:spPr>
      </p:sp>
      <p:sp>
        <p:nvSpPr>
          <p:cNvPr id="71" name="Text 69"/>
          <p:cNvSpPr txBox="1"/>
          <p:nvPr/>
        </p:nvSpPr>
        <p:spPr>
          <a:xfrm>
            <a:off x="563761" y="3433316"/>
            <a:ext cx="751731"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In-memory</a:t>
            </a:r>
            <a:endParaRPr lang="en-US" sz="1008" dirty="0"/>
          </a:p>
        </p:txBody>
      </p:sp>
      <p:sp>
        <p:nvSpPr>
          <p:cNvPr id="72" name="Shape 70"/>
          <p:cNvSpPr/>
          <p:nvPr/>
        </p:nvSpPr>
        <p:spPr>
          <a:xfrm>
            <a:off x="2870597" y="3653582"/>
            <a:ext cx="3829943" cy="9525"/>
          </a:xfrm>
          <a:prstGeom prst="rect">
            <a:avLst/>
          </a:prstGeom>
          <a:solidFill>
            <a:srgbClr val="DDD9D2"/>
          </a:solidFill>
          <a:ln/>
        </p:spPr>
      </p:sp>
      <p:sp>
        <p:nvSpPr>
          <p:cNvPr id="73" name="Text 71"/>
          <p:cNvSpPr txBox="1"/>
          <p:nvPr/>
        </p:nvSpPr>
        <p:spPr>
          <a:xfrm>
            <a:off x="2977158" y="3433316"/>
            <a:ext cx="27771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No</a:t>
            </a:r>
            <a:endParaRPr lang="en-US" sz="1008" dirty="0"/>
          </a:p>
        </p:txBody>
      </p:sp>
      <p:sp>
        <p:nvSpPr>
          <p:cNvPr id="74" name="Shape 72"/>
          <p:cNvSpPr/>
          <p:nvPr/>
        </p:nvSpPr>
        <p:spPr>
          <a:xfrm>
            <a:off x="6700540" y="3653582"/>
            <a:ext cx="2176760" cy="9525"/>
          </a:xfrm>
          <a:prstGeom prst="rect">
            <a:avLst/>
          </a:prstGeom>
          <a:solidFill>
            <a:srgbClr val="DDD9D2"/>
          </a:solidFill>
          <a:ln/>
        </p:spPr>
      </p:sp>
      <p:sp>
        <p:nvSpPr>
          <p:cNvPr id="75" name="Text 73"/>
          <p:cNvSpPr txBox="1"/>
          <p:nvPr/>
        </p:nvSpPr>
        <p:spPr>
          <a:xfrm>
            <a:off x="6807101" y="3433316"/>
            <a:ext cx="21416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t>
            </a:r>
            <a:endParaRPr lang="en-US" sz="1008" dirty="0"/>
          </a:p>
        </p:txBody>
      </p:sp>
      <p:sp>
        <p:nvSpPr>
          <p:cNvPr id="76" name="Shape 74"/>
          <p:cNvSpPr/>
          <p:nvPr/>
        </p:nvSpPr>
        <p:spPr>
          <a:xfrm>
            <a:off x="457200" y="3943796"/>
            <a:ext cx="8420100" cy="9525"/>
          </a:xfrm>
          <a:prstGeom prst="rect">
            <a:avLst/>
          </a:prstGeom>
          <a:solidFill>
            <a:srgbClr val="9CA3AF">
              <a:alpha val="20000"/>
            </a:srgbClr>
          </a:solidFill>
          <a:ln/>
        </p:spPr>
      </p:sp>
      <p:sp>
        <p:nvSpPr>
          <p:cNvPr id="77" name="Shape 75"/>
          <p:cNvSpPr/>
          <p:nvPr/>
        </p:nvSpPr>
        <p:spPr>
          <a:xfrm>
            <a:off x="457200" y="3943796"/>
            <a:ext cx="2413397" cy="9525"/>
          </a:xfrm>
          <a:prstGeom prst="rect">
            <a:avLst/>
          </a:prstGeom>
          <a:solidFill>
            <a:srgbClr val="DDD9D2"/>
          </a:solidFill>
          <a:ln/>
        </p:spPr>
      </p:sp>
      <p:sp>
        <p:nvSpPr>
          <p:cNvPr id="78" name="Text 76"/>
          <p:cNvSpPr txBox="1"/>
          <p:nvPr/>
        </p:nvSpPr>
        <p:spPr>
          <a:xfrm>
            <a:off x="563761" y="3719959"/>
            <a:ext cx="58221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Custom</a:t>
            </a:r>
            <a:endParaRPr lang="en-US" sz="1008" dirty="0"/>
          </a:p>
        </p:txBody>
      </p:sp>
      <p:sp>
        <p:nvSpPr>
          <p:cNvPr id="79" name="Shape 77"/>
          <p:cNvSpPr/>
          <p:nvPr/>
        </p:nvSpPr>
        <p:spPr>
          <a:xfrm>
            <a:off x="2870597" y="3943796"/>
            <a:ext cx="3829943" cy="9525"/>
          </a:xfrm>
          <a:prstGeom prst="rect">
            <a:avLst/>
          </a:prstGeom>
          <a:solidFill>
            <a:srgbClr val="DDD9D2"/>
          </a:solidFill>
          <a:ln/>
        </p:spPr>
      </p:sp>
      <p:sp>
        <p:nvSpPr>
          <p:cNvPr id="80" name="Text 78"/>
          <p:cNvSpPr txBox="1"/>
          <p:nvPr/>
        </p:nvSpPr>
        <p:spPr>
          <a:xfrm>
            <a:off x="2977158" y="3719959"/>
            <a:ext cx="60022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Your call</a:t>
            </a:r>
            <a:endParaRPr lang="en-US" sz="1008" dirty="0"/>
          </a:p>
        </p:txBody>
      </p:sp>
      <p:sp>
        <p:nvSpPr>
          <p:cNvPr id="81" name="Shape 79"/>
          <p:cNvSpPr/>
          <p:nvPr/>
        </p:nvSpPr>
        <p:spPr>
          <a:xfrm>
            <a:off x="6700540" y="3943796"/>
            <a:ext cx="2176760" cy="9525"/>
          </a:xfrm>
          <a:prstGeom prst="rect">
            <a:avLst/>
          </a:prstGeom>
          <a:solidFill>
            <a:srgbClr val="DDD9D2"/>
          </a:solidFill>
          <a:ln/>
        </p:spPr>
      </p:sp>
      <p:sp>
        <p:nvSpPr>
          <p:cNvPr id="82" name="Shape 80"/>
          <p:cNvSpPr/>
          <p:nvPr/>
        </p:nvSpPr>
        <p:spPr>
          <a:xfrm>
            <a:off x="6807101" y="3720108"/>
            <a:ext cx="791021" cy="180677"/>
          </a:xfrm>
          <a:prstGeom prst="roundRect">
            <a:avLst>
              <a:gd name="adj" fmla="val 21087"/>
            </a:avLst>
          </a:prstGeom>
          <a:solidFill>
            <a:srgbClr val="16303F">
              <a:alpha val="7000"/>
            </a:srgbClr>
          </a:solidFill>
          <a:ln/>
        </p:spPr>
      </p:sp>
      <p:sp>
        <p:nvSpPr>
          <p:cNvPr id="83" name="Text 81"/>
          <p:cNvSpPr txBox="1"/>
          <p:nvPr/>
        </p:nvSpPr>
        <p:spPr>
          <a:xfrm>
            <a:off x="6749951" y="3720108"/>
            <a:ext cx="905321"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OnReload()</a:t>
            </a:r>
            <a:endParaRPr lang="en-US" sz="927" dirty="0"/>
          </a:p>
        </p:txBody>
      </p:sp>
      <p:sp>
        <p:nvSpPr>
          <p:cNvPr id="84" name="Text 82"/>
          <p:cNvSpPr txBox="1"/>
          <p:nvPr/>
        </p:nvSpPr>
        <p:spPr>
          <a:xfrm>
            <a:off x="457200" y="4279999"/>
            <a:ext cx="8130927"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The </a:t>
            </a:r>
            <a:pPr algn="l" indent="0" marL="0">
              <a:buNone/>
            </a:pPr>
            <a:r>
              <a:rPr lang="en-US" sz="1200" b="1" dirty="0">
                <a:solidFill>
                  <a:srgbClr val="44535A"/>
                </a:solidFill>
                <a:latin typeface="Manrope" pitchFamily="34" charset="0"/>
                <a:ea typeface="Manrope" pitchFamily="34" charset="-122"/>
                <a:cs typeface="Manrope" pitchFamily="34" charset="-120"/>
              </a:rPr>
              <a:t>No</a:t>
            </a:r>
            <a:pPr algn="l" indent="0" marL="0">
              <a:buNone/>
            </a:pPr>
            <a:r>
              <a:rPr lang="en-US" sz="1200" dirty="0">
                <a:solidFill>
                  <a:srgbClr val="44535A"/>
                </a:solidFill>
                <a:latin typeface="Manrope" pitchFamily="34" charset="0"/>
                <a:ea typeface="Manrope" pitchFamily="34" charset="-122"/>
                <a:cs typeface="Manrope" pitchFamily="34" charset="-120"/>
              </a:rPr>
              <a:t> rows are the ones that matter: changing an environment variable on a running container does nothing at all.</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2009477"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COORDINATED CHANGE</a:t>
            </a:r>
            <a:endParaRPr lang="en-US" sz="936" dirty="0"/>
          </a:p>
        </p:txBody>
      </p:sp>
      <p:sp>
        <p:nvSpPr>
          <p:cNvPr id="4" name="Text 2"/>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One edit has to reach every instance — or none of them.</a:t>
            </a:r>
            <a:endParaRPr lang="en-US" sz="3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4299496"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Azure App Configuration</a:t>
            </a:r>
            <a:endParaRPr lang="en-US" sz="2820" dirty="0"/>
          </a:p>
        </p:txBody>
      </p:sp>
      <p:sp>
        <p:nvSpPr>
          <p:cNvPr id="4" name="Shape 2"/>
          <p:cNvSpPr/>
          <p:nvPr/>
        </p:nvSpPr>
        <p:spPr>
          <a:xfrm>
            <a:off x="457200" y="1087041"/>
            <a:ext cx="8420100" cy="1652587"/>
          </a:xfrm>
          <a:prstGeom prst="roundRect">
            <a:avLst>
              <a:gd name="adj" fmla="val 2305"/>
            </a:avLst>
          </a:prstGeom>
          <a:solidFill>
            <a:srgbClr val="011627"/>
          </a:solidFill>
          <a:ln/>
        </p:spPr>
      </p:sp>
      <p:sp>
        <p:nvSpPr>
          <p:cNvPr id="5" name="Text 3"/>
          <p:cNvSpPr txBox="1"/>
          <p:nvPr/>
        </p:nvSpPr>
        <p:spPr>
          <a:xfrm>
            <a:off x="533400" y="1172766"/>
            <a:ext cx="8286750" cy="147637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1.  edit  Weather:Timeout      -&gt;  60</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2.  edit  Weather:Retries      -&gt;  5</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3.  edit  Weather:Sentinel     -&gt;  v4      &lt;-- last, always</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next request TRIGGERS a refresh ---------+  it may still serve the OLD</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values; later requests see</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all three change together</a:t>
            </a:r>
            <a:endParaRPr lang="en-US" sz="1125" dirty="0"/>
          </a:p>
        </p:txBody>
      </p:sp>
      <p:sp>
        <p:nvSpPr>
          <p:cNvPr id="6" name="Shape 4"/>
          <p:cNvSpPr/>
          <p:nvPr/>
        </p:nvSpPr>
        <p:spPr>
          <a:xfrm>
            <a:off x="457200" y="2815828"/>
            <a:ext cx="8420100" cy="1223962"/>
          </a:xfrm>
          <a:prstGeom prst="roundRect">
            <a:avLst>
              <a:gd name="adj" fmla="val 3113"/>
            </a:avLst>
          </a:prstGeom>
          <a:solidFill>
            <a:srgbClr val="011627"/>
          </a:solidFill>
          <a:ln/>
        </p:spPr>
      </p:sp>
      <p:sp>
        <p:nvSpPr>
          <p:cNvPr id="7" name="Text 5"/>
          <p:cNvSpPr txBox="1"/>
          <p:nvPr/>
        </p:nvSpPr>
        <p:spPr>
          <a:xfrm>
            <a:off x="533400" y="2901553"/>
            <a:ext cx="8286750" cy="1047750"/>
          </a:xfrm>
          <a:prstGeom prst="rect">
            <a:avLst/>
          </a:prstGeom>
          <a:noFill/>
          <a:ln/>
        </p:spPr>
        <p:txBody>
          <a:bodyPr wrap="square" lIns="0" tIns="0" rIns="0" bIns="0" rtlCol="0" anchor="t"/>
          <a:lstStyle/>
          <a:p>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ConfigureRefresh</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(refresh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=&gt;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refresh</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Register</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Weather:Sentinel</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refreshAll: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SetRefreshInterval</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TimeSpan</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FromSeconds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78C6C"/>
                </a:solidFill>
                <a:latin typeface="JetBrains Mono" pitchFamily="34" charset="0"/>
                <a:ea typeface="JetBrains Mono" pitchFamily="34" charset="-122"/>
                <a:cs typeface="JetBrains Mono" pitchFamily="34" charset="-120"/>
              </a:rPr>
              <a:t>30</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1955453"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CONTROLLED RELEASE</a:t>
            </a:r>
            <a:endParaRPr lang="en-US" sz="936" dirty="0"/>
          </a:p>
        </p:txBody>
      </p:sp>
      <p:sp>
        <p:nvSpPr>
          <p:cNvPr id="4" name="Text 2"/>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Flags are configuration that changes behaviour, not just values.</a:t>
            </a:r>
            <a:endParaRPr lang="en-US" sz="3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5861298"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 feature flag is just configuration</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1373684" cy="19050"/>
          </a:xfrm>
          <a:prstGeom prst="rect">
            <a:avLst/>
          </a:prstGeom>
          <a:solidFill>
            <a:srgbClr val="16303F"/>
          </a:solidFill>
          <a:ln/>
        </p:spPr>
      </p:sp>
      <p:sp>
        <p:nvSpPr>
          <p:cNvPr id="6" name="Text 4"/>
          <p:cNvSpPr txBox="1"/>
          <p:nvPr/>
        </p:nvSpPr>
        <p:spPr>
          <a:xfrm>
            <a:off x="563761" y="1163092"/>
            <a:ext cx="503486"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STAGE</a:t>
            </a:r>
            <a:endParaRPr lang="en-US" sz="816" dirty="0"/>
          </a:p>
        </p:txBody>
      </p:sp>
      <p:sp>
        <p:nvSpPr>
          <p:cNvPr id="7" name="Shape 5"/>
          <p:cNvSpPr/>
          <p:nvPr/>
        </p:nvSpPr>
        <p:spPr>
          <a:xfrm>
            <a:off x="1830884" y="1377404"/>
            <a:ext cx="2158603" cy="19050"/>
          </a:xfrm>
          <a:prstGeom prst="rect">
            <a:avLst/>
          </a:prstGeom>
          <a:solidFill>
            <a:srgbClr val="16303F"/>
          </a:solidFill>
          <a:ln/>
        </p:spPr>
      </p:sp>
      <p:sp>
        <p:nvSpPr>
          <p:cNvPr id="8" name="Text 6"/>
          <p:cNvSpPr txBox="1"/>
          <p:nvPr/>
        </p:nvSpPr>
        <p:spPr>
          <a:xfrm>
            <a:off x="1937445" y="1163092"/>
            <a:ext cx="149616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WHERE THE FLAG LIVES</a:t>
            </a:r>
            <a:endParaRPr lang="en-US" sz="816" dirty="0"/>
          </a:p>
        </p:txBody>
      </p:sp>
      <p:sp>
        <p:nvSpPr>
          <p:cNvPr id="9" name="Shape 7"/>
          <p:cNvSpPr/>
          <p:nvPr/>
        </p:nvSpPr>
        <p:spPr>
          <a:xfrm>
            <a:off x="3989487" y="1377404"/>
            <a:ext cx="4887813" cy="19050"/>
          </a:xfrm>
          <a:prstGeom prst="rect">
            <a:avLst/>
          </a:prstGeom>
          <a:solidFill>
            <a:srgbClr val="16303F"/>
          </a:solidFill>
          <a:ln/>
        </p:spPr>
      </p:sp>
      <p:sp>
        <p:nvSpPr>
          <p:cNvPr id="10" name="Text 8"/>
          <p:cNvSpPr txBox="1"/>
          <p:nvPr/>
        </p:nvSpPr>
        <p:spPr>
          <a:xfrm>
            <a:off x="4096048" y="1163092"/>
            <a:ext cx="99953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WHAT YOU GET</a:t>
            </a:r>
            <a:endParaRPr lang="en-US" sz="816" dirty="0"/>
          </a:p>
        </p:txBody>
      </p:sp>
      <p:sp>
        <p:nvSpPr>
          <p:cNvPr id="11" name="Shape 9"/>
          <p:cNvSpPr/>
          <p:nvPr/>
        </p:nvSpPr>
        <p:spPr>
          <a:xfrm>
            <a:off x="457200" y="1396454"/>
            <a:ext cx="8420100" cy="346323"/>
          </a:xfrm>
          <a:prstGeom prst="rect">
            <a:avLst/>
          </a:prstGeom>
          <a:solidFill>
            <a:srgbClr val="16303F"/>
          </a:solidFill>
          <a:ln/>
        </p:spPr>
      </p:sp>
      <p:sp>
        <p:nvSpPr>
          <p:cNvPr id="12" name="Shape 10"/>
          <p:cNvSpPr/>
          <p:nvPr/>
        </p:nvSpPr>
        <p:spPr>
          <a:xfrm>
            <a:off x="457200" y="1733252"/>
            <a:ext cx="8420100" cy="9525"/>
          </a:xfrm>
          <a:prstGeom prst="rect">
            <a:avLst/>
          </a:prstGeom>
          <a:solidFill>
            <a:srgbClr val="9CA3AF">
              <a:alpha val="20000"/>
            </a:srgbClr>
          </a:solidFill>
          <a:ln/>
        </p:spPr>
      </p:sp>
      <p:sp>
        <p:nvSpPr>
          <p:cNvPr id="13" name="Shape 11"/>
          <p:cNvSpPr/>
          <p:nvPr/>
        </p:nvSpPr>
        <p:spPr>
          <a:xfrm>
            <a:off x="457200" y="1733252"/>
            <a:ext cx="1373684" cy="9525"/>
          </a:xfrm>
          <a:prstGeom prst="rect">
            <a:avLst/>
          </a:prstGeom>
          <a:solidFill>
            <a:srgbClr val="16303F"/>
          </a:solidFill>
          <a:ln/>
        </p:spPr>
      </p:sp>
      <p:sp>
        <p:nvSpPr>
          <p:cNvPr id="14" name="Text 12"/>
          <p:cNvSpPr txBox="1"/>
          <p:nvPr/>
        </p:nvSpPr>
        <p:spPr>
          <a:xfrm>
            <a:off x="563761" y="1479500"/>
            <a:ext cx="731490" cy="180975"/>
          </a:xfrm>
          <a:prstGeom prst="rect">
            <a:avLst/>
          </a:prstGeom>
          <a:noFill/>
          <a:ln/>
        </p:spPr>
        <p:txBody>
          <a:bodyPr wrap="none" lIns="0" tIns="0" rIns="0" bIns="0" rtlCol="0" anchor="t"/>
          <a:lstStyle/>
          <a:p>
            <a:pPr algn="l" indent="0" marL="0">
              <a:buNone/>
            </a:pPr>
            <a:r>
              <a:rPr lang="en-US" sz="1056" b="1" dirty="0">
                <a:solidFill>
                  <a:srgbClr val="F7F6F3"/>
                </a:solidFill>
                <a:latin typeface="Manrope" pitchFamily="34" charset="0"/>
                <a:ea typeface="Manrope" pitchFamily="34" charset="-122"/>
                <a:cs typeface="Manrope" pitchFamily="34" charset="-120"/>
              </a:rPr>
              <a:t>Local dev</a:t>
            </a:r>
            <a:endParaRPr lang="en-US" sz="1056" dirty="0"/>
          </a:p>
        </p:txBody>
      </p:sp>
      <p:sp>
        <p:nvSpPr>
          <p:cNvPr id="15" name="Shape 13"/>
          <p:cNvSpPr/>
          <p:nvPr/>
        </p:nvSpPr>
        <p:spPr>
          <a:xfrm>
            <a:off x="1830884" y="1733252"/>
            <a:ext cx="2158603" cy="9525"/>
          </a:xfrm>
          <a:prstGeom prst="rect">
            <a:avLst/>
          </a:prstGeom>
          <a:solidFill>
            <a:srgbClr val="16303F"/>
          </a:solidFill>
          <a:ln/>
        </p:spPr>
      </p:sp>
      <p:sp>
        <p:nvSpPr>
          <p:cNvPr id="16" name="Shape 14"/>
          <p:cNvSpPr/>
          <p:nvPr/>
        </p:nvSpPr>
        <p:spPr>
          <a:xfrm>
            <a:off x="1937445" y="1488728"/>
            <a:ext cx="1272927" cy="181570"/>
          </a:xfrm>
          <a:prstGeom prst="roundRect">
            <a:avLst>
              <a:gd name="adj" fmla="val 20984"/>
            </a:avLst>
          </a:prstGeom>
          <a:solidFill>
            <a:srgbClr val="F7F6F3">
              <a:alpha val="14000"/>
            </a:srgbClr>
          </a:solidFill>
          <a:ln/>
        </p:spPr>
      </p:sp>
      <p:sp>
        <p:nvSpPr>
          <p:cNvPr id="17" name="Text 15"/>
          <p:cNvSpPr txBox="1"/>
          <p:nvPr/>
        </p:nvSpPr>
        <p:spPr>
          <a:xfrm>
            <a:off x="1880295" y="1488728"/>
            <a:ext cx="1387227" cy="181570"/>
          </a:xfrm>
          <a:prstGeom prst="rect">
            <a:avLst/>
          </a:prstGeom>
          <a:noFill/>
          <a:ln/>
        </p:spPr>
        <p:txBody>
          <a:bodyPr wrap="none" lIns="0" tIns="0" rIns="0" bIns="0" rtlCol="0" anchor="ctr"/>
          <a:lstStyle/>
          <a:p>
            <a:pPr algn="ctr" indent="0" marL="0">
              <a:buNone/>
            </a:pPr>
            <a:r>
              <a:rPr lang="en-US" sz="972" dirty="0">
                <a:solidFill>
                  <a:srgbClr val="F7F6F3"/>
                </a:solidFill>
                <a:latin typeface="JetBrains Mono" pitchFamily="34" charset="0"/>
                <a:ea typeface="JetBrains Mono" pitchFamily="34" charset="-122"/>
                <a:cs typeface="JetBrains Mono" pitchFamily="34" charset="-120"/>
              </a:rPr>
              <a:t>appsettings.json</a:t>
            </a:r>
            <a:endParaRPr lang="en-US" sz="972" dirty="0"/>
          </a:p>
        </p:txBody>
      </p:sp>
      <p:sp>
        <p:nvSpPr>
          <p:cNvPr id="18" name="Shape 16"/>
          <p:cNvSpPr/>
          <p:nvPr/>
        </p:nvSpPr>
        <p:spPr>
          <a:xfrm>
            <a:off x="3989487" y="1733252"/>
            <a:ext cx="4887813" cy="9525"/>
          </a:xfrm>
          <a:prstGeom prst="rect">
            <a:avLst/>
          </a:prstGeom>
          <a:solidFill>
            <a:srgbClr val="16303F"/>
          </a:solidFill>
          <a:ln/>
        </p:spPr>
      </p:sp>
      <p:sp>
        <p:nvSpPr>
          <p:cNvPr id="19" name="Text 17"/>
          <p:cNvSpPr txBox="1"/>
          <p:nvPr/>
        </p:nvSpPr>
        <p:spPr>
          <a:xfrm>
            <a:off x="4096048" y="1479500"/>
            <a:ext cx="3512641" cy="180975"/>
          </a:xfrm>
          <a:prstGeom prst="rect">
            <a:avLst/>
          </a:prstGeom>
          <a:noFill/>
          <a:ln/>
        </p:spPr>
        <p:txBody>
          <a:bodyPr wrap="none" lIns="0" tIns="0" rIns="0" bIns="0" rtlCol="0" anchor="t"/>
          <a:lstStyle/>
          <a:p>
            <a:pPr algn="l" indent="0" marL="0">
              <a:buNone/>
            </a:pPr>
            <a:r>
              <a:rPr lang="en-US" sz="1056" b="1" dirty="0">
                <a:solidFill>
                  <a:srgbClr val="F4C233"/>
                </a:solidFill>
                <a:latin typeface="Manrope" pitchFamily="34" charset="0"/>
                <a:ea typeface="Manrope" pitchFamily="34" charset="-122"/>
                <a:cs typeface="Manrope" pitchFamily="34" charset="-120"/>
              </a:rPr>
              <a:t>Branch in code without branching in git. Zero cloud.</a:t>
            </a:r>
            <a:endParaRPr lang="en-US" sz="1056" dirty="0"/>
          </a:p>
        </p:txBody>
      </p:sp>
      <p:sp>
        <p:nvSpPr>
          <p:cNvPr id="20" name="Shape 18"/>
          <p:cNvSpPr/>
          <p:nvPr/>
        </p:nvSpPr>
        <p:spPr>
          <a:xfrm>
            <a:off x="457200" y="1742777"/>
            <a:ext cx="8420100" cy="338584"/>
          </a:xfrm>
          <a:prstGeom prst="rect">
            <a:avLst/>
          </a:prstGeom>
          <a:solidFill>
            <a:srgbClr val="16303F">
              <a:alpha val="3000"/>
            </a:srgbClr>
          </a:solidFill>
          <a:ln/>
        </p:spPr>
      </p:sp>
      <p:sp>
        <p:nvSpPr>
          <p:cNvPr id="21" name="Shape 19"/>
          <p:cNvSpPr/>
          <p:nvPr/>
        </p:nvSpPr>
        <p:spPr>
          <a:xfrm>
            <a:off x="457200" y="2071836"/>
            <a:ext cx="8420100" cy="9525"/>
          </a:xfrm>
          <a:prstGeom prst="rect">
            <a:avLst/>
          </a:prstGeom>
          <a:solidFill>
            <a:srgbClr val="9CA3AF">
              <a:alpha val="20000"/>
            </a:srgbClr>
          </a:solidFill>
          <a:ln/>
        </p:spPr>
      </p:sp>
      <p:sp>
        <p:nvSpPr>
          <p:cNvPr id="22" name="Shape 20"/>
          <p:cNvSpPr/>
          <p:nvPr/>
        </p:nvSpPr>
        <p:spPr>
          <a:xfrm>
            <a:off x="457200" y="2071836"/>
            <a:ext cx="1373684" cy="9525"/>
          </a:xfrm>
          <a:prstGeom prst="rect">
            <a:avLst/>
          </a:prstGeom>
          <a:solidFill>
            <a:srgbClr val="DDD9D2"/>
          </a:solidFill>
          <a:ln/>
        </p:spPr>
      </p:sp>
      <p:sp>
        <p:nvSpPr>
          <p:cNvPr id="23" name="Text 21"/>
          <p:cNvSpPr txBox="1"/>
          <p:nvPr/>
        </p:nvSpPr>
        <p:spPr>
          <a:xfrm>
            <a:off x="563761" y="1821061"/>
            <a:ext cx="916186"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Deployment</a:t>
            </a:r>
            <a:endParaRPr lang="en-US" sz="1056" dirty="0"/>
          </a:p>
        </p:txBody>
      </p:sp>
      <p:sp>
        <p:nvSpPr>
          <p:cNvPr id="24" name="Shape 22"/>
          <p:cNvSpPr/>
          <p:nvPr/>
        </p:nvSpPr>
        <p:spPr>
          <a:xfrm>
            <a:off x="1830884" y="2071836"/>
            <a:ext cx="2158603" cy="9525"/>
          </a:xfrm>
          <a:prstGeom prst="rect">
            <a:avLst/>
          </a:prstGeom>
          <a:solidFill>
            <a:srgbClr val="DDD9D2"/>
          </a:solidFill>
          <a:ln/>
        </p:spPr>
      </p:sp>
      <p:sp>
        <p:nvSpPr>
          <p:cNvPr id="25" name="Text 23"/>
          <p:cNvSpPr txBox="1"/>
          <p:nvPr/>
        </p:nvSpPr>
        <p:spPr>
          <a:xfrm>
            <a:off x="1937445" y="1821061"/>
            <a:ext cx="140761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environment variable</a:t>
            </a:r>
            <a:endParaRPr lang="en-US" sz="1056" dirty="0"/>
          </a:p>
        </p:txBody>
      </p:sp>
      <p:sp>
        <p:nvSpPr>
          <p:cNvPr id="26" name="Shape 24"/>
          <p:cNvSpPr/>
          <p:nvPr/>
        </p:nvSpPr>
        <p:spPr>
          <a:xfrm>
            <a:off x="3989487" y="2071836"/>
            <a:ext cx="4887813" cy="9525"/>
          </a:xfrm>
          <a:prstGeom prst="rect">
            <a:avLst/>
          </a:prstGeom>
          <a:solidFill>
            <a:srgbClr val="DDD9D2"/>
          </a:solidFill>
          <a:ln/>
        </p:spPr>
      </p:sp>
      <p:sp>
        <p:nvSpPr>
          <p:cNvPr id="27" name="Text 25"/>
          <p:cNvSpPr txBox="1"/>
          <p:nvPr/>
        </p:nvSpPr>
        <p:spPr>
          <a:xfrm>
            <a:off x="4096048" y="1821061"/>
            <a:ext cx="220935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Ship dark, enable per environment</a:t>
            </a:r>
            <a:endParaRPr lang="en-US" sz="1056" dirty="0"/>
          </a:p>
        </p:txBody>
      </p:sp>
      <p:sp>
        <p:nvSpPr>
          <p:cNvPr id="28" name="Shape 26"/>
          <p:cNvSpPr/>
          <p:nvPr/>
        </p:nvSpPr>
        <p:spPr>
          <a:xfrm>
            <a:off x="457200" y="2410420"/>
            <a:ext cx="8420100" cy="9525"/>
          </a:xfrm>
          <a:prstGeom prst="rect">
            <a:avLst/>
          </a:prstGeom>
          <a:solidFill>
            <a:srgbClr val="9CA3AF">
              <a:alpha val="20000"/>
            </a:srgbClr>
          </a:solidFill>
          <a:ln/>
        </p:spPr>
      </p:sp>
      <p:sp>
        <p:nvSpPr>
          <p:cNvPr id="29" name="Shape 27"/>
          <p:cNvSpPr/>
          <p:nvPr/>
        </p:nvSpPr>
        <p:spPr>
          <a:xfrm>
            <a:off x="457200" y="2410420"/>
            <a:ext cx="1373684" cy="9525"/>
          </a:xfrm>
          <a:prstGeom prst="rect">
            <a:avLst/>
          </a:prstGeom>
          <a:solidFill>
            <a:srgbClr val="DDD9D2"/>
          </a:solidFill>
          <a:ln/>
        </p:spPr>
      </p:sp>
      <p:sp>
        <p:nvSpPr>
          <p:cNvPr id="30" name="Text 28"/>
          <p:cNvSpPr txBox="1"/>
          <p:nvPr/>
        </p:nvSpPr>
        <p:spPr>
          <a:xfrm>
            <a:off x="563761" y="2159645"/>
            <a:ext cx="587127"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Shared</a:t>
            </a:r>
            <a:endParaRPr lang="en-US" sz="1056" dirty="0"/>
          </a:p>
        </p:txBody>
      </p:sp>
      <p:sp>
        <p:nvSpPr>
          <p:cNvPr id="31" name="Shape 29"/>
          <p:cNvSpPr/>
          <p:nvPr/>
        </p:nvSpPr>
        <p:spPr>
          <a:xfrm>
            <a:off x="1830884" y="2410420"/>
            <a:ext cx="2158603" cy="9525"/>
          </a:xfrm>
          <a:prstGeom prst="rect">
            <a:avLst/>
          </a:prstGeom>
          <a:solidFill>
            <a:srgbClr val="DDD9D2"/>
          </a:solidFill>
          <a:ln/>
        </p:spPr>
      </p:sp>
      <p:sp>
        <p:nvSpPr>
          <p:cNvPr id="32" name="Text 30"/>
          <p:cNvSpPr txBox="1"/>
          <p:nvPr/>
        </p:nvSpPr>
        <p:spPr>
          <a:xfrm>
            <a:off x="1937445" y="2159645"/>
            <a:ext cx="124405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App Configuration</a:t>
            </a:r>
            <a:endParaRPr lang="en-US" sz="1056" dirty="0"/>
          </a:p>
        </p:txBody>
      </p:sp>
      <p:sp>
        <p:nvSpPr>
          <p:cNvPr id="33" name="Shape 31"/>
          <p:cNvSpPr/>
          <p:nvPr/>
        </p:nvSpPr>
        <p:spPr>
          <a:xfrm>
            <a:off x="3989487" y="2410420"/>
            <a:ext cx="4887813" cy="9525"/>
          </a:xfrm>
          <a:prstGeom prst="rect">
            <a:avLst/>
          </a:prstGeom>
          <a:solidFill>
            <a:srgbClr val="DDD9D2"/>
          </a:solidFill>
          <a:ln/>
        </p:spPr>
      </p:sp>
      <p:sp>
        <p:nvSpPr>
          <p:cNvPr id="34" name="Text 32"/>
          <p:cNvSpPr txBox="1"/>
          <p:nvPr/>
        </p:nvSpPr>
        <p:spPr>
          <a:xfrm>
            <a:off x="4096048" y="2159645"/>
            <a:ext cx="3242965"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Flip at runtime, target a cohort, roll back in seconds</a:t>
            </a:r>
            <a:endParaRPr lang="en-US" sz="1056"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93911"/>
            <a:ext cx="4158704"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Flags start with no cloud at all</a:t>
            </a:r>
            <a:endParaRPr lang="en-US" sz="2280" dirty="0"/>
          </a:p>
        </p:txBody>
      </p:sp>
      <p:sp>
        <p:nvSpPr>
          <p:cNvPr id="4" name="Shape 2"/>
          <p:cNvSpPr/>
          <p:nvPr/>
        </p:nvSpPr>
        <p:spPr>
          <a:xfrm>
            <a:off x="628650" y="762744"/>
            <a:ext cx="8077200" cy="2095500"/>
          </a:xfrm>
          <a:prstGeom prst="roundRect">
            <a:avLst>
              <a:gd name="adj" fmla="val 1818"/>
            </a:avLst>
          </a:prstGeom>
          <a:solidFill>
            <a:srgbClr val="011627"/>
          </a:solidFill>
          <a:ln/>
        </p:spPr>
      </p:sp>
      <p:sp>
        <p:nvSpPr>
          <p:cNvPr id="5" name="Text 3"/>
          <p:cNvSpPr txBox="1"/>
          <p:nvPr/>
        </p:nvSpPr>
        <p:spPr>
          <a:xfrm>
            <a:off x="704850" y="848469"/>
            <a:ext cx="7943850" cy="190976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"feature_management"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"feature_flags"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"id"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89D6"/>
                </a:solidFill>
                <a:latin typeface="JetBrains Mono" pitchFamily="34" charset="0"/>
                <a:ea typeface="JetBrains Mono" pitchFamily="34" charset="-122"/>
                <a:cs typeface="JetBrains Mono" pitchFamily="34" charset="-120"/>
              </a:rPr>
              <a:t>NewCheckout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"enabled"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FF5874"/>
                </a:solidFill>
                <a:latin typeface="JetBrains Mono" pitchFamily="34" charset="0"/>
                <a:ea typeface="JetBrains Mono" pitchFamily="34" charset="-122"/>
                <a:cs typeface="JetBrains Mono" pitchFamily="34" charset="-120"/>
              </a:rPr>
              <a:t>false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"id"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89D6"/>
                </a:solidFill>
                <a:latin typeface="JetBrains Mono" pitchFamily="34" charset="0"/>
                <a:ea typeface="JetBrains Mono" pitchFamily="34" charset="-122"/>
                <a:cs typeface="JetBrains Mono" pitchFamily="34" charset="-120"/>
              </a:rPr>
              <a:t>BetaBanner</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"enabled"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FF5874"/>
                </a:solidFill>
                <a:latin typeface="JetBrains Mono" pitchFamily="34" charset="0"/>
                <a:ea typeface="JetBrains Mono" pitchFamily="34" charset="-122"/>
                <a:cs typeface="JetBrains Mono" pitchFamily="34" charset="-120"/>
              </a:rPr>
              <a:t>true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
        <p:nvSpPr>
          <p:cNvPr id="6" name="Shape 4"/>
          <p:cNvSpPr/>
          <p:nvPr/>
        </p:nvSpPr>
        <p:spPr>
          <a:xfrm>
            <a:off x="628650" y="3071515"/>
            <a:ext cx="8077200" cy="881063"/>
          </a:xfrm>
          <a:prstGeom prst="roundRect">
            <a:avLst>
              <a:gd name="adj" fmla="val 4324"/>
            </a:avLst>
          </a:prstGeom>
          <a:solidFill>
            <a:srgbClr val="011627"/>
          </a:solidFill>
          <a:ln/>
        </p:spPr>
      </p:sp>
      <p:sp>
        <p:nvSpPr>
          <p:cNvPr id="7" name="Text 5"/>
          <p:cNvSpPr txBox="1"/>
          <p:nvPr/>
        </p:nvSpPr>
        <p:spPr>
          <a:xfrm>
            <a:off x="704850" y="3157240"/>
            <a:ext cx="7943850" cy="695325"/>
          </a:xfrm>
          <a:prstGeom prst="rect">
            <a:avLst/>
          </a:prstGeom>
          <a:noFill/>
          <a:ln/>
        </p:spPr>
        <p:txBody>
          <a:bodyPr wrap="square" lIns="0" tIns="0" rIns="0" bIns="0" rtlCol="0" anchor="t"/>
          <a:lstStyle/>
          <a:p>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Services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AddFeatureManagement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if</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await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 features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IsEnabledAsync</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NewCheckout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ct)) {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endParaRPr lang="en-US" sz="1275" dirty="0"/>
          </a:p>
        </p:txBody>
      </p:sp>
      <p:sp>
        <p:nvSpPr>
          <p:cNvPr id="8" name="Text 6"/>
          <p:cNvSpPr txBox="1"/>
          <p:nvPr/>
        </p:nvSpPr>
        <p:spPr>
          <a:xfrm>
            <a:off x="628650" y="4403973"/>
            <a:ext cx="8155326"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That is the entire setup. No cloud service, no cloud account, no network dependency — just a NuGet package and a JSON section.</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5089327"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50% of users, or 50% of calls?</a:t>
            </a:r>
            <a:endParaRPr lang="en-US" sz="2820" dirty="0"/>
          </a:p>
        </p:txBody>
      </p:sp>
      <p:sp>
        <p:nvSpPr>
          <p:cNvPr id="4" name="Shape 2"/>
          <p:cNvSpPr/>
          <p:nvPr/>
        </p:nvSpPr>
        <p:spPr>
          <a:xfrm>
            <a:off x="457200" y="1087041"/>
            <a:ext cx="8420100" cy="2081212"/>
          </a:xfrm>
          <a:prstGeom prst="roundRect">
            <a:avLst>
              <a:gd name="adj" fmla="val 1831"/>
            </a:avLst>
          </a:prstGeom>
          <a:solidFill>
            <a:srgbClr val="011627"/>
          </a:solidFill>
          <a:ln/>
        </p:spPr>
      </p:sp>
      <p:sp>
        <p:nvSpPr>
          <p:cNvPr id="5" name="Text 3"/>
          <p:cNvSpPr txBox="1"/>
          <p:nvPr/>
        </p:nvSpPr>
        <p:spPr>
          <a:xfrm>
            <a:off x="533400" y="1172766"/>
            <a:ext cx="8286750" cy="1905000"/>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"id"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C789D6"/>
                </a:solidFill>
                <a:latin typeface="JetBrains Mono" pitchFamily="34" charset="0"/>
                <a:ea typeface="JetBrains Mono" pitchFamily="34" charset="-122"/>
                <a:cs typeface="JetBrains Mono" pitchFamily="34" charset="-120"/>
              </a:rPr>
              <a:t>NewCheckout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"enabled"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"conditions"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"client_filters"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"name"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C789D6"/>
                </a:solidFill>
                <a:latin typeface="JetBrains Mono" pitchFamily="34" charset="0"/>
                <a:ea typeface="JetBrains Mono" pitchFamily="34" charset="-122"/>
                <a:cs typeface="JetBrains Mono" pitchFamily="34" charset="-120"/>
              </a:rPr>
              <a:t>Microsoft.Percentage</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"parameters"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"Value"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F78C6C"/>
                </a:solidFill>
                <a:latin typeface="JetBrains Mono" pitchFamily="34" charset="0"/>
                <a:ea typeface="JetBrains Mono" pitchFamily="34" charset="-122"/>
                <a:cs typeface="JetBrains Mono" pitchFamily="34" charset="-120"/>
              </a:rPr>
              <a:t>50</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 }</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
        <p:nvSpPr>
          <p:cNvPr id="6" name="Shape 4"/>
          <p:cNvSpPr/>
          <p:nvPr/>
        </p:nvSpPr>
        <p:spPr>
          <a:xfrm>
            <a:off x="457200" y="3320653"/>
            <a:ext cx="38100" cy="533400"/>
          </a:xfrm>
          <a:prstGeom prst="rect">
            <a:avLst/>
          </a:prstGeom>
          <a:solidFill>
            <a:srgbClr val="F4C233"/>
          </a:solidFill>
          <a:ln/>
        </p:spPr>
      </p:sp>
      <p:sp>
        <p:nvSpPr>
          <p:cNvPr id="7" name="Text 5"/>
          <p:cNvSpPr txBox="1"/>
          <p:nvPr/>
        </p:nvSpPr>
        <p:spPr>
          <a:xfrm>
            <a:off x="617190" y="3482578"/>
            <a:ext cx="5832723"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“Same user, same session, checks this flag twice. Same answer both times?”</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4349502" cy="419100"/>
          </a:xfrm>
          <a:prstGeom prst="rect">
            <a:avLst/>
          </a:prstGeom>
          <a:noFill/>
          <a:ln/>
        </p:spPr>
        <p:txBody>
          <a:bodyPr wrap="none" lIns="0" tIns="0" rIns="0" bIns="0" rtlCol="0" anchor="t"/>
          <a:lstStyle/>
          <a:p>
            <a:pPr algn="l" indent="0" marL="0">
              <a:buNone/>
            </a:pPr>
            <a:r>
              <a:rPr lang="en-US" sz="2400" b="1" spc="-48" kern="0" dirty="0">
                <a:solidFill>
                  <a:srgbClr val="16303F"/>
                </a:solidFill>
                <a:latin typeface="Manrope" pitchFamily="34" charset="0"/>
                <a:ea typeface="Manrope" pitchFamily="34" charset="-122"/>
                <a:cs typeface="Manrope" pitchFamily="34" charset="-120"/>
              </a:rPr>
              <a:t>50% of users, or 50% of calls?</a:t>
            </a:r>
            <a:endParaRPr lang="en-US" sz="2400" dirty="0"/>
          </a:p>
        </p:txBody>
      </p:sp>
      <p:sp>
        <p:nvSpPr>
          <p:cNvPr id="4" name="Shape 2"/>
          <p:cNvSpPr/>
          <p:nvPr/>
        </p:nvSpPr>
        <p:spPr>
          <a:xfrm>
            <a:off x="304800" y="1058912"/>
            <a:ext cx="8724900" cy="1123950"/>
          </a:xfrm>
          <a:prstGeom prst="roundRect">
            <a:avLst>
              <a:gd name="adj" fmla="val 3390"/>
            </a:avLst>
          </a:prstGeom>
          <a:solidFill>
            <a:srgbClr val="011627"/>
          </a:solidFill>
          <a:ln/>
        </p:spPr>
      </p:sp>
      <p:sp>
        <p:nvSpPr>
          <p:cNvPr id="5" name="Text 3"/>
          <p:cNvSpPr txBox="1"/>
          <p:nvPr/>
        </p:nvSpPr>
        <p:spPr>
          <a:xfrm>
            <a:off x="381000" y="1144637"/>
            <a:ext cx="8591550" cy="93821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D29 - Microsoft.Percentage is per-call, not per-user</a:t>
            </a: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percentage   true  false true  true  false false true  false true  true</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targeting    true  true  true  true  true  true  true  true  true  true</a:t>
            </a:r>
            <a:endParaRPr lang="en-US" sz="1275" dirty="0"/>
          </a:p>
        </p:txBody>
      </p:sp>
      <p:sp>
        <p:nvSpPr>
          <p:cNvPr id="6" name="Shape 4"/>
          <p:cNvSpPr/>
          <p:nvPr/>
        </p:nvSpPr>
        <p:spPr>
          <a:xfrm>
            <a:off x="304800" y="2335262"/>
            <a:ext cx="38100" cy="533400"/>
          </a:xfrm>
          <a:prstGeom prst="rect">
            <a:avLst/>
          </a:prstGeom>
          <a:solidFill>
            <a:srgbClr val="F4C233"/>
          </a:solidFill>
          <a:ln/>
        </p:spPr>
      </p:sp>
      <p:sp>
        <p:nvSpPr>
          <p:cNvPr id="7" name="Shape 5"/>
          <p:cNvSpPr/>
          <p:nvPr/>
        </p:nvSpPr>
        <p:spPr>
          <a:xfrm>
            <a:off x="464790" y="2505373"/>
            <a:ext cx="1739205" cy="202704"/>
          </a:xfrm>
          <a:prstGeom prst="roundRect">
            <a:avLst>
              <a:gd name="adj" fmla="val 18796"/>
            </a:avLst>
          </a:prstGeom>
          <a:solidFill>
            <a:srgbClr val="16303F">
              <a:alpha val="7000"/>
            </a:srgbClr>
          </a:solidFill>
          <a:ln/>
        </p:spPr>
      </p:sp>
      <p:sp>
        <p:nvSpPr>
          <p:cNvPr id="8" name="Text 6"/>
          <p:cNvSpPr txBox="1"/>
          <p:nvPr/>
        </p:nvSpPr>
        <p:spPr>
          <a:xfrm>
            <a:off x="511373" y="2497187"/>
            <a:ext cx="4337745"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Microsoft.Percentage</a:t>
            </a:r>
            <a:pPr algn="l" indent="0" marL="0">
              <a:buNone/>
            </a:pPr>
            <a:r>
              <a:rPr lang="en-US" sz="1200" b="1" dirty="0">
                <a:solidFill>
                  <a:srgbClr val="16303F"/>
                </a:solidFill>
                <a:latin typeface="Manrope" pitchFamily="34" charset="0"/>
                <a:ea typeface="Manrope" pitchFamily="34" charset="-122"/>
                <a:cs typeface="Manrope" pitchFamily="34" charset="-120"/>
              </a:rPr>
              <a:t> is evaluated per call, not per user.</a:t>
            </a:r>
            <a:endParaRPr lang="en-US" sz="1080" dirty="0"/>
          </a:p>
        </p:txBody>
      </p:sp>
      <p:sp>
        <p:nvSpPr>
          <p:cNvPr id="9" name="Shape 7"/>
          <p:cNvSpPr/>
          <p:nvPr/>
        </p:nvSpPr>
        <p:spPr>
          <a:xfrm>
            <a:off x="1476821" y="3381673"/>
            <a:ext cx="422374" cy="202704"/>
          </a:xfrm>
          <a:prstGeom prst="roundRect">
            <a:avLst>
              <a:gd name="adj" fmla="val 18796"/>
            </a:avLst>
          </a:prstGeom>
          <a:solidFill>
            <a:srgbClr val="16303F">
              <a:alpha val="7000"/>
            </a:srgbClr>
          </a:solidFill>
          <a:ln/>
        </p:spPr>
      </p:sp>
      <p:sp>
        <p:nvSpPr>
          <p:cNvPr id="10" name="Text 8"/>
          <p:cNvSpPr txBox="1"/>
          <p:nvPr/>
        </p:nvSpPr>
        <p:spPr>
          <a:xfrm>
            <a:off x="304800" y="3144887"/>
            <a:ext cx="8881863"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nav bar says new checkout, the checkout page says old, and it is invisible in a single test run. The fix: targeting, or variant allocation with a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seed</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that is what gives a stable per-user assignment.</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1126778"/>
            <a:ext cx="4089202"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Boolean flags are not enough</a:t>
            </a:r>
            <a:endParaRPr lang="en-US" sz="2280" dirty="0"/>
          </a:p>
        </p:txBody>
      </p:sp>
      <p:sp>
        <p:nvSpPr>
          <p:cNvPr id="4" name="Shape 2"/>
          <p:cNvSpPr/>
          <p:nvPr/>
        </p:nvSpPr>
        <p:spPr>
          <a:xfrm>
            <a:off x="628650" y="1795611"/>
            <a:ext cx="8077200" cy="1123950"/>
          </a:xfrm>
          <a:prstGeom prst="roundRect">
            <a:avLst>
              <a:gd name="adj" fmla="val 3390"/>
            </a:avLst>
          </a:prstGeom>
          <a:solidFill>
            <a:srgbClr val="011627"/>
          </a:solidFill>
          <a:ln/>
        </p:spPr>
      </p:sp>
      <p:sp>
        <p:nvSpPr>
          <p:cNvPr id="5" name="Text 3"/>
          <p:cNvSpPr txBox="1"/>
          <p:nvPr/>
        </p:nvSpPr>
        <p:spPr>
          <a:xfrm>
            <a:off x="704850" y="1881336"/>
            <a:ext cx="7943850" cy="93821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Variant variant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 await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 features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GetVariantAsync</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CheckoutLayout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ct);</a:t>
            </a:r>
            <a:br/>
            <a:pPr algn="l" indent="0" marL="0">
              <a:lnSpc>
                <a:spcPts val="1913"/>
              </a:lnSpc>
              <a:buNone/>
            </a:pP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var</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settings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 new</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CheckoutLayoutSettings();</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variant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Bind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(settings);   </a:t>
            </a:r>
            <a:pPr algn="l" indent="0" marL="0">
              <a:lnSpc>
                <a:spcPts val="1913"/>
              </a:lnSpc>
              <a:buNone/>
            </a:pPr>
            <a:r>
              <a:rPr lang="en-US" sz="1275" dirty="0">
                <a:solidFill>
                  <a:srgbClr val="637777"/>
                </a:solidFill>
                <a:latin typeface="JetBrains Mono" pitchFamily="34" charset="0"/>
                <a:ea typeface="JetBrains Mono" pitchFamily="34" charset="-122"/>
                <a:cs typeface="JetBrains Mono" pitchFamily="34" charset="-120"/>
              </a:rPr>
              <a:t>// it's an IConfigurationSection</a:t>
            </a:r>
            <a:endParaRPr lang="en-US" sz="1275" dirty="0"/>
          </a:p>
        </p:txBody>
      </p:sp>
      <p:sp>
        <p:nvSpPr>
          <p:cNvPr id="6" name="Text 4"/>
          <p:cNvSpPr txBox="1"/>
          <p:nvPr/>
        </p:nvSpPr>
        <p:spPr>
          <a:xfrm>
            <a:off x="628650" y="3370957"/>
            <a:ext cx="80962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last line is the whole point: a variant hands you a configuration section, so you bind it like anything else in this talk.</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4739432" y="468511"/>
            <a:ext cx="486817" cy="466725"/>
          </a:xfrm>
          <a:prstGeom prst="roundRect">
            <a:avLst>
              <a:gd name="adj" fmla="val 8163"/>
            </a:avLst>
          </a:prstGeom>
          <a:solidFill>
            <a:srgbClr val="F5F5F5"/>
          </a:solidFill>
          <a:ln/>
        </p:spPr>
      </p:sp>
      <p:sp>
        <p:nvSpPr>
          <p:cNvPr id="4" name="Text 2"/>
          <p:cNvSpPr txBox="1"/>
          <p:nvPr/>
        </p:nvSpPr>
        <p:spPr>
          <a:xfrm>
            <a:off x="457200" y="439936"/>
            <a:ext cx="8575369" cy="879574"/>
          </a:xfrm>
          <a:prstGeom prst="rect">
            <a:avLst/>
          </a:prstGeom>
          <a:noFill/>
          <a:ln/>
        </p:spPr>
        <p:txBody>
          <a:bodyPr wrap="square" lIns="0" tIns="0" rIns="0" bIns="0" rtlCol="0" anchor="t"/>
          <a:lstStyle/>
          <a:p>
            <a:pPr algn="l" indent="0" marL="0">
              <a:lnSpc>
                <a:spcPts val="3101"/>
              </a:lnSpc>
              <a:buNone/>
            </a:pPr>
            <a:r>
              <a:rPr lang="en-US" sz="2820" b="1" spc="-56" kern="0" dirty="0">
                <a:solidFill>
                  <a:srgbClr val="16303F"/>
                </a:solidFill>
                <a:latin typeface="Manrope" pitchFamily="34" charset="0"/>
                <a:ea typeface="Manrope" pitchFamily="34" charset="-122"/>
                <a:cs typeface="Manrope" pitchFamily="34" charset="-120"/>
              </a:rPr>
              <a:t>Every flag is a permanent </a:t>
            </a:r>
            <a:pPr algn="l" indent="0" marL="0">
              <a:lnSpc>
                <a:spcPts val="3101"/>
              </a:lnSpc>
              <a:buNone/>
            </a:pPr>
            <a:r>
              <a:rPr lang="en-US" sz="2538" spc="-56" kern="0" dirty="0">
                <a:solidFill>
                  <a:srgbClr val="16303F"/>
                </a:solidFill>
                <a:latin typeface="JetBrains Mono" pitchFamily="34" charset="0"/>
                <a:ea typeface="JetBrains Mono" pitchFamily="34" charset="-122"/>
                <a:cs typeface="JetBrains Mono" pitchFamily="34" charset="-120"/>
              </a:rPr>
              <a:t>if</a:t>
            </a:r>
            <a:pPr algn="l" indent="0" marL="0">
              <a:lnSpc>
                <a:spcPts val="3101"/>
              </a:lnSpc>
              <a:buNone/>
            </a:pPr>
            <a:r>
              <a:rPr lang="en-US" sz="2820" b="1" spc="-56" kern="0" dirty="0">
                <a:solidFill>
                  <a:srgbClr val="16303F"/>
                </a:solidFill>
                <a:latin typeface="Manrope" pitchFamily="34" charset="0"/>
                <a:ea typeface="Manrope" pitchFamily="34" charset="-122"/>
                <a:cs typeface="Manrope" pitchFamily="34" charset="-120"/>
              </a:rPr>
              <a:t> with an owner and an expiry</a:t>
            </a:r>
            <a:endParaRPr lang="en-US" sz="2820" dirty="0"/>
          </a:p>
        </p:txBody>
      </p:sp>
      <p:sp>
        <p:nvSpPr>
          <p:cNvPr id="5" name="Shape 3"/>
          <p:cNvSpPr/>
          <p:nvPr/>
        </p:nvSpPr>
        <p:spPr>
          <a:xfrm>
            <a:off x="457200" y="1780729"/>
            <a:ext cx="8420100" cy="9525"/>
          </a:xfrm>
          <a:prstGeom prst="rect">
            <a:avLst/>
          </a:prstGeom>
          <a:solidFill>
            <a:srgbClr val="9CA3AF">
              <a:alpha val="20000"/>
            </a:srgbClr>
          </a:solidFill>
          <a:ln/>
        </p:spPr>
      </p:sp>
      <p:sp>
        <p:nvSpPr>
          <p:cNvPr id="6" name="Shape 4"/>
          <p:cNvSpPr/>
          <p:nvPr/>
        </p:nvSpPr>
        <p:spPr>
          <a:xfrm>
            <a:off x="457200" y="1771204"/>
            <a:ext cx="2051149" cy="19050"/>
          </a:xfrm>
          <a:prstGeom prst="rect">
            <a:avLst/>
          </a:prstGeom>
          <a:solidFill>
            <a:srgbClr val="16303F"/>
          </a:solidFill>
          <a:ln/>
        </p:spPr>
      </p:sp>
      <p:sp>
        <p:nvSpPr>
          <p:cNvPr id="7" name="Text 5"/>
          <p:cNvSpPr txBox="1"/>
          <p:nvPr/>
        </p:nvSpPr>
        <p:spPr>
          <a:xfrm>
            <a:off x="563761" y="1556891"/>
            <a:ext cx="40451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KIND</a:t>
            </a:r>
            <a:endParaRPr lang="en-US" sz="816" dirty="0"/>
          </a:p>
        </p:txBody>
      </p:sp>
      <p:sp>
        <p:nvSpPr>
          <p:cNvPr id="8" name="Shape 6"/>
          <p:cNvSpPr/>
          <p:nvPr/>
        </p:nvSpPr>
        <p:spPr>
          <a:xfrm>
            <a:off x="2508349" y="1771204"/>
            <a:ext cx="1810494" cy="19050"/>
          </a:xfrm>
          <a:prstGeom prst="rect">
            <a:avLst/>
          </a:prstGeom>
          <a:solidFill>
            <a:srgbClr val="16303F"/>
          </a:solidFill>
          <a:ln/>
        </p:spPr>
      </p:sp>
      <p:sp>
        <p:nvSpPr>
          <p:cNvPr id="9" name="Text 7"/>
          <p:cNvSpPr txBox="1"/>
          <p:nvPr/>
        </p:nvSpPr>
        <p:spPr>
          <a:xfrm>
            <a:off x="2614910" y="1556891"/>
            <a:ext cx="71631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LIVES FOR</a:t>
            </a:r>
            <a:endParaRPr lang="en-US" sz="816" dirty="0"/>
          </a:p>
        </p:txBody>
      </p:sp>
      <p:sp>
        <p:nvSpPr>
          <p:cNvPr id="10" name="Shape 8"/>
          <p:cNvSpPr/>
          <p:nvPr/>
        </p:nvSpPr>
        <p:spPr>
          <a:xfrm>
            <a:off x="4318843" y="1771204"/>
            <a:ext cx="4558457" cy="19050"/>
          </a:xfrm>
          <a:prstGeom prst="rect">
            <a:avLst/>
          </a:prstGeom>
          <a:solidFill>
            <a:srgbClr val="16303F"/>
          </a:solidFill>
          <a:ln/>
        </p:spPr>
      </p:sp>
      <p:sp>
        <p:nvSpPr>
          <p:cNvPr id="11" name="Text 9"/>
          <p:cNvSpPr txBox="1"/>
          <p:nvPr/>
        </p:nvSpPr>
        <p:spPr>
          <a:xfrm>
            <a:off x="4425404" y="1556891"/>
            <a:ext cx="43175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THEN</a:t>
            </a:r>
            <a:endParaRPr lang="en-US" sz="816" dirty="0"/>
          </a:p>
        </p:txBody>
      </p:sp>
      <p:sp>
        <p:nvSpPr>
          <p:cNvPr id="12" name="Shape 10"/>
          <p:cNvSpPr/>
          <p:nvPr/>
        </p:nvSpPr>
        <p:spPr>
          <a:xfrm>
            <a:off x="457200" y="2124075"/>
            <a:ext cx="8420100" cy="9525"/>
          </a:xfrm>
          <a:prstGeom prst="rect">
            <a:avLst/>
          </a:prstGeom>
          <a:solidFill>
            <a:srgbClr val="9CA3AF">
              <a:alpha val="20000"/>
            </a:srgbClr>
          </a:solidFill>
          <a:ln/>
        </p:spPr>
      </p:sp>
      <p:sp>
        <p:nvSpPr>
          <p:cNvPr id="13" name="Shape 11"/>
          <p:cNvSpPr/>
          <p:nvPr/>
        </p:nvSpPr>
        <p:spPr>
          <a:xfrm>
            <a:off x="457200" y="2124075"/>
            <a:ext cx="2051149" cy="9525"/>
          </a:xfrm>
          <a:prstGeom prst="rect">
            <a:avLst/>
          </a:prstGeom>
          <a:solidFill>
            <a:srgbClr val="DDD9D2"/>
          </a:solidFill>
          <a:ln/>
        </p:spPr>
      </p:sp>
      <p:sp>
        <p:nvSpPr>
          <p:cNvPr id="14" name="Text 12"/>
          <p:cNvSpPr txBox="1"/>
          <p:nvPr/>
        </p:nvSpPr>
        <p:spPr>
          <a:xfrm>
            <a:off x="563761" y="1873300"/>
            <a:ext cx="602754"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release</a:t>
            </a:r>
            <a:endParaRPr lang="en-US" sz="1056" dirty="0"/>
          </a:p>
        </p:txBody>
      </p:sp>
      <p:sp>
        <p:nvSpPr>
          <p:cNvPr id="15" name="Shape 13"/>
          <p:cNvSpPr/>
          <p:nvPr/>
        </p:nvSpPr>
        <p:spPr>
          <a:xfrm>
            <a:off x="2508349" y="2124075"/>
            <a:ext cx="1810494" cy="9525"/>
          </a:xfrm>
          <a:prstGeom prst="rect">
            <a:avLst/>
          </a:prstGeom>
          <a:solidFill>
            <a:srgbClr val="DDD9D2"/>
          </a:solidFill>
          <a:ln/>
        </p:spPr>
      </p:sp>
      <p:sp>
        <p:nvSpPr>
          <p:cNvPr id="16" name="Text 14"/>
          <p:cNvSpPr txBox="1"/>
          <p:nvPr/>
        </p:nvSpPr>
        <p:spPr>
          <a:xfrm>
            <a:off x="2614910" y="1873300"/>
            <a:ext cx="982117"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days to weeks</a:t>
            </a:r>
            <a:endParaRPr lang="en-US" sz="1056" dirty="0"/>
          </a:p>
        </p:txBody>
      </p:sp>
      <p:sp>
        <p:nvSpPr>
          <p:cNvPr id="17" name="Shape 15"/>
          <p:cNvSpPr/>
          <p:nvPr/>
        </p:nvSpPr>
        <p:spPr>
          <a:xfrm>
            <a:off x="4318843" y="2124075"/>
            <a:ext cx="4558457" cy="9525"/>
          </a:xfrm>
          <a:prstGeom prst="rect">
            <a:avLst/>
          </a:prstGeom>
          <a:solidFill>
            <a:srgbClr val="DDD9D2"/>
          </a:solidFill>
          <a:ln/>
        </p:spPr>
      </p:sp>
      <p:sp>
        <p:nvSpPr>
          <p:cNvPr id="18" name="Text 16"/>
          <p:cNvSpPr txBox="1"/>
          <p:nvPr/>
        </p:nvSpPr>
        <p:spPr>
          <a:xfrm>
            <a:off x="4425404" y="1873300"/>
            <a:ext cx="1266527"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delete after rollout</a:t>
            </a:r>
            <a:endParaRPr lang="en-US" sz="1056" dirty="0"/>
          </a:p>
        </p:txBody>
      </p:sp>
      <p:sp>
        <p:nvSpPr>
          <p:cNvPr id="19" name="Shape 17"/>
          <p:cNvSpPr/>
          <p:nvPr/>
        </p:nvSpPr>
        <p:spPr>
          <a:xfrm>
            <a:off x="457200" y="2133600"/>
            <a:ext cx="8420100" cy="338584"/>
          </a:xfrm>
          <a:prstGeom prst="rect">
            <a:avLst/>
          </a:prstGeom>
          <a:solidFill>
            <a:srgbClr val="16303F">
              <a:alpha val="3000"/>
            </a:srgbClr>
          </a:solidFill>
          <a:ln/>
        </p:spPr>
      </p:sp>
      <p:sp>
        <p:nvSpPr>
          <p:cNvPr id="20" name="Shape 18"/>
          <p:cNvSpPr/>
          <p:nvPr/>
        </p:nvSpPr>
        <p:spPr>
          <a:xfrm>
            <a:off x="457200" y="2462659"/>
            <a:ext cx="8420100" cy="9525"/>
          </a:xfrm>
          <a:prstGeom prst="rect">
            <a:avLst/>
          </a:prstGeom>
          <a:solidFill>
            <a:srgbClr val="9CA3AF">
              <a:alpha val="20000"/>
            </a:srgbClr>
          </a:solidFill>
          <a:ln/>
        </p:spPr>
      </p:sp>
      <p:sp>
        <p:nvSpPr>
          <p:cNvPr id="21" name="Shape 19"/>
          <p:cNvSpPr/>
          <p:nvPr/>
        </p:nvSpPr>
        <p:spPr>
          <a:xfrm>
            <a:off x="457200" y="2462659"/>
            <a:ext cx="2051149" cy="9525"/>
          </a:xfrm>
          <a:prstGeom prst="rect">
            <a:avLst/>
          </a:prstGeom>
          <a:solidFill>
            <a:srgbClr val="DDD9D2"/>
          </a:solidFill>
          <a:ln/>
        </p:spPr>
      </p:sp>
      <p:sp>
        <p:nvSpPr>
          <p:cNvPr id="22" name="Text 20"/>
          <p:cNvSpPr txBox="1"/>
          <p:nvPr/>
        </p:nvSpPr>
        <p:spPr>
          <a:xfrm>
            <a:off x="563761" y="2211884"/>
            <a:ext cx="874812"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experiment</a:t>
            </a:r>
            <a:endParaRPr lang="en-US" sz="1056" dirty="0"/>
          </a:p>
        </p:txBody>
      </p:sp>
      <p:sp>
        <p:nvSpPr>
          <p:cNvPr id="23" name="Shape 21"/>
          <p:cNvSpPr/>
          <p:nvPr/>
        </p:nvSpPr>
        <p:spPr>
          <a:xfrm>
            <a:off x="2508349" y="2462659"/>
            <a:ext cx="1810494" cy="9525"/>
          </a:xfrm>
          <a:prstGeom prst="rect">
            <a:avLst/>
          </a:prstGeom>
          <a:solidFill>
            <a:srgbClr val="DDD9D2"/>
          </a:solidFill>
          <a:ln/>
        </p:spPr>
      </p:sp>
      <p:sp>
        <p:nvSpPr>
          <p:cNvPr id="24" name="Text 22"/>
          <p:cNvSpPr txBox="1"/>
          <p:nvPr/>
        </p:nvSpPr>
        <p:spPr>
          <a:xfrm>
            <a:off x="2614910" y="2211884"/>
            <a:ext cx="507057"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weeks</a:t>
            </a:r>
            <a:endParaRPr lang="en-US" sz="1056" dirty="0"/>
          </a:p>
        </p:txBody>
      </p:sp>
      <p:sp>
        <p:nvSpPr>
          <p:cNvPr id="25" name="Shape 23"/>
          <p:cNvSpPr/>
          <p:nvPr/>
        </p:nvSpPr>
        <p:spPr>
          <a:xfrm>
            <a:off x="4318843" y="2462659"/>
            <a:ext cx="4558457" cy="9525"/>
          </a:xfrm>
          <a:prstGeom prst="rect">
            <a:avLst/>
          </a:prstGeom>
          <a:solidFill>
            <a:srgbClr val="DDD9D2"/>
          </a:solidFill>
          <a:ln/>
        </p:spPr>
      </p:sp>
      <p:sp>
        <p:nvSpPr>
          <p:cNvPr id="26" name="Text 24"/>
          <p:cNvSpPr txBox="1"/>
          <p:nvPr/>
        </p:nvSpPr>
        <p:spPr>
          <a:xfrm>
            <a:off x="4425404" y="2211884"/>
            <a:ext cx="162550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delete after the decision</a:t>
            </a:r>
            <a:endParaRPr lang="en-US" sz="1056" dirty="0"/>
          </a:p>
        </p:txBody>
      </p:sp>
      <p:sp>
        <p:nvSpPr>
          <p:cNvPr id="27" name="Shape 25"/>
          <p:cNvSpPr/>
          <p:nvPr/>
        </p:nvSpPr>
        <p:spPr>
          <a:xfrm>
            <a:off x="457200" y="2801243"/>
            <a:ext cx="8420100" cy="9525"/>
          </a:xfrm>
          <a:prstGeom prst="rect">
            <a:avLst/>
          </a:prstGeom>
          <a:solidFill>
            <a:srgbClr val="9CA3AF">
              <a:alpha val="20000"/>
            </a:srgbClr>
          </a:solidFill>
          <a:ln/>
        </p:spPr>
      </p:sp>
      <p:sp>
        <p:nvSpPr>
          <p:cNvPr id="28" name="Shape 26"/>
          <p:cNvSpPr/>
          <p:nvPr/>
        </p:nvSpPr>
        <p:spPr>
          <a:xfrm>
            <a:off x="457200" y="2801243"/>
            <a:ext cx="2051149" cy="9525"/>
          </a:xfrm>
          <a:prstGeom prst="rect">
            <a:avLst/>
          </a:prstGeom>
          <a:solidFill>
            <a:srgbClr val="DDD9D2"/>
          </a:solidFill>
          <a:ln/>
        </p:spPr>
      </p:sp>
      <p:sp>
        <p:nvSpPr>
          <p:cNvPr id="29" name="Text 27"/>
          <p:cNvSpPr txBox="1"/>
          <p:nvPr/>
        </p:nvSpPr>
        <p:spPr>
          <a:xfrm>
            <a:off x="563761" y="2550468"/>
            <a:ext cx="1125736"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ops / kill switch</a:t>
            </a:r>
            <a:endParaRPr lang="en-US" sz="1056" dirty="0"/>
          </a:p>
        </p:txBody>
      </p:sp>
      <p:sp>
        <p:nvSpPr>
          <p:cNvPr id="30" name="Shape 28"/>
          <p:cNvSpPr/>
          <p:nvPr/>
        </p:nvSpPr>
        <p:spPr>
          <a:xfrm>
            <a:off x="2508349" y="2801243"/>
            <a:ext cx="1810494" cy="9525"/>
          </a:xfrm>
          <a:prstGeom prst="rect">
            <a:avLst/>
          </a:prstGeom>
          <a:solidFill>
            <a:srgbClr val="DDD9D2"/>
          </a:solidFill>
          <a:ln/>
        </p:spPr>
      </p:sp>
      <p:sp>
        <p:nvSpPr>
          <p:cNvPr id="31" name="Text 29"/>
          <p:cNvSpPr txBox="1"/>
          <p:nvPr/>
        </p:nvSpPr>
        <p:spPr>
          <a:xfrm>
            <a:off x="2614910" y="2550468"/>
            <a:ext cx="79771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permanent</a:t>
            </a:r>
            <a:endParaRPr lang="en-US" sz="1056" dirty="0"/>
          </a:p>
        </p:txBody>
      </p:sp>
      <p:sp>
        <p:nvSpPr>
          <p:cNvPr id="32" name="Shape 30"/>
          <p:cNvSpPr/>
          <p:nvPr/>
        </p:nvSpPr>
        <p:spPr>
          <a:xfrm>
            <a:off x="4318843" y="2801243"/>
            <a:ext cx="4558457" cy="9525"/>
          </a:xfrm>
          <a:prstGeom prst="rect">
            <a:avLst/>
          </a:prstGeom>
          <a:solidFill>
            <a:srgbClr val="DDD9D2"/>
          </a:solidFill>
          <a:ln/>
        </p:spPr>
      </p:sp>
      <p:sp>
        <p:nvSpPr>
          <p:cNvPr id="33" name="Text 31"/>
          <p:cNvSpPr txBox="1"/>
          <p:nvPr/>
        </p:nvSpPr>
        <p:spPr>
          <a:xfrm>
            <a:off x="4425404" y="2550468"/>
            <a:ext cx="99060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and that’s fine</a:t>
            </a:r>
            <a:endParaRPr lang="en-US" sz="1056" dirty="0"/>
          </a:p>
        </p:txBody>
      </p:sp>
      <p:sp>
        <p:nvSpPr>
          <p:cNvPr id="34" name="Shape 32"/>
          <p:cNvSpPr/>
          <p:nvPr/>
        </p:nvSpPr>
        <p:spPr>
          <a:xfrm>
            <a:off x="457200" y="2810768"/>
            <a:ext cx="8420100" cy="338584"/>
          </a:xfrm>
          <a:prstGeom prst="rect">
            <a:avLst/>
          </a:prstGeom>
          <a:solidFill>
            <a:srgbClr val="16303F">
              <a:alpha val="3000"/>
            </a:srgbClr>
          </a:solidFill>
          <a:ln/>
        </p:spPr>
      </p:sp>
      <p:sp>
        <p:nvSpPr>
          <p:cNvPr id="35" name="Shape 33"/>
          <p:cNvSpPr/>
          <p:nvPr/>
        </p:nvSpPr>
        <p:spPr>
          <a:xfrm>
            <a:off x="457200" y="3139827"/>
            <a:ext cx="8420100" cy="9525"/>
          </a:xfrm>
          <a:prstGeom prst="rect">
            <a:avLst/>
          </a:prstGeom>
          <a:solidFill>
            <a:srgbClr val="9CA3AF">
              <a:alpha val="20000"/>
            </a:srgbClr>
          </a:solidFill>
          <a:ln/>
        </p:spPr>
      </p:sp>
      <p:sp>
        <p:nvSpPr>
          <p:cNvPr id="36" name="Shape 34"/>
          <p:cNvSpPr/>
          <p:nvPr/>
        </p:nvSpPr>
        <p:spPr>
          <a:xfrm>
            <a:off x="457200" y="3139827"/>
            <a:ext cx="2051149" cy="9525"/>
          </a:xfrm>
          <a:prstGeom prst="rect">
            <a:avLst/>
          </a:prstGeom>
          <a:solidFill>
            <a:srgbClr val="DDD9D2"/>
          </a:solidFill>
          <a:ln/>
        </p:spPr>
      </p:sp>
      <p:sp>
        <p:nvSpPr>
          <p:cNvPr id="37" name="Text 35"/>
          <p:cNvSpPr txBox="1"/>
          <p:nvPr/>
        </p:nvSpPr>
        <p:spPr>
          <a:xfrm>
            <a:off x="563761" y="2889052"/>
            <a:ext cx="853232"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permission</a:t>
            </a:r>
            <a:endParaRPr lang="en-US" sz="1056" dirty="0"/>
          </a:p>
        </p:txBody>
      </p:sp>
      <p:sp>
        <p:nvSpPr>
          <p:cNvPr id="38" name="Shape 36"/>
          <p:cNvSpPr/>
          <p:nvPr/>
        </p:nvSpPr>
        <p:spPr>
          <a:xfrm>
            <a:off x="2508349" y="3139827"/>
            <a:ext cx="1810494" cy="9525"/>
          </a:xfrm>
          <a:prstGeom prst="rect">
            <a:avLst/>
          </a:prstGeom>
          <a:solidFill>
            <a:srgbClr val="DDD9D2"/>
          </a:solidFill>
          <a:ln/>
        </p:spPr>
      </p:sp>
      <p:sp>
        <p:nvSpPr>
          <p:cNvPr id="39" name="Text 37"/>
          <p:cNvSpPr txBox="1"/>
          <p:nvPr/>
        </p:nvSpPr>
        <p:spPr>
          <a:xfrm>
            <a:off x="2614910" y="2889052"/>
            <a:ext cx="79771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permanent</a:t>
            </a:r>
            <a:endParaRPr lang="en-US" sz="1056" dirty="0"/>
          </a:p>
        </p:txBody>
      </p:sp>
      <p:sp>
        <p:nvSpPr>
          <p:cNvPr id="40" name="Shape 38"/>
          <p:cNvSpPr/>
          <p:nvPr/>
        </p:nvSpPr>
        <p:spPr>
          <a:xfrm>
            <a:off x="4318843" y="3139827"/>
            <a:ext cx="4558457" cy="9525"/>
          </a:xfrm>
          <a:prstGeom prst="rect">
            <a:avLst/>
          </a:prstGeom>
          <a:solidFill>
            <a:srgbClr val="DDD9D2"/>
          </a:solidFill>
          <a:ln/>
        </p:spPr>
      </p:sp>
      <p:sp>
        <p:nvSpPr>
          <p:cNvPr id="41" name="Text 39"/>
          <p:cNvSpPr txBox="1"/>
          <p:nvPr/>
        </p:nvSpPr>
        <p:spPr>
          <a:xfrm>
            <a:off x="4425404" y="2889052"/>
            <a:ext cx="262250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arguably not a flag — that’s authorization</a:t>
            </a:r>
            <a:endParaRPr lang="en-US" sz="1056" dirty="0"/>
          </a:p>
        </p:txBody>
      </p:sp>
      <p:sp>
        <p:nvSpPr>
          <p:cNvPr id="42" name="Shape 40"/>
          <p:cNvSpPr/>
          <p:nvPr/>
        </p:nvSpPr>
        <p:spPr>
          <a:xfrm>
            <a:off x="457200" y="3314105"/>
            <a:ext cx="38100" cy="533400"/>
          </a:xfrm>
          <a:prstGeom prst="rect">
            <a:avLst/>
          </a:prstGeom>
          <a:solidFill>
            <a:srgbClr val="F4C233"/>
          </a:solidFill>
          <a:ln/>
        </p:spPr>
      </p:sp>
      <p:sp>
        <p:nvSpPr>
          <p:cNvPr id="43" name="Shape 41"/>
          <p:cNvSpPr/>
          <p:nvPr/>
        </p:nvSpPr>
        <p:spPr>
          <a:xfrm>
            <a:off x="617190" y="3484215"/>
            <a:ext cx="998488" cy="202704"/>
          </a:xfrm>
          <a:prstGeom prst="roundRect">
            <a:avLst>
              <a:gd name="adj" fmla="val 18796"/>
            </a:avLst>
          </a:prstGeom>
          <a:solidFill>
            <a:srgbClr val="16303F">
              <a:alpha val="7000"/>
            </a:srgbClr>
          </a:solidFill>
          <a:ln/>
        </p:spPr>
      </p:sp>
      <p:sp>
        <p:nvSpPr>
          <p:cNvPr id="44" name="Shape 42"/>
          <p:cNvSpPr/>
          <p:nvPr/>
        </p:nvSpPr>
        <p:spPr>
          <a:xfrm>
            <a:off x="3125837" y="3484215"/>
            <a:ext cx="2232868" cy="202704"/>
          </a:xfrm>
          <a:prstGeom prst="roundRect">
            <a:avLst>
              <a:gd name="adj" fmla="val 18796"/>
            </a:avLst>
          </a:prstGeom>
          <a:solidFill>
            <a:srgbClr val="16303F">
              <a:alpha val="7000"/>
            </a:srgbClr>
          </a:solidFill>
          <a:ln/>
        </p:spPr>
      </p:sp>
      <p:sp>
        <p:nvSpPr>
          <p:cNvPr id="45" name="Text 43"/>
          <p:cNvSpPr txBox="1"/>
          <p:nvPr/>
        </p:nvSpPr>
        <p:spPr>
          <a:xfrm>
            <a:off x="663773" y="3476030"/>
            <a:ext cx="6267004"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NewCheckout</a:t>
            </a:r>
            <a:pPr algn="l" indent="0" marL="0">
              <a:buNone/>
            </a:pPr>
            <a:r>
              <a:rPr lang="en-US" sz="1200" b="1" dirty="0">
                <a:solidFill>
                  <a:srgbClr val="16303F"/>
                </a:solidFill>
                <a:latin typeface="Manrope" pitchFamily="34" charset="0"/>
                <a:ea typeface="Manrope" pitchFamily="34" charset="-122"/>
                <a:cs typeface="Manrope" pitchFamily="34" charset="-120"/>
              </a:rPr>
              <a:t> never gets deleted.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Checkout_V2_Rollout_2026Q1</a:t>
            </a:r>
            <a:pPr algn="l" indent="0" marL="0">
              <a:buNone/>
            </a:pPr>
            <a:r>
              <a:rPr lang="en-US" sz="1200" b="1" dirty="0">
                <a:solidFill>
                  <a:srgbClr val="16303F"/>
                </a:solidFill>
                <a:latin typeface="Manrope" pitchFamily="34" charset="0"/>
                <a:ea typeface="Manrope" pitchFamily="34" charset="-122"/>
                <a:cs typeface="Manrope" pitchFamily="34" charset="-120"/>
              </a:rPr>
              <a:t> files its own expiry.</a:t>
            </a:r>
            <a:endParaRPr lang="en-US" sz="108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8439150" cy="879574"/>
          </a:xfrm>
          <a:prstGeom prst="rect">
            <a:avLst/>
          </a:prstGeom>
          <a:noFill/>
          <a:ln/>
        </p:spPr>
        <p:txBody>
          <a:bodyPr wrap="square" lIns="0" tIns="0" rIns="0" bIns="0" rtlCol="0" anchor="t"/>
          <a:lstStyle/>
          <a:p>
            <a:pPr algn="l" indent="0" marL="0">
              <a:lnSpc>
                <a:spcPts val="3101"/>
              </a:lnSpc>
              <a:buNone/>
            </a:pPr>
            <a:r>
              <a:rPr lang="en-US" sz="2820" b="1" spc="-56" kern="0" dirty="0">
                <a:solidFill>
                  <a:srgbClr val="16303F"/>
                </a:solidFill>
                <a:latin typeface="Manrope" pitchFamily="34" charset="0"/>
                <a:ea typeface="Manrope" pitchFamily="34" charset="-122"/>
                <a:cs typeface="Manrope" pitchFamily="34" charset="-120"/>
              </a:rPr>
              <a:t>Deleting a flag is a code change, not a config change</a:t>
            </a:r>
            <a:endParaRPr lang="en-US" sz="2820" dirty="0"/>
          </a:p>
        </p:txBody>
      </p:sp>
      <p:sp>
        <p:nvSpPr>
          <p:cNvPr id="4" name="Shape 2"/>
          <p:cNvSpPr/>
          <p:nvPr/>
        </p:nvSpPr>
        <p:spPr>
          <a:xfrm>
            <a:off x="457200" y="1480840"/>
            <a:ext cx="8420100" cy="2081212"/>
          </a:xfrm>
          <a:prstGeom prst="roundRect">
            <a:avLst>
              <a:gd name="adj" fmla="val 1831"/>
            </a:avLst>
          </a:prstGeom>
          <a:solidFill>
            <a:srgbClr val="011627"/>
          </a:solidFill>
          <a:ln/>
        </p:spPr>
      </p:sp>
      <p:sp>
        <p:nvSpPr>
          <p:cNvPr id="5" name="Text 3"/>
          <p:cNvSpPr txBox="1"/>
          <p:nvPr/>
        </p:nvSpPr>
        <p:spPr>
          <a:xfrm>
            <a:off x="533400" y="1566565"/>
            <a:ext cx="8286750" cy="1905000"/>
          </a:xfrm>
          <a:prstGeom prst="rect">
            <a:avLst/>
          </a:prstGeom>
          <a:noFill/>
          <a:ln/>
        </p:spPr>
        <p:txBody>
          <a:bodyPr wrap="square" lIns="0" tIns="0" rIns="0" bIns="0" rtlCol="0" anchor="t"/>
          <a:lstStyle/>
          <a:p>
            <a:pPr algn="l" indent="0" marL="0">
              <a:lnSpc>
                <a:spcPts val="1688"/>
              </a:lnSpc>
              <a:buNone/>
            </a:pPr>
            <a:r>
              <a:rPr lang="en-US" sz="1125" dirty="0">
                <a:solidFill>
                  <a:srgbClr val="637777"/>
                </a:solidFill>
                <a:latin typeface="JetBrains Mono" pitchFamily="34" charset="0"/>
                <a:ea typeface="JetBrains Mono" pitchFamily="34" charset="-122"/>
                <a:cs typeface="JetBrains Mono" pitchFamily="34" charset="-120"/>
              </a:rPr>
              <a:t>// internal diagnostics - authorize it; this leaks operational state</a:t>
            </a:r>
            <a:b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app</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MapGet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/flags</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async</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(IVariantFeatureManager features, CancellationToken ct)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=&gt;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List&lt;FlagRecord&gt; inventory </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await</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 foreach</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string</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name </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in</a:t>
            </a: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 features</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GetFeatureNamesAsync</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(ct))</a:t>
            </a:r>
            <a:b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inventory</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new</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FlagRecord(name, </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Category</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(name), </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Owner</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(name), </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Expiry</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(name),</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await</a:t>
            </a: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 features</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IsEnabledAsync</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(name, ct)));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return</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inventory;</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RequireAuthorization</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
        <p:nvSpPr>
          <p:cNvPr id="6" name="Text 4"/>
          <p:cNvSpPr txBox="1"/>
          <p:nvPr/>
        </p:nvSpPr>
        <p:spPr>
          <a:xfrm>
            <a:off x="457200" y="3876377"/>
            <a:ext cx="84391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Turning it off in the portal leaves the dead branch compiling forever. </a:t>
            </a:r>
            <a:pPr algn="l" indent="0" marL="0">
              <a:lnSpc>
                <a:spcPts val="1800"/>
              </a:lnSpc>
              <a:buNone/>
            </a:pPr>
            <a:r>
              <a:rPr lang="en-US" sz="1200" i="1" dirty="0">
                <a:solidFill>
                  <a:srgbClr val="44535A"/>
                </a:solidFill>
                <a:latin typeface="Manrope" pitchFamily="34" charset="0"/>
                <a:ea typeface="Manrope" pitchFamily="34" charset="-122"/>
                <a:cs typeface="Manrope" pitchFamily="34" charset="-120"/>
              </a:rPr>
              <a:t>Ten live flags is up to 1,024 nominal combinations. You test three.</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1728192"/>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Flags convert a deployment problem into a runtime problem.</a:t>
            </a:r>
            <a:endParaRPr lang="en-US" sz="2520" dirty="0"/>
          </a:p>
        </p:txBody>
      </p:sp>
      <p:sp>
        <p:nvSpPr>
          <p:cNvPr id="4" name="Text 2"/>
          <p:cNvSpPr txBox="1"/>
          <p:nvPr/>
        </p:nvSpPr>
        <p:spPr>
          <a:xfrm>
            <a:off x="685800" y="2600325"/>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You gain instant rollback. You lose </a:t>
            </a:r>
            <a:pPr algn="l" indent="0" marL="0">
              <a:lnSpc>
                <a:spcPts val="3074"/>
              </a:lnSpc>
              <a:buNone/>
            </a:pPr>
            <a:r>
              <a:rPr lang="en-US" sz="2520" b="1" i="1" spc="-50" kern="0" dirty="0">
                <a:solidFill>
                  <a:srgbClr val="16303F"/>
                </a:solidFill>
                <a:latin typeface="Manrope" pitchFamily="34" charset="0"/>
                <a:ea typeface="Manrope" pitchFamily="34" charset="-122"/>
                <a:cs typeface="Manrope" pitchFamily="34" charset="-120"/>
              </a:rPr>
              <a:t>"the code that ran is the code in the commit."</a:t>
            </a:r>
            <a:endParaRPr lang="en-US" sz="252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3553123"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ACT 5 · WHERE SHOULD THIS VALUE LIVE?</a:t>
            </a:r>
            <a:endParaRPr lang="en-US" sz="936" dirty="0"/>
          </a:p>
        </p:txBody>
      </p:sp>
      <p:sp>
        <p:nvSpPr>
          <p:cNvPr id="4" name="Text 2"/>
          <p:cNvSpPr txBox="1"/>
          <p:nvPr/>
        </p:nvSpPr>
        <p:spPr>
          <a:xfrm>
            <a:off x="609600" y="2302669"/>
            <a:ext cx="8062421"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Decide by ownership, sensitivity, scope, and change cadence.</a:t>
            </a:r>
            <a:endParaRPr lang="en-US" sz="3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6335018"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Sort every setting into three buckets</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2133302" cy="19050"/>
          </a:xfrm>
          <a:prstGeom prst="rect">
            <a:avLst/>
          </a:prstGeom>
          <a:solidFill>
            <a:srgbClr val="16303F"/>
          </a:solidFill>
          <a:ln/>
        </p:spPr>
      </p:sp>
      <p:sp>
        <p:nvSpPr>
          <p:cNvPr id="6" name="Shape 4"/>
          <p:cNvSpPr/>
          <p:nvPr/>
        </p:nvSpPr>
        <p:spPr>
          <a:xfrm>
            <a:off x="2590502" y="1377404"/>
            <a:ext cx="3063180" cy="19050"/>
          </a:xfrm>
          <a:prstGeom prst="rect">
            <a:avLst/>
          </a:prstGeom>
          <a:solidFill>
            <a:srgbClr val="16303F"/>
          </a:solidFill>
          <a:ln/>
        </p:spPr>
      </p:sp>
      <p:sp>
        <p:nvSpPr>
          <p:cNvPr id="7" name="Text 5"/>
          <p:cNvSpPr txBox="1"/>
          <p:nvPr/>
        </p:nvSpPr>
        <p:spPr>
          <a:xfrm>
            <a:off x="2697063" y="1163092"/>
            <a:ext cx="74205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EXAMPLES</a:t>
            </a:r>
            <a:endParaRPr lang="en-US" sz="816" dirty="0"/>
          </a:p>
        </p:txBody>
      </p:sp>
      <p:sp>
        <p:nvSpPr>
          <p:cNvPr id="8" name="Shape 6"/>
          <p:cNvSpPr/>
          <p:nvPr/>
        </p:nvSpPr>
        <p:spPr>
          <a:xfrm>
            <a:off x="5653683" y="1377404"/>
            <a:ext cx="3223617" cy="19050"/>
          </a:xfrm>
          <a:prstGeom prst="rect">
            <a:avLst/>
          </a:prstGeom>
          <a:solidFill>
            <a:srgbClr val="16303F"/>
          </a:solidFill>
          <a:ln/>
        </p:spPr>
      </p:sp>
      <p:sp>
        <p:nvSpPr>
          <p:cNvPr id="9" name="Text 7"/>
          <p:cNvSpPr txBox="1"/>
          <p:nvPr/>
        </p:nvSpPr>
        <p:spPr>
          <a:xfrm>
            <a:off x="5760244" y="1163092"/>
            <a:ext cx="126429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WHERE IT BELONGS</a:t>
            </a:r>
            <a:endParaRPr lang="en-US" sz="816" dirty="0"/>
          </a:p>
        </p:txBody>
      </p:sp>
      <p:sp>
        <p:nvSpPr>
          <p:cNvPr id="10" name="Shape 8"/>
          <p:cNvSpPr/>
          <p:nvPr/>
        </p:nvSpPr>
        <p:spPr>
          <a:xfrm>
            <a:off x="457200" y="1934319"/>
            <a:ext cx="8420100" cy="9525"/>
          </a:xfrm>
          <a:prstGeom prst="rect">
            <a:avLst/>
          </a:prstGeom>
          <a:solidFill>
            <a:srgbClr val="9CA3AF">
              <a:alpha val="20000"/>
            </a:srgbClr>
          </a:solidFill>
          <a:ln/>
        </p:spPr>
      </p:sp>
      <p:sp>
        <p:nvSpPr>
          <p:cNvPr id="11" name="Shape 9"/>
          <p:cNvSpPr/>
          <p:nvPr/>
        </p:nvSpPr>
        <p:spPr>
          <a:xfrm>
            <a:off x="457200" y="1934319"/>
            <a:ext cx="2133302" cy="9525"/>
          </a:xfrm>
          <a:prstGeom prst="rect">
            <a:avLst/>
          </a:prstGeom>
          <a:solidFill>
            <a:srgbClr val="DDD9D2"/>
          </a:solidFill>
          <a:ln/>
        </p:spPr>
      </p:sp>
      <p:sp>
        <p:nvSpPr>
          <p:cNvPr id="12" name="Text 10"/>
          <p:cNvSpPr txBox="1"/>
          <p:nvPr/>
        </p:nvSpPr>
        <p:spPr>
          <a:xfrm>
            <a:off x="563880" y="1479500"/>
            <a:ext cx="1938992" cy="382042"/>
          </a:xfrm>
          <a:prstGeom prst="rect">
            <a:avLst/>
          </a:prstGeom>
          <a:noFill/>
          <a:ln/>
        </p:spPr>
        <p:txBody>
          <a:bodyPr wrap="square" lIns="0" tIns="0" rIns="0" bIns="0" rtlCol="0" anchor="t"/>
          <a:lstStyle/>
          <a:p>
            <a:pPr algn="l" indent="0" marL="0">
              <a:lnSpc>
                <a:spcPts val="1583"/>
              </a:lnSpc>
              <a:buNone/>
            </a:pPr>
            <a:r>
              <a:rPr lang="en-US" sz="1056" b="1" dirty="0">
                <a:solidFill>
                  <a:srgbClr val="16303F"/>
                </a:solidFill>
                <a:latin typeface="Manrope" pitchFamily="34" charset="0"/>
                <a:ea typeface="Manrope" pitchFamily="34" charset="-122"/>
                <a:cs typeface="Manrope" pitchFamily="34" charset="-120"/>
              </a:rPr>
              <a:t>Non-secret, per-environment</a:t>
            </a:r>
            <a:endParaRPr lang="en-US" sz="1056" dirty="0"/>
          </a:p>
        </p:txBody>
      </p:sp>
      <p:sp>
        <p:nvSpPr>
          <p:cNvPr id="13" name="Shape 11"/>
          <p:cNvSpPr/>
          <p:nvPr/>
        </p:nvSpPr>
        <p:spPr>
          <a:xfrm>
            <a:off x="2590502" y="1934319"/>
            <a:ext cx="3063180" cy="9525"/>
          </a:xfrm>
          <a:prstGeom prst="rect">
            <a:avLst/>
          </a:prstGeom>
          <a:solidFill>
            <a:srgbClr val="DDD9D2"/>
          </a:solidFill>
          <a:ln/>
        </p:spPr>
      </p:sp>
      <p:sp>
        <p:nvSpPr>
          <p:cNvPr id="14" name="Text 12"/>
          <p:cNvSpPr txBox="1"/>
          <p:nvPr/>
        </p:nvSpPr>
        <p:spPr>
          <a:xfrm>
            <a:off x="2697182" y="1479500"/>
            <a:ext cx="2868870"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base URLs, timeouts, retries, log levels, toggles</a:t>
            </a:r>
            <a:endParaRPr lang="en-US" sz="1056" dirty="0"/>
          </a:p>
        </p:txBody>
      </p:sp>
      <p:sp>
        <p:nvSpPr>
          <p:cNvPr id="15" name="Shape 13"/>
          <p:cNvSpPr/>
          <p:nvPr/>
        </p:nvSpPr>
        <p:spPr>
          <a:xfrm>
            <a:off x="5653683" y="1934319"/>
            <a:ext cx="3223617" cy="9525"/>
          </a:xfrm>
          <a:prstGeom prst="rect">
            <a:avLst/>
          </a:prstGeom>
          <a:solidFill>
            <a:srgbClr val="DDD9D2"/>
          </a:solidFill>
          <a:ln/>
        </p:spPr>
      </p:sp>
      <p:sp>
        <p:nvSpPr>
          <p:cNvPr id="16" name="Shape 14"/>
          <p:cNvSpPr/>
          <p:nvPr/>
        </p:nvSpPr>
        <p:spPr>
          <a:xfrm>
            <a:off x="5760244" y="1488728"/>
            <a:ext cx="1717030" cy="181570"/>
          </a:xfrm>
          <a:prstGeom prst="roundRect">
            <a:avLst>
              <a:gd name="adj" fmla="val 20984"/>
            </a:avLst>
          </a:prstGeom>
          <a:solidFill>
            <a:srgbClr val="16303F">
              <a:alpha val="7000"/>
            </a:srgbClr>
          </a:solidFill>
          <a:ln/>
        </p:spPr>
      </p:sp>
      <p:sp>
        <p:nvSpPr>
          <p:cNvPr id="17" name="Text 15"/>
          <p:cNvSpPr txBox="1"/>
          <p:nvPr/>
        </p:nvSpPr>
        <p:spPr>
          <a:xfrm>
            <a:off x="5760363" y="1479500"/>
            <a:ext cx="3029307" cy="385018"/>
          </a:xfrm>
          <a:prstGeom prst="rect">
            <a:avLst/>
          </a:prstGeom>
          <a:noFill/>
          <a:ln/>
        </p:spPr>
        <p:txBody>
          <a:bodyPr wrap="square" lIns="0" tIns="0" rIns="0" bIns="0" rtlCol="0" anchor="t"/>
          <a:lstStyle/>
          <a:p>
            <a:pPr algn="l" indent="0" marL="0">
              <a:lnSpc>
                <a:spcPts val="1607"/>
              </a:lnSpc>
              <a:buNone/>
            </a:pPr>
            <a:r>
              <a:rPr lang="en-US" sz="972" dirty="0">
                <a:solidFill>
                  <a:srgbClr val="16303F"/>
                </a:solidFill>
                <a:latin typeface="JetBrains Mono" pitchFamily="34" charset="0"/>
                <a:ea typeface="JetBrains Mono" pitchFamily="34" charset="-122"/>
                <a:cs typeface="JetBrains Mono" pitchFamily="34" charset="-120"/>
              </a:rPr>
              <a:t>appsettings.{Env}.json</a:t>
            </a:r>
            <a:pPr algn="l" indent="0" marL="0">
              <a:lnSpc>
                <a:spcPts val="1607"/>
              </a:lnSpc>
              <a:buNone/>
            </a:pPr>
            <a:r>
              <a:rPr lang="en-US" sz="1056" dirty="0">
                <a:solidFill>
                  <a:srgbClr val="16303F"/>
                </a:solidFill>
                <a:latin typeface="Manrope" pitchFamily="34" charset="0"/>
                <a:ea typeface="Manrope" pitchFamily="34" charset="-122"/>
                <a:cs typeface="Manrope" pitchFamily="34" charset="-120"/>
              </a:rPr>
              <a:t>, or App Configuration</a:t>
            </a:r>
            <a:endParaRPr lang="en-US" sz="972" dirty="0"/>
          </a:p>
        </p:txBody>
      </p:sp>
      <p:sp>
        <p:nvSpPr>
          <p:cNvPr id="18" name="Shape 16"/>
          <p:cNvSpPr/>
          <p:nvPr/>
        </p:nvSpPr>
        <p:spPr>
          <a:xfrm>
            <a:off x="457200" y="1943844"/>
            <a:ext cx="8420100" cy="338584"/>
          </a:xfrm>
          <a:prstGeom prst="rect">
            <a:avLst/>
          </a:prstGeom>
          <a:solidFill>
            <a:srgbClr val="16303F">
              <a:alpha val="3000"/>
            </a:srgbClr>
          </a:solidFill>
          <a:ln/>
        </p:spPr>
      </p:sp>
      <p:sp>
        <p:nvSpPr>
          <p:cNvPr id="19" name="Shape 17"/>
          <p:cNvSpPr/>
          <p:nvPr/>
        </p:nvSpPr>
        <p:spPr>
          <a:xfrm>
            <a:off x="457200" y="2272903"/>
            <a:ext cx="8420100" cy="9525"/>
          </a:xfrm>
          <a:prstGeom prst="rect">
            <a:avLst/>
          </a:prstGeom>
          <a:solidFill>
            <a:srgbClr val="9CA3AF">
              <a:alpha val="20000"/>
            </a:srgbClr>
          </a:solidFill>
          <a:ln/>
        </p:spPr>
      </p:sp>
      <p:sp>
        <p:nvSpPr>
          <p:cNvPr id="20" name="Shape 18"/>
          <p:cNvSpPr/>
          <p:nvPr/>
        </p:nvSpPr>
        <p:spPr>
          <a:xfrm>
            <a:off x="457200" y="2272903"/>
            <a:ext cx="2133302" cy="9525"/>
          </a:xfrm>
          <a:prstGeom prst="rect">
            <a:avLst/>
          </a:prstGeom>
          <a:solidFill>
            <a:srgbClr val="DDD9D2"/>
          </a:solidFill>
          <a:ln/>
        </p:spPr>
      </p:sp>
      <p:sp>
        <p:nvSpPr>
          <p:cNvPr id="21" name="Text 19"/>
          <p:cNvSpPr txBox="1"/>
          <p:nvPr/>
        </p:nvSpPr>
        <p:spPr>
          <a:xfrm>
            <a:off x="563761" y="2022128"/>
            <a:ext cx="559147"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Secret</a:t>
            </a:r>
            <a:endParaRPr lang="en-US" sz="1056" dirty="0"/>
          </a:p>
        </p:txBody>
      </p:sp>
      <p:sp>
        <p:nvSpPr>
          <p:cNvPr id="22" name="Shape 20"/>
          <p:cNvSpPr/>
          <p:nvPr/>
        </p:nvSpPr>
        <p:spPr>
          <a:xfrm>
            <a:off x="2590502" y="2272903"/>
            <a:ext cx="3063180" cy="9525"/>
          </a:xfrm>
          <a:prstGeom prst="rect">
            <a:avLst/>
          </a:prstGeom>
          <a:solidFill>
            <a:srgbClr val="DDD9D2"/>
          </a:solidFill>
          <a:ln/>
        </p:spPr>
      </p:sp>
      <p:sp>
        <p:nvSpPr>
          <p:cNvPr id="23" name="Text 21"/>
          <p:cNvSpPr txBox="1"/>
          <p:nvPr/>
        </p:nvSpPr>
        <p:spPr>
          <a:xfrm>
            <a:off x="2697063" y="2022128"/>
            <a:ext cx="284112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API keys, connection strings with passwords</a:t>
            </a:r>
            <a:endParaRPr lang="en-US" sz="1056" dirty="0"/>
          </a:p>
        </p:txBody>
      </p:sp>
      <p:sp>
        <p:nvSpPr>
          <p:cNvPr id="24" name="Shape 22"/>
          <p:cNvSpPr/>
          <p:nvPr/>
        </p:nvSpPr>
        <p:spPr>
          <a:xfrm>
            <a:off x="5653683" y="2272903"/>
            <a:ext cx="3223617" cy="9525"/>
          </a:xfrm>
          <a:prstGeom prst="rect">
            <a:avLst/>
          </a:prstGeom>
          <a:solidFill>
            <a:srgbClr val="DDD9D2"/>
          </a:solidFill>
          <a:ln/>
        </p:spPr>
      </p:sp>
      <p:sp>
        <p:nvSpPr>
          <p:cNvPr id="25" name="Text 23"/>
          <p:cNvSpPr txBox="1"/>
          <p:nvPr/>
        </p:nvSpPr>
        <p:spPr>
          <a:xfrm>
            <a:off x="5760244" y="2022128"/>
            <a:ext cx="242396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user secrets (dev) -&gt; Key Vault (prod)</a:t>
            </a:r>
            <a:endParaRPr lang="en-US" sz="1056" dirty="0"/>
          </a:p>
        </p:txBody>
      </p:sp>
      <p:sp>
        <p:nvSpPr>
          <p:cNvPr id="26" name="Shape 24"/>
          <p:cNvSpPr/>
          <p:nvPr/>
        </p:nvSpPr>
        <p:spPr>
          <a:xfrm>
            <a:off x="457200" y="2611487"/>
            <a:ext cx="8420100" cy="9525"/>
          </a:xfrm>
          <a:prstGeom prst="rect">
            <a:avLst/>
          </a:prstGeom>
          <a:solidFill>
            <a:srgbClr val="9CA3AF">
              <a:alpha val="20000"/>
            </a:srgbClr>
          </a:solidFill>
          <a:ln/>
        </p:spPr>
      </p:sp>
      <p:sp>
        <p:nvSpPr>
          <p:cNvPr id="27" name="Shape 25"/>
          <p:cNvSpPr/>
          <p:nvPr/>
        </p:nvSpPr>
        <p:spPr>
          <a:xfrm>
            <a:off x="457200" y="2611487"/>
            <a:ext cx="2133302" cy="9525"/>
          </a:xfrm>
          <a:prstGeom prst="rect">
            <a:avLst/>
          </a:prstGeom>
          <a:solidFill>
            <a:srgbClr val="DDD9D2"/>
          </a:solidFill>
          <a:ln/>
        </p:spPr>
      </p:sp>
      <p:sp>
        <p:nvSpPr>
          <p:cNvPr id="28" name="Text 26"/>
          <p:cNvSpPr txBox="1"/>
          <p:nvPr/>
        </p:nvSpPr>
        <p:spPr>
          <a:xfrm>
            <a:off x="563761" y="2360712"/>
            <a:ext cx="971104"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Per-instance</a:t>
            </a:r>
            <a:endParaRPr lang="en-US" sz="1056" dirty="0"/>
          </a:p>
        </p:txBody>
      </p:sp>
      <p:sp>
        <p:nvSpPr>
          <p:cNvPr id="29" name="Shape 27"/>
          <p:cNvSpPr/>
          <p:nvPr/>
        </p:nvSpPr>
        <p:spPr>
          <a:xfrm>
            <a:off x="2590502" y="2611487"/>
            <a:ext cx="3063180" cy="9525"/>
          </a:xfrm>
          <a:prstGeom prst="rect">
            <a:avLst/>
          </a:prstGeom>
          <a:solidFill>
            <a:srgbClr val="DDD9D2"/>
          </a:solidFill>
          <a:ln/>
        </p:spPr>
      </p:sp>
      <p:sp>
        <p:nvSpPr>
          <p:cNvPr id="30" name="Text 28"/>
          <p:cNvSpPr txBox="1"/>
          <p:nvPr/>
        </p:nvSpPr>
        <p:spPr>
          <a:xfrm>
            <a:off x="2697063" y="2360712"/>
            <a:ext cx="278903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environment name, instance id, port, region</a:t>
            </a:r>
            <a:endParaRPr lang="en-US" sz="1056" dirty="0"/>
          </a:p>
        </p:txBody>
      </p:sp>
      <p:sp>
        <p:nvSpPr>
          <p:cNvPr id="31" name="Shape 29"/>
          <p:cNvSpPr/>
          <p:nvPr/>
        </p:nvSpPr>
        <p:spPr>
          <a:xfrm>
            <a:off x="5653683" y="2611487"/>
            <a:ext cx="3223617" cy="9525"/>
          </a:xfrm>
          <a:prstGeom prst="rect">
            <a:avLst/>
          </a:prstGeom>
          <a:solidFill>
            <a:srgbClr val="DDD9D2"/>
          </a:solidFill>
          <a:ln/>
        </p:spPr>
      </p:sp>
      <p:sp>
        <p:nvSpPr>
          <p:cNvPr id="32" name="Text 30"/>
          <p:cNvSpPr txBox="1"/>
          <p:nvPr/>
        </p:nvSpPr>
        <p:spPr>
          <a:xfrm>
            <a:off x="5760244" y="2360712"/>
            <a:ext cx="270688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environment variables, set by the platform</a:t>
            </a:r>
            <a:endParaRPr lang="en-US" sz="1056" dirty="0"/>
          </a:p>
        </p:txBody>
      </p:sp>
      <p:sp>
        <p:nvSpPr>
          <p:cNvPr id="33" name="Shape 31"/>
          <p:cNvSpPr/>
          <p:nvPr/>
        </p:nvSpPr>
        <p:spPr>
          <a:xfrm>
            <a:off x="457200" y="2785765"/>
            <a:ext cx="38100" cy="533400"/>
          </a:xfrm>
          <a:prstGeom prst="rect">
            <a:avLst/>
          </a:prstGeom>
          <a:solidFill>
            <a:srgbClr val="F4C233"/>
          </a:solidFill>
          <a:ln/>
        </p:spPr>
      </p:sp>
      <p:sp>
        <p:nvSpPr>
          <p:cNvPr id="34" name="Text 32"/>
          <p:cNvSpPr txBox="1"/>
          <p:nvPr/>
        </p:nvSpPr>
        <p:spPr>
          <a:xfrm>
            <a:off x="617190" y="2947690"/>
            <a:ext cx="5297835"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If a value is in the wrong bucket, no amount of provider tuning fixes it.</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618458"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By application shape</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1787426" cy="19050"/>
          </a:xfrm>
          <a:prstGeom prst="rect">
            <a:avLst/>
          </a:prstGeom>
          <a:solidFill>
            <a:srgbClr val="16303F"/>
          </a:solidFill>
          <a:ln/>
        </p:spPr>
      </p:sp>
      <p:sp>
        <p:nvSpPr>
          <p:cNvPr id="6" name="Text 4"/>
          <p:cNvSpPr txBox="1"/>
          <p:nvPr/>
        </p:nvSpPr>
        <p:spPr>
          <a:xfrm>
            <a:off x="563761" y="1163092"/>
            <a:ext cx="77881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APP SHAPE</a:t>
            </a:r>
            <a:endParaRPr lang="en-US" sz="816" dirty="0"/>
          </a:p>
        </p:txBody>
      </p:sp>
      <p:sp>
        <p:nvSpPr>
          <p:cNvPr id="7" name="Shape 5"/>
          <p:cNvSpPr/>
          <p:nvPr/>
        </p:nvSpPr>
        <p:spPr>
          <a:xfrm>
            <a:off x="2244626" y="1377404"/>
            <a:ext cx="1919139" cy="19050"/>
          </a:xfrm>
          <a:prstGeom prst="rect">
            <a:avLst/>
          </a:prstGeom>
          <a:solidFill>
            <a:srgbClr val="16303F"/>
          </a:solidFill>
          <a:ln/>
        </p:spPr>
      </p:sp>
      <p:sp>
        <p:nvSpPr>
          <p:cNvPr id="8" name="Text 6"/>
          <p:cNvSpPr txBox="1"/>
          <p:nvPr/>
        </p:nvSpPr>
        <p:spPr>
          <a:xfrm>
            <a:off x="2351187" y="1163092"/>
            <a:ext cx="68609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BASELINE</a:t>
            </a:r>
            <a:endParaRPr lang="en-US" sz="816" dirty="0"/>
          </a:p>
        </p:txBody>
      </p:sp>
      <p:sp>
        <p:nvSpPr>
          <p:cNvPr id="9" name="Shape 7"/>
          <p:cNvSpPr/>
          <p:nvPr/>
        </p:nvSpPr>
        <p:spPr>
          <a:xfrm>
            <a:off x="4163764" y="1377404"/>
            <a:ext cx="1920925" cy="19050"/>
          </a:xfrm>
          <a:prstGeom prst="rect">
            <a:avLst/>
          </a:prstGeom>
          <a:solidFill>
            <a:srgbClr val="16303F"/>
          </a:solidFill>
          <a:ln/>
        </p:spPr>
      </p:sp>
      <p:sp>
        <p:nvSpPr>
          <p:cNvPr id="10" name="Text 8"/>
          <p:cNvSpPr txBox="1"/>
          <p:nvPr/>
        </p:nvSpPr>
        <p:spPr>
          <a:xfrm>
            <a:off x="4270325" y="1163092"/>
            <a:ext cx="65558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SECRETS</a:t>
            </a:r>
            <a:endParaRPr lang="en-US" sz="816" dirty="0"/>
          </a:p>
        </p:txBody>
      </p:sp>
      <p:sp>
        <p:nvSpPr>
          <p:cNvPr id="11" name="Shape 9"/>
          <p:cNvSpPr/>
          <p:nvPr/>
        </p:nvSpPr>
        <p:spPr>
          <a:xfrm>
            <a:off x="6084689" y="1377404"/>
            <a:ext cx="2792611" cy="19050"/>
          </a:xfrm>
          <a:prstGeom prst="rect">
            <a:avLst/>
          </a:prstGeom>
          <a:solidFill>
            <a:srgbClr val="16303F"/>
          </a:solidFill>
          <a:ln/>
        </p:spPr>
      </p:sp>
      <p:sp>
        <p:nvSpPr>
          <p:cNvPr id="12" name="Text 10"/>
          <p:cNvSpPr txBox="1"/>
          <p:nvPr/>
        </p:nvSpPr>
        <p:spPr>
          <a:xfrm>
            <a:off x="6191250" y="1163092"/>
            <a:ext cx="191422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CHANGE WITHOUT REDEPLOY?</a:t>
            </a:r>
            <a:endParaRPr lang="en-US" sz="816" dirty="0"/>
          </a:p>
        </p:txBody>
      </p:sp>
      <p:sp>
        <p:nvSpPr>
          <p:cNvPr id="13" name="Shape 11"/>
          <p:cNvSpPr/>
          <p:nvPr/>
        </p:nvSpPr>
        <p:spPr>
          <a:xfrm>
            <a:off x="457200" y="1931343"/>
            <a:ext cx="8420100" cy="9525"/>
          </a:xfrm>
          <a:prstGeom prst="rect">
            <a:avLst/>
          </a:prstGeom>
          <a:solidFill>
            <a:srgbClr val="9CA3AF">
              <a:alpha val="20000"/>
            </a:srgbClr>
          </a:solidFill>
          <a:ln/>
        </p:spPr>
      </p:sp>
      <p:sp>
        <p:nvSpPr>
          <p:cNvPr id="14" name="Shape 12"/>
          <p:cNvSpPr/>
          <p:nvPr/>
        </p:nvSpPr>
        <p:spPr>
          <a:xfrm>
            <a:off x="457200" y="1931343"/>
            <a:ext cx="1787426" cy="9525"/>
          </a:xfrm>
          <a:prstGeom prst="rect">
            <a:avLst/>
          </a:prstGeom>
          <a:solidFill>
            <a:srgbClr val="DDD9D2"/>
          </a:solidFill>
          <a:ln/>
        </p:spPr>
      </p:sp>
      <p:sp>
        <p:nvSpPr>
          <p:cNvPr id="15" name="Text 13"/>
          <p:cNvSpPr txBox="1"/>
          <p:nvPr/>
        </p:nvSpPr>
        <p:spPr>
          <a:xfrm>
            <a:off x="563880" y="1479500"/>
            <a:ext cx="1593116"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ASP.NET Core on App Service</a:t>
            </a:r>
            <a:endParaRPr lang="en-US" sz="1056" dirty="0"/>
          </a:p>
        </p:txBody>
      </p:sp>
      <p:sp>
        <p:nvSpPr>
          <p:cNvPr id="16" name="Shape 14"/>
          <p:cNvSpPr/>
          <p:nvPr/>
        </p:nvSpPr>
        <p:spPr>
          <a:xfrm>
            <a:off x="2244626" y="1931343"/>
            <a:ext cx="1919139" cy="9525"/>
          </a:xfrm>
          <a:prstGeom prst="rect">
            <a:avLst/>
          </a:prstGeom>
          <a:solidFill>
            <a:srgbClr val="DDD9D2"/>
          </a:solidFill>
          <a:ln/>
        </p:spPr>
      </p:sp>
      <p:sp>
        <p:nvSpPr>
          <p:cNvPr id="17" name="Text 15"/>
          <p:cNvSpPr txBox="1"/>
          <p:nvPr/>
        </p:nvSpPr>
        <p:spPr>
          <a:xfrm>
            <a:off x="2351306" y="1479500"/>
            <a:ext cx="1724829"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JSON + App Service settings</a:t>
            </a:r>
            <a:endParaRPr lang="en-US" sz="1056" dirty="0"/>
          </a:p>
        </p:txBody>
      </p:sp>
      <p:sp>
        <p:nvSpPr>
          <p:cNvPr id="18" name="Shape 16"/>
          <p:cNvSpPr/>
          <p:nvPr/>
        </p:nvSpPr>
        <p:spPr>
          <a:xfrm>
            <a:off x="4163764" y="1931343"/>
            <a:ext cx="1920925" cy="9525"/>
          </a:xfrm>
          <a:prstGeom prst="rect">
            <a:avLst/>
          </a:prstGeom>
          <a:solidFill>
            <a:srgbClr val="DDD9D2"/>
          </a:solidFill>
          <a:ln/>
        </p:spPr>
      </p:sp>
      <p:sp>
        <p:nvSpPr>
          <p:cNvPr id="19" name="Text 17"/>
          <p:cNvSpPr txBox="1"/>
          <p:nvPr/>
        </p:nvSpPr>
        <p:spPr>
          <a:xfrm>
            <a:off x="4270325" y="1479500"/>
            <a:ext cx="94744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Key Vault refs</a:t>
            </a:r>
            <a:endParaRPr lang="en-US" sz="1056" dirty="0"/>
          </a:p>
        </p:txBody>
      </p:sp>
      <p:sp>
        <p:nvSpPr>
          <p:cNvPr id="20" name="Shape 18"/>
          <p:cNvSpPr/>
          <p:nvPr/>
        </p:nvSpPr>
        <p:spPr>
          <a:xfrm>
            <a:off x="6084689" y="1931343"/>
            <a:ext cx="2792611" cy="9525"/>
          </a:xfrm>
          <a:prstGeom prst="rect">
            <a:avLst/>
          </a:prstGeom>
          <a:solidFill>
            <a:srgbClr val="DDD9D2"/>
          </a:solidFill>
          <a:ln/>
        </p:spPr>
      </p:sp>
      <p:sp>
        <p:nvSpPr>
          <p:cNvPr id="21" name="Text 19"/>
          <p:cNvSpPr txBox="1"/>
          <p:nvPr/>
        </p:nvSpPr>
        <p:spPr>
          <a:xfrm>
            <a:off x="6191369" y="1479500"/>
            <a:ext cx="2598301"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App Service settings restart; App Config doesn’t</a:t>
            </a:r>
            <a:endParaRPr lang="en-US" sz="1056" dirty="0"/>
          </a:p>
        </p:txBody>
      </p:sp>
      <p:sp>
        <p:nvSpPr>
          <p:cNvPr id="22" name="Shape 20"/>
          <p:cNvSpPr/>
          <p:nvPr/>
        </p:nvSpPr>
        <p:spPr>
          <a:xfrm>
            <a:off x="457200" y="1940868"/>
            <a:ext cx="8420100" cy="539651"/>
          </a:xfrm>
          <a:prstGeom prst="rect">
            <a:avLst/>
          </a:prstGeom>
          <a:solidFill>
            <a:srgbClr val="16303F">
              <a:alpha val="3000"/>
            </a:srgbClr>
          </a:solidFill>
          <a:ln/>
        </p:spPr>
      </p:sp>
      <p:sp>
        <p:nvSpPr>
          <p:cNvPr id="23" name="Shape 21"/>
          <p:cNvSpPr/>
          <p:nvPr/>
        </p:nvSpPr>
        <p:spPr>
          <a:xfrm>
            <a:off x="457200" y="2470993"/>
            <a:ext cx="8420100" cy="9525"/>
          </a:xfrm>
          <a:prstGeom prst="rect">
            <a:avLst/>
          </a:prstGeom>
          <a:solidFill>
            <a:srgbClr val="9CA3AF">
              <a:alpha val="20000"/>
            </a:srgbClr>
          </a:solidFill>
          <a:ln/>
        </p:spPr>
      </p:sp>
      <p:sp>
        <p:nvSpPr>
          <p:cNvPr id="24" name="Shape 22"/>
          <p:cNvSpPr/>
          <p:nvPr/>
        </p:nvSpPr>
        <p:spPr>
          <a:xfrm>
            <a:off x="457200" y="2470993"/>
            <a:ext cx="1787426" cy="9525"/>
          </a:xfrm>
          <a:prstGeom prst="rect">
            <a:avLst/>
          </a:prstGeom>
          <a:solidFill>
            <a:srgbClr val="DDD9D2"/>
          </a:solidFill>
          <a:ln/>
        </p:spPr>
      </p:sp>
      <p:sp>
        <p:nvSpPr>
          <p:cNvPr id="25" name="Text 23"/>
          <p:cNvSpPr txBox="1"/>
          <p:nvPr/>
        </p:nvSpPr>
        <p:spPr>
          <a:xfrm>
            <a:off x="563761" y="2019151"/>
            <a:ext cx="1083618"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Container / AKS</a:t>
            </a:r>
            <a:endParaRPr lang="en-US" sz="1056" dirty="0"/>
          </a:p>
        </p:txBody>
      </p:sp>
      <p:sp>
        <p:nvSpPr>
          <p:cNvPr id="26" name="Shape 24"/>
          <p:cNvSpPr/>
          <p:nvPr/>
        </p:nvSpPr>
        <p:spPr>
          <a:xfrm>
            <a:off x="2244626" y="2470993"/>
            <a:ext cx="1919139" cy="9525"/>
          </a:xfrm>
          <a:prstGeom prst="rect">
            <a:avLst/>
          </a:prstGeom>
          <a:solidFill>
            <a:srgbClr val="DDD9D2"/>
          </a:solidFill>
          <a:ln/>
        </p:spPr>
      </p:sp>
      <p:sp>
        <p:nvSpPr>
          <p:cNvPr id="27" name="Text 25"/>
          <p:cNvSpPr txBox="1"/>
          <p:nvPr/>
        </p:nvSpPr>
        <p:spPr>
          <a:xfrm>
            <a:off x="2351306" y="2019151"/>
            <a:ext cx="1724829"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JSON + orchestrator env vars</a:t>
            </a:r>
            <a:endParaRPr lang="en-US" sz="1056" dirty="0"/>
          </a:p>
        </p:txBody>
      </p:sp>
      <p:sp>
        <p:nvSpPr>
          <p:cNvPr id="28" name="Shape 26"/>
          <p:cNvSpPr/>
          <p:nvPr/>
        </p:nvSpPr>
        <p:spPr>
          <a:xfrm>
            <a:off x="4163764" y="2470993"/>
            <a:ext cx="1920925" cy="9525"/>
          </a:xfrm>
          <a:prstGeom prst="rect">
            <a:avLst/>
          </a:prstGeom>
          <a:solidFill>
            <a:srgbClr val="DDD9D2"/>
          </a:solidFill>
          <a:ln/>
        </p:spPr>
      </p:sp>
      <p:sp>
        <p:nvSpPr>
          <p:cNvPr id="29" name="Text 27"/>
          <p:cNvSpPr txBox="1"/>
          <p:nvPr/>
        </p:nvSpPr>
        <p:spPr>
          <a:xfrm>
            <a:off x="4270444" y="2019151"/>
            <a:ext cx="1726615"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key-per-file, or workload identity</a:t>
            </a:r>
            <a:endParaRPr lang="en-US" sz="1056" dirty="0"/>
          </a:p>
        </p:txBody>
      </p:sp>
      <p:sp>
        <p:nvSpPr>
          <p:cNvPr id="30" name="Shape 28"/>
          <p:cNvSpPr/>
          <p:nvPr/>
        </p:nvSpPr>
        <p:spPr>
          <a:xfrm>
            <a:off x="6084689" y="2470993"/>
            <a:ext cx="2792611" cy="9525"/>
          </a:xfrm>
          <a:prstGeom prst="rect">
            <a:avLst/>
          </a:prstGeom>
          <a:solidFill>
            <a:srgbClr val="DDD9D2"/>
          </a:solidFill>
          <a:ln/>
        </p:spPr>
      </p:sp>
      <p:sp>
        <p:nvSpPr>
          <p:cNvPr id="31" name="Text 29"/>
          <p:cNvSpPr txBox="1"/>
          <p:nvPr/>
        </p:nvSpPr>
        <p:spPr>
          <a:xfrm>
            <a:off x="6191250" y="2019151"/>
            <a:ext cx="194667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restart the pod, or App Config</a:t>
            </a:r>
            <a:endParaRPr lang="en-US" sz="1056" dirty="0"/>
          </a:p>
        </p:txBody>
      </p:sp>
      <p:sp>
        <p:nvSpPr>
          <p:cNvPr id="32" name="Shape 30"/>
          <p:cNvSpPr/>
          <p:nvPr/>
        </p:nvSpPr>
        <p:spPr>
          <a:xfrm>
            <a:off x="457200" y="2809577"/>
            <a:ext cx="8420100" cy="9525"/>
          </a:xfrm>
          <a:prstGeom prst="rect">
            <a:avLst/>
          </a:prstGeom>
          <a:solidFill>
            <a:srgbClr val="9CA3AF">
              <a:alpha val="20000"/>
            </a:srgbClr>
          </a:solidFill>
          <a:ln/>
        </p:spPr>
      </p:sp>
      <p:sp>
        <p:nvSpPr>
          <p:cNvPr id="33" name="Shape 31"/>
          <p:cNvSpPr/>
          <p:nvPr/>
        </p:nvSpPr>
        <p:spPr>
          <a:xfrm>
            <a:off x="457200" y="2809577"/>
            <a:ext cx="1787426" cy="9525"/>
          </a:xfrm>
          <a:prstGeom prst="rect">
            <a:avLst/>
          </a:prstGeom>
          <a:solidFill>
            <a:srgbClr val="DDD9D2"/>
          </a:solidFill>
          <a:ln/>
        </p:spPr>
      </p:sp>
      <p:sp>
        <p:nvSpPr>
          <p:cNvPr id="34" name="Text 32"/>
          <p:cNvSpPr txBox="1"/>
          <p:nvPr/>
        </p:nvSpPr>
        <p:spPr>
          <a:xfrm>
            <a:off x="563761" y="2558802"/>
            <a:ext cx="133870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Many microservices</a:t>
            </a:r>
            <a:endParaRPr lang="en-US" sz="1056" dirty="0"/>
          </a:p>
        </p:txBody>
      </p:sp>
      <p:sp>
        <p:nvSpPr>
          <p:cNvPr id="35" name="Shape 33"/>
          <p:cNvSpPr/>
          <p:nvPr/>
        </p:nvSpPr>
        <p:spPr>
          <a:xfrm>
            <a:off x="2244626" y="2809577"/>
            <a:ext cx="1919139" cy="9525"/>
          </a:xfrm>
          <a:prstGeom prst="rect">
            <a:avLst/>
          </a:prstGeom>
          <a:solidFill>
            <a:srgbClr val="DDD9D2"/>
          </a:solidFill>
          <a:ln/>
        </p:spPr>
      </p:sp>
      <p:sp>
        <p:nvSpPr>
          <p:cNvPr id="36" name="Text 34"/>
          <p:cNvSpPr txBox="1"/>
          <p:nvPr/>
        </p:nvSpPr>
        <p:spPr>
          <a:xfrm>
            <a:off x="2351187" y="2558802"/>
            <a:ext cx="129644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App Config + labels</a:t>
            </a:r>
            <a:endParaRPr lang="en-US" sz="1056" dirty="0"/>
          </a:p>
        </p:txBody>
      </p:sp>
      <p:sp>
        <p:nvSpPr>
          <p:cNvPr id="37" name="Shape 35"/>
          <p:cNvSpPr/>
          <p:nvPr/>
        </p:nvSpPr>
        <p:spPr>
          <a:xfrm>
            <a:off x="4163764" y="2809577"/>
            <a:ext cx="1920925" cy="9525"/>
          </a:xfrm>
          <a:prstGeom prst="rect">
            <a:avLst/>
          </a:prstGeom>
          <a:solidFill>
            <a:srgbClr val="DDD9D2"/>
          </a:solidFill>
          <a:ln/>
        </p:spPr>
      </p:sp>
      <p:sp>
        <p:nvSpPr>
          <p:cNvPr id="38" name="Text 36"/>
          <p:cNvSpPr txBox="1"/>
          <p:nvPr/>
        </p:nvSpPr>
        <p:spPr>
          <a:xfrm>
            <a:off x="4270325" y="2558802"/>
            <a:ext cx="137636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Key Vault references</a:t>
            </a:r>
            <a:endParaRPr lang="en-US" sz="1056" dirty="0"/>
          </a:p>
        </p:txBody>
      </p:sp>
      <p:sp>
        <p:nvSpPr>
          <p:cNvPr id="39" name="Shape 37"/>
          <p:cNvSpPr/>
          <p:nvPr/>
        </p:nvSpPr>
        <p:spPr>
          <a:xfrm>
            <a:off x="6084689" y="2809577"/>
            <a:ext cx="2792611" cy="9525"/>
          </a:xfrm>
          <a:prstGeom prst="rect">
            <a:avLst/>
          </a:prstGeom>
          <a:solidFill>
            <a:srgbClr val="DDD9D2"/>
          </a:solidFill>
          <a:ln/>
        </p:spPr>
      </p:sp>
      <p:sp>
        <p:nvSpPr>
          <p:cNvPr id="40" name="Text 38"/>
          <p:cNvSpPr txBox="1"/>
          <p:nvPr/>
        </p:nvSpPr>
        <p:spPr>
          <a:xfrm>
            <a:off x="6191250" y="2558802"/>
            <a:ext cx="156924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 — sentinel + refresh</a:t>
            </a:r>
            <a:endParaRPr lang="en-US" sz="1056" dirty="0"/>
          </a:p>
        </p:txBody>
      </p:sp>
      <p:sp>
        <p:nvSpPr>
          <p:cNvPr id="41" name="Shape 39"/>
          <p:cNvSpPr/>
          <p:nvPr/>
        </p:nvSpPr>
        <p:spPr>
          <a:xfrm>
            <a:off x="457200" y="2819102"/>
            <a:ext cx="8420100" cy="539651"/>
          </a:xfrm>
          <a:prstGeom prst="rect">
            <a:avLst/>
          </a:prstGeom>
          <a:solidFill>
            <a:srgbClr val="16303F">
              <a:alpha val="3000"/>
            </a:srgbClr>
          </a:solidFill>
          <a:ln/>
        </p:spPr>
      </p:sp>
      <p:sp>
        <p:nvSpPr>
          <p:cNvPr id="42" name="Shape 40"/>
          <p:cNvSpPr/>
          <p:nvPr/>
        </p:nvSpPr>
        <p:spPr>
          <a:xfrm>
            <a:off x="457200" y="3349228"/>
            <a:ext cx="8420100" cy="9525"/>
          </a:xfrm>
          <a:prstGeom prst="rect">
            <a:avLst/>
          </a:prstGeom>
          <a:solidFill>
            <a:srgbClr val="9CA3AF">
              <a:alpha val="20000"/>
            </a:srgbClr>
          </a:solidFill>
          <a:ln/>
        </p:spPr>
      </p:sp>
      <p:sp>
        <p:nvSpPr>
          <p:cNvPr id="43" name="Shape 41"/>
          <p:cNvSpPr/>
          <p:nvPr/>
        </p:nvSpPr>
        <p:spPr>
          <a:xfrm>
            <a:off x="457200" y="3349228"/>
            <a:ext cx="1787426" cy="9525"/>
          </a:xfrm>
          <a:prstGeom prst="rect">
            <a:avLst/>
          </a:prstGeom>
          <a:solidFill>
            <a:srgbClr val="DDD9D2"/>
          </a:solidFill>
          <a:ln/>
        </p:spPr>
      </p:sp>
      <p:sp>
        <p:nvSpPr>
          <p:cNvPr id="44" name="Text 42"/>
          <p:cNvSpPr txBox="1"/>
          <p:nvPr/>
        </p:nvSpPr>
        <p:spPr>
          <a:xfrm>
            <a:off x="563761" y="2897386"/>
            <a:ext cx="139571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Worker / background</a:t>
            </a:r>
            <a:endParaRPr lang="en-US" sz="1056" dirty="0"/>
          </a:p>
        </p:txBody>
      </p:sp>
      <p:sp>
        <p:nvSpPr>
          <p:cNvPr id="45" name="Shape 43"/>
          <p:cNvSpPr/>
          <p:nvPr/>
        </p:nvSpPr>
        <p:spPr>
          <a:xfrm>
            <a:off x="2244626" y="3349228"/>
            <a:ext cx="1919139" cy="9525"/>
          </a:xfrm>
          <a:prstGeom prst="rect">
            <a:avLst/>
          </a:prstGeom>
          <a:solidFill>
            <a:srgbClr val="DDD9D2"/>
          </a:solidFill>
          <a:ln/>
        </p:spPr>
      </p:sp>
      <p:sp>
        <p:nvSpPr>
          <p:cNvPr id="46" name="Text 44"/>
          <p:cNvSpPr txBox="1"/>
          <p:nvPr/>
        </p:nvSpPr>
        <p:spPr>
          <a:xfrm>
            <a:off x="2351187" y="2897386"/>
            <a:ext cx="108465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JSON + env vars</a:t>
            </a:r>
            <a:endParaRPr lang="en-US" sz="1056" dirty="0"/>
          </a:p>
        </p:txBody>
      </p:sp>
      <p:sp>
        <p:nvSpPr>
          <p:cNvPr id="47" name="Shape 45"/>
          <p:cNvSpPr/>
          <p:nvPr/>
        </p:nvSpPr>
        <p:spPr>
          <a:xfrm>
            <a:off x="4163764" y="3349228"/>
            <a:ext cx="1920925" cy="9525"/>
          </a:xfrm>
          <a:prstGeom prst="rect">
            <a:avLst/>
          </a:prstGeom>
          <a:solidFill>
            <a:srgbClr val="DDD9D2"/>
          </a:solidFill>
          <a:ln/>
        </p:spPr>
      </p:sp>
      <p:sp>
        <p:nvSpPr>
          <p:cNvPr id="48" name="Text 46"/>
          <p:cNvSpPr txBox="1"/>
          <p:nvPr/>
        </p:nvSpPr>
        <p:spPr>
          <a:xfrm>
            <a:off x="4270444" y="2897386"/>
            <a:ext cx="1726615"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Key Vault via managed identity</a:t>
            </a:r>
            <a:endParaRPr lang="en-US" sz="1056" dirty="0"/>
          </a:p>
        </p:txBody>
      </p:sp>
      <p:sp>
        <p:nvSpPr>
          <p:cNvPr id="49" name="Shape 47"/>
          <p:cNvSpPr/>
          <p:nvPr/>
        </p:nvSpPr>
        <p:spPr>
          <a:xfrm>
            <a:off x="6084689" y="3349228"/>
            <a:ext cx="2792611" cy="9525"/>
          </a:xfrm>
          <a:prstGeom prst="rect">
            <a:avLst/>
          </a:prstGeom>
          <a:solidFill>
            <a:srgbClr val="DDD9D2"/>
          </a:solidFill>
          <a:ln/>
        </p:spPr>
      </p:sp>
      <p:sp>
        <p:nvSpPr>
          <p:cNvPr id="50" name="Shape 48"/>
          <p:cNvSpPr/>
          <p:nvPr/>
        </p:nvSpPr>
        <p:spPr>
          <a:xfrm>
            <a:off x="6191250" y="2906613"/>
            <a:ext cx="1198959" cy="181570"/>
          </a:xfrm>
          <a:prstGeom prst="roundRect">
            <a:avLst>
              <a:gd name="adj" fmla="val 20984"/>
            </a:avLst>
          </a:prstGeom>
          <a:solidFill>
            <a:srgbClr val="16303F">
              <a:alpha val="7000"/>
            </a:srgbClr>
          </a:solidFill>
          <a:ln/>
        </p:spPr>
      </p:sp>
      <p:sp>
        <p:nvSpPr>
          <p:cNvPr id="51" name="Text 49"/>
          <p:cNvSpPr txBox="1"/>
          <p:nvPr/>
        </p:nvSpPr>
        <p:spPr>
          <a:xfrm>
            <a:off x="6235601" y="2897386"/>
            <a:ext cx="2320826"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IOptionsMonitor</a:t>
            </a:r>
            <a:pPr algn="l" indent="0" marL="0">
              <a:buNone/>
            </a:pPr>
            <a:r>
              <a:rPr lang="en-US" sz="1056" dirty="0">
                <a:solidFill>
                  <a:srgbClr val="16303F"/>
                </a:solidFill>
                <a:latin typeface="Manrope" pitchFamily="34" charset="0"/>
                <a:ea typeface="Manrope" pitchFamily="34" charset="-122"/>
                <a:cs typeface="Manrope" pitchFamily="34" charset="-120"/>
              </a:rPr>
              <a:t> + explicit refresh</a:t>
            </a:r>
            <a:endParaRPr lang="en-US" sz="972" dirty="0"/>
          </a:p>
        </p:txBody>
      </p:sp>
      <p:sp>
        <p:nvSpPr>
          <p:cNvPr id="52" name="Shape 50"/>
          <p:cNvSpPr/>
          <p:nvPr/>
        </p:nvSpPr>
        <p:spPr>
          <a:xfrm>
            <a:off x="457200" y="3687812"/>
            <a:ext cx="8420100" cy="9525"/>
          </a:xfrm>
          <a:prstGeom prst="rect">
            <a:avLst/>
          </a:prstGeom>
          <a:solidFill>
            <a:srgbClr val="9CA3AF">
              <a:alpha val="20000"/>
            </a:srgbClr>
          </a:solidFill>
          <a:ln/>
        </p:spPr>
      </p:sp>
      <p:sp>
        <p:nvSpPr>
          <p:cNvPr id="53" name="Shape 51"/>
          <p:cNvSpPr/>
          <p:nvPr/>
        </p:nvSpPr>
        <p:spPr>
          <a:xfrm>
            <a:off x="457200" y="3687812"/>
            <a:ext cx="1787426" cy="9525"/>
          </a:xfrm>
          <a:prstGeom prst="rect">
            <a:avLst/>
          </a:prstGeom>
          <a:solidFill>
            <a:srgbClr val="DDD9D2"/>
          </a:solidFill>
          <a:ln/>
        </p:spPr>
      </p:sp>
      <p:sp>
        <p:nvSpPr>
          <p:cNvPr id="54" name="Text 52"/>
          <p:cNvSpPr txBox="1"/>
          <p:nvPr/>
        </p:nvSpPr>
        <p:spPr>
          <a:xfrm>
            <a:off x="563761" y="3437037"/>
            <a:ext cx="93017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Console / CLI</a:t>
            </a:r>
            <a:endParaRPr lang="en-US" sz="1056" dirty="0"/>
          </a:p>
        </p:txBody>
      </p:sp>
      <p:sp>
        <p:nvSpPr>
          <p:cNvPr id="55" name="Shape 53"/>
          <p:cNvSpPr/>
          <p:nvPr/>
        </p:nvSpPr>
        <p:spPr>
          <a:xfrm>
            <a:off x="2244626" y="3687812"/>
            <a:ext cx="1919139" cy="9525"/>
          </a:xfrm>
          <a:prstGeom prst="rect">
            <a:avLst/>
          </a:prstGeom>
          <a:solidFill>
            <a:srgbClr val="DDD9D2"/>
          </a:solidFill>
          <a:ln/>
        </p:spPr>
      </p:sp>
      <p:sp>
        <p:nvSpPr>
          <p:cNvPr id="56" name="Text 54"/>
          <p:cNvSpPr txBox="1"/>
          <p:nvPr/>
        </p:nvSpPr>
        <p:spPr>
          <a:xfrm>
            <a:off x="2351187" y="3437037"/>
            <a:ext cx="1438275"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JSON + command line</a:t>
            </a:r>
            <a:endParaRPr lang="en-US" sz="1056" dirty="0"/>
          </a:p>
        </p:txBody>
      </p:sp>
      <p:sp>
        <p:nvSpPr>
          <p:cNvPr id="57" name="Shape 55"/>
          <p:cNvSpPr/>
          <p:nvPr/>
        </p:nvSpPr>
        <p:spPr>
          <a:xfrm>
            <a:off x="4163764" y="3687812"/>
            <a:ext cx="1920925" cy="9525"/>
          </a:xfrm>
          <a:prstGeom prst="rect">
            <a:avLst/>
          </a:prstGeom>
          <a:solidFill>
            <a:srgbClr val="DDD9D2"/>
          </a:solidFill>
          <a:ln/>
        </p:spPr>
      </p:sp>
      <p:sp>
        <p:nvSpPr>
          <p:cNvPr id="58" name="Text 56"/>
          <p:cNvSpPr txBox="1"/>
          <p:nvPr/>
        </p:nvSpPr>
        <p:spPr>
          <a:xfrm>
            <a:off x="4270325" y="3437037"/>
            <a:ext cx="127843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user secrets in dev</a:t>
            </a:r>
            <a:endParaRPr lang="en-US" sz="1056" dirty="0"/>
          </a:p>
        </p:txBody>
      </p:sp>
      <p:sp>
        <p:nvSpPr>
          <p:cNvPr id="59" name="Shape 57"/>
          <p:cNvSpPr/>
          <p:nvPr/>
        </p:nvSpPr>
        <p:spPr>
          <a:xfrm>
            <a:off x="6084689" y="3687812"/>
            <a:ext cx="2792611" cy="9525"/>
          </a:xfrm>
          <a:prstGeom prst="rect">
            <a:avLst/>
          </a:prstGeom>
          <a:solidFill>
            <a:srgbClr val="DDD9D2"/>
          </a:solidFill>
          <a:ln/>
        </p:spPr>
      </p:sp>
      <p:sp>
        <p:nvSpPr>
          <p:cNvPr id="60" name="Text 58"/>
          <p:cNvSpPr txBox="1"/>
          <p:nvPr/>
        </p:nvSpPr>
        <p:spPr>
          <a:xfrm>
            <a:off x="6191250" y="3437037"/>
            <a:ext cx="162892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no — short-lived process</a:t>
            </a:r>
            <a:endParaRPr lang="en-US" sz="1056" dirty="0"/>
          </a:p>
        </p:txBody>
      </p:sp>
      <p:sp>
        <p:nvSpPr>
          <p:cNvPr id="61" name="Shape 59"/>
          <p:cNvSpPr/>
          <p:nvPr/>
        </p:nvSpPr>
        <p:spPr>
          <a:xfrm>
            <a:off x="457200" y="3697337"/>
            <a:ext cx="8420100" cy="539651"/>
          </a:xfrm>
          <a:prstGeom prst="rect">
            <a:avLst/>
          </a:prstGeom>
          <a:solidFill>
            <a:srgbClr val="16303F">
              <a:alpha val="3000"/>
            </a:srgbClr>
          </a:solidFill>
          <a:ln/>
        </p:spPr>
      </p:sp>
      <p:sp>
        <p:nvSpPr>
          <p:cNvPr id="62" name="Shape 60"/>
          <p:cNvSpPr/>
          <p:nvPr/>
        </p:nvSpPr>
        <p:spPr>
          <a:xfrm>
            <a:off x="457200" y="4227463"/>
            <a:ext cx="8420100" cy="9525"/>
          </a:xfrm>
          <a:prstGeom prst="rect">
            <a:avLst/>
          </a:prstGeom>
          <a:solidFill>
            <a:srgbClr val="9CA3AF">
              <a:alpha val="20000"/>
            </a:srgbClr>
          </a:solidFill>
          <a:ln/>
        </p:spPr>
      </p:sp>
      <p:sp>
        <p:nvSpPr>
          <p:cNvPr id="63" name="Shape 61"/>
          <p:cNvSpPr/>
          <p:nvPr/>
        </p:nvSpPr>
        <p:spPr>
          <a:xfrm>
            <a:off x="457200" y="4227463"/>
            <a:ext cx="1787426" cy="9525"/>
          </a:xfrm>
          <a:prstGeom prst="rect">
            <a:avLst/>
          </a:prstGeom>
          <a:solidFill>
            <a:srgbClr val="DDD9D2"/>
          </a:solidFill>
          <a:ln/>
        </p:spPr>
      </p:sp>
      <p:sp>
        <p:nvSpPr>
          <p:cNvPr id="64" name="Text 62"/>
          <p:cNvSpPr txBox="1"/>
          <p:nvPr/>
        </p:nvSpPr>
        <p:spPr>
          <a:xfrm>
            <a:off x="563761" y="3775621"/>
            <a:ext cx="62954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Desktop</a:t>
            </a:r>
            <a:endParaRPr lang="en-US" sz="1056" dirty="0"/>
          </a:p>
        </p:txBody>
      </p:sp>
      <p:sp>
        <p:nvSpPr>
          <p:cNvPr id="65" name="Shape 63"/>
          <p:cNvSpPr/>
          <p:nvPr/>
        </p:nvSpPr>
        <p:spPr>
          <a:xfrm>
            <a:off x="2244626" y="4227463"/>
            <a:ext cx="1919139" cy="9525"/>
          </a:xfrm>
          <a:prstGeom prst="rect">
            <a:avLst/>
          </a:prstGeom>
          <a:solidFill>
            <a:srgbClr val="DDD9D2"/>
          </a:solidFill>
          <a:ln/>
        </p:spPr>
      </p:sp>
      <p:sp>
        <p:nvSpPr>
          <p:cNvPr id="66" name="Text 64"/>
          <p:cNvSpPr txBox="1"/>
          <p:nvPr/>
        </p:nvSpPr>
        <p:spPr>
          <a:xfrm>
            <a:off x="2351306" y="3775621"/>
            <a:ext cx="1724829"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JSON next to the EXE + AppData</a:t>
            </a:r>
            <a:endParaRPr lang="en-US" sz="1056" dirty="0"/>
          </a:p>
        </p:txBody>
      </p:sp>
      <p:sp>
        <p:nvSpPr>
          <p:cNvPr id="67" name="Shape 65"/>
          <p:cNvSpPr/>
          <p:nvPr/>
        </p:nvSpPr>
        <p:spPr>
          <a:xfrm>
            <a:off x="4163764" y="4227463"/>
            <a:ext cx="1920925" cy="9525"/>
          </a:xfrm>
          <a:prstGeom prst="rect">
            <a:avLst/>
          </a:prstGeom>
          <a:solidFill>
            <a:srgbClr val="DDD9D2"/>
          </a:solidFill>
          <a:ln/>
        </p:spPr>
      </p:sp>
      <p:sp>
        <p:nvSpPr>
          <p:cNvPr id="68" name="Text 66"/>
          <p:cNvSpPr txBox="1"/>
          <p:nvPr/>
        </p:nvSpPr>
        <p:spPr>
          <a:xfrm>
            <a:off x="4270325" y="3775621"/>
            <a:ext cx="1259681"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none in the client</a:t>
            </a:r>
            <a:endParaRPr lang="en-US" sz="1056" dirty="0"/>
          </a:p>
        </p:txBody>
      </p:sp>
      <p:sp>
        <p:nvSpPr>
          <p:cNvPr id="69" name="Shape 67"/>
          <p:cNvSpPr/>
          <p:nvPr/>
        </p:nvSpPr>
        <p:spPr>
          <a:xfrm>
            <a:off x="6084689" y="4227463"/>
            <a:ext cx="2792611" cy="9525"/>
          </a:xfrm>
          <a:prstGeom prst="rect">
            <a:avLst/>
          </a:prstGeom>
          <a:solidFill>
            <a:srgbClr val="DDD9D2"/>
          </a:solidFill>
          <a:ln/>
        </p:spPr>
      </p:sp>
      <p:sp>
        <p:nvSpPr>
          <p:cNvPr id="70" name="Text 68"/>
          <p:cNvSpPr txBox="1"/>
          <p:nvPr/>
        </p:nvSpPr>
        <p:spPr>
          <a:xfrm>
            <a:off x="6191250" y="3775621"/>
            <a:ext cx="178072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restart, or call your own API</a:t>
            </a:r>
            <a:endParaRPr lang="en-US" sz="1056"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226159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Don’t do this</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1034504" cy="19050"/>
          </a:xfrm>
          <a:prstGeom prst="rect">
            <a:avLst/>
          </a:prstGeom>
          <a:solidFill>
            <a:srgbClr val="16303F"/>
          </a:solidFill>
          <a:ln/>
        </p:spPr>
      </p:sp>
      <p:sp>
        <p:nvSpPr>
          <p:cNvPr id="6" name="Shape 4"/>
          <p:cNvSpPr/>
          <p:nvPr/>
        </p:nvSpPr>
        <p:spPr>
          <a:xfrm>
            <a:off x="1491704" y="1377404"/>
            <a:ext cx="7385596" cy="19050"/>
          </a:xfrm>
          <a:prstGeom prst="rect">
            <a:avLst/>
          </a:prstGeom>
          <a:solidFill>
            <a:srgbClr val="16303F"/>
          </a:solidFill>
          <a:ln/>
        </p:spPr>
      </p:sp>
      <p:sp>
        <p:nvSpPr>
          <p:cNvPr id="7" name="Text 5"/>
          <p:cNvSpPr txBox="1"/>
          <p:nvPr/>
        </p:nvSpPr>
        <p:spPr>
          <a:xfrm>
            <a:off x="1598265" y="1163092"/>
            <a:ext cx="205100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 ONE THAT COSTS YOU MOST</a:t>
            </a:r>
            <a:endParaRPr lang="en-US" sz="816" dirty="0"/>
          </a:p>
        </p:txBody>
      </p:sp>
      <p:sp>
        <p:nvSpPr>
          <p:cNvPr id="8" name="Shape 6"/>
          <p:cNvSpPr/>
          <p:nvPr/>
        </p:nvSpPr>
        <p:spPr>
          <a:xfrm>
            <a:off x="457200" y="1733252"/>
            <a:ext cx="8420100" cy="9525"/>
          </a:xfrm>
          <a:prstGeom prst="rect">
            <a:avLst/>
          </a:prstGeom>
          <a:solidFill>
            <a:srgbClr val="9CA3AF">
              <a:alpha val="20000"/>
            </a:srgbClr>
          </a:solidFill>
          <a:ln/>
        </p:spPr>
      </p:sp>
      <p:sp>
        <p:nvSpPr>
          <p:cNvPr id="9" name="Shape 7"/>
          <p:cNvSpPr/>
          <p:nvPr/>
        </p:nvSpPr>
        <p:spPr>
          <a:xfrm>
            <a:off x="457200" y="1733252"/>
            <a:ext cx="1034504" cy="9525"/>
          </a:xfrm>
          <a:prstGeom prst="rect">
            <a:avLst/>
          </a:prstGeom>
          <a:solidFill>
            <a:srgbClr val="DDD9D2"/>
          </a:solidFill>
          <a:ln/>
        </p:spPr>
      </p:sp>
      <p:sp>
        <p:nvSpPr>
          <p:cNvPr id="10" name="Text 8"/>
          <p:cNvSpPr txBox="1"/>
          <p:nvPr/>
        </p:nvSpPr>
        <p:spPr>
          <a:xfrm>
            <a:off x="563761" y="1479500"/>
            <a:ext cx="570161"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ORDER</a:t>
            </a:r>
            <a:endParaRPr lang="en-US" sz="1056" dirty="0"/>
          </a:p>
        </p:txBody>
      </p:sp>
      <p:sp>
        <p:nvSpPr>
          <p:cNvPr id="11" name="Shape 9"/>
          <p:cNvSpPr/>
          <p:nvPr/>
        </p:nvSpPr>
        <p:spPr>
          <a:xfrm>
            <a:off x="1491704" y="1733252"/>
            <a:ext cx="7385596" cy="9525"/>
          </a:xfrm>
          <a:prstGeom prst="rect">
            <a:avLst/>
          </a:prstGeom>
          <a:solidFill>
            <a:srgbClr val="DDD9D2"/>
          </a:solidFill>
          <a:ln/>
        </p:spPr>
      </p:sp>
      <p:sp>
        <p:nvSpPr>
          <p:cNvPr id="12" name="Shape 10"/>
          <p:cNvSpPr/>
          <p:nvPr/>
        </p:nvSpPr>
        <p:spPr>
          <a:xfrm>
            <a:off x="2879527" y="1488728"/>
            <a:ext cx="2087017" cy="181570"/>
          </a:xfrm>
          <a:prstGeom prst="roundRect">
            <a:avLst>
              <a:gd name="adj" fmla="val 20984"/>
            </a:avLst>
          </a:prstGeom>
          <a:solidFill>
            <a:srgbClr val="16303F">
              <a:alpha val="7000"/>
            </a:srgbClr>
          </a:solidFill>
          <a:ln/>
        </p:spPr>
      </p:sp>
      <p:sp>
        <p:nvSpPr>
          <p:cNvPr id="13" name="Text 11"/>
          <p:cNvSpPr txBox="1"/>
          <p:nvPr/>
        </p:nvSpPr>
        <p:spPr>
          <a:xfrm>
            <a:off x="1598265" y="1479500"/>
            <a:ext cx="494377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assuming an array in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appsettings.Production.json</a:t>
            </a:r>
            <a:pPr algn="l" indent="0" marL="0">
              <a:buNone/>
            </a:pPr>
            <a:r>
              <a:rPr lang="en-US" sz="1056" dirty="0">
                <a:solidFill>
                  <a:srgbClr val="16303F"/>
                </a:solidFill>
                <a:latin typeface="Manrope" pitchFamily="34" charset="0"/>
                <a:ea typeface="Manrope" pitchFamily="34" charset="-122"/>
                <a:cs typeface="Manrope" pitchFamily="34" charset="-120"/>
              </a:rPr>
              <a:t> replaces the base array</a:t>
            </a:r>
            <a:endParaRPr lang="en-US" sz="1056" dirty="0"/>
          </a:p>
        </p:txBody>
      </p:sp>
      <p:sp>
        <p:nvSpPr>
          <p:cNvPr id="14" name="Shape 12"/>
          <p:cNvSpPr/>
          <p:nvPr/>
        </p:nvSpPr>
        <p:spPr>
          <a:xfrm>
            <a:off x="457200" y="1742777"/>
            <a:ext cx="8420100" cy="341561"/>
          </a:xfrm>
          <a:prstGeom prst="rect">
            <a:avLst/>
          </a:prstGeom>
          <a:solidFill>
            <a:srgbClr val="16303F">
              <a:alpha val="3000"/>
            </a:srgbClr>
          </a:solidFill>
          <a:ln/>
        </p:spPr>
      </p:sp>
      <p:sp>
        <p:nvSpPr>
          <p:cNvPr id="15" name="Shape 13"/>
          <p:cNvSpPr/>
          <p:nvPr/>
        </p:nvSpPr>
        <p:spPr>
          <a:xfrm>
            <a:off x="457200" y="2074813"/>
            <a:ext cx="8420100" cy="9525"/>
          </a:xfrm>
          <a:prstGeom prst="rect">
            <a:avLst/>
          </a:prstGeom>
          <a:solidFill>
            <a:srgbClr val="9CA3AF">
              <a:alpha val="20000"/>
            </a:srgbClr>
          </a:solidFill>
          <a:ln/>
        </p:spPr>
      </p:sp>
      <p:sp>
        <p:nvSpPr>
          <p:cNvPr id="16" name="Shape 14"/>
          <p:cNvSpPr/>
          <p:nvPr/>
        </p:nvSpPr>
        <p:spPr>
          <a:xfrm>
            <a:off x="457200" y="2074813"/>
            <a:ext cx="1034504" cy="9525"/>
          </a:xfrm>
          <a:prstGeom prst="rect">
            <a:avLst/>
          </a:prstGeom>
          <a:solidFill>
            <a:srgbClr val="DDD9D2"/>
          </a:solidFill>
          <a:ln/>
        </p:spPr>
      </p:sp>
      <p:sp>
        <p:nvSpPr>
          <p:cNvPr id="17" name="Text 15"/>
          <p:cNvSpPr txBox="1"/>
          <p:nvPr/>
        </p:nvSpPr>
        <p:spPr>
          <a:xfrm>
            <a:off x="563761" y="1821061"/>
            <a:ext cx="560636"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SHAPE</a:t>
            </a:r>
            <a:endParaRPr lang="en-US" sz="1056" dirty="0"/>
          </a:p>
        </p:txBody>
      </p:sp>
      <p:sp>
        <p:nvSpPr>
          <p:cNvPr id="18" name="Shape 16"/>
          <p:cNvSpPr/>
          <p:nvPr/>
        </p:nvSpPr>
        <p:spPr>
          <a:xfrm>
            <a:off x="1491704" y="2074813"/>
            <a:ext cx="7385596" cy="9525"/>
          </a:xfrm>
          <a:prstGeom prst="rect">
            <a:avLst/>
          </a:prstGeom>
          <a:solidFill>
            <a:srgbClr val="DDD9D2"/>
          </a:solidFill>
          <a:ln/>
        </p:spPr>
      </p:sp>
      <p:sp>
        <p:nvSpPr>
          <p:cNvPr id="19" name="Shape 17"/>
          <p:cNvSpPr/>
          <p:nvPr/>
        </p:nvSpPr>
        <p:spPr>
          <a:xfrm>
            <a:off x="1598265" y="1830288"/>
            <a:ext cx="1494979" cy="181570"/>
          </a:xfrm>
          <a:prstGeom prst="roundRect">
            <a:avLst>
              <a:gd name="adj" fmla="val 20984"/>
            </a:avLst>
          </a:prstGeom>
          <a:solidFill>
            <a:srgbClr val="16303F">
              <a:alpha val="7000"/>
            </a:srgbClr>
          </a:solidFill>
          <a:ln/>
        </p:spPr>
      </p:sp>
      <p:sp>
        <p:nvSpPr>
          <p:cNvPr id="20" name="Text 18"/>
          <p:cNvSpPr txBox="1"/>
          <p:nvPr/>
        </p:nvSpPr>
        <p:spPr>
          <a:xfrm>
            <a:off x="1642616" y="1821061"/>
            <a:ext cx="4439096"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config["Some:Key"]!</a:t>
            </a:r>
            <a:pPr algn="l" indent="0" marL="0">
              <a:buNone/>
            </a:pPr>
            <a:r>
              <a:rPr lang="en-US" sz="1056" dirty="0">
                <a:solidFill>
                  <a:srgbClr val="16303F"/>
                </a:solidFill>
                <a:latin typeface="Manrope" pitchFamily="34" charset="0"/>
                <a:ea typeface="Manrope" pitchFamily="34" charset="-122"/>
                <a:cs typeface="Manrope" pitchFamily="34" charset="-120"/>
              </a:rPr>
              <a:t> with a null-forgiving operator and no validation</a:t>
            </a:r>
            <a:endParaRPr lang="en-US" sz="972" dirty="0"/>
          </a:p>
        </p:txBody>
      </p:sp>
      <p:sp>
        <p:nvSpPr>
          <p:cNvPr id="21" name="Shape 19"/>
          <p:cNvSpPr/>
          <p:nvPr/>
        </p:nvSpPr>
        <p:spPr>
          <a:xfrm>
            <a:off x="457200" y="2416373"/>
            <a:ext cx="8420100" cy="9525"/>
          </a:xfrm>
          <a:prstGeom prst="rect">
            <a:avLst/>
          </a:prstGeom>
          <a:solidFill>
            <a:srgbClr val="9CA3AF">
              <a:alpha val="20000"/>
            </a:srgbClr>
          </a:solidFill>
          <a:ln/>
        </p:spPr>
      </p:sp>
      <p:sp>
        <p:nvSpPr>
          <p:cNvPr id="22" name="Shape 20"/>
          <p:cNvSpPr/>
          <p:nvPr/>
        </p:nvSpPr>
        <p:spPr>
          <a:xfrm>
            <a:off x="457200" y="2416373"/>
            <a:ext cx="1034504" cy="9525"/>
          </a:xfrm>
          <a:prstGeom prst="rect">
            <a:avLst/>
          </a:prstGeom>
          <a:solidFill>
            <a:srgbClr val="DDD9D2"/>
          </a:solidFill>
          <a:ln/>
        </p:spPr>
      </p:sp>
      <p:sp>
        <p:nvSpPr>
          <p:cNvPr id="23" name="Text 21"/>
          <p:cNvSpPr txBox="1"/>
          <p:nvPr/>
        </p:nvSpPr>
        <p:spPr>
          <a:xfrm>
            <a:off x="563761" y="2162621"/>
            <a:ext cx="692795"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LIFETIME</a:t>
            </a:r>
            <a:endParaRPr lang="en-US" sz="1056" dirty="0"/>
          </a:p>
        </p:txBody>
      </p:sp>
      <p:sp>
        <p:nvSpPr>
          <p:cNvPr id="24" name="Shape 22"/>
          <p:cNvSpPr/>
          <p:nvPr/>
        </p:nvSpPr>
        <p:spPr>
          <a:xfrm>
            <a:off x="1491704" y="2416373"/>
            <a:ext cx="7385596" cy="9525"/>
          </a:xfrm>
          <a:prstGeom prst="rect">
            <a:avLst/>
          </a:prstGeom>
          <a:solidFill>
            <a:srgbClr val="DDD9D2"/>
          </a:solidFill>
          <a:ln/>
        </p:spPr>
      </p:sp>
      <p:sp>
        <p:nvSpPr>
          <p:cNvPr id="25" name="Shape 23"/>
          <p:cNvSpPr/>
          <p:nvPr/>
        </p:nvSpPr>
        <p:spPr>
          <a:xfrm>
            <a:off x="1598265" y="2171849"/>
            <a:ext cx="1494979" cy="181570"/>
          </a:xfrm>
          <a:prstGeom prst="roundRect">
            <a:avLst>
              <a:gd name="adj" fmla="val 20984"/>
            </a:avLst>
          </a:prstGeom>
          <a:solidFill>
            <a:srgbClr val="16303F">
              <a:alpha val="7000"/>
            </a:srgbClr>
          </a:solidFill>
          <a:ln/>
        </p:spPr>
      </p:sp>
      <p:sp>
        <p:nvSpPr>
          <p:cNvPr id="26" name="Text 24"/>
          <p:cNvSpPr txBox="1"/>
          <p:nvPr/>
        </p:nvSpPr>
        <p:spPr>
          <a:xfrm>
            <a:off x="1642616" y="2162621"/>
            <a:ext cx="3074640"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IOptionsSnapshot&lt;T&gt;</a:t>
            </a:r>
            <a:pPr algn="l" indent="0" marL="0">
              <a:buNone/>
            </a:pPr>
            <a:r>
              <a:rPr lang="en-US" sz="1056" dirty="0">
                <a:solidFill>
                  <a:srgbClr val="16303F"/>
                </a:solidFill>
                <a:latin typeface="Manrope" pitchFamily="34" charset="0"/>
                <a:ea typeface="Manrope" pitchFamily="34" charset="-122"/>
                <a:cs typeface="Manrope" pitchFamily="34" charset="-120"/>
              </a:rPr>
              <a:t> injected into a singleton</a:t>
            </a:r>
            <a:endParaRPr lang="en-US" sz="972" dirty="0"/>
          </a:p>
        </p:txBody>
      </p:sp>
      <p:sp>
        <p:nvSpPr>
          <p:cNvPr id="27" name="Shape 25"/>
          <p:cNvSpPr/>
          <p:nvPr/>
        </p:nvSpPr>
        <p:spPr>
          <a:xfrm>
            <a:off x="457200" y="2425898"/>
            <a:ext cx="8420100" cy="341561"/>
          </a:xfrm>
          <a:prstGeom prst="rect">
            <a:avLst/>
          </a:prstGeom>
          <a:solidFill>
            <a:srgbClr val="16303F">
              <a:alpha val="3000"/>
            </a:srgbClr>
          </a:solidFill>
          <a:ln/>
        </p:spPr>
      </p:sp>
      <p:sp>
        <p:nvSpPr>
          <p:cNvPr id="28" name="Shape 26"/>
          <p:cNvSpPr/>
          <p:nvPr/>
        </p:nvSpPr>
        <p:spPr>
          <a:xfrm>
            <a:off x="457200" y="2757934"/>
            <a:ext cx="8420100" cy="9525"/>
          </a:xfrm>
          <a:prstGeom prst="rect">
            <a:avLst/>
          </a:prstGeom>
          <a:solidFill>
            <a:srgbClr val="9CA3AF">
              <a:alpha val="20000"/>
            </a:srgbClr>
          </a:solidFill>
          <a:ln/>
        </p:spPr>
      </p:sp>
      <p:sp>
        <p:nvSpPr>
          <p:cNvPr id="29" name="Shape 27"/>
          <p:cNvSpPr/>
          <p:nvPr/>
        </p:nvSpPr>
        <p:spPr>
          <a:xfrm>
            <a:off x="457200" y="2757934"/>
            <a:ext cx="1034504" cy="9525"/>
          </a:xfrm>
          <a:prstGeom prst="rect">
            <a:avLst/>
          </a:prstGeom>
          <a:solidFill>
            <a:srgbClr val="DDD9D2"/>
          </a:solidFill>
          <a:ln/>
        </p:spPr>
      </p:sp>
      <p:sp>
        <p:nvSpPr>
          <p:cNvPr id="30" name="Text 28"/>
          <p:cNvSpPr txBox="1"/>
          <p:nvPr/>
        </p:nvSpPr>
        <p:spPr>
          <a:xfrm>
            <a:off x="563761" y="2504182"/>
            <a:ext cx="551111"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TRUST</a:t>
            </a:r>
            <a:endParaRPr lang="en-US" sz="1056" dirty="0"/>
          </a:p>
        </p:txBody>
      </p:sp>
      <p:sp>
        <p:nvSpPr>
          <p:cNvPr id="31" name="Shape 29"/>
          <p:cNvSpPr/>
          <p:nvPr/>
        </p:nvSpPr>
        <p:spPr>
          <a:xfrm>
            <a:off x="1491704" y="2757934"/>
            <a:ext cx="7385596" cy="9525"/>
          </a:xfrm>
          <a:prstGeom prst="rect">
            <a:avLst/>
          </a:prstGeom>
          <a:solidFill>
            <a:srgbClr val="DDD9D2"/>
          </a:solidFill>
          <a:ln/>
        </p:spPr>
      </p:sp>
      <p:sp>
        <p:nvSpPr>
          <p:cNvPr id="32" name="Shape 30"/>
          <p:cNvSpPr/>
          <p:nvPr/>
        </p:nvSpPr>
        <p:spPr>
          <a:xfrm>
            <a:off x="2929979" y="2513409"/>
            <a:ext cx="1272927" cy="181570"/>
          </a:xfrm>
          <a:prstGeom prst="roundRect">
            <a:avLst>
              <a:gd name="adj" fmla="val 20984"/>
            </a:avLst>
          </a:prstGeom>
          <a:solidFill>
            <a:srgbClr val="16303F">
              <a:alpha val="7000"/>
            </a:srgbClr>
          </a:solidFill>
          <a:ln/>
        </p:spPr>
      </p:sp>
      <p:sp>
        <p:nvSpPr>
          <p:cNvPr id="33" name="Shape 31"/>
          <p:cNvSpPr/>
          <p:nvPr/>
        </p:nvSpPr>
        <p:spPr>
          <a:xfrm>
            <a:off x="4949577" y="2513409"/>
            <a:ext cx="2087017" cy="181570"/>
          </a:xfrm>
          <a:prstGeom prst="roundRect">
            <a:avLst>
              <a:gd name="adj" fmla="val 20984"/>
            </a:avLst>
          </a:prstGeom>
          <a:solidFill>
            <a:srgbClr val="16303F">
              <a:alpha val="7000"/>
            </a:srgbClr>
          </a:solidFill>
          <a:ln/>
        </p:spPr>
      </p:sp>
      <p:sp>
        <p:nvSpPr>
          <p:cNvPr id="34" name="Text 32"/>
          <p:cNvSpPr txBox="1"/>
          <p:nvPr/>
        </p:nvSpPr>
        <p:spPr>
          <a:xfrm>
            <a:off x="1598265" y="2504182"/>
            <a:ext cx="5508278"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secrets committed in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appsettings.json</a:t>
            </a:r>
            <a:pPr algn="l" indent="0" marL="0">
              <a:buNone/>
            </a:pPr>
            <a:r>
              <a:rPr lang="en-US" sz="1056" dirty="0">
                <a:solidFill>
                  <a:srgbClr val="16303F"/>
                </a:solidFill>
                <a:latin typeface="Manrope" pitchFamily="34" charset="0"/>
                <a:ea typeface="Manrope" pitchFamily="34" charset="-122"/>
                <a:cs typeface="Manrope" pitchFamily="34" charset="-120"/>
              </a:rPr>
              <a:t> — or worse,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appsettings.Production.json</a:t>
            </a:r>
            <a:endParaRPr lang="en-US" sz="1056"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848930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The spine assumes something that gets deployed</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1438573" cy="19050"/>
          </a:xfrm>
          <a:prstGeom prst="rect">
            <a:avLst/>
          </a:prstGeom>
          <a:solidFill>
            <a:srgbClr val="16303F"/>
          </a:solidFill>
          <a:ln/>
        </p:spPr>
      </p:sp>
      <p:sp>
        <p:nvSpPr>
          <p:cNvPr id="6" name="Shape 4"/>
          <p:cNvSpPr/>
          <p:nvPr/>
        </p:nvSpPr>
        <p:spPr>
          <a:xfrm>
            <a:off x="1895773" y="1377404"/>
            <a:ext cx="2010966" cy="19050"/>
          </a:xfrm>
          <a:prstGeom prst="rect">
            <a:avLst/>
          </a:prstGeom>
          <a:solidFill>
            <a:srgbClr val="16303F"/>
          </a:solidFill>
          <a:ln/>
        </p:spPr>
      </p:sp>
      <p:sp>
        <p:nvSpPr>
          <p:cNvPr id="7" name="Text 5"/>
          <p:cNvSpPr txBox="1"/>
          <p:nvPr/>
        </p:nvSpPr>
        <p:spPr>
          <a:xfrm>
            <a:off x="2002334" y="1163092"/>
            <a:ext cx="574923"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SERVER</a:t>
            </a:r>
            <a:endParaRPr lang="en-US" sz="816" dirty="0"/>
          </a:p>
        </p:txBody>
      </p:sp>
      <p:sp>
        <p:nvSpPr>
          <p:cNvPr id="8" name="Shape 6"/>
          <p:cNvSpPr/>
          <p:nvPr/>
        </p:nvSpPr>
        <p:spPr>
          <a:xfrm>
            <a:off x="3906738" y="1377404"/>
            <a:ext cx="4970562" cy="19050"/>
          </a:xfrm>
          <a:prstGeom prst="rect">
            <a:avLst/>
          </a:prstGeom>
          <a:solidFill>
            <a:srgbClr val="16303F"/>
          </a:solidFill>
          <a:ln/>
        </p:spPr>
      </p:sp>
      <p:sp>
        <p:nvSpPr>
          <p:cNvPr id="9" name="Text 7"/>
          <p:cNvSpPr txBox="1"/>
          <p:nvPr/>
        </p:nvSpPr>
        <p:spPr>
          <a:xfrm>
            <a:off x="4013299" y="1163092"/>
            <a:ext cx="66928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DESKTOP</a:t>
            </a:r>
            <a:endParaRPr lang="en-US" sz="816" dirty="0"/>
          </a:p>
        </p:txBody>
      </p:sp>
      <p:sp>
        <p:nvSpPr>
          <p:cNvPr id="10" name="Shape 8"/>
          <p:cNvSpPr/>
          <p:nvPr/>
        </p:nvSpPr>
        <p:spPr>
          <a:xfrm>
            <a:off x="457200" y="1730276"/>
            <a:ext cx="8420100" cy="9525"/>
          </a:xfrm>
          <a:prstGeom prst="rect">
            <a:avLst/>
          </a:prstGeom>
          <a:solidFill>
            <a:srgbClr val="9CA3AF">
              <a:alpha val="20000"/>
            </a:srgbClr>
          </a:solidFill>
          <a:ln/>
        </p:spPr>
      </p:sp>
      <p:sp>
        <p:nvSpPr>
          <p:cNvPr id="11" name="Shape 9"/>
          <p:cNvSpPr/>
          <p:nvPr/>
        </p:nvSpPr>
        <p:spPr>
          <a:xfrm>
            <a:off x="457200" y="1730276"/>
            <a:ext cx="1438573" cy="9525"/>
          </a:xfrm>
          <a:prstGeom prst="rect">
            <a:avLst/>
          </a:prstGeom>
          <a:solidFill>
            <a:srgbClr val="DDD9D2"/>
          </a:solidFill>
          <a:ln/>
        </p:spPr>
      </p:sp>
      <p:sp>
        <p:nvSpPr>
          <p:cNvPr id="12" name="Text 10"/>
          <p:cNvSpPr txBox="1"/>
          <p:nvPr/>
        </p:nvSpPr>
        <p:spPr>
          <a:xfrm>
            <a:off x="563761" y="1479500"/>
            <a:ext cx="69190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Local dev</a:t>
            </a:r>
            <a:endParaRPr lang="en-US" sz="1056" dirty="0"/>
          </a:p>
        </p:txBody>
      </p:sp>
      <p:sp>
        <p:nvSpPr>
          <p:cNvPr id="13" name="Shape 11"/>
          <p:cNvSpPr/>
          <p:nvPr/>
        </p:nvSpPr>
        <p:spPr>
          <a:xfrm>
            <a:off x="1895773" y="1730276"/>
            <a:ext cx="2010966" cy="9525"/>
          </a:xfrm>
          <a:prstGeom prst="rect">
            <a:avLst/>
          </a:prstGeom>
          <a:solidFill>
            <a:srgbClr val="DDD9D2"/>
          </a:solidFill>
          <a:ln/>
        </p:spPr>
      </p:sp>
      <p:sp>
        <p:nvSpPr>
          <p:cNvPr id="14" name="Text 12"/>
          <p:cNvSpPr txBox="1"/>
          <p:nvPr/>
        </p:nvSpPr>
        <p:spPr>
          <a:xfrm>
            <a:off x="2002334" y="1479500"/>
            <a:ext cx="33129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a:t>
            </a:r>
            <a:endParaRPr lang="en-US" sz="1056" dirty="0"/>
          </a:p>
        </p:txBody>
      </p:sp>
      <p:sp>
        <p:nvSpPr>
          <p:cNvPr id="15" name="Shape 13"/>
          <p:cNvSpPr/>
          <p:nvPr/>
        </p:nvSpPr>
        <p:spPr>
          <a:xfrm>
            <a:off x="3906738" y="1730276"/>
            <a:ext cx="4970562" cy="9525"/>
          </a:xfrm>
          <a:prstGeom prst="rect">
            <a:avLst/>
          </a:prstGeom>
          <a:solidFill>
            <a:srgbClr val="DDD9D2"/>
          </a:solidFill>
          <a:ln/>
        </p:spPr>
      </p:sp>
      <p:sp>
        <p:nvSpPr>
          <p:cNvPr id="16" name="Text 14"/>
          <p:cNvSpPr txBox="1"/>
          <p:nvPr/>
        </p:nvSpPr>
        <p:spPr>
          <a:xfrm>
            <a:off x="4013299" y="1479500"/>
            <a:ext cx="33129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a:t>
            </a:r>
            <a:endParaRPr lang="en-US" sz="1056" dirty="0"/>
          </a:p>
        </p:txBody>
      </p:sp>
      <p:sp>
        <p:nvSpPr>
          <p:cNvPr id="17" name="Shape 15"/>
          <p:cNvSpPr/>
          <p:nvPr/>
        </p:nvSpPr>
        <p:spPr>
          <a:xfrm>
            <a:off x="457200" y="1739801"/>
            <a:ext cx="8420100" cy="338584"/>
          </a:xfrm>
          <a:prstGeom prst="rect">
            <a:avLst/>
          </a:prstGeom>
          <a:solidFill>
            <a:srgbClr val="16303F">
              <a:alpha val="3000"/>
            </a:srgbClr>
          </a:solidFill>
          <a:ln/>
        </p:spPr>
      </p:sp>
      <p:sp>
        <p:nvSpPr>
          <p:cNvPr id="18" name="Shape 16"/>
          <p:cNvSpPr/>
          <p:nvPr/>
        </p:nvSpPr>
        <p:spPr>
          <a:xfrm>
            <a:off x="457200" y="2068860"/>
            <a:ext cx="8420100" cy="9525"/>
          </a:xfrm>
          <a:prstGeom prst="rect">
            <a:avLst/>
          </a:prstGeom>
          <a:solidFill>
            <a:srgbClr val="9CA3AF">
              <a:alpha val="20000"/>
            </a:srgbClr>
          </a:solidFill>
          <a:ln/>
        </p:spPr>
      </p:sp>
      <p:sp>
        <p:nvSpPr>
          <p:cNvPr id="19" name="Shape 17"/>
          <p:cNvSpPr/>
          <p:nvPr/>
        </p:nvSpPr>
        <p:spPr>
          <a:xfrm>
            <a:off x="457200" y="2068860"/>
            <a:ext cx="1438573" cy="9525"/>
          </a:xfrm>
          <a:prstGeom prst="rect">
            <a:avLst/>
          </a:prstGeom>
          <a:solidFill>
            <a:srgbClr val="DDD9D2"/>
          </a:solidFill>
          <a:ln/>
        </p:spPr>
      </p:sp>
      <p:sp>
        <p:nvSpPr>
          <p:cNvPr id="20" name="Text 18"/>
          <p:cNvSpPr txBox="1"/>
          <p:nvPr/>
        </p:nvSpPr>
        <p:spPr>
          <a:xfrm>
            <a:off x="563761" y="1818084"/>
            <a:ext cx="86186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Deployment</a:t>
            </a:r>
            <a:endParaRPr lang="en-US" sz="1056" dirty="0"/>
          </a:p>
        </p:txBody>
      </p:sp>
      <p:sp>
        <p:nvSpPr>
          <p:cNvPr id="21" name="Shape 19"/>
          <p:cNvSpPr/>
          <p:nvPr/>
        </p:nvSpPr>
        <p:spPr>
          <a:xfrm>
            <a:off x="1895773" y="2068860"/>
            <a:ext cx="2010966" cy="9525"/>
          </a:xfrm>
          <a:prstGeom prst="rect">
            <a:avLst/>
          </a:prstGeom>
          <a:solidFill>
            <a:srgbClr val="DDD9D2"/>
          </a:solidFill>
          <a:ln/>
        </p:spPr>
      </p:sp>
      <p:sp>
        <p:nvSpPr>
          <p:cNvPr id="22" name="Text 20"/>
          <p:cNvSpPr txBox="1"/>
          <p:nvPr/>
        </p:nvSpPr>
        <p:spPr>
          <a:xfrm>
            <a:off x="2002334" y="1818084"/>
            <a:ext cx="62969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 deploy</a:t>
            </a:r>
            <a:endParaRPr lang="en-US" sz="1056" dirty="0"/>
          </a:p>
        </p:txBody>
      </p:sp>
      <p:sp>
        <p:nvSpPr>
          <p:cNvPr id="23" name="Shape 21"/>
          <p:cNvSpPr/>
          <p:nvPr/>
        </p:nvSpPr>
        <p:spPr>
          <a:xfrm>
            <a:off x="3906738" y="2068860"/>
            <a:ext cx="4970562" cy="9525"/>
          </a:xfrm>
          <a:prstGeom prst="rect">
            <a:avLst/>
          </a:prstGeom>
          <a:solidFill>
            <a:srgbClr val="DDD9D2"/>
          </a:solidFill>
          <a:ln/>
        </p:spPr>
      </p:sp>
      <p:sp>
        <p:nvSpPr>
          <p:cNvPr id="24" name="Text 22"/>
          <p:cNvSpPr txBox="1"/>
          <p:nvPr/>
        </p:nvSpPr>
        <p:spPr>
          <a:xfrm>
            <a:off x="4013299" y="1818084"/>
            <a:ext cx="71095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an </a:t>
            </a:r>
            <a:pPr algn="l" indent="0" marL="0">
              <a:buNone/>
            </a:pPr>
            <a:r>
              <a:rPr lang="en-US" sz="1056" b="1" dirty="0">
                <a:solidFill>
                  <a:srgbClr val="16303F"/>
                </a:solidFill>
                <a:latin typeface="Manrope" pitchFamily="34" charset="0"/>
                <a:ea typeface="Manrope" pitchFamily="34" charset="-122"/>
                <a:cs typeface="Manrope" pitchFamily="34" charset="-120"/>
              </a:rPr>
              <a:t>install</a:t>
            </a:r>
            <a:endParaRPr lang="en-US" sz="1056" dirty="0"/>
          </a:p>
        </p:txBody>
      </p:sp>
      <p:sp>
        <p:nvSpPr>
          <p:cNvPr id="25" name="Shape 23"/>
          <p:cNvSpPr/>
          <p:nvPr/>
        </p:nvSpPr>
        <p:spPr>
          <a:xfrm>
            <a:off x="457200" y="2407444"/>
            <a:ext cx="8420100" cy="9525"/>
          </a:xfrm>
          <a:prstGeom prst="rect">
            <a:avLst/>
          </a:prstGeom>
          <a:solidFill>
            <a:srgbClr val="9CA3AF">
              <a:alpha val="20000"/>
            </a:srgbClr>
          </a:solidFill>
          <a:ln/>
        </p:spPr>
      </p:sp>
      <p:sp>
        <p:nvSpPr>
          <p:cNvPr id="26" name="Shape 24"/>
          <p:cNvSpPr/>
          <p:nvPr/>
        </p:nvSpPr>
        <p:spPr>
          <a:xfrm>
            <a:off x="457200" y="2407444"/>
            <a:ext cx="1438573" cy="9525"/>
          </a:xfrm>
          <a:prstGeom prst="rect">
            <a:avLst/>
          </a:prstGeom>
          <a:solidFill>
            <a:srgbClr val="DDD9D2"/>
          </a:solidFill>
          <a:ln/>
        </p:spPr>
      </p:sp>
      <p:sp>
        <p:nvSpPr>
          <p:cNvPr id="27" name="Text 25"/>
          <p:cNvSpPr txBox="1"/>
          <p:nvPr/>
        </p:nvSpPr>
        <p:spPr>
          <a:xfrm>
            <a:off x="563761" y="2156668"/>
            <a:ext cx="55602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Shared</a:t>
            </a:r>
            <a:endParaRPr lang="en-US" sz="1056" dirty="0"/>
          </a:p>
        </p:txBody>
      </p:sp>
      <p:sp>
        <p:nvSpPr>
          <p:cNvPr id="28" name="Shape 26"/>
          <p:cNvSpPr/>
          <p:nvPr/>
        </p:nvSpPr>
        <p:spPr>
          <a:xfrm>
            <a:off x="1895773" y="2407444"/>
            <a:ext cx="2010966" cy="9525"/>
          </a:xfrm>
          <a:prstGeom prst="rect">
            <a:avLst/>
          </a:prstGeom>
          <a:solidFill>
            <a:srgbClr val="DDD9D2"/>
          </a:solidFill>
          <a:ln/>
        </p:spPr>
      </p:sp>
      <p:sp>
        <p:nvSpPr>
          <p:cNvPr id="29" name="Text 27"/>
          <p:cNvSpPr txBox="1"/>
          <p:nvPr/>
        </p:nvSpPr>
        <p:spPr>
          <a:xfrm>
            <a:off x="2002334" y="2156668"/>
            <a:ext cx="124405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App Configuration</a:t>
            </a:r>
            <a:endParaRPr lang="en-US" sz="1056" dirty="0"/>
          </a:p>
        </p:txBody>
      </p:sp>
      <p:sp>
        <p:nvSpPr>
          <p:cNvPr id="30" name="Shape 28"/>
          <p:cNvSpPr/>
          <p:nvPr/>
        </p:nvSpPr>
        <p:spPr>
          <a:xfrm>
            <a:off x="3906738" y="2407444"/>
            <a:ext cx="4970562" cy="9525"/>
          </a:xfrm>
          <a:prstGeom prst="rect">
            <a:avLst/>
          </a:prstGeom>
          <a:solidFill>
            <a:srgbClr val="DDD9D2"/>
          </a:solidFill>
          <a:ln/>
        </p:spPr>
      </p:sp>
      <p:sp>
        <p:nvSpPr>
          <p:cNvPr id="31" name="Text 29"/>
          <p:cNvSpPr txBox="1"/>
          <p:nvPr/>
        </p:nvSpPr>
        <p:spPr>
          <a:xfrm>
            <a:off x="4013299" y="2156668"/>
            <a:ext cx="3220343"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no directly trusted shared provider in the client</a:t>
            </a:r>
            <a:endParaRPr lang="en-US" sz="1056" dirty="0"/>
          </a:p>
        </p:txBody>
      </p:sp>
      <p:sp>
        <p:nvSpPr>
          <p:cNvPr id="32" name="Text 30"/>
          <p:cNvSpPr txBox="1"/>
          <p:nvPr/>
        </p:nvSpPr>
        <p:spPr>
          <a:xfrm>
            <a:off x="441900" y="2627412"/>
            <a:ext cx="297180" cy="228600"/>
          </a:xfrm>
          <a:prstGeom prst="rect">
            <a:avLst/>
          </a:prstGeom>
          <a:noFill/>
          <a:ln/>
        </p:spPr>
        <p:txBody>
          <a:bodyPr wrap="none" lIns="0" tIns="0" rIns="0" bIns="0" rtlCol="0" anchor="ctr"/>
          <a:lstStyle/>
          <a:p>
            <a:pPr algn="l" indent="0" marL="0">
              <a:buNone/>
            </a:pPr>
            <a:r>
              <a:rPr lang="en-US" sz="1200" dirty="0">
                <a:solidFill>
                  <a:srgbClr val="44535A"/>
                </a:solidFill>
                <a:latin typeface="Manrope" pitchFamily="34" charset="0"/>
                <a:ea typeface="Manrope" pitchFamily="34" charset="-122"/>
                <a:cs typeface="Manrope" pitchFamily="34" charset="-120"/>
              </a:rPr>
              <a:t>▪ </a:t>
            </a:r>
            <a:endParaRPr lang="en-US" sz="1200" dirty="0"/>
          </a:p>
        </p:txBody>
      </p:sp>
      <p:sp>
        <p:nvSpPr>
          <p:cNvPr id="33" name="Shape 31"/>
          <p:cNvSpPr/>
          <p:nvPr/>
        </p:nvSpPr>
        <p:spPr>
          <a:xfrm>
            <a:off x="655141" y="2645122"/>
            <a:ext cx="3138190" cy="202704"/>
          </a:xfrm>
          <a:prstGeom prst="roundRect">
            <a:avLst>
              <a:gd name="adj" fmla="val 18796"/>
            </a:avLst>
          </a:prstGeom>
          <a:solidFill>
            <a:srgbClr val="16303F">
              <a:alpha val="7000"/>
            </a:srgbClr>
          </a:solidFill>
          <a:ln/>
        </p:spPr>
      </p:sp>
      <p:sp>
        <p:nvSpPr>
          <p:cNvPr id="34" name="Text 32"/>
          <p:cNvSpPr txBox="1"/>
          <p:nvPr/>
        </p:nvSpPr>
        <p:spPr>
          <a:xfrm>
            <a:off x="655260" y="2636937"/>
            <a:ext cx="8241090" cy="438150"/>
          </a:xfrm>
          <a:prstGeom prst="rect">
            <a:avLst/>
          </a:prstGeom>
          <a:noFill/>
          <a:ln/>
        </p:spPr>
        <p:txBody>
          <a:bodyPr wrap="square" lIns="0" tIns="0" rIns="0" bIns="0" rtlCol="0" anchor="t"/>
          <a:lstStyle/>
          <a:p>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SetBasePath(AppContext.BaseDirectory)</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the working directory of a double-clicked EXE is not the install directory</a:t>
            </a:r>
            <a:endParaRPr lang="en-US" sz="1080" dirty="0"/>
          </a:p>
        </p:txBody>
      </p:sp>
      <p:sp>
        <p:nvSpPr>
          <p:cNvPr id="35" name="Text 33"/>
          <p:cNvSpPr txBox="1"/>
          <p:nvPr/>
        </p:nvSpPr>
        <p:spPr>
          <a:xfrm>
            <a:off x="441900" y="3130302"/>
            <a:ext cx="297180" cy="228600"/>
          </a:xfrm>
          <a:prstGeom prst="rect">
            <a:avLst/>
          </a:prstGeom>
          <a:noFill/>
          <a:ln/>
        </p:spPr>
        <p:txBody>
          <a:bodyPr wrap="none" lIns="0" tIns="0" rIns="0" bIns="0" rtlCol="0" anchor="ctr"/>
          <a:lstStyle/>
          <a:p>
            <a:pPr algn="l" indent="0" marL="0">
              <a:buNone/>
            </a:pPr>
            <a:r>
              <a:rPr lang="en-US" sz="1200" dirty="0">
                <a:solidFill>
                  <a:srgbClr val="44535A"/>
                </a:solidFill>
                <a:latin typeface="Manrope" pitchFamily="34" charset="0"/>
                <a:ea typeface="Manrope" pitchFamily="34" charset="-122"/>
                <a:cs typeface="Manrope" pitchFamily="34" charset="-120"/>
              </a:rPr>
              <a:t>▪ </a:t>
            </a:r>
            <a:endParaRPr lang="en-US" sz="1200" dirty="0"/>
          </a:p>
        </p:txBody>
      </p:sp>
      <p:sp>
        <p:nvSpPr>
          <p:cNvPr id="36" name="Shape 34"/>
          <p:cNvSpPr/>
          <p:nvPr/>
        </p:nvSpPr>
        <p:spPr>
          <a:xfrm>
            <a:off x="655141" y="3148012"/>
            <a:ext cx="1245394" cy="202704"/>
          </a:xfrm>
          <a:prstGeom prst="roundRect">
            <a:avLst>
              <a:gd name="adj" fmla="val 18796"/>
            </a:avLst>
          </a:prstGeom>
          <a:solidFill>
            <a:srgbClr val="16303F">
              <a:alpha val="7000"/>
            </a:srgbClr>
          </a:solidFill>
          <a:ln/>
        </p:spPr>
      </p:sp>
      <p:sp>
        <p:nvSpPr>
          <p:cNvPr id="37" name="Text 35"/>
          <p:cNvSpPr txBox="1"/>
          <p:nvPr/>
        </p:nvSpPr>
        <p:spPr>
          <a:xfrm>
            <a:off x="655260" y="3139827"/>
            <a:ext cx="8321704" cy="438150"/>
          </a:xfrm>
          <a:prstGeom prst="rect">
            <a:avLst/>
          </a:prstGeom>
          <a:noFill/>
          <a:ln/>
        </p:spPr>
        <p:txBody>
          <a:bodyPr wrap="square" lIns="0" tIns="0" rIns="0" bIns="0" rtlCol="0" anchor="t"/>
          <a:lstStyle/>
          <a:p>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IConfiguration</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has an indexer setter but </a:t>
            </a:r>
            <a:pPr algn="l" indent="0" marL="0">
              <a:lnSpc>
                <a:spcPts val="1800"/>
              </a:lnSpc>
              <a:buNone/>
            </a:pPr>
            <a:r>
              <a:rPr lang="en-US" sz="1200" b="1" dirty="0">
                <a:solidFill>
                  <a:srgbClr val="44535A"/>
                </a:solidFill>
                <a:latin typeface="Manrope" pitchFamily="34" charset="0"/>
                <a:ea typeface="Manrope" pitchFamily="34" charset="-122"/>
                <a:cs typeface="Manrope" pitchFamily="34" charset="-120"/>
              </a:rPr>
              <a:t>no persistence API</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nothing writes back to the JSON. User preferences are a different problem</a:t>
            </a:r>
            <a:endParaRPr lang="en-US" sz="1080" dirty="0"/>
          </a:p>
        </p:txBody>
      </p:sp>
      <p:sp>
        <p:nvSpPr>
          <p:cNvPr id="38" name="Text 36"/>
          <p:cNvSpPr txBox="1"/>
          <p:nvPr/>
        </p:nvSpPr>
        <p:spPr>
          <a:xfrm>
            <a:off x="441900" y="3633192"/>
            <a:ext cx="297180" cy="228600"/>
          </a:xfrm>
          <a:prstGeom prst="rect">
            <a:avLst/>
          </a:prstGeom>
          <a:noFill/>
          <a:ln/>
        </p:spPr>
        <p:txBody>
          <a:bodyPr wrap="none" lIns="0" tIns="0" rIns="0" bIns="0" rtlCol="0" anchor="ctr"/>
          <a:lstStyle/>
          <a:p>
            <a:pPr algn="l" indent="0" marL="0">
              <a:buNone/>
            </a:pPr>
            <a:r>
              <a:rPr lang="en-US" sz="1200" dirty="0">
                <a:solidFill>
                  <a:srgbClr val="44535A"/>
                </a:solidFill>
                <a:latin typeface="Manrope" pitchFamily="34" charset="0"/>
                <a:ea typeface="Manrope" pitchFamily="34" charset="-122"/>
                <a:cs typeface="Manrope" pitchFamily="34" charset="-120"/>
              </a:rPr>
              <a:t>▪ </a:t>
            </a:r>
            <a:endParaRPr lang="en-US" sz="1200" dirty="0"/>
          </a:p>
        </p:txBody>
      </p:sp>
      <p:sp>
        <p:nvSpPr>
          <p:cNvPr id="39" name="Text 37"/>
          <p:cNvSpPr txBox="1"/>
          <p:nvPr/>
        </p:nvSpPr>
        <p:spPr>
          <a:xfrm>
            <a:off x="655141" y="3642717"/>
            <a:ext cx="5284143" cy="209550"/>
          </a:xfrm>
          <a:prstGeom prst="rect">
            <a:avLst/>
          </a:prstGeom>
          <a:noFill/>
          <a:ln/>
        </p:spPr>
        <p:txBody>
          <a:bodyPr wrap="none" lIns="0" tIns="0" rIns="0" bIns="0" rtlCol="0" anchor="t"/>
          <a:lstStyle/>
          <a:p>
            <a:pPr algn="l" indent="0" marL="0">
              <a:buNone/>
            </a:pPr>
            <a:r>
              <a:rPr lang="en-US" sz="1200" b="1" dirty="0">
                <a:solidFill>
                  <a:srgbClr val="44535A"/>
                </a:solidFill>
                <a:latin typeface="Manrope" pitchFamily="34" charset="0"/>
                <a:ea typeface="Manrope" pitchFamily="34" charset="-122"/>
                <a:cs typeface="Manrope" pitchFamily="34" charset="-120"/>
              </a:rPr>
              <a:t>No cloud secrets in a client binary.</a:t>
            </a:r>
            <a:pPr algn="l" indent="0" marL="0">
              <a:buNone/>
            </a:pPr>
            <a:r>
              <a:rPr lang="en-US" sz="1200" dirty="0">
                <a:solidFill>
                  <a:srgbClr val="44535A"/>
                </a:solidFill>
                <a:latin typeface="Manrope" pitchFamily="34" charset="0"/>
                <a:ea typeface="Manrope" pitchFamily="34" charset="-122"/>
                <a:cs typeface="Manrope" pitchFamily="34" charset="-120"/>
              </a:rPr>
              <a:t> Authenticate the user, call a backend</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358330"/>
            <a:ext cx="1988493" cy="523875"/>
          </a:xfrm>
          <a:prstGeom prst="rect">
            <a:avLst/>
          </a:prstGeom>
          <a:noFill/>
          <a:ln/>
        </p:spPr>
        <p:txBody>
          <a:bodyPr wrap="none" lIns="0" tIns="0" rIns="0" bIns="0" rtlCol="0" anchor="t"/>
          <a:lstStyle/>
          <a:p>
            <a:pPr algn="l" indent="0" marL="0">
              <a:buNone/>
            </a:pPr>
            <a:r>
              <a:rPr lang="en-US" sz="3000" b="1" spc="-60" kern="0" dirty="0">
                <a:solidFill>
                  <a:srgbClr val="F7F6F3"/>
                </a:solidFill>
                <a:latin typeface="Manrope" pitchFamily="34" charset="0"/>
                <a:ea typeface="Manrope" pitchFamily="34" charset="-122"/>
                <a:cs typeface="Manrope" pitchFamily="34" charset="-120"/>
              </a:rPr>
              <a:t>Questions</a:t>
            </a:r>
            <a:endParaRPr lang="en-US" sz="3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87561" y="1617911"/>
            <a:ext cx="4001988" cy="619125"/>
          </a:xfrm>
          <a:prstGeom prst="rect">
            <a:avLst/>
          </a:prstGeom>
          <a:noFill/>
          <a:ln/>
        </p:spPr>
        <p:txBody>
          <a:bodyPr wrap="none" lIns="0" tIns="0" rIns="0" bIns="0" rtlCol="0" anchor="t"/>
          <a:lstStyle/>
          <a:p>
            <a:pPr algn="l" indent="0" marL="0">
              <a:buNone/>
            </a:pPr>
            <a:r>
              <a:rPr lang="en-US" sz="3600" b="1" spc="-72" kern="0" dirty="0">
                <a:solidFill>
                  <a:srgbClr val="16303F"/>
                </a:solidFill>
                <a:latin typeface="Manrope" pitchFamily="34" charset="0"/>
                <a:ea typeface="Manrope" pitchFamily="34" charset="-122"/>
                <a:cs typeface="Manrope" pitchFamily="34" charset="-120"/>
              </a:rPr>
              <a:t>Let’s keep talking.</a:t>
            </a:r>
            <a:endParaRPr lang="en-US" sz="3600" dirty="0"/>
          </a:p>
        </p:txBody>
      </p:sp>
      <p:sp>
        <p:nvSpPr>
          <p:cNvPr id="4" name="Shape 2"/>
          <p:cNvSpPr/>
          <p:nvPr/>
        </p:nvSpPr>
        <p:spPr>
          <a:xfrm>
            <a:off x="487561" y="2518116"/>
            <a:ext cx="47625" cy="47625"/>
          </a:xfrm>
          <a:prstGeom prst="roundRect">
            <a:avLst>
              <a:gd name="adj" fmla="val 50000"/>
            </a:avLst>
          </a:prstGeom>
          <a:solidFill>
            <a:srgbClr val="F4C233"/>
          </a:solidFill>
          <a:ln/>
        </p:spPr>
      </p:sp>
      <p:sp>
        <p:nvSpPr>
          <p:cNvPr id="5" name="Text 3"/>
          <p:cNvSpPr txBox="1"/>
          <p:nvPr/>
        </p:nvSpPr>
        <p:spPr>
          <a:xfrm>
            <a:off x="632222" y="2428429"/>
            <a:ext cx="1633984"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consultwithgriff.com</a:t>
            </a:r>
            <a:endParaRPr lang="en-US" sz="1260" dirty="0"/>
          </a:p>
        </p:txBody>
      </p:sp>
      <p:sp>
        <p:nvSpPr>
          <p:cNvPr id="6" name="Shape 4"/>
          <p:cNvSpPr/>
          <p:nvPr/>
        </p:nvSpPr>
        <p:spPr>
          <a:xfrm>
            <a:off x="487561" y="2806694"/>
            <a:ext cx="47625" cy="47625"/>
          </a:xfrm>
          <a:prstGeom prst="roundRect">
            <a:avLst>
              <a:gd name="adj" fmla="val 50000"/>
            </a:avLst>
          </a:prstGeom>
          <a:solidFill>
            <a:srgbClr val="F4C233"/>
          </a:solidFill>
          <a:ln/>
        </p:spPr>
      </p:sp>
      <p:sp>
        <p:nvSpPr>
          <p:cNvPr id="7" name="Text 5"/>
          <p:cNvSpPr txBox="1"/>
          <p:nvPr/>
        </p:nvSpPr>
        <p:spPr>
          <a:xfrm>
            <a:off x="632222" y="2717006"/>
            <a:ext cx="3878312"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github.com/1kevgriff/modern-dotnet-configuration</a:t>
            </a:r>
            <a:endParaRPr lang="en-US" sz="1260" dirty="0"/>
          </a:p>
        </p:txBody>
      </p:sp>
      <p:sp>
        <p:nvSpPr>
          <p:cNvPr id="8" name="Shape 6"/>
          <p:cNvSpPr/>
          <p:nvPr/>
        </p:nvSpPr>
        <p:spPr>
          <a:xfrm>
            <a:off x="487561" y="3095271"/>
            <a:ext cx="47625" cy="47625"/>
          </a:xfrm>
          <a:prstGeom prst="roundRect">
            <a:avLst>
              <a:gd name="adj" fmla="val 50000"/>
            </a:avLst>
          </a:prstGeom>
          <a:solidFill>
            <a:srgbClr val="F4C233"/>
          </a:solidFill>
          <a:ln/>
        </p:spPr>
      </p:sp>
      <p:sp>
        <p:nvSpPr>
          <p:cNvPr id="9" name="Text 7"/>
          <p:cNvSpPr txBox="1"/>
          <p:nvPr/>
        </p:nvSpPr>
        <p:spPr>
          <a:xfrm>
            <a:off x="632222" y="3005584"/>
            <a:ext cx="2474416"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X · LinkedIn · GitHub — @1kevgriff</a:t>
            </a:r>
            <a:endParaRPr lang="en-US" sz="1260" dirty="0"/>
          </a:p>
        </p:txBody>
      </p:sp>
      <p:sp>
        <p:nvSpPr>
          <p:cNvPr id="10" name="Shape 8"/>
          <p:cNvSpPr/>
          <p:nvPr/>
        </p:nvSpPr>
        <p:spPr>
          <a:xfrm>
            <a:off x="487561" y="3383849"/>
            <a:ext cx="47625" cy="47625"/>
          </a:xfrm>
          <a:prstGeom prst="roundRect">
            <a:avLst>
              <a:gd name="adj" fmla="val 50000"/>
            </a:avLst>
          </a:prstGeom>
          <a:solidFill>
            <a:srgbClr val="F4C233"/>
          </a:solidFill>
          <a:ln/>
        </p:spPr>
      </p:sp>
      <p:sp>
        <p:nvSpPr>
          <p:cNvPr id="11" name="Text 9"/>
          <p:cNvSpPr txBox="1"/>
          <p:nvPr/>
        </p:nvSpPr>
        <p:spPr>
          <a:xfrm>
            <a:off x="632222" y="3294162"/>
            <a:ext cx="2538710"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Bluesky — @consultwithgriff.com</a:t>
            </a:r>
            <a:endParaRPr lang="en-US" sz="1260" dirty="0"/>
          </a:p>
        </p:txBody>
      </p:sp>
      <p:pic>
        <p:nvPicPr>
          <p:cNvPr id="12" name="Image 0" descr="Rendered as an image because of CSS background-image">    </p:cNvPr>
          <p:cNvPicPr>
            <a:picLocks noChangeAspect="1"/>
          </p:cNvPicPr>
          <p:nvPr/>
        </p:nvPicPr>
        <p:blipFill>
          <a:blip r:embed="rId1"/>
          <a:stretch>
            <a:fillRect/>
          </a:stretch>
        </p:blipFill>
        <p:spPr>
          <a:xfrm>
            <a:off x="5673626" y="0"/>
            <a:ext cx="3660874" cy="52578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934641"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APPENDIX</a:t>
            </a:r>
            <a:endParaRPr lang="en-US" sz="936" dirty="0"/>
          </a:p>
        </p:txBody>
      </p:sp>
      <p:sp>
        <p:nvSpPr>
          <p:cNvPr id="4" name="Text 2"/>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Things worth knowing that the journey did not need.</a:t>
            </a:r>
            <a:endParaRPr lang="en-US" sz="3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480346"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Four became eleven</a:t>
            </a:r>
            <a:endParaRPr lang="en-US" sz="2820" dirty="0"/>
          </a:p>
        </p:txBody>
      </p:sp>
      <p:sp>
        <p:nvSpPr>
          <p:cNvPr id="4" name="Text 2"/>
          <p:cNvSpPr txBox="1"/>
          <p:nvPr/>
        </p:nvSpPr>
        <p:spPr>
          <a:xfrm>
            <a:off x="457200" y="987921"/>
            <a:ext cx="407045" cy="638175"/>
          </a:xfrm>
          <a:prstGeom prst="rect">
            <a:avLst/>
          </a:prstGeom>
          <a:noFill/>
          <a:ln/>
        </p:spPr>
        <p:txBody>
          <a:bodyPr wrap="none" lIns="0" tIns="0" rIns="0" bIns="0" rtlCol="0" anchor="t"/>
          <a:lstStyle/>
          <a:p>
            <a:pPr algn="l" indent="0" marL="0">
              <a:buNone/>
            </a:pPr>
            <a:r>
              <a:rPr lang="en-US" sz="3840" b="1" dirty="0">
                <a:solidFill>
                  <a:srgbClr val="44535A"/>
                </a:solidFill>
                <a:latin typeface="JetBrains Mono" pitchFamily="34" charset="0"/>
                <a:ea typeface="JetBrains Mono" pitchFamily="34" charset="-122"/>
                <a:cs typeface="JetBrains Mono" pitchFamily="34" charset="-120"/>
              </a:rPr>
              <a:t>4</a:t>
            </a:r>
            <a:endParaRPr lang="en-US" sz="3840" dirty="0"/>
          </a:p>
        </p:txBody>
      </p:sp>
      <p:pic>
        <p:nvPicPr>
          <p:cNvPr id="5" name="Image 0" descr="Rendered as an image because of CSS svg">    </p:cNvPr>
          <p:cNvPicPr>
            <a:picLocks noChangeAspect="1"/>
          </p:cNvPicPr>
          <p:nvPr/>
        </p:nvPicPr>
        <p:blipFill>
          <a:blip r:embed="rId1"/>
          <a:stretch>
            <a:fillRect/>
          </a:stretch>
        </p:blipFill>
        <p:spPr>
          <a:xfrm>
            <a:off x="917525" y="1231702"/>
            <a:ext cx="457200" cy="152400"/>
          </a:xfrm>
          <a:prstGeom prst="rect">
            <a:avLst/>
          </a:prstGeom>
        </p:spPr>
      </p:pic>
      <p:sp>
        <p:nvSpPr>
          <p:cNvPr id="6" name="Text 3"/>
          <p:cNvSpPr txBox="1"/>
          <p:nvPr/>
        </p:nvSpPr>
        <p:spPr>
          <a:xfrm>
            <a:off x="1542306" y="987921"/>
            <a:ext cx="699641" cy="638175"/>
          </a:xfrm>
          <a:prstGeom prst="rect">
            <a:avLst/>
          </a:prstGeom>
          <a:noFill/>
          <a:ln/>
        </p:spPr>
        <p:txBody>
          <a:bodyPr wrap="none" lIns="0" tIns="0" rIns="0" bIns="0" rtlCol="0" anchor="t"/>
          <a:lstStyle/>
          <a:p>
            <a:pPr algn="l" indent="0" marL="0">
              <a:buNone/>
            </a:pPr>
            <a:r>
              <a:rPr lang="en-US" sz="3840" b="1" dirty="0">
                <a:solidFill>
                  <a:srgbClr val="F4C233"/>
                </a:solidFill>
                <a:latin typeface="JetBrains Mono" pitchFamily="34" charset="0"/>
                <a:ea typeface="JetBrains Mono" pitchFamily="34" charset="-122"/>
                <a:cs typeface="JetBrains Mono" pitchFamily="34" charset="-120"/>
              </a:rPr>
              <a:t>11</a:t>
            </a:r>
            <a:endParaRPr lang="en-US" sz="3840" dirty="0"/>
          </a:p>
        </p:txBody>
      </p:sp>
      <p:sp>
        <p:nvSpPr>
          <p:cNvPr id="7" name="Shape 4"/>
          <p:cNvSpPr/>
          <p:nvPr/>
        </p:nvSpPr>
        <p:spPr>
          <a:xfrm>
            <a:off x="457200" y="1711821"/>
            <a:ext cx="8420100" cy="1652587"/>
          </a:xfrm>
          <a:prstGeom prst="roundRect">
            <a:avLst>
              <a:gd name="adj" fmla="val 2305"/>
            </a:avLst>
          </a:prstGeom>
          <a:solidFill>
            <a:srgbClr val="011627"/>
          </a:solidFill>
          <a:ln/>
        </p:spPr>
      </p:sp>
      <p:sp>
        <p:nvSpPr>
          <p:cNvPr id="8" name="Text 5"/>
          <p:cNvSpPr txBox="1"/>
          <p:nvPr/>
        </p:nvSpPr>
        <p:spPr>
          <a:xfrm>
            <a:off x="533400" y="1797546"/>
            <a:ext cx="8286750" cy="147637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.NET 9      CUSTOMCONNSTR_   MYSQLCONNSTR_*   SQLCONNSTR_*   SQLAZURECONNSTR_*</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.NET 10     + POSTGRESQLCONNSTR_*   DOCDBCONNSTR_        REDISCACHECONNSTR_</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SERVICEBUSCONNSTR_    EVENTHUBCONNSTR_     NOTIFICATIONHUBCONNSTR_</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APIHUBCONNSTR_</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also sets ConnectionStrings:{KEY}_ProviderName</a:t>
            </a:r>
            <a:endParaRPr lang="en-US" sz="1125"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6555581"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Named options and source generators</a:t>
            </a:r>
            <a:endParaRPr lang="en-US" sz="2820" dirty="0"/>
          </a:p>
        </p:txBody>
      </p:sp>
      <p:sp>
        <p:nvSpPr>
          <p:cNvPr id="4" name="Text 2"/>
          <p:cNvSpPr txBox="1"/>
          <p:nvPr/>
        </p:nvSpPr>
        <p:spPr>
          <a:xfrm>
            <a:off x="304800" y="1071711"/>
            <a:ext cx="540841"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NAMED</a:t>
            </a:r>
            <a:endParaRPr lang="en-US" sz="768" dirty="0"/>
          </a:p>
        </p:txBody>
      </p:sp>
      <p:sp>
        <p:nvSpPr>
          <p:cNvPr id="5" name="Shape 3"/>
          <p:cNvSpPr/>
          <p:nvPr/>
        </p:nvSpPr>
        <p:spPr>
          <a:xfrm>
            <a:off x="304800" y="1313855"/>
            <a:ext cx="8724900" cy="1217265"/>
          </a:xfrm>
          <a:prstGeom prst="roundRect">
            <a:avLst>
              <a:gd name="adj" fmla="val 3130"/>
            </a:avLst>
          </a:prstGeom>
          <a:solidFill>
            <a:srgbClr val="011627"/>
          </a:solidFill>
          <a:ln/>
        </p:spPr>
      </p:sp>
      <p:sp>
        <p:nvSpPr>
          <p:cNvPr id="6" name="Text 4"/>
          <p:cNvSpPr txBox="1"/>
          <p:nvPr/>
        </p:nvSpPr>
        <p:spPr>
          <a:xfrm>
            <a:off x="381000" y="1399580"/>
            <a:ext cx="8619696" cy="1032867"/>
          </a:xfrm>
          <a:prstGeom prst="rect">
            <a:avLst/>
          </a:prstGeom>
          <a:noFill/>
          <a:ln/>
        </p:spPr>
        <p:txBody>
          <a:bodyPr wrap="square" lIns="0" tIns="0" rIns="0" bIns="0" rtlCol="0" anchor="t"/>
          <a:lstStyle/>
          <a:p>
            <a:pPr algn="l" indent="0" marL="0">
              <a:lnSpc>
                <a:spcPts val="1677"/>
              </a:lnSpc>
              <a:buNone/>
            </a:pPr>
            <a:r>
              <a:rPr lang="en-US" sz="1118" dirty="0">
                <a:solidFill>
                  <a:srgbClr val="637777"/>
                </a:solidFill>
                <a:latin typeface="JetBrains Mono" pitchFamily="34" charset="0"/>
                <a:ea typeface="JetBrains Mono" pitchFamily="34" charset="-122"/>
                <a:cs typeface="JetBrains Mono" pitchFamily="34" charset="-120"/>
              </a:rPr>
              <a:t>// Named - same shape, several times</a:t>
            </a:r>
            <a:b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builder</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FAF39F"/>
                </a:solidFill>
                <a:latin typeface="JetBrains Mono" pitchFamily="34" charset="0"/>
                <a:ea typeface="JetBrains Mono" pitchFamily="34" charset="-122"/>
                <a:cs typeface="JetBrains Mono" pitchFamily="34" charset="-120"/>
              </a:rPr>
              <a:t>Services</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Configure</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&lt;EndpointOptions&gt;(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primary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   </a:t>
            </a: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config</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GetSection</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Endpoints:Primary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b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builder</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FAF39F"/>
                </a:solidFill>
                <a:latin typeface="JetBrains Mono" pitchFamily="34" charset="0"/>
                <a:ea typeface="JetBrains Mono" pitchFamily="34" charset="-122"/>
                <a:cs typeface="JetBrains Mono" pitchFamily="34" charset="-120"/>
              </a:rPr>
              <a:t>Services</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Configure</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&lt;EndpointOptions&gt;(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secondary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 </a:t>
            </a: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config</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GetSection</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Endpoints:Secondary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br/>
            <a:pPr algn="l" indent="0" marL="0">
              <a:lnSpc>
                <a:spcPts val="1677"/>
              </a:lnSpc>
              <a:buNone/>
            </a:pPr>
            <a:b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EndpointOptions Primary </a:t>
            </a:r>
            <a:pPr algn="l" indent="0" marL="0">
              <a:lnSpc>
                <a:spcPts val="1677"/>
              </a:lnSpc>
              <a:buNone/>
            </a:pPr>
            <a:r>
              <a:rPr lang="en-US" sz="1118" dirty="0">
                <a:solidFill>
                  <a:srgbClr val="7FDBCA"/>
                </a:solidFill>
                <a:latin typeface="JetBrains Mono" pitchFamily="34" charset="0"/>
                <a:ea typeface="JetBrains Mono" pitchFamily="34" charset="-122"/>
                <a:cs typeface="JetBrains Mono" pitchFamily="34" charset="-120"/>
              </a:rPr>
              <a:t>=&gt;</a:t>
            </a: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 monitor</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Get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primary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endParaRPr lang="en-US" sz="1118" dirty="0"/>
          </a:p>
        </p:txBody>
      </p:sp>
      <p:sp>
        <p:nvSpPr>
          <p:cNvPr id="7" name="Text 5"/>
          <p:cNvSpPr txBox="1"/>
          <p:nvPr/>
        </p:nvSpPr>
        <p:spPr>
          <a:xfrm>
            <a:off x="304800" y="2698700"/>
            <a:ext cx="825698"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GENERATED</a:t>
            </a:r>
            <a:endParaRPr lang="en-US" sz="768" dirty="0"/>
          </a:p>
        </p:txBody>
      </p:sp>
      <p:sp>
        <p:nvSpPr>
          <p:cNvPr id="8" name="Shape 6"/>
          <p:cNvSpPr/>
          <p:nvPr/>
        </p:nvSpPr>
        <p:spPr>
          <a:xfrm>
            <a:off x="304800" y="2940844"/>
            <a:ext cx="8724900" cy="791319"/>
          </a:xfrm>
          <a:prstGeom prst="roundRect">
            <a:avLst>
              <a:gd name="adj" fmla="val 4815"/>
            </a:avLst>
          </a:prstGeom>
          <a:solidFill>
            <a:srgbClr val="011627"/>
          </a:solidFill>
          <a:ln/>
        </p:spPr>
      </p:sp>
      <p:sp>
        <p:nvSpPr>
          <p:cNvPr id="9" name="Text 7"/>
          <p:cNvSpPr txBox="1"/>
          <p:nvPr/>
        </p:nvSpPr>
        <p:spPr>
          <a:xfrm>
            <a:off x="381000" y="3026569"/>
            <a:ext cx="8591550" cy="606921"/>
          </a:xfrm>
          <a:prstGeom prst="rect">
            <a:avLst/>
          </a:prstGeom>
          <a:noFill/>
          <a:ln/>
        </p:spPr>
        <p:txBody>
          <a:bodyPr wrap="square" lIns="0" tIns="0" rIns="0" bIns="0" rtlCol="0" anchor="t"/>
          <a:lstStyle/>
          <a:p>
            <a:pPr algn="l" indent="0" marL="0">
              <a:lnSpc>
                <a:spcPts val="1677"/>
              </a:lnSpc>
              <a:buNone/>
            </a:pPr>
            <a:r>
              <a:rPr lang="en-US" sz="1118" dirty="0">
                <a:solidFill>
                  <a:srgbClr val="637777"/>
                </a:solidFill>
                <a:latin typeface="JetBrains Mono" pitchFamily="34" charset="0"/>
                <a:ea typeface="JetBrains Mono" pitchFamily="34" charset="-122"/>
                <a:cs typeface="JetBrains Mono" pitchFamily="34" charset="-120"/>
              </a:rPr>
              <a:t>// Generated - no reflection at runtime</a:t>
            </a:r>
            <a:b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[OptionsValidator]</a:t>
            </a:r>
            <a:b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public</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 sealed</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 partial</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 class</a:t>
            </a:r>
            <a:pPr algn="l" indent="0" marL="0">
              <a:lnSpc>
                <a:spcPts val="1677"/>
              </a:lnSpc>
              <a:buNone/>
            </a:pPr>
            <a:r>
              <a:rPr lang="en-US" sz="1118" dirty="0">
                <a:solidFill>
                  <a:srgbClr val="FFCB8B"/>
                </a:solidFill>
                <a:latin typeface="JetBrains Mono" pitchFamily="34" charset="0"/>
                <a:ea typeface="JetBrains Mono" pitchFamily="34" charset="-122"/>
                <a:cs typeface="JetBrains Mono" pitchFamily="34" charset="-120"/>
              </a:rPr>
              <a:t> ValidateWeatherOptions</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 : IValidateOptions&lt;WeatherOptions&gt;;</a:t>
            </a:r>
            <a:endParaRPr lang="en-US" sz="1118" dirty="0"/>
          </a:p>
        </p:txBody>
      </p:sp>
      <p:sp>
        <p:nvSpPr>
          <p:cNvPr id="10" name="Shape 8"/>
          <p:cNvSpPr/>
          <p:nvPr/>
        </p:nvSpPr>
        <p:spPr>
          <a:xfrm>
            <a:off x="2103834" y="4138464"/>
            <a:ext cx="6594574" cy="202704"/>
          </a:xfrm>
          <a:prstGeom prst="roundRect">
            <a:avLst>
              <a:gd name="adj" fmla="val 18796"/>
            </a:avLst>
          </a:prstGeom>
          <a:solidFill>
            <a:srgbClr val="16303F">
              <a:alpha val="7000"/>
            </a:srgbClr>
          </a:solidFill>
          <a:ln/>
        </p:spPr>
      </p:sp>
      <p:sp>
        <p:nvSpPr>
          <p:cNvPr id="11" name="Text 9"/>
          <p:cNvSpPr txBox="1"/>
          <p:nvPr/>
        </p:nvSpPr>
        <p:spPr>
          <a:xfrm>
            <a:off x="304800" y="4130278"/>
            <a:ext cx="8461325"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Plus one line, not a panel: </a:t>
            </a:r>
            <a:pPr algn="l" indent="0" marL="0">
              <a:buNone/>
            </a:pPr>
            <a:r>
              <a:rPr lang="en-US" sz="1080" dirty="0">
                <a:solidFill>
                  <a:srgbClr val="44535A"/>
                </a:solidFill>
                <a:latin typeface="JetBrains Mono" pitchFamily="34" charset="0"/>
                <a:ea typeface="JetBrains Mono" pitchFamily="34" charset="-122"/>
                <a:cs typeface="JetBrains Mono" pitchFamily="34" charset="-120"/>
              </a:rPr>
              <a:t>&lt;EnableConfigurationBindingGenerator&gt;true&lt;/EnableConfigurationBindingGenerator&gt;</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2362646" y="974378"/>
            <a:ext cx="1017836" cy="381000"/>
          </a:xfrm>
          <a:prstGeom prst="roundRect">
            <a:avLst>
              <a:gd name="adj" fmla="val 10000"/>
            </a:avLst>
          </a:prstGeom>
          <a:solidFill>
            <a:srgbClr val="F5F5F5"/>
          </a:solidFill>
          <a:ln/>
        </p:spPr>
      </p:sp>
      <p:sp>
        <p:nvSpPr>
          <p:cNvPr id="4" name="Text 2"/>
          <p:cNvSpPr txBox="1"/>
          <p:nvPr/>
        </p:nvSpPr>
        <p:spPr>
          <a:xfrm>
            <a:off x="628650" y="955328"/>
            <a:ext cx="5104209"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A provider is </a:t>
            </a:r>
            <a:pPr algn="l" indent="0" marL="0">
              <a:buNone/>
            </a:pPr>
            <a:r>
              <a:rPr lang="en-US" sz="2052" spc="-46" kern="0" dirty="0">
                <a:solidFill>
                  <a:srgbClr val="16303F"/>
                </a:solidFill>
                <a:latin typeface="JetBrains Mono" pitchFamily="34" charset="0"/>
                <a:ea typeface="JetBrains Mono" pitchFamily="34" charset="-122"/>
                <a:cs typeface="JetBrains Mono" pitchFamily="34" charset="-120"/>
              </a:rPr>
              <a:t>Load()</a:t>
            </a:r>
            <a:pPr algn="l" indent="0" marL="0">
              <a:buNone/>
            </a:pPr>
            <a:r>
              <a:rPr lang="en-US" sz="2280" b="1" spc="-46" kern="0" dirty="0">
                <a:solidFill>
                  <a:srgbClr val="16303F"/>
                </a:solidFill>
                <a:latin typeface="Manrope" pitchFamily="34" charset="0"/>
                <a:ea typeface="Manrope" pitchFamily="34" charset="-122"/>
                <a:cs typeface="Manrope" pitchFamily="34" charset="-120"/>
              </a:rPr>
              <a:t> and a dictionary</a:t>
            </a:r>
            <a:endParaRPr lang="en-US" sz="2280" dirty="0"/>
          </a:p>
        </p:txBody>
      </p:sp>
      <p:sp>
        <p:nvSpPr>
          <p:cNvPr id="5" name="Shape 3"/>
          <p:cNvSpPr/>
          <p:nvPr/>
        </p:nvSpPr>
        <p:spPr>
          <a:xfrm>
            <a:off x="628650" y="1624161"/>
            <a:ext cx="8077200" cy="2480072"/>
          </a:xfrm>
          <a:prstGeom prst="roundRect">
            <a:avLst>
              <a:gd name="adj" fmla="val 1536"/>
            </a:avLst>
          </a:prstGeom>
          <a:solidFill>
            <a:srgbClr val="011627"/>
          </a:solidFill>
          <a:ln/>
        </p:spPr>
      </p:sp>
      <p:sp>
        <p:nvSpPr>
          <p:cNvPr id="6" name="Text 4"/>
          <p:cNvSpPr txBox="1"/>
          <p:nvPr/>
        </p:nvSpPr>
        <p:spPr>
          <a:xfrm>
            <a:off x="704850" y="1709886"/>
            <a:ext cx="7996235" cy="2304455"/>
          </a:xfrm>
          <a:prstGeom prst="rect">
            <a:avLst/>
          </a:prstGeom>
          <a:noFill/>
          <a:ln/>
        </p:spPr>
        <p:txBody>
          <a:bodyPr wrap="square" lIns="0" tIns="0" rIns="0" bIns="0" rtlCol="0" anchor="t"/>
          <a:lstStyle/>
          <a:p>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sealed</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class</a:t>
            </a:r>
            <a:pPr algn="l" indent="0" marL="0">
              <a:lnSpc>
                <a:spcPts val="1833"/>
              </a:lnSpc>
              <a:buNone/>
            </a:pPr>
            <a:r>
              <a:rPr lang="en-US" sz="1223" dirty="0">
                <a:solidFill>
                  <a:srgbClr val="FFCB8B"/>
                </a:solidFill>
                <a:latin typeface="JetBrains Mono" pitchFamily="34" charset="0"/>
                <a:ea typeface="JetBrains Mono" pitchFamily="34" charset="-122"/>
                <a:cs typeface="JetBrains Mono" pitchFamily="34" charset="-120"/>
              </a:rPr>
              <a:t> DotEnvConfigurationSource</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string</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path) : IConfigurationSource</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b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IConfigurationProvider </a:t>
            </a:r>
            <a:pPr algn="l" indent="0" marL="0">
              <a:lnSpc>
                <a:spcPts val="1833"/>
              </a:lnSpc>
              <a:buNone/>
            </a:pPr>
            <a:r>
              <a:rPr lang="en-US" sz="1223" dirty="0">
                <a:solidFill>
                  <a:srgbClr val="82AAFF"/>
                </a:solidFill>
                <a:latin typeface="JetBrains Mono" pitchFamily="34" charset="0"/>
                <a:ea typeface="JetBrains Mono" pitchFamily="34" charset="-122"/>
                <a:cs typeface="JetBrains Mono" pitchFamily="34" charset="-120"/>
              </a:rPr>
              <a:t>Build</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(IConfigurationBuilder builder) </a:t>
            </a:r>
            <a:pPr algn="l" indent="0" marL="0">
              <a:lnSpc>
                <a:spcPts val="1833"/>
              </a:lnSpc>
              <a:buNone/>
            </a:pPr>
            <a:r>
              <a:rPr lang="en-US" sz="1223" dirty="0">
                <a:solidFill>
                  <a:srgbClr val="7FDBCA"/>
                </a:solidFill>
                <a:latin typeface="JetBrains Mono" pitchFamily="34" charset="0"/>
                <a:ea typeface="JetBrains Mono" pitchFamily="34" charset="-122"/>
                <a:cs typeface="JetBrains Mono" pitchFamily="34" charset="-120"/>
              </a:rPr>
              <a:t>=&gt;</a:t>
            </a:r>
            <a:br/>
            <a:pPr algn="l" indent="0" marL="0">
              <a:lnSpc>
                <a:spcPts val="1833"/>
              </a:lnSpc>
              <a:buNone/>
            </a:pPr>
            <a:r>
              <a:rPr lang="en-US" sz="1223" dirty="0">
                <a:solidFill>
                  <a:srgbClr val="7FDBCA"/>
                </a:solidFill>
                <a:latin typeface="JetBrains Mono" pitchFamily="34" charset="0"/>
                <a:ea typeface="JetBrains Mono" pitchFamily="34" charset="-122"/>
                <a:cs typeface="JetBrains Mono" pitchFamily="34" charset="-120"/>
              </a:rPr>
              <a:t>new</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DotEnvConfigurationProvider(path);</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br/>
            <a:pPr algn="l" indent="0" marL="0">
              <a:lnSpc>
                <a:spcPts val="1833"/>
              </a:lnSpc>
              <a:buNone/>
            </a:pPr>
            <a:b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sealed</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class</a:t>
            </a:r>
            <a:pPr algn="l" indent="0" marL="0">
              <a:lnSpc>
                <a:spcPts val="1833"/>
              </a:lnSpc>
              <a:buNone/>
            </a:pPr>
            <a:r>
              <a:rPr lang="en-US" sz="1223" dirty="0">
                <a:solidFill>
                  <a:srgbClr val="FFCB8B"/>
                </a:solidFill>
                <a:latin typeface="JetBrains Mono" pitchFamily="34" charset="0"/>
                <a:ea typeface="JetBrains Mono" pitchFamily="34" charset="-122"/>
                <a:cs typeface="JetBrains Mono" pitchFamily="34" charset="-120"/>
              </a:rPr>
              <a:t> DotEnvConfigurationProvider</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string</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path) : ConfigurationProvider</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b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override</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void</a:t>
            </a:r>
            <a:pPr algn="l" indent="0" marL="0">
              <a:lnSpc>
                <a:spcPts val="1833"/>
              </a:lnSpc>
              <a:buNone/>
            </a:pPr>
            <a:r>
              <a:rPr lang="en-US" sz="1223" dirty="0">
                <a:solidFill>
                  <a:srgbClr val="82AAFF"/>
                </a:solidFill>
                <a:latin typeface="JetBrains Mono" pitchFamily="34" charset="0"/>
                <a:ea typeface="JetBrains Mono" pitchFamily="34" charset="-122"/>
                <a:cs typeface="JetBrains Mono" pitchFamily="34" charset="-120"/>
              </a:rPr>
              <a:t> Load</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a:t>
            </a:r>
            <a:pPr algn="l" indent="0" marL="0">
              <a:lnSpc>
                <a:spcPts val="1833"/>
              </a:lnSpc>
              <a:buNone/>
            </a:pPr>
            <a:r>
              <a:rPr lang="en-US" sz="1223" dirty="0">
                <a:solidFill>
                  <a:srgbClr val="7FDBCA"/>
                </a:solidFill>
                <a:latin typeface="JetBrains Mono" pitchFamily="34" charset="0"/>
                <a:ea typeface="JetBrains Mono" pitchFamily="34" charset="-122"/>
                <a:cs typeface="JetBrains Mono" pitchFamily="34" charset="-120"/>
              </a:rPr>
              <a:t>=&gt;</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Data </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a:t>
            </a:r>
            <a:pPr algn="l" indent="0" marL="0">
              <a:lnSpc>
                <a:spcPts val="1833"/>
              </a:lnSpc>
              <a:buNone/>
            </a:pPr>
            <a:r>
              <a:rPr lang="en-US" sz="1223" dirty="0">
                <a:solidFill>
                  <a:srgbClr val="82AAFF"/>
                </a:solidFill>
                <a:latin typeface="JetBrains Mono" pitchFamily="34" charset="0"/>
                <a:ea typeface="JetBrains Mono" pitchFamily="34" charset="-122"/>
                <a:cs typeface="JetBrains Mono" pitchFamily="34" charset="-120"/>
              </a:rPr>
              <a:t> ParseDotEnv</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(path);</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endParaRPr lang="en-US" sz="1223"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69793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Null is preserved now</a:t>
            </a:r>
            <a:endParaRPr lang="en-US" sz="2820" dirty="0"/>
          </a:p>
        </p:txBody>
      </p:sp>
      <p:sp>
        <p:nvSpPr>
          <p:cNvPr id="4" name="Shape 2"/>
          <p:cNvSpPr/>
          <p:nvPr/>
        </p:nvSpPr>
        <p:spPr>
          <a:xfrm>
            <a:off x="457200" y="1087041"/>
            <a:ext cx="8420100" cy="366712"/>
          </a:xfrm>
          <a:prstGeom prst="roundRect">
            <a:avLst>
              <a:gd name="adj" fmla="val 10390"/>
            </a:avLst>
          </a:prstGeom>
          <a:solidFill>
            <a:srgbClr val="011627"/>
          </a:solidFill>
          <a:ln/>
        </p:spPr>
      </p:sp>
      <p:sp>
        <p:nvSpPr>
          <p:cNvPr id="5" name="Text 3"/>
          <p:cNvSpPr txBox="1"/>
          <p:nvPr/>
        </p:nvSpPr>
        <p:spPr>
          <a:xfrm>
            <a:off x="533400" y="1172766"/>
            <a:ext cx="7400925" cy="190500"/>
          </a:xfrm>
          <a:prstGeom prst="rect">
            <a:avLst/>
          </a:prstGeom>
          <a:noFill/>
          <a:ln/>
        </p:spPr>
        <p:txBody>
          <a:bodyPr wrap="none" lIns="0" tIns="0" rIns="0" bIns="0" rtlCol="0" anchor="t"/>
          <a:lstStyle/>
          <a:p>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"StringProperty"</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"IntProperty"</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"Array1"</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"Array2"</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 }</a:t>
            </a:r>
            <a:endParaRPr lang="en-US" sz="1125" dirty="0"/>
          </a:p>
        </p:txBody>
      </p:sp>
      <p:sp>
        <p:nvSpPr>
          <p:cNvPr id="6" name="Shape 4"/>
          <p:cNvSpPr/>
          <p:nvPr/>
        </p:nvSpPr>
        <p:spPr>
          <a:xfrm>
            <a:off x="457200" y="1829842"/>
            <a:ext cx="8420100" cy="9525"/>
          </a:xfrm>
          <a:prstGeom prst="rect">
            <a:avLst/>
          </a:prstGeom>
          <a:solidFill>
            <a:srgbClr val="9CA3AF">
              <a:alpha val="20000"/>
            </a:srgbClr>
          </a:solidFill>
          <a:ln/>
        </p:spPr>
      </p:sp>
      <p:sp>
        <p:nvSpPr>
          <p:cNvPr id="7" name="Shape 5"/>
          <p:cNvSpPr/>
          <p:nvPr/>
        </p:nvSpPr>
        <p:spPr>
          <a:xfrm>
            <a:off x="457200" y="1820317"/>
            <a:ext cx="2825800" cy="19050"/>
          </a:xfrm>
          <a:prstGeom prst="rect">
            <a:avLst/>
          </a:prstGeom>
          <a:solidFill>
            <a:srgbClr val="16303F"/>
          </a:solidFill>
          <a:ln/>
        </p:spPr>
      </p:sp>
      <p:sp>
        <p:nvSpPr>
          <p:cNvPr id="8" name="Text 6"/>
          <p:cNvSpPr txBox="1"/>
          <p:nvPr/>
        </p:nvSpPr>
        <p:spPr>
          <a:xfrm>
            <a:off x="563761" y="1606004"/>
            <a:ext cx="742206"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PROPERTY</a:t>
            </a:r>
            <a:endParaRPr lang="en-US" sz="816" dirty="0"/>
          </a:p>
        </p:txBody>
      </p:sp>
      <p:sp>
        <p:nvSpPr>
          <p:cNvPr id="9" name="Shape 7"/>
          <p:cNvSpPr/>
          <p:nvPr/>
        </p:nvSpPr>
        <p:spPr>
          <a:xfrm>
            <a:off x="3283000" y="1820317"/>
            <a:ext cx="3067199" cy="19050"/>
          </a:xfrm>
          <a:prstGeom prst="rect">
            <a:avLst/>
          </a:prstGeom>
          <a:solidFill>
            <a:srgbClr val="16303F"/>
          </a:solidFill>
          <a:ln/>
        </p:spPr>
      </p:sp>
      <p:sp>
        <p:nvSpPr>
          <p:cNvPr id="10" name="Text 8"/>
          <p:cNvSpPr txBox="1"/>
          <p:nvPr/>
        </p:nvSpPr>
        <p:spPr>
          <a:xfrm>
            <a:off x="3389561" y="1606004"/>
            <a:ext cx="49172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.NET 9</a:t>
            </a:r>
            <a:endParaRPr lang="en-US" sz="816" dirty="0"/>
          </a:p>
        </p:txBody>
      </p:sp>
      <p:sp>
        <p:nvSpPr>
          <p:cNvPr id="11" name="Shape 9"/>
          <p:cNvSpPr/>
          <p:nvPr/>
        </p:nvSpPr>
        <p:spPr>
          <a:xfrm>
            <a:off x="6350198" y="1820317"/>
            <a:ext cx="2527102" cy="19050"/>
          </a:xfrm>
          <a:prstGeom prst="rect">
            <a:avLst/>
          </a:prstGeom>
          <a:solidFill>
            <a:srgbClr val="16303F"/>
          </a:solidFill>
          <a:ln/>
        </p:spPr>
      </p:sp>
      <p:sp>
        <p:nvSpPr>
          <p:cNvPr id="12" name="Text 10"/>
          <p:cNvSpPr txBox="1"/>
          <p:nvPr/>
        </p:nvSpPr>
        <p:spPr>
          <a:xfrm>
            <a:off x="6456759" y="1606004"/>
            <a:ext cx="554534"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.NET 10</a:t>
            </a:r>
            <a:endParaRPr lang="en-US" sz="816" dirty="0"/>
          </a:p>
        </p:txBody>
      </p:sp>
      <p:sp>
        <p:nvSpPr>
          <p:cNvPr id="13" name="Shape 11"/>
          <p:cNvSpPr/>
          <p:nvPr/>
        </p:nvSpPr>
        <p:spPr>
          <a:xfrm>
            <a:off x="457200" y="2176165"/>
            <a:ext cx="8420100" cy="9525"/>
          </a:xfrm>
          <a:prstGeom prst="rect">
            <a:avLst/>
          </a:prstGeom>
          <a:solidFill>
            <a:srgbClr val="9CA3AF">
              <a:alpha val="20000"/>
            </a:srgbClr>
          </a:solidFill>
          <a:ln/>
        </p:spPr>
      </p:sp>
      <p:sp>
        <p:nvSpPr>
          <p:cNvPr id="14" name="Shape 12"/>
          <p:cNvSpPr/>
          <p:nvPr/>
        </p:nvSpPr>
        <p:spPr>
          <a:xfrm>
            <a:off x="457200" y="2176165"/>
            <a:ext cx="2825800" cy="9525"/>
          </a:xfrm>
          <a:prstGeom prst="rect">
            <a:avLst/>
          </a:prstGeom>
          <a:solidFill>
            <a:srgbClr val="DDD9D2"/>
          </a:solidFill>
          <a:ln/>
        </p:spPr>
      </p:sp>
      <p:sp>
        <p:nvSpPr>
          <p:cNvPr id="15" name="Shape 13"/>
          <p:cNvSpPr/>
          <p:nvPr/>
        </p:nvSpPr>
        <p:spPr>
          <a:xfrm>
            <a:off x="563761" y="1931640"/>
            <a:ext cx="606772" cy="181570"/>
          </a:xfrm>
          <a:prstGeom prst="roundRect">
            <a:avLst>
              <a:gd name="adj" fmla="val 20984"/>
            </a:avLst>
          </a:prstGeom>
          <a:solidFill>
            <a:srgbClr val="16303F">
              <a:alpha val="7000"/>
            </a:srgbClr>
          </a:solidFill>
          <a:ln/>
        </p:spPr>
      </p:sp>
      <p:sp>
        <p:nvSpPr>
          <p:cNvPr id="16" name="Text 14"/>
          <p:cNvSpPr txBox="1"/>
          <p:nvPr/>
        </p:nvSpPr>
        <p:spPr>
          <a:xfrm>
            <a:off x="608112" y="1922413"/>
            <a:ext cx="1405830"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string?</a:t>
            </a:r>
            <a:pPr algn="l" indent="0" marL="0">
              <a:buNone/>
            </a:pPr>
            <a:r>
              <a:rPr lang="en-US" sz="1056" dirty="0">
                <a:solidFill>
                  <a:srgbClr val="16303F"/>
                </a:solidFill>
                <a:latin typeface="Manrope" pitchFamily="34" charset="0"/>
                <a:ea typeface="Manrope" pitchFamily="34" charset="-122"/>
                <a:cs typeface="Manrope" pitchFamily="34" charset="-120"/>
              </a:rPr>
              <a:t> (initialized)</a:t>
            </a:r>
            <a:endParaRPr lang="en-US" sz="972" dirty="0"/>
          </a:p>
        </p:txBody>
      </p:sp>
      <p:sp>
        <p:nvSpPr>
          <p:cNvPr id="17" name="Shape 15"/>
          <p:cNvSpPr/>
          <p:nvPr/>
        </p:nvSpPr>
        <p:spPr>
          <a:xfrm>
            <a:off x="3283000" y="2176165"/>
            <a:ext cx="3067199" cy="9525"/>
          </a:xfrm>
          <a:prstGeom prst="rect">
            <a:avLst/>
          </a:prstGeom>
          <a:solidFill>
            <a:srgbClr val="DDD9D2"/>
          </a:solidFill>
          <a:ln/>
        </p:spPr>
      </p:sp>
      <p:sp>
        <p:nvSpPr>
          <p:cNvPr id="18" name="Shape 16"/>
          <p:cNvSpPr/>
          <p:nvPr/>
        </p:nvSpPr>
        <p:spPr>
          <a:xfrm>
            <a:off x="3389561" y="1931640"/>
            <a:ext cx="236786" cy="181570"/>
          </a:xfrm>
          <a:prstGeom prst="roundRect">
            <a:avLst>
              <a:gd name="adj" fmla="val 20984"/>
            </a:avLst>
          </a:prstGeom>
          <a:solidFill>
            <a:srgbClr val="16303F">
              <a:alpha val="7000"/>
            </a:srgbClr>
          </a:solidFill>
          <a:ln/>
        </p:spPr>
      </p:sp>
      <p:sp>
        <p:nvSpPr>
          <p:cNvPr id="19" name="Text 17"/>
          <p:cNvSpPr txBox="1"/>
          <p:nvPr/>
        </p:nvSpPr>
        <p:spPr>
          <a:xfrm>
            <a:off x="3433911" y="1922413"/>
            <a:ext cx="1653332"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a:t>
            </a:r>
            <a:pPr algn="l" indent="0" marL="0">
              <a:buNone/>
            </a:pPr>
            <a:r>
              <a:rPr lang="en-US" sz="1056" dirty="0">
                <a:solidFill>
                  <a:srgbClr val="16303F"/>
                </a:solidFill>
                <a:latin typeface="Manrope" pitchFamily="34" charset="0"/>
                <a:ea typeface="Manrope" pitchFamily="34" charset="-122"/>
                <a:cs typeface="Manrope" pitchFamily="34" charset="-120"/>
              </a:rPr>
              <a:t> — already overwritten</a:t>
            </a:r>
            <a:endParaRPr lang="en-US" sz="972" dirty="0"/>
          </a:p>
        </p:txBody>
      </p:sp>
      <p:sp>
        <p:nvSpPr>
          <p:cNvPr id="20" name="Shape 18"/>
          <p:cNvSpPr/>
          <p:nvPr/>
        </p:nvSpPr>
        <p:spPr>
          <a:xfrm>
            <a:off x="6350198" y="2176165"/>
            <a:ext cx="2527102" cy="9525"/>
          </a:xfrm>
          <a:prstGeom prst="rect">
            <a:avLst/>
          </a:prstGeom>
          <a:solidFill>
            <a:srgbClr val="DDD9D2"/>
          </a:solidFill>
          <a:ln/>
        </p:spPr>
      </p:sp>
      <p:sp>
        <p:nvSpPr>
          <p:cNvPr id="21" name="Shape 19"/>
          <p:cNvSpPr/>
          <p:nvPr/>
        </p:nvSpPr>
        <p:spPr>
          <a:xfrm>
            <a:off x="6456759" y="1931640"/>
            <a:ext cx="384870" cy="181570"/>
          </a:xfrm>
          <a:prstGeom prst="roundRect">
            <a:avLst>
              <a:gd name="adj" fmla="val 20984"/>
            </a:avLst>
          </a:prstGeom>
          <a:solidFill>
            <a:srgbClr val="16303F">
              <a:alpha val="7000"/>
            </a:srgbClr>
          </a:solidFill>
          <a:ln/>
        </p:spPr>
      </p:sp>
      <p:sp>
        <p:nvSpPr>
          <p:cNvPr id="22" name="Text 20"/>
          <p:cNvSpPr txBox="1"/>
          <p:nvPr/>
        </p:nvSpPr>
        <p:spPr>
          <a:xfrm>
            <a:off x="6399609" y="1931640"/>
            <a:ext cx="499170"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null</a:t>
            </a:r>
            <a:endParaRPr lang="en-US" sz="972" dirty="0"/>
          </a:p>
        </p:txBody>
      </p:sp>
      <p:sp>
        <p:nvSpPr>
          <p:cNvPr id="23" name="Shape 21"/>
          <p:cNvSpPr/>
          <p:nvPr/>
        </p:nvSpPr>
        <p:spPr>
          <a:xfrm>
            <a:off x="457200" y="2185690"/>
            <a:ext cx="8420100" cy="341561"/>
          </a:xfrm>
          <a:prstGeom prst="rect">
            <a:avLst/>
          </a:prstGeom>
          <a:solidFill>
            <a:srgbClr val="16303F">
              <a:alpha val="3000"/>
            </a:srgbClr>
          </a:solidFill>
          <a:ln/>
        </p:spPr>
      </p:sp>
      <p:sp>
        <p:nvSpPr>
          <p:cNvPr id="24" name="Shape 22"/>
          <p:cNvSpPr/>
          <p:nvPr/>
        </p:nvSpPr>
        <p:spPr>
          <a:xfrm>
            <a:off x="457200" y="2517725"/>
            <a:ext cx="8420100" cy="9525"/>
          </a:xfrm>
          <a:prstGeom prst="rect">
            <a:avLst/>
          </a:prstGeom>
          <a:solidFill>
            <a:srgbClr val="9CA3AF">
              <a:alpha val="20000"/>
            </a:srgbClr>
          </a:solidFill>
          <a:ln/>
        </p:spPr>
      </p:sp>
      <p:sp>
        <p:nvSpPr>
          <p:cNvPr id="25" name="Shape 23"/>
          <p:cNvSpPr/>
          <p:nvPr/>
        </p:nvSpPr>
        <p:spPr>
          <a:xfrm>
            <a:off x="457200" y="2517725"/>
            <a:ext cx="2825800" cy="9525"/>
          </a:xfrm>
          <a:prstGeom prst="rect">
            <a:avLst/>
          </a:prstGeom>
          <a:solidFill>
            <a:srgbClr val="DDD9D2"/>
          </a:solidFill>
          <a:ln/>
        </p:spPr>
      </p:sp>
      <p:sp>
        <p:nvSpPr>
          <p:cNvPr id="26" name="Shape 24"/>
          <p:cNvSpPr/>
          <p:nvPr/>
        </p:nvSpPr>
        <p:spPr>
          <a:xfrm>
            <a:off x="563761" y="2273201"/>
            <a:ext cx="384870" cy="181570"/>
          </a:xfrm>
          <a:prstGeom prst="roundRect">
            <a:avLst>
              <a:gd name="adj" fmla="val 20984"/>
            </a:avLst>
          </a:prstGeom>
          <a:solidFill>
            <a:srgbClr val="16303F">
              <a:alpha val="7000"/>
            </a:srgbClr>
          </a:solidFill>
          <a:ln/>
        </p:spPr>
      </p:sp>
      <p:sp>
        <p:nvSpPr>
          <p:cNvPr id="27" name="Text 25"/>
          <p:cNvSpPr txBox="1"/>
          <p:nvPr/>
        </p:nvSpPr>
        <p:spPr>
          <a:xfrm>
            <a:off x="608112" y="2263973"/>
            <a:ext cx="1183928"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int?</a:t>
            </a:r>
            <a:pPr algn="l" indent="0" marL="0">
              <a:buNone/>
            </a:pPr>
            <a:r>
              <a:rPr lang="en-US" sz="1056" dirty="0">
                <a:solidFill>
                  <a:srgbClr val="16303F"/>
                </a:solidFill>
                <a:latin typeface="Manrope" pitchFamily="34" charset="0"/>
                <a:ea typeface="Manrope" pitchFamily="34" charset="-122"/>
                <a:cs typeface="Manrope" pitchFamily="34" charset="-120"/>
              </a:rPr>
              <a:t> (initialized)</a:t>
            </a:r>
            <a:endParaRPr lang="en-US" sz="972" dirty="0"/>
          </a:p>
        </p:txBody>
      </p:sp>
      <p:sp>
        <p:nvSpPr>
          <p:cNvPr id="28" name="Shape 26"/>
          <p:cNvSpPr/>
          <p:nvPr/>
        </p:nvSpPr>
        <p:spPr>
          <a:xfrm>
            <a:off x="3283000" y="2517725"/>
            <a:ext cx="3067199" cy="9525"/>
          </a:xfrm>
          <a:prstGeom prst="rect">
            <a:avLst/>
          </a:prstGeom>
          <a:solidFill>
            <a:srgbClr val="DDD9D2"/>
          </a:solidFill>
          <a:ln/>
        </p:spPr>
      </p:sp>
      <p:sp>
        <p:nvSpPr>
          <p:cNvPr id="29" name="Text 27"/>
          <p:cNvSpPr txBox="1"/>
          <p:nvPr/>
        </p:nvSpPr>
        <p:spPr>
          <a:xfrm>
            <a:off x="3389561" y="2263973"/>
            <a:ext cx="1260723"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kept its initializer</a:t>
            </a:r>
            <a:endParaRPr lang="en-US" sz="1056" dirty="0"/>
          </a:p>
        </p:txBody>
      </p:sp>
      <p:sp>
        <p:nvSpPr>
          <p:cNvPr id="30" name="Shape 28"/>
          <p:cNvSpPr/>
          <p:nvPr/>
        </p:nvSpPr>
        <p:spPr>
          <a:xfrm>
            <a:off x="6350198" y="2517725"/>
            <a:ext cx="2527102" cy="9525"/>
          </a:xfrm>
          <a:prstGeom prst="rect">
            <a:avLst/>
          </a:prstGeom>
          <a:solidFill>
            <a:srgbClr val="DDD9D2"/>
          </a:solidFill>
          <a:ln/>
        </p:spPr>
      </p:sp>
      <p:sp>
        <p:nvSpPr>
          <p:cNvPr id="31" name="Shape 29"/>
          <p:cNvSpPr/>
          <p:nvPr/>
        </p:nvSpPr>
        <p:spPr>
          <a:xfrm>
            <a:off x="6456759" y="2273201"/>
            <a:ext cx="384870" cy="181570"/>
          </a:xfrm>
          <a:prstGeom prst="roundRect">
            <a:avLst>
              <a:gd name="adj" fmla="val 20984"/>
            </a:avLst>
          </a:prstGeom>
          <a:solidFill>
            <a:srgbClr val="16303F">
              <a:alpha val="7000"/>
            </a:srgbClr>
          </a:solidFill>
          <a:ln/>
        </p:spPr>
      </p:sp>
      <p:sp>
        <p:nvSpPr>
          <p:cNvPr id="32" name="Text 30"/>
          <p:cNvSpPr txBox="1"/>
          <p:nvPr/>
        </p:nvSpPr>
        <p:spPr>
          <a:xfrm>
            <a:off x="6399609" y="2273201"/>
            <a:ext cx="499170"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null</a:t>
            </a:r>
            <a:endParaRPr lang="en-US" sz="972" dirty="0"/>
          </a:p>
        </p:txBody>
      </p:sp>
      <p:sp>
        <p:nvSpPr>
          <p:cNvPr id="33" name="Shape 31"/>
          <p:cNvSpPr/>
          <p:nvPr/>
        </p:nvSpPr>
        <p:spPr>
          <a:xfrm>
            <a:off x="457200" y="2859286"/>
            <a:ext cx="8420100" cy="9525"/>
          </a:xfrm>
          <a:prstGeom prst="rect">
            <a:avLst/>
          </a:prstGeom>
          <a:solidFill>
            <a:srgbClr val="9CA3AF">
              <a:alpha val="20000"/>
            </a:srgbClr>
          </a:solidFill>
          <a:ln/>
        </p:spPr>
      </p:sp>
      <p:sp>
        <p:nvSpPr>
          <p:cNvPr id="34" name="Shape 32"/>
          <p:cNvSpPr/>
          <p:nvPr/>
        </p:nvSpPr>
        <p:spPr>
          <a:xfrm>
            <a:off x="457200" y="2859286"/>
            <a:ext cx="2825800" cy="9525"/>
          </a:xfrm>
          <a:prstGeom prst="rect">
            <a:avLst/>
          </a:prstGeom>
          <a:solidFill>
            <a:srgbClr val="DDD9D2"/>
          </a:solidFill>
          <a:ln/>
        </p:spPr>
      </p:sp>
      <p:sp>
        <p:nvSpPr>
          <p:cNvPr id="35" name="Text 33"/>
          <p:cNvSpPr txBox="1"/>
          <p:nvPr/>
        </p:nvSpPr>
        <p:spPr>
          <a:xfrm>
            <a:off x="563761" y="2605534"/>
            <a:ext cx="155629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non-nullable value type</a:t>
            </a:r>
            <a:endParaRPr lang="en-US" sz="1056" dirty="0"/>
          </a:p>
        </p:txBody>
      </p:sp>
      <p:sp>
        <p:nvSpPr>
          <p:cNvPr id="36" name="Shape 34"/>
          <p:cNvSpPr/>
          <p:nvPr/>
        </p:nvSpPr>
        <p:spPr>
          <a:xfrm>
            <a:off x="3283000" y="2859286"/>
            <a:ext cx="3067199" cy="9525"/>
          </a:xfrm>
          <a:prstGeom prst="rect">
            <a:avLst/>
          </a:prstGeom>
          <a:solidFill>
            <a:srgbClr val="DDD9D2"/>
          </a:solidFill>
          <a:ln/>
        </p:spPr>
      </p:sp>
      <p:sp>
        <p:nvSpPr>
          <p:cNvPr id="37" name="Text 35"/>
          <p:cNvSpPr txBox="1"/>
          <p:nvPr/>
        </p:nvSpPr>
        <p:spPr>
          <a:xfrm>
            <a:off x="3389561" y="2605534"/>
            <a:ext cx="501104"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threw</a:t>
            </a:r>
            <a:endParaRPr lang="en-US" sz="1056" dirty="0"/>
          </a:p>
        </p:txBody>
      </p:sp>
      <p:sp>
        <p:nvSpPr>
          <p:cNvPr id="38" name="Shape 36"/>
          <p:cNvSpPr/>
          <p:nvPr/>
        </p:nvSpPr>
        <p:spPr>
          <a:xfrm>
            <a:off x="6350198" y="2859286"/>
            <a:ext cx="2527102" cy="9525"/>
          </a:xfrm>
          <a:prstGeom prst="rect">
            <a:avLst/>
          </a:prstGeom>
          <a:solidFill>
            <a:srgbClr val="DDD9D2"/>
          </a:solidFill>
          <a:ln/>
        </p:spPr>
      </p:sp>
      <p:sp>
        <p:nvSpPr>
          <p:cNvPr id="39" name="Shape 37"/>
          <p:cNvSpPr/>
          <p:nvPr/>
        </p:nvSpPr>
        <p:spPr>
          <a:xfrm>
            <a:off x="6456759" y="2614761"/>
            <a:ext cx="828824" cy="181570"/>
          </a:xfrm>
          <a:prstGeom prst="roundRect">
            <a:avLst>
              <a:gd name="adj" fmla="val 20984"/>
            </a:avLst>
          </a:prstGeom>
          <a:solidFill>
            <a:srgbClr val="16303F">
              <a:alpha val="7000"/>
            </a:srgbClr>
          </a:solidFill>
          <a:ln/>
        </p:spPr>
      </p:sp>
      <p:sp>
        <p:nvSpPr>
          <p:cNvPr id="40" name="Text 38"/>
          <p:cNvSpPr txBox="1"/>
          <p:nvPr/>
        </p:nvSpPr>
        <p:spPr>
          <a:xfrm>
            <a:off x="6399609" y="2614761"/>
            <a:ext cx="943124"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default(T)</a:t>
            </a:r>
            <a:endParaRPr lang="en-US" sz="972" dirty="0"/>
          </a:p>
        </p:txBody>
      </p:sp>
      <p:sp>
        <p:nvSpPr>
          <p:cNvPr id="41" name="Shape 39"/>
          <p:cNvSpPr/>
          <p:nvPr/>
        </p:nvSpPr>
        <p:spPr>
          <a:xfrm>
            <a:off x="457200" y="2868811"/>
            <a:ext cx="8420100" cy="341561"/>
          </a:xfrm>
          <a:prstGeom prst="rect">
            <a:avLst/>
          </a:prstGeom>
          <a:solidFill>
            <a:srgbClr val="16303F">
              <a:alpha val="3000"/>
            </a:srgbClr>
          </a:solidFill>
          <a:ln/>
        </p:spPr>
      </p:sp>
      <p:sp>
        <p:nvSpPr>
          <p:cNvPr id="42" name="Shape 40"/>
          <p:cNvSpPr/>
          <p:nvPr/>
        </p:nvSpPr>
        <p:spPr>
          <a:xfrm>
            <a:off x="457200" y="3200846"/>
            <a:ext cx="8420100" cy="9525"/>
          </a:xfrm>
          <a:prstGeom prst="rect">
            <a:avLst/>
          </a:prstGeom>
          <a:solidFill>
            <a:srgbClr val="9CA3AF">
              <a:alpha val="20000"/>
            </a:srgbClr>
          </a:solidFill>
          <a:ln/>
        </p:spPr>
      </p:sp>
      <p:sp>
        <p:nvSpPr>
          <p:cNvPr id="43" name="Shape 41"/>
          <p:cNvSpPr/>
          <p:nvPr/>
        </p:nvSpPr>
        <p:spPr>
          <a:xfrm>
            <a:off x="457200" y="3200846"/>
            <a:ext cx="2825800" cy="9525"/>
          </a:xfrm>
          <a:prstGeom prst="rect">
            <a:avLst/>
          </a:prstGeom>
          <a:solidFill>
            <a:srgbClr val="DDD9D2"/>
          </a:solidFill>
          <a:ln/>
        </p:spPr>
      </p:sp>
      <p:sp>
        <p:nvSpPr>
          <p:cNvPr id="44" name="Shape 42"/>
          <p:cNvSpPr/>
          <p:nvPr/>
        </p:nvSpPr>
        <p:spPr>
          <a:xfrm>
            <a:off x="563761" y="2956322"/>
            <a:ext cx="976908" cy="181570"/>
          </a:xfrm>
          <a:prstGeom prst="roundRect">
            <a:avLst>
              <a:gd name="adj" fmla="val 20984"/>
            </a:avLst>
          </a:prstGeom>
          <a:solidFill>
            <a:srgbClr val="16303F">
              <a:alpha val="7000"/>
            </a:srgbClr>
          </a:solidFill>
          <a:ln/>
        </p:spPr>
      </p:sp>
      <p:sp>
        <p:nvSpPr>
          <p:cNvPr id="45" name="Text 43"/>
          <p:cNvSpPr txBox="1"/>
          <p:nvPr/>
        </p:nvSpPr>
        <p:spPr>
          <a:xfrm>
            <a:off x="506611" y="2956322"/>
            <a:ext cx="1091208"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[null, null]</a:t>
            </a:r>
            <a:endParaRPr lang="en-US" sz="972" dirty="0"/>
          </a:p>
        </p:txBody>
      </p:sp>
      <p:sp>
        <p:nvSpPr>
          <p:cNvPr id="46" name="Shape 44"/>
          <p:cNvSpPr/>
          <p:nvPr/>
        </p:nvSpPr>
        <p:spPr>
          <a:xfrm>
            <a:off x="3283000" y="3200846"/>
            <a:ext cx="3067199" cy="9525"/>
          </a:xfrm>
          <a:prstGeom prst="rect">
            <a:avLst/>
          </a:prstGeom>
          <a:solidFill>
            <a:srgbClr val="DDD9D2"/>
          </a:solidFill>
          <a:ln/>
        </p:spPr>
      </p:sp>
      <p:sp>
        <p:nvSpPr>
          <p:cNvPr id="47" name="Text 45"/>
          <p:cNvSpPr txBox="1"/>
          <p:nvPr/>
        </p:nvSpPr>
        <p:spPr>
          <a:xfrm>
            <a:off x="3389561" y="2947095"/>
            <a:ext cx="122649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two empty strings</a:t>
            </a:r>
            <a:endParaRPr lang="en-US" sz="1056" dirty="0"/>
          </a:p>
        </p:txBody>
      </p:sp>
      <p:sp>
        <p:nvSpPr>
          <p:cNvPr id="48" name="Shape 46"/>
          <p:cNvSpPr/>
          <p:nvPr/>
        </p:nvSpPr>
        <p:spPr>
          <a:xfrm>
            <a:off x="6350198" y="3200846"/>
            <a:ext cx="2527102" cy="9525"/>
          </a:xfrm>
          <a:prstGeom prst="rect">
            <a:avLst/>
          </a:prstGeom>
          <a:solidFill>
            <a:srgbClr val="DDD9D2"/>
          </a:solidFill>
          <a:ln/>
        </p:spPr>
      </p:sp>
      <p:sp>
        <p:nvSpPr>
          <p:cNvPr id="49" name="Text 47"/>
          <p:cNvSpPr txBox="1"/>
          <p:nvPr/>
        </p:nvSpPr>
        <p:spPr>
          <a:xfrm>
            <a:off x="6456759" y="2947095"/>
            <a:ext cx="66689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two nulls</a:t>
            </a:r>
            <a:endParaRPr lang="en-US" sz="1056" dirty="0"/>
          </a:p>
        </p:txBody>
      </p:sp>
      <p:sp>
        <p:nvSpPr>
          <p:cNvPr id="50" name="Shape 48"/>
          <p:cNvSpPr/>
          <p:nvPr/>
        </p:nvSpPr>
        <p:spPr>
          <a:xfrm>
            <a:off x="457200" y="3542407"/>
            <a:ext cx="8420100" cy="9525"/>
          </a:xfrm>
          <a:prstGeom prst="rect">
            <a:avLst/>
          </a:prstGeom>
          <a:solidFill>
            <a:srgbClr val="9CA3AF">
              <a:alpha val="20000"/>
            </a:srgbClr>
          </a:solidFill>
          <a:ln/>
        </p:spPr>
      </p:sp>
      <p:sp>
        <p:nvSpPr>
          <p:cNvPr id="51" name="Shape 49"/>
          <p:cNvSpPr/>
          <p:nvPr/>
        </p:nvSpPr>
        <p:spPr>
          <a:xfrm>
            <a:off x="457200" y="3542407"/>
            <a:ext cx="2825800" cy="9525"/>
          </a:xfrm>
          <a:prstGeom prst="rect">
            <a:avLst/>
          </a:prstGeom>
          <a:solidFill>
            <a:srgbClr val="DDD9D2"/>
          </a:solidFill>
          <a:ln/>
        </p:spPr>
      </p:sp>
      <p:sp>
        <p:nvSpPr>
          <p:cNvPr id="52" name="Shape 50"/>
          <p:cNvSpPr/>
          <p:nvPr/>
        </p:nvSpPr>
        <p:spPr>
          <a:xfrm>
            <a:off x="563761" y="3297882"/>
            <a:ext cx="236786" cy="181570"/>
          </a:xfrm>
          <a:prstGeom prst="roundRect">
            <a:avLst>
              <a:gd name="adj" fmla="val 20984"/>
            </a:avLst>
          </a:prstGeom>
          <a:solidFill>
            <a:srgbClr val="16303F">
              <a:alpha val="7000"/>
            </a:srgbClr>
          </a:solidFill>
          <a:ln/>
        </p:spPr>
      </p:sp>
      <p:sp>
        <p:nvSpPr>
          <p:cNvPr id="53" name="Text 51"/>
          <p:cNvSpPr txBox="1"/>
          <p:nvPr/>
        </p:nvSpPr>
        <p:spPr>
          <a:xfrm>
            <a:off x="506611" y="3297882"/>
            <a:ext cx="351086"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a:t>
            </a:r>
            <a:endParaRPr lang="en-US" sz="972" dirty="0"/>
          </a:p>
        </p:txBody>
      </p:sp>
      <p:sp>
        <p:nvSpPr>
          <p:cNvPr id="54" name="Shape 52"/>
          <p:cNvSpPr/>
          <p:nvPr/>
        </p:nvSpPr>
        <p:spPr>
          <a:xfrm>
            <a:off x="3283000" y="3542407"/>
            <a:ext cx="3067199" cy="9525"/>
          </a:xfrm>
          <a:prstGeom prst="rect">
            <a:avLst/>
          </a:prstGeom>
          <a:solidFill>
            <a:srgbClr val="DDD9D2"/>
          </a:solidFill>
          <a:ln/>
        </p:spPr>
      </p:sp>
      <p:sp>
        <p:nvSpPr>
          <p:cNvPr id="55" name="Text 53"/>
          <p:cNvSpPr txBox="1"/>
          <p:nvPr/>
        </p:nvSpPr>
        <p:spPr>
          <a:xfrm>
            <a:off x="3389561" y="3288655"/>
            <a:ext cx="58846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ignored</a:t>
            </a:r>
            <a:endParaRPr lang="en-US" sz="1056" dirty="0"/>
          </a:p>
        </p:txBody>
      </p:sp>
      <p:sp>
        <p:nvSpPr>
          <p:cNvPr id="56" name="Shape 54"/>
          <p:cNvSpPr/>
          <p:nvPr/>
        </p:nvSpPr>
        <p:spPr>
          <a:xfrm>
            <a:off x="6350198" y="3542407"/>
            <a:ext cx="2527102" cy="9525"/>
          </a:xfrm>
          <a:prstGeom prst="rect">
            <a:avLst/>
          </a:prstGeom>
          <a:solidFill>
            <a:srgbClr val="DDD9D2"/>
          </a:solidFill>
          <a:ln/>
        </p:spPr>
      </p:sp>
      <p:sp>
        <p:nvSpPr>
          <p:cNvPr id="57" name="Text 55"/>
          <p:cNvSpPr txBox="1"/>
          <p:nvPr/>
        </p:nvSpPr>
        <p:spPr>
          <a:xfrm>
            <a:off x="6456759" y="3288655"/>
            <a:ext cx="138127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binds as empty array</a:t>
            </a:r>
            <a:endParaRPr lang="en-US" sz="1056" dirty="0"/>
          </a:p>
        </p:txBody>
      </p:sp>
      <p:sp>
        <p:nvSpPr>
          <p:cNvPr id="58" name="Text 56"/>
          <p:cNvSpPr txBox="1"/>
          <p:nvPr/>
        </p:nvSpPr>
        <p:spPr>
          <a:xfrm>
            <a:off x="457200" y="3878610"/>
            <a:ext cx="84391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All rows are </a:t>
            </a:r>
            <a:pPr algn="l" indent="0" marL="0">
              <a:lnSpc>
                <a:spcPts val="1800"/>
              </a:lnSpc>
              <a:buNone/>
            </a:pPr>
            <a:r>
              <a:rPr lang="en-US" sz="1200" b="1" dirty="0">
                <a:solidFill>
                  <a:srgbClr val="44535A"/>
                </a:solidFill>
                <a:latin typeface="Manrope" pitchFamily="34" charset="0"/>
                <a:ea typeface="Manrope" pitchFamily="34" charset="-122"/>
                <a:cs typeface="Manrope" pitchFamily="34" charset="-120"/>
              </a:rPr>
              <a:t>the JSON provider specifically</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providers that already carried real nulls, such as in-memory, did not all behave this way. d06’s own one-liner: </a:t>
            </a:r>
            <a:pPr algn="l" indent="0" marL="0">
              <a:lnSpc>
                <a:spcPts val="1800"/>
              </a:lnSpc>
              <a:buNone/>
            </a:pPr>
            <a:r>
              <a:rPr lang="en-US" sz="1200" i="1" dirty="0">
                <a:solidFill>
                  <a:srgbClr val="44535A"/>
                </a:solidFill>
                <a:latin typeface="Manrope" pitchFamily="34" charset="0"/>
                <a:ea typeface="Manrope" pitchFamily="34" charset="-122"/>
                <a:cs typeface="Manrope" pitchFamily="34" charset="-120"/>
              </a:rPr>
              <a:t>“Retries was 3 on .NET 9 and is null on .NET 10.”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 .NET Configuration</dc:title>
  <dc:subject>## Modern .NET Configuration
Kevin Griffin - Microsoft MVP - .NET 10 / C# 14
Generated from OUTLINE.md. Regenerate with `npm run generate`.
</dc:subject>
  <dc:creator>Kevin Griffin</dc:creator>
  <cp:lastModifiedBy>Kevin Griffin</cp:lastModifiedBy>
  <cp:revision>1</cp:revision>
  <dcterms:created xsi:type="dcterms:W3CDTF">2026-09-24T18:32:15Z</dcterms:created>
  <dcterms:modified xsi:type="dcterms:W3CDTF">2026-09-24T18:32:15Z</dcterms:modified>
</cp:coreProperties>
</file>