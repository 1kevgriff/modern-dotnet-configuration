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Don't explain it. Don't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Don't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Don't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The shared baseline - what everyone gets
  02  My machine - differing without breaking yours
  03  The shared dev server - it left your laptop
  04  Production - ownership, trust, change without a deploy
  05  Where should this value live?
Say that one key - Weather:TimeoutSeconds - crosses all five, so they have
something to follow.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COLD OPEN PART TWO - S1.2
60-min: fold into the Why block - drop the storytelling, keep the through-line
Three eras. Score each against the five reasons.
1. CONSTANTS AND #if DEBUG
   Hardcoded values, commented-out blocks, a pre-commit ritual.
   Simple and dangerous - failure mode was shipping the wrong uncommented line.
   Fails #1 outright. Fails #4 catastrophically.
2. web.config / app.config + ConfigurationManager.AppSettings
   XML, static, one string-keyed bag. No reload, no layering, framework-only.
   Transforms (Web.Release.config) ran at BUILD time.
   Wins #1 and #2 - but you built one artifact per environment, and #3 was impossible.
3. THE .NET GENERIC HOST (2018, .NET Core 2.1) + IConfiguration
   Provider chain, layering, binding, DI, reload - and the same model for a web
   app, a worker, a console tool, and a WinForms app.
   One artifact, many environments. All five reasons, finally.
THE THROUGH-LINE - say this out loud, it comes back twice:
"We traded a build-time decision for a runtime one."
Everything hard about modern configuration comes from that trade.
S6.8 shows feature flags making the same trade one level up.
ON SCREEN: three snippets, one per era, dated. No prose. Walk them in order
and score each against the five reasons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journey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anti-patterns slide the audience should be calling them before you do.
that is when this slide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1] THE SHARED BASELINE
60-min: keep, 30 seconds
first BOUNDARY. Everything from here to the end is one application moving:
the baseline everyone shares -&gt; my machine -&gt; a shared dev server -&gt; production.
The baseline is the part everyone agrees on. It is checked in, it is reviewed,
and it travels with the artifact. Nothing here is secret and nothing here is
machine-specific - those come next, and they OVERRIDE this rather than replace it.
The question this act answers:
  "Who owns this value, and what does everyone get by default?"
Weather:TimeoutSeconds is the value to follow. It starts at 30 here and it will
cross every boundary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
ON SCREEN: the repo holds a GUID. Your laptop holds the actual secret, in
plaintext, in a file anyone with your login can read.
Say: "This is not encryption. This is not a vault. The whole
feature is a convention for putting the file somewhere git will never see."
That is not a criticism - it is exactly the right tool for the job it has. But
half the room believes it is encrypted, and the ones who believe that are the
ones who will reach for it in production.
where IT SITS IN THE CHAIN - say it, do not slide it:
Development environment only. Above the JSON files, below environment
variables and the command line. The precedence table already showed the rank;
point back at it rather than repeating it.
Storage paths, for the record - and tell them not to write code against these:
  Windows       %APPDATA%MicrosoftUserSecrets&lt;id&gt;secrets.json
  Linux/macOS   ~/.microsoft/usersecrets/&lt;id&gt;/secrets.json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[S4.4] USER SECRETS - THE COMMANDS
Snippet: lifted from d09
60-min: keep, fast
Five commands and one .NET 10 addition. Do not read them out. Let people
photograph it and say what matters instead.
What matters:
- 'init' writes the UserSecretsId into the .csproj. That id is the only thing
  the repo ever learns about your secrets.
- Values are set by KEY PATH using the colon form - "Weather:ApiKey", not
  nested JSON. The provider flattens it exactly like everything else.
- Bulk load exists: pipe a JSON file into 'dotnet user-secrets set'. Useful
  when onboarding someone. Do not then commit that JSON file.
THE .NET 10 LINE IS THE ONE TO CALL OUT:
'dotnet run app.cs' programs get a stable UserSecretsId derived from a hash of
the FILE PATH. A single-file app with no .csproj anywhere still gets user
secrets, addressed with --file.
That is genuinely new and it lands well - a five-line program reading
configuration properly with no project file. Worth mentioning that moving the
file changes the hash, and therefore changes which secrets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REVEAL] THE launchSettings TRAP
Snippet: lifted from d07
60-min: keep - this is the whole payoff of the stage
Let them sit on 45 for a second before you explain it.
THE TWO-SIDED FAILURE, and both sides bite:
- Locally it works when it should not. launchSettings quietly wins, so you never
  find out your environment variable was not being read.
- In production it breaks when it should not. launchSettings is not deployed, so
  the value that was silently winning is simply gone.
That is why this is the number one "works on my machine" configuration story. It
is not that the machine is different. It is that a development-only file is in
the chain locally and absent everywhere else.
Close the stage here:
"That is stage one's signature failure. The fix is not a better laptop - it is
letting the platform supply the values. That is stage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Do not read the slide aloud. Walk down the four rows, name the source each
time, and let the numbers do the work.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RELOAD - GET this RIGHT: the 3-argument overload above does not reload.
AddKeyPerFile(dir, optional) resolves to reloadOnChange: false. You only get
a watcher from the 4-argument overload. And even then, on Kubernetes those
mounts are symlink swaps rather than in-place writes, so the watcher may or
may not fire.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Don't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Snippet: lifted from d24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PRODUCTION
60-min: keep, 45 seconds
last BOUNDARY, and the one with consequences. Same artifact as the shared dev
server - genuinely the same bytes. What changed is who supplies the values and
what it costs to get one wrong.
Three things are true here that were not true on your laptop:
  OWNERSHIP  the person who needs to change a value may not be a developer
  TRUST      a leaked value here is an incident, not an inconvenience
  UPTIME     a restart is a change window, not a keystroke
That third one is what the rest of this act is about. Say the line:
"Nothing gets rebuilt to change a value. That is the whole point of the last
 forty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THE LIFETIME QUESTION
60-min: keep - it is 20 seconds and it sets up the best beat in the talk
On a laptop you restart the app without thinking. In production a restart is an
event: dropped connections, a cold cache, a change window, maybe an approval.
So production is the first place the question is worth asking at all:
  "Can this value change without stopping the process?"
That question has exactly three answers in .NET, and they are the three interfaces
on the next slide. Do not list them here - just land the question and advance.
This is also the slide to point back to from What Actually Reloads. The interface
decides whether your code SEES a change; the provider decides whether a change
ever ARRIVES. Both have to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Don't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SETUP - BEFORE THE EDIT
Snippet: lifted from d13
60-min: never cut
All three interfaces, same key, same value. Nothing interesting yet - and that
is the point. Establish the baseline so the reveal has something to move
against.
ASK THE ROOM, and wait for an answer:
"I am about to change appsettings.json to 90 while this is running.
 Which of these three change?"
Most rooms say all three. Some say none. Both are wrong, and being wrong out
loud is what makes the next slide land.
Do not explain lifetimes yet. The table two slides back already told them; this
is the check on whether they believed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THE REVEAL - AFTER THE EDIT
Snippet: lifted from d13
60-min: never cut. This is the longest beat in the talk.
Three columns, because the honest answer has a middle state:
  IOptions          never moves. Bound once at startup, forever.
  IOptionsSnapshot  moves, but only in a NEW SCOPE - normally the next request.
                    A snapshot already resolved in the current request stays at 30.
  IOptionsMonitor   moves immediately. It is a singleton holding a change token.
THE MIDDLE COLUMN IS THE ONE PEOPLE GET WRONG. "Scoped" does not mean "fresh
whenever you ask" - it means fresh per scope. Within one request it is stable,
which is exactly the property you want for per-request consistency.
THEN NAME THE TWO CLASSIC BUGS while this is up:
- IOptionsSnapshot&lt;T&gt; injected into a singleton. It is scoped: the container
  either throws, or you capture the first scope's value forever.
- _monitor.CurrentValue cached in a constructor field, which quietly turns a
  monitor back into an IOptions&lt;T&gt;. Read CurrentValue at the point of use.
Failure mode #3: LIFETIME. Badge is on the table slide;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only with the 4-arg overload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It is also ASYNCHRONOUS: the request that TRIGGERS the refresh does not
   block on it and may still serve the OLD values. Later requests see the new
   ones. Say this - people assume the triggering request gets the update.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Update the sentinel last. Each instance then reloads the selected values
   together in one refresh, so no single process sees a half-applied edit.
   Don't say "atomic" - the store is not transactional across keys, and
   instances refresh independently, so they do not all switch at the same
   moment. It answers "half-applied", not "everywhere at once".
5. FAILURE MODE IS GRACEFUL - a failed refresh keeps last known-good and retries.
   STARTUP now retries with backoff, bounded by ConfigureStartupOptions =&gt;
   options.Timeout. If it still cannot load when that budget runs out the
   failure surfaces during startup and normally aborts the process. So
   "a failed connection at startup crashes you" is true but incomplete -
   it retries first.
6. KEY VAULT REFERENCES live in the store as pointers with a distinct content
   type; ConfigureKeyVault dereferences them. Give them their OWN cadence with
   SetSecretRefreshInterval(key, TimeSpan) - a rotated secret is otherwise cached
   forever. MINIMUM is one minute - a shorter interval throws ArgumentOutOfRangeException
   rather than being silently floored. This is the
   App Configuration provider resolving Key Vault REFERENCES, not the
   standalone Key Vault provider, which has its own ReloadInterval.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THE REVEAL - PER CALL, NOT PER USER
Snippet: lifted from d29
60-min: KEEP THE GOTCHA even if you cut the filter catalogue. Never-cut list.
Ten checks. One user. One process. The percentage row flickers; the targeting
row does not. That contrast is the slide.
Say:
"Microsoft.Percentage does not know who you are. It rolls the dice on every
 call. Fifty percent means half the CALLS, not half the USERS."
WHY IT IS NASTY: it is invisible in a single test run and invisible in code
review. It shows up as a user watching a feature flicker between page loads -
nav bar says new checkout, checkout page says old.
THE FIX, and say it immediately so nobody leaves with only the problem:
targeting with an ITargetingContextAccessor, or variant allocation with a seed.
Either gives a stable per-user assignment. A shared seed keeps that assignment
consistent across flags, which is what you want for a coherent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DELETION AND INVENTORY
Snippet: lifted from d32
60-min: keep the first line; the endpoint is optional
The sentence people need to hear:
"Turning a flag off in the portal is not deleting it. The dead branch is still
 there, still compiling, still something the next person has to reason about."
Deleting a flag is a pull request, not a portal click. If that is not on
someone's board, it does not happen.
THE ENDPOINT IS THE THING PEOPLE STEAL. Two caveats, say both:
- Name and a boolean is not enough. The previous slide argued owner and expiry
  are what matter, so the record carries them.
- For a percentage or targeting flag that boolean is this evaluation, for this
  context. Slide 44 just proved it can differ on the very next call. It is an
  inventory of what exists, not a global on/off state.
- Authorize it. An open /flags endpoint hands an attacker your roadmap and your
  operational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THE DECISION
60-min: keep - this is what the room came for
The journey is over. Now it pays out as a decision you can make on Monday.
FOUR QUESTIONS, and they are the whole framework:
  OWNERSHIP    who changes this - a developer, an SRE, a product manager?
  SENSITIVITY  does it hurt if it leaks?
  SCOPE        one app, or many?
  CADENCE      per release, per environment, or while the app is serving traffic?
Say plainly: you do not need stage three. Most apps never do. The next two slides
are a sorting exercise, not a maturity model - nobody is behind for using JSON
files and environment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the array slide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first thing to cut
- but say the one-liner.
Worth naming - name this rather than letting the structure contradict you:
The journey assumes a server. A desktop app has local dev, has "deployment" as an
install, and has no shared stage at all - no orchestrator setting env vars, no
central store it should authenticate to, no instance fleet.
Say: "Everything so far assumed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OFF THE MAIN PATH
60-min: never shown; these exist for Q&amp;A and for the repo
Do not walk these. They are here so the answer exists when someone asks, and so
the PDF is complete for whoever reads it later.
  connection-string prefixes          "we moved to Postgres and the name changed"
  named options + source generators   "how do I bind the same shape twice?"
  a custom provider                   "how would I read config from X?"
  .NET 10 null preservation           "we upgraded and a default came back null"
Each one is technically sound and each one interrupts the laptop -&gt; shared dev -&gt;
production story, which is why they are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277243"/>
            <a:ext cx="8077200" cy="2581275"/>
          </a:xfrm>
          <a:prstGeom prst="roundRect">
            <a:avLst>
              <a:gd name="adj" fmla="val 1476"/>
            </a:avLst>
          </a:prstGeom>
          <a:solidFill>
            <a:srgbClr val="011627"/>
          </a:solidFill>
          <a:ln/>
        </p:spPr>
      </p:sp>
      <p:sp>
        <p:nvSpPr>
          <p:cNvPr id="4" name="Text 2"/>
          <p:cNvSpPr txBox="1"/>
          <p:nvPr/>
        </p:nvSpPr>
        <p:spPr>
          <a:xfrm>
            <a:off x="704850" y="1362968"/>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 120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10 seconds.</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98687"/>
            <a:ext cx="8077200" cy="2338388"/>
          </a:xfrm>
          <a:prstGeom prst="roundRect">
            <a:avLst>
              <a:gd name="adj" fmla="val 1629"/>
            </a:avLst>
          </a:prstGeom>
          <a:solidFill>
            <a:srgbClr val="011627"/>
          </a:solidFill>
          <a:ln/>
        </p:spPr>
      </p:sp>
      <p:sp>
        <p:nvSpPr>
          <p:cNvPr id="4" name="Text 2"/>
          <p:cNvSpPr txBox="1"/>
          <p:nvPr/>
        </p:nvSpPr>
        <p:spPr>
          <a:xfrm>
            <a:off x="704850" y="1484412"/>
            <a:ext cx="7943850" cy="2152650"/>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TimeoutSeconds=10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487561" y="1510754"/>
            <a:ext cx="4839444" cy="1122015"/>
          </a:xfrm>
          <a:prstGeom prst="rect">
            <a:avLst/>
          </a:prstGeom>
          <a:noFill/>
          <a:ln/>
        </p:spPr>
        <p:txBody>
          <a:bodyPr wrap="square" lIns="0" tIns="0" rIns="0" bIns="0" rtlCol="0" anchor="t"/>
          <a:lstStyle/>
          <a:p>
            <a:pPr algn="l" indent="0" marL="0">
              <a:lnSpc>
                <a:spcPts val="3960"/>
              </a:lnSpc>
              <a:buNone/>
            </a:pPr>
            <a:r>
              <a:rPr lang="en-US" sz="3600" b="1" spc="-72" kern="0" dirty="0">
                <a:solidFill>
                  <a:srgbClr val="F7F6F3"/>
                </a:solidFill>
                <a:latin typeface="Manrope" pitchFamily="34" charset="0"/>
                <a:ea typeface="Manrope" pitchFamily="34" charset="-122"/>
                <a:cs typeface="Manrope" pitchFamily="34" charset="-120"/>
              </a:rPr>
              <a:t>Modern .NET Configuration</a:t>
            </a:r>
            <a:endParaRPr lang="en-US" sz="3600" dirty="0"/>
          </a:p>
        </p:txBody>
      </p:sp>
      <p:sp>
        <p:nvSpPr>
          <p:cNvPr id="4" name="Shape 2"/>
          <p:cNvSpPr/>
          <p:nvPr/>
        </p:nvSpPr>
        <p:spPr>
          <a:xfrm>
            <a:off x="487561" y="2913850"/>
            <a:ext cx="47625" cy="47625"/>
          </a:xfrm>
          <a:prstGeom prst="roundRect">
            <a:avLst>
              <a:gd name="adj" fmla="val 50000"/>
            </a:avLst>
          </a:prstGeom>
          <a:solidFill>
            <a:srgbClr val="F4C233"/>
          </a:solidFill>
          <a:ln/>
        </p:spPr>
      </p:sp>
      <p:sp>
        <p:nvSpPr>
          <p:cNvPr id="5" name="Text 3"/>
          <p:cNvSpPr txBox="1"/>
          <p:nvPr/>
        </p:nvSpPr>
        <p:spPr>
          <a:xfrm>
            <a:off x="632222" y="2824163"/>
            <a:ext cx="987177"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Kevin Griffin</a:t>
            </a:r>
            <a:endParaRPr lang="en-US" sz="1260" dirty="0"/>
          </a:p>
        </p:txBody>
      </p:sp>
      <p:sp>
        <p:nvSpPr>
          <p:cNvPr id="6" name="Shape 4"/>
          <p:cNvSpPr/>
          <p:nvPr/>
        </p:nvSpPr>
        <p:spPr>
          <a:xfrm>
            <a:off x="487561" y="3202428"/>
            <a:ext cx="47625" cy="47625"/>
          </a:xfrm>
          <a:prstGeom prst="roundRect">
            <a:avLst>
              <a:gd name="adj" fmla="val 50000"/>
            </a:avLst>
          </a:prstGeom>
          <a:solidFill>
            <a:srgbClr val="F4C233"/>
          </a:solidFill>
          <a:ln/>
        </p:spPr>
      </p:sp>
      <p:sp>
        <p:nvSpPr>
          <p:cNvPr id="7" name="Text 5"/>
          <p:cNvSpPr txBox="1"/>
          <p:nvPr/>
        </p:nvSpPr>
        <p:spPr>
          <a:xfrm>
            <a:off x="632222" y="3112740"/>
            <a:ext cx="1183332"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491005"/>
            <a:ext cx="47625" cy="47625"/>
          </a:xfrm>
          <a:prstGeom prst="roundRect">
            <a:avLst>
              <a:gd name="adj" fmla="val 50000"/>
            </a:avLst>
          </a:prstGeom>
          <a:solidFill>
            <a:srgbClr val="F4C233"/>
          </a:solidFill>
          <a:ln/>
        </p:spPr>
      </p:sp>
      <p:sp>
        <p:nvSpPr>
          <p:cNvPr id="9" name="Text 7"/>
          <p:cNvSpPr txBox="1"/>
          <p:nvPr/>
        </p:nvSpPr>
        <p:spPr>
          <a:xfrm>
            <a:off x="632222" y="3401318"/>
            <a:ext cx="1214289" cy="219075"/>
          </a:xfrm>
          <a:prstGeom prst="rect">
            <a:avLst/>
          </a:prstGeom>
          <a:noFill/>
          <a:ln/>
        </p:spPr>
        <p:txBody>
          <a:bodyPr wrap="none" lIns="0" tIns="0" rIns="0" bIns="0" rtlCol="0" anchor="t"/>
          <a:lstStyle/>
          <a:p>
            <a:pPr algn="l" indent="0" marL="0">
              <a:buNone/>
            </a:pPr>
            <a:r>
              <a:rPr lang="en-US" sz="1260" dirty="0">
                <a:solidFill>
                  <a:srgbClr val="F7F6F3">
                    <a:alpha val="86000"/>
                  </a:srgbClr>
                </a:solidFill>
                <a:latin typeface="Manrope" pitchFamily="34" charset="0"/>
                <a:ea typeface="Manrope" pitchFamily="34" charset="-122"/>
                <a:cs typeface="Manrope" pitchFamily="34" charset="-120"/>
              </a:rPr>
              <a:t>.NET 10 / C# 14</a:t>
            </a:r>
            <a:endParaRPr lang="en-US" sz="1260" dirty="0"/>
          </a:p>
        </p:txBody>
      </p:sp>
      <p:pic>
        <p:nvPicPr>
          <p:cNvPr id="10"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2775793"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Kevin Griffin</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2913608"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Software consultant — .NET and Azure</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118333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Microsoft MVP</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34776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Builds and runs Shows On Sale</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0" y="0"/>
            <a:ext cx="1981200" cy="5257800"/>
          </a:xfrm>
          <a:prstGeom prst="rect">
            <a:avLst/>
          </a:prstGeom>
          <a:solidFill>
            <a:srgbClr val="16303F"/>
          </a:solidFill>
          <a:ln/>
        </p:spPr>
      </p:sp>
      <p:sp>
        <p:nvSpPr>
          <p:cNvPr id="4" name="Text 2"/>
          <p:cNvSpPr txBox="1"/>
          <p:nvPr/>
        </p:nvSpPr>
        <p:spPr>
          <a:xfrm>
            <a:off x="243780" y="4379565"/>
            <a:ext cx="1512689" cy="522982"/>
          </a:xfrm>
          <a:prstGeom prst="rect">
            <a:avLst/>
          </a:prstGeom>
          <a:noFill/>
          <a:ln/>
        </p:spPr>
        <p:txBody>
          <a:bodyPr wrap="square" lIns="0" tIns="0" rIns="0" bIns="0" rtlCol="0" anchor="t"/>
          <a:lstStyle/>
          <a:p>
            <a:pPr algn="l" indent="0" marL="0">
              <a:lnSpc>
                <a:spcPts val="1943"/>
              </a:lnSpc>
              <a:buNone/>
            </a:pPr>
            <a:r>
              <a:rPr lang="en-US" sz="1620" b="1" dirty="0">
                <a:solidFill>
                  <a:srgbClr val="F7F6F3"/>
                </a:solidFill>
                <a:latin typeface="Manrope" pitchFamily="34" charset="0"/>
                <a:ea typeface="Manrope" pitchFamily="34" charset="-122"/>
                <a:cs typeface="Manrope" pitchFamily="34" charset="-120"/>
              </a:rPr>
              <a:t>Following one value</a:t>
            </a:r>
            <a:endParaRPr lang="en-US" sz="1620" dirty="0"/>
          </a:p>
        </p:txBody>
      </p:sp>
      <p:sp>
        <p:nvSpPr>
          <p:cNvPr id="5" name="Text 3"/>
          <p:cNvSpPr txBox="1"/>
          <p:nvPr/>
        </p:nvSpPr>
        <p:spPr>
          <a:xfrm>
            <a:off x="2438400" y="135418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6" name="Text 4"/>
          <p:cNvSpPr txBox="1"/>
          <p:nvPr/>
        </p:nvSpPr>
        <p:spPr>
          <a:xfrm>
            <a:off x="2910780" y="1363712"/>
            <a:ext cx="403696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baseline — what everyone gets</a:t>
            </a:r>
            <a:endParaRPr lang="en-US" sz="1536" dirty="0"/>
          </a:p>
        </p:txBody>
      </p:sp>
      <p:sp>
        <p:nvSpPr>
          <p:cNvPr id="7" name="Text 5"/>
          <p:cNvSpPr txBox="1"/>
          <p:nvPr/>
        </p:nvSpPr>
        <p:spPr>
          <a:xfrm>
            <a:off x="2438400" y="1756470"/>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8" name="Text 6"/>
          <p:cNvSpPr txBox="1"/>
          <p:nvPr/>
        </p:nvSpPr>
        <p:spPr>
          <a:xfrm>
            <a:off x="2910780" y="1765995"/>
            <a:ext cx="4416028"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My machine — differing without breaking yours</a:t>
            </a:r>
            <a:endParaRPr lang="en-US" sz="1536" dirty="0"/>
          </a:p>
        </p:txBody>
      </p:sp>
      <p:sp>
        <p:nvSpPr>
          <p:cNvPr id="9" name="Text 7"/>
          <p:cNvSpPr txBox="1"/>
          <p:nvPr/>
        </p:nvSpPr>
        <p:spPr>
          <a:xfrm>
            <a:off x="2438400" y="2158752"/>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0" name="Text 8"/>
          <p:cNvSpPr txBox="1"/>
          <p:nvPr/>
        </p:nvSpPr>
        <p:spPr>
          <a:xfrm>
            <a:off x="2910780" y="2168277"/>
            <a:ext cx="3972371"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The shared dev server — it left your laptop</a:t>
            </a:r>
            <a:endParaRPr lang="en-US" sz="1536" dirty="0"/>
          </a:p>
        </p:txBody>
      </p:sp>
      <p:sp>
        <p:nvSpPr>
          <p:cNvPr id="11" name="Text 9"/>
          <p:cNvSpPr txBox="1"/>
          <p:nvPr/>
        </p:nvSpPr>
        <p:spPr>
          <a:xfrm>
            <a:off x="2438400" y="2561034"/>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2" name="Text 10"/>
          <p:cNvSpPr txBox="1"/>
          <p:nvPr/>
        </p:nvSpPr>
        <p:spPr>
          <a:xfrm>
            <a:off x="2910780" y="2570559"/>
            <a:ext cx="5670649"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Production — ownership, trust, and change without a deploy</a:t>
            </a:r>
            <a:endParaRPr lang="en-US" sz="1536" dirty="0"/>
          </a:p>
        </p:txBody>
      </p:sp>
      <p:sp>
        <p:nvSpPr>
          <p:cNvPr id="13" name="Text 11"/>
          <p:cNvSpPr txBox="1"/>
          <p:nvPr/>
        </p:nvSpPr>
        <p:spPr>
          <a:xfrm>
            <a:off x="2438400" y="2963317"/>
            <a:ext cx="306288" cy="239911"/>
          </a:xfrm>
          <a:prstGeom prst="rect">
            <a:avLst/>
          </a:prstGeom>
          <a:noFill/>
          <a:ln/>
        </p:spPr>
        <p:txBody>
          <a:bodyPr wrap="none" lIns="0" tIns="0" rIns="0" bIns="0" rtlCol="0" anchor="ctr"/>
          <a:lstStyle/>
          <a:p>
            <a:pPr algn="l" indent="0" marL="0">
              <a:buNone/>
            </a:pPr>
            <a:r>
              <a:rPr lang="en-US" sz="1260" b="1" dirty="0">
                <a:solidFill>
                  <a:srgbClr val="F4C233"/>
                </a:solidFill>
                <a:latin typeface="JetBrains Mono" pitchFamily="34" charset="0"/>
                <a:ea typeface="JetBrains Mono" pitchFamily="34" charset="-122"/>
                <a:cs typeface="JetBrains Mono" pitchFamily="34" charset="-120"/>
              </a:rPr>
              <a:t>0" counter(rm)</a:t>
            </a:r>
            <a:endParaRPr lang="en-US" sz="1260" dirty="0"/>
          </a:p>
        </p:txBody>
      </p:sp>
      <p:sp>
        <p:nvSpPr>
          <p:cNvPr id="14" name="Text 12"/>
          <p:cNvSpPr txBox="1"/>
          <p:nvPr/>
        </p:nvSpPr>
        <p:spPr>
          <a:xfrm>
            <a:off x="2910780" y="2972842"/>
            <a:ext cx="2801243" cy="266700"/>
          </a:xfrm>
          <a:prstGeom prst="rect">
            <a:avLst/>
          </a:prstGeom>
          <a:noFill/>
          <a:ln/>
        </p:spPr>
        <p:txBody>
          <a:bodyPr wrap="none" lIns="0" tIns="0" rIns="0" bIns="0" rtlCol="0" anchor="t"/>
          <a:lstStyle/>
          <a:p>
            <a:pPr algn="l" indent="0" marL="0">
              <a:buNone/>
            </a:pPr>
            <a:r>
              <a:rPr lang="en-US" sz="1536" b="1" dirty="0">
                <a:solidFill>
                  <a:srgbClr val="16303F"/>
                </a:solidFill>
                <a:latin typeface="Manrope" pitchFamily="34" charset="0"/>
                <a:ea typeface="Manrope" pitchFamily="34" charset="-122"/>
                <a:cs typeface="Manrope" pitchFamily="34" charset="-120"/>
              </a:rPr>
              <a:t>Where should this value live?</a:t>
            </a:r>
            <a:endParaRPr lang="en-US" sz="1536" dirty="0"/>
          </a:p>
        </p:txBody>
      </p:sp>
      <p:sp>
        <p:nvSpPr>
          <p:cNvPr id="15" name="Shape 13"/>
          <p:cNvSpPr/>
          <p:nvPr/>
        </p:nvSpPr>
        <p:spPr>
          <a:xfrm>
            <a:off x="3453110" y="3650010"/>
            <a:ext cx="1903809" cy="202704"/>
          </a:xfrm>
          <a:prstGeom prst="roundRect">
            <a:avLst>
              <a:gd name="adj" fmla="val 18796"/>
            </a:avLst>
          </a:prstGeom>
          <a:solidFill>
            <a:srgbClr val="16303F">
              <a:alpha val="7000"/>
            </a:srgbClr>
          </a:solidFill>
          <a:ln/>
        </p:spPr>
      </p:sp>
      <p:sp>
        <p:nvSpPr>
          <p:cNvPr id="16" name="Text 14"/>
          <p:cNvSpPr txBox="1"/>
          <p:nvPr/>
        </p:nvSpPr>
        <p:spPr>
          <a:xfrm>
            <a:off x="2438400" y="3641824"/>
            <a:ext cx="4167783"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same key,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Weather:TimeoutSeconds</a:t>
            </a:r>
            <a:pPr algn="l" indent="0" marL="0">
              <a:buNone/>
            </a:pPr>
            <a:r>
              <a:rPr lang="en-US" sz="1200" dirty="0">
                <a:solidFill>
                  <a:srgbClr val="44535A"/>
                </a:solidFill>
                <a:latin typeface="Manrope" pitchFamily="34" charset="0"/>
                <a:ea typeface="Manrope" pitchFamily="34" charset="-122"/>
                <a:cs typeface="Manrope" pitchFamily="34" charset="-120"/>
              </a:rPr>
              <a:t>, crosses all five.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0674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Why externalize configuration at all?</a:t>
            </a:r>
            <a:endParaRPr lang="en-US" sz="2820" dirty="0"/>
          </a:p>
        </p:txBody>
      </p:sp>
      <p:sp>
        <p:nvSpPr>
          <p:cNvPr id="4" name="Shape 2"/>
          <p:cNvSpPr/>
          <p:nvPr/>
        </p:nvSpPr>
        <p:spPr>
          <a:xfrm>
            <a:off x="457200" y="1109811"/>
            <a:ext cx="1580406"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No hard-coding</a:t>
            </a:r>
            <a:endParaRPr lang="en-US" sz="1260" dirty="0"/>
          </a:p>
        </p:txBody>
      </p:sp>
      <p:sp>
        <p:nvSpPr>
          <p:cNvPr id="7" name="Shape 5"/>
          <p:cNvSpPr/>
          <p:nvPr/>
        </p:nvSpPr>
        <p:spPr>
          <a:xfrm>
            <a:off x="2167086" y="1109811"/>
            <a:ext cx="1580406" cy="1249561"/>
          </a:xfrm>
          <a:prstGeom prst="roundRect">
            <a:avLst>
              <a:gd name="adj" fmla="val 7623"/>
            </a:avLst>
          </a:prstGeom>
          <a:solidFill>
            <a:srgbClr val="FFFFFF"/>
          </a:solidFill>
          <a:ln w="9525">
            <a:solidFill>
              <a:srgbClr val="DDD9D2"/>
            </a:solidFill>
            <a:prstDash val="solid"/>
          </a:ln>
        </p:spPr>
      </p:sp>
      <p:sp>
        <p:nvSpPr>
          <p:cNvPr id="8" name="Text 6"/>
          <p:cNvSpPr txBox="1"/>
          <p:nvPr/>
        </p:nvSpPr>
        <p:spPr>
          <a:xfrm>
            <a:off x="2351782"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9" name="Text 7"/>
          <p:cNvSpPr txBox="1"/>
          <p:nvPr/>
        </p:nvSpPr>
        <p:spPr>
          <a:xfrm>
            <a:off x="2351782"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Varies by environment</a:t>
            </a:r>
            <a:endParaRPr lang="en-US" sz="1260" dirty="0"/>
          </a:p>
        </p:txBody>
      </p:sp>
      <p:sp>
        <p:nvSpPr>
          <p:cNvPr id="10" name="Shape 8"/>
          <p:cNvSpPr/>
          <p:nvPr/>
        </p:nvSpPr>
        <p:spPr>
          <a:xfrm>
            <a:off x="3876973" y="1109811"/>
            <a:ext cx="1580406" cy="1249561"/>
          </a:xfrm>
          <a:prstGeom prst="roundRect">
            <a:avLst>
              <a:gd name="adj" fmla="val 7623"/>
            </a:avLst>
          </a:prstGeom>
          <a:solidFill>
            <a:srgbClr val="FFFFFF"/>
          </a:solidFill>
          <a:ln w="9525">
            <a:solidFill>
              <a:srgbClr val="DDD9D2"/>
            </a:solidFill>
            <a:prstDash val="solid"/>
          </a:ln>
        </p:spPr>
      </p:sp>
      <p:sp>
        <p:nvSpPr>
          <p:cNvPr id="11" name="Text 9"/>
          <p:cNvSpPr txBox="1"/>
          <p:nvPr/>
        </p:nvSpPr>
        <p:spPr>
          <a:xfrm>
            <a:off x="4061668"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2" name="Text 10"/>
          <p:cNvSpPr txBox="1"/>
          <p:nvPr/>
        </p:nvSpPr>
        <p:spPr>
          <a:xfrm>
            <a:off x="4061668" y="1549747"/>
            <a:ext cx="1230064" cy="414189"/>
          </a:xfrm>
          <a:prstGeom prst="rect">
            <a:avLst/>
          </a:prstGeom>
          <a:noFill/>
          <a:ln/>
        </p:spPr>
        <p:txBody>
          <a:bodyPr wrap="square" lIns="0" tIns="0" rIns="0" bIns="0" rtlCol="0" anchor="t"/>
          <a:lstStyle/>
          <a:p>
            <a:pPr algn="l" indent="0" marL="0">
              <a:lnSpc>
                <a:spcPts val="1536"/>
              </a:lnSpc>
              <a:buNone/>
            </a:pPr>
            <a:r>
              <a:rPr lang="en-US" sz="1260" b="1" dirty="0">
                <a:solidFill>
                  <a:srgbClr val="16303F"/>
                </a:solidFill>
                <a:latin typeface="Manrope" pitchFamily="34" charset="0"/>
                <a:ea typeface="Manrope" pitchFamily="34" charset="-122"/>
                <a:cs typeface="Manrope" pitchFamily="34" charset="-120"/>
              </a:rPr>
              <a:t>Change it on the fly</a:t>
            </a:r>
            <a:endParaRPr lang="en-US" sz="1260" dirty="0"/>
          </a:p>
        </p:txBody>
      </p:sp>
      <p:sp>
        <p:nvSpPr>
          <p:cNvPr id="13" name="Shape 11"/>
          <p:cNvSpPr/>
          <p:nvPr/>
        </p:nvSpPr>
        <p:spPr>
          <a:xfrm>
            <a:off x="5586859" y="1109811"/>
            <a:ext cx="1580406" cy="1249561"/>
          </a:xfrm>
          <a:prstGeom prst="roundRect">
            <a:avLst>
              <a:gd name="adj" fmla="val 7623"/>
            </a:avLst>
          </a:prstGeom>
          <a:solidFill>
            <a:srgbClr val="16303F"/>
          </a:solidFill>
          <a:ln w="9525">
            <a:solidFill>
              <a:srgbClr val="16303F"/>
            </a:solidFill>
            <a:prstDash val="solid"/>
          </a:ln>
        </p:spPr>
      </p:sp>
      <p:sp>
        <p:nvSpPr>
          <p:cNvPr id="14" name="Text 12"/>
          <p:cNvSpPr txBox="1"/>
          <p:nvPr/>
        </p:nvSpPr>
        <p:spPr>
          <a:xfrm>
            <a:off x="5771555"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04</a:t>
            </a:r>
            <a:endParaRPr lang="en-US" sz="1500" dirty="0"/>
          </a:p>
        </p:txBody>
      </p:sp>
      <p:sp>
        <p:nvSpPr>
          <p:cNvPr id="15" name="Text 13"/>
          <p:cNvSpPr txBox="1"/>
          <p:nvPr/>
        </p:nvSpPr>
        <p:spPr>
          <a:xfrm>
            <a:off x="5771555" y="1549747"/>
            <a:ext cx="529977"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Trust</a:t>
            </a:r>
            <a:endParaRPr lang="en-US" sz="1260" dirty="0"/>
          </a:p>
        </p:txBody>
      </p:sp>
      <p:sp>
        <p:nvSpPr>
          <p:cNvPr id="16" name="Shape 14"/>
          <p:cNvSpPr/>
          <p:nvPr/>
        </p:nvSpPr>
        <p:spPr>
          <a:xfrm>
            <a:off x="7296745" y="1109811"/>
            <a:ext cx="1580555" cy="1249561"/>
          </a:xfrm>
          <a:prstGeom prst="roundRect">
            <a:avLst>
              <a:gd name="adj" fmla="val 7623"/>
            </a:avLst>
          </a:prstGeom>
          <a:solidFill>
            <a:srgbClr val="16303F"/>
          </a:solidFill>
          <a:ln w="9525">
            <a:solidFill>
              <a:srgbClr val="16303F"/>
            </a:solidFill>
            <a:prstDash val="solid"/>
          </a:ln>
        </p:spPr>
      </p:sp>
      <p:sp>
        <p:nvSpPr>
          <p:cNvPr id="17" name="Text 15"/>
          <p:cNvSpPr txBox="1"/>
          <p:nvPr/>
        </p:nvSpPr>
        <p:spPr>
          <a:xfrm>
            <a:off x="7481441" y="1258342"/>
            <a:ext cx="342900" cy="247650"/>
          </a:xfrm>
          <a:prstGeom prst="rect">
            <a:avLst/>
          </a:prstGeom>
          <a:noFill/>
          <a:ln/>
        </p:spPr>
        <p:txBody>
          <a:bodyPr wrap="none" lIns="0" tIns="0" rIns="0" bIns="0" rtlCol="0" anchor="t"/>
          <a:lstStyle/>
          <a:p>
            <a:pPr algn="l" indent="0" marL="0">
              <a:buNone/>
            </a:pPr>
            <a:r>
              <a:rPr lang="en-US" sz="1500" b="1" dirty="0">
                <a:solidFill>
                  <a:srgbClr val="F4C233"/>
                </a:solidFill>
                <a:latin typeface="JetBrains Mono" pitchFamily="34" charset="0"/>
                <a:ea typeface="JetBrains Mono" pitchFamily="34" charset="-122"/>
                <a:cs typeface="JetBrains Mono" pitchFamily="34" charset="-120"/>
              </a:rPr>
              <a:t>05</a:t>
            </a:r>
            <a:endParaRPr lang="en-US" sz="1500" dirty="0"/>
          </a:p>
        </p:txBody>
      </p:sp>
      <p:sp>
        <p:nvSpPr>
          <p:cNvPr id="18" name="Text 16"/>
          <p:cNvSpPr txBox="1"/>
          <p:nvPr/>
        </p:nvSpPr>
        <p:spPr>
          <a:xfrm>
            <a:off x="7481441" y="1549747"/>
            <a:ext cx="962174" cy="219075"/>
          </a:xfrm>
          <a:prstGeom prst="rect">
            <a:avLst/>
          </a:prstGeom>
          <a:noFill/>
          <a:ln/>
        </p:spPr>
        <p:txBody>
          <a:bodyPr wrap="none" lIns="0" tIns="0" rIns="0" bIns="0" rtlCol="0" anchor="t"/>
          <a:lstStyle/>
          <a:p>
            <a:pPr algn="l" indent="0" marL="0">
              <a:buNone/>
            </a:pPr>
            <a:r>
              <a:rPr lang="en-US" sz="1260" b="1" dirty="0">
                <a:solidFill>
                  <a:srgbClr val="F7F6F3"/>
                </a:solidFill>
                <a:latin typeface="Manrope" pitchFamily="34" charset="0"/>
                <a:ea typeface="Manrope" pitchFamily="34" charset="-122"/>
                <a:cs typeface="Manrope" pitchFamily="34" charset="-120"/>
              </a:rPr>
              <a:t>Ownership</a:t>
            </a:r>
            <a:endParaRPr lang="en-US" sz="1260" dirty="0"/>
          </a:p>
        </p:txBody>
      </p:sp>
      <p:sp>
        <p:nvSpPr>
          <p:cNvPr id="19" name="Text 17"/>
          <p:cNvSpPr txBox="1"/>
          <p:nvPr/>
        </p:nvSpPr>
        <p:spPr>
          <a:xfrm>
            <a:off x="457200" y="2635597"/>
            <a:ext cx="300543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04 and 05 are why this talk exists in 2026.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661839"/>
            <a:ext cx="523383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same problem, three generations</a:t>
            </a:r>
            <a:endParaRPr lang="en-US" sz="2280" dirty="0"/>
          </a:p>
        </p:txBody>
      </p:sp>
      <p:sp>
        <p:nvSpPr>
          <p:cNvPr id="4" name="Shape 2"/>
          <p:cNvSpPr/>
          <p:nvPr/>
        </p:nvSpPr>
        <p:spPr>
          <a:xfrm>
            <a:off x="628650" y="1330672"/>
            <a:ext cx="8077200" cy="3067050"/>
          </a:xfrm>
          <a:prstGeom prst="roundRect">
            <a:avLst>
              <a:gd name="adj" fmla="val 1242"/>
            </a:avLst>
          </a:prstGeom>
          <a:solidFill>
            <a:srgbClr val="011627"/>
          </a:solidFill>
          <a:ln/>
        </p:spPr>
      </p:sp>
      <p:sp>
        <p:nvSpPr>
          <p:cNvPr id="5" name="Text 3"/>
          <p:cNvSpPr txBox="1"/>
          <p:nvPr/>
        </p:nvSpPr>
        <p:spPr>
          <a:xfrm>
            <a:off x="704850" y="1416397"/>
            <a:ext cx="7943850" cy="2881313"/>
          </a:xfrm>
          <a:prstGeom prst="rect">
            <a:avLst/>
          </a:prstGeom>
          <a:noFill/>
          <a:ln/>
        </p:spPr>
        <p:txBody>
          <a:bodyPr wrap="square" lIns="0" tIns="0" rIns="0" bIns="0" rtlCol="0" anchor="t"/>
          <a:lstStyle/>
          <a:p>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2002</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DEBUG</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localhost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else</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Db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sql-prod-01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endif</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2005</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ConfigurationManager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AppSettings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2018</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GetConnectionString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Default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164259"/>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We traded a build-time decision for a runtime one.</a:t>
            </a:r>
            <a:endParaRPr lang="en-US" sz="25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two environments need different answers, it’s configuration.</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If behaviour must change without shipping, it’s a flag.</a:t>
            </a:r>
            <a:endParaRPr lang="en-US" sz="25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1686371"/>
            <a:ext cx="1230511"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THE JOURNEY</a:t>
            </a:r>
            <a:endParaRPr lang="en-US" sz="936" dirty="0"/>
          </a:p>
        </p:txBody>
      </p:sp>
      <p:sp>
        <p:nvSpPr>
          <p:cNvPr id="4" name="Text 2"/>
          <p:cNvSpPr txBox="1"/>
          <p:nvPr/>
        </p:nvSpPr>
        <p:spPr>
          <a:xfrm>
            <a:off x="609600" y="1944588"/>
            <a:ext cx="7506146"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application. Four places it has to run.</a:t>
            </a:r>
            <a:endParaRPr lang="en-US" sz="3000" dirty="0"/>
          </a:p>
        </p:txBody>
      </p:sp>
      <p:sp>
        <p:nvSpPr>
          <p:cNvPr id="5" name="Text 3"/>
          <p:cNvSpPr txBox="1"/>
          <p:nvPr/>
        </p:nvSpPr>
        <p:spPr>
          <a:xfrm>
            <a:off x="609600" y="2590354"/>
            <a:ext cx="5330130" cy="209550"/>
          </a:xfrm>
          <a:prstGeom prst="rect">
            <a:avLst/>
          </a:prstGeom>
          <a:noFill/>
          <a:ln/>
        </p:spPr>
        <p:txBody>
          <a:bodyPr wrap="none" lIns="0" tIns="0" rIns="0" bIns="0" rtlCol="0" anchor="t"/>
          <a:lstStyle/>
          <a:p>
            <a:pPr algn="l" indent="0" marL="0">
              <a:buNone/>
            </a:pPr>
            <a:r>
              <a:rPr lang="en-US" sz="1200" b="1" dirty="0">
                <a:solidFill>
                  <a:srgbClr val="F7F6F3"/>
                </a:solidFill>
                <a:latin typeface="Manrope" pitchFamily="34" charset="0"/>
                <a:ea typeface="Manrope" pitchFamily="34" charset="-122"/>
                <a:cs typeface="Manrope" pitchFamily="34" charset="-120"/>
              </a:rPr>
              <a:t>the team’s baseline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my machine</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a shared dev server</a:t>
            </a:r>
            <a:pPr algn="l" indent="0" marL="0">
              <a:buNone/>
            </a:pPr>
            <a:r>
              <a:rPr lang="en-US" sz="1200" dirty="0">
                <a:solidFill>
                  <a:srgbClr val="C7D0D4"/>
                </a:solidFill>
                <a:latin typeface="Manrope" pitchFamily="34" charset="0"/>
                <a:ea typeface="Manrope" pitchFamily="34" charset="-122"/>
                <a:cs typeface="Manrope" pitchFamily="34" charset="-120"/>
              </a:rPr>
              <a:t> → </a:t>
            </a:r>
            <a:pPr algn="l" indent="0" marL="0">
              <a:buNone/>
            </a:pPr>
            <a:r>
              <a:rPr lang="en-US" sz="1200" b="1" dirty="0">
                <a:solidFill>
                  <a:srgbClr val="F7F6F3"/>
                </a:solidFill>
                <a:latin typeface="Manrope" pitchFamily="34" charset="0"/>
                <a:ea typeface="Manrope" pitchFamily="34" charset="-122"/>
                <a:cs typeface="Manrope" pitchFamily="34" charset="-120"/>
              </a:rPr>
              <a:t>production</a:t>
            </a:r>
            <a:endParaRPr lang="en-US" sz="1200" dirty="0"/>
          </a:p>
        </p:txBody>
      </p:sp>
      <p:sp>
        <p:nvSpPr>
          <p:cNvPr id="6" name="Text 4"/>
          <p:cNvSpPr txBox="1"/>
          <p:nvPr/>
        </p:nvSpPr>
        <p:spPr>
          <a:xfrm>
            <a:off x="609600" y="2971354"/>
            <a:ext cx="7943850" cy="438150"/>
          </a:xfrm>
          <a:prstGeom prst="rect">
            <a:avLst/>
          </a:prstGeom>
          <a:noFill/>
          <a:ln/>
        </p:spPr>
        <p:txBody>
          <a:bodyPr wrap="square" lIns="0" tIns="0" rIns="0" bIns="0" rtlCol="0" anchor="t"/>
          <a:lstStyle/>
          <a:p>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Each boundary changes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who supplies the value</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and </a:t>
            </a:r>
            <a:pPr algn="l" indent="0" marL="0">
              <a:lnSpc>
                <a:spcPts val="1800"/>
              </a:lnSpc>
              <a:buNone/>
            </a:pPr>
            <a:r>
              <a:rPr lang="en-US" sz="1200" i="1" dirty="0">
                <a:solidFill>
                  <a:srgbClr val="C7D0D4"/>
                </a:solidFill>
                <a:latin typeface="Manrope" pitchFamily="34" charset="0"/>
                <a:ea typeface="Manrope" pitchFamily="34" charset="-122"/>
                <a:cs typeface="Manrope" pitchFamily="34" charset="-120"/>
              </a:rPr>
              <a:t>what it costs to get it wrong</a:t>
            </a:r>
            <a:pPr algn="l" indent="0" marL="0">
              <a:lnSpc>
                <a:spcPts val="1800"/>
              </a:lnSpc>
              <a:buNone/>
            </a:pPr>
            <a:r>
              <a:rPr lang="en-US" sz="1200" dirty="0">
                <a:solidFill>
                  <a:srgbClr val="C7D0D4"/>
                </a:solidFill>
                <a:latin typeface="Manrope" pitchFamily="34" charset="0"/>
                <a:ea typeface="Manrope" pitchFamily="34" charset="-122"/>
                <a:cs typeface="Manrope" pitchFamily="34" charset="-120"/>
              </a:rPr>
              <a:t>. The application does not change — only the answer to “where did this come from?” does.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51864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When config breaks, I check four things first</a:t>
            </a:r>
            <a:endParaRPr lang="en-US" sz="2820" dirty="0"/>
          </a:p>
        </p:txBody>
      </p:sp>
      <p:sp>
        <p:nvSpPr>
          <p:cNvPr id="4" name="Shape 2"/>
          <p:cNvSpPr/>
          <p:nvPr/>
        </p:nvSpPr>
        <p:spPr>
          <a:xfrm>
            <a:off x="457200" y="1109811"/>
            <a:ext cx="4145310" cy="1249561"/>
          </a:xfrm>
          <a:prstGeom prst="roundRect">
            <a:avLst>
              <a:gd name="adj" fmla="val 7623"/>
            </a:avLst>
          </a:prstGeom>
          <a:solidFill>
            <a:srgbClr val="FFFFFF"/>
          </a:solidFill>
          <a:ln w="9525">
            <a:solidFill>
              <a:srgbClr val="DDD9D2"/>
            </a:solidFill>
            <a:prstDash val="solid"/>
          </a:ln>
        </p:spPr>
      </p:sp>
      <p:sp>
        <p:nvSpPr>
          <p:cNvPr id="5" name="Text 3"/>
          <p:cNvSpPr txBox="1"/>
          <p:nvPr/>
        </p:nvSpPr>
        <p:spPr>
          <a:xfrm>
            <a:off x="64189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01</a:t>
            </a:r>
            <a:endParaRPr lang="en-US" sz="1500" dirty="0"/>
          </a:p>
        </p:txBody>
      </p:sp>
      <p:sp>
        <p:nvSpPr>
          <p:cNvPr id="6" name="Text 4"/>
          <p:cNvSpPr txBox="1"/>
          <p:nvPr/>
        </p:nvSpPr>
        <p:spPr>
          <a:xfrm>
            <a:off x="641896" y="1549747"/>
            <a:ext cx="657820"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ORDER</a:t>
            </a:r>
            <a:endParaRPr lang="en-US" sz="1260" dirty="0"/>
          </a:p>
        </p:txBody>
      </p:sp>
      <p:sp>
        <p:nvSpPr>
          <p:cNvPr id="7" name="Text 5"/>
          <p:cNvSpPr txBox="1"/>
          <p:nvPr/>
        </p:nvSpPr>
        <p:spPr>
          <a:xfrm>
            <a:off x="641896" y="1832372"/>
            <a:ext cx="2411164"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provider you forgot about is winning.</a:t>
            </a:r>
            <a:endParaRPr lang="en-US" sz="1032" dirty="0"/>
          </a:p>
        </p:txBody>
      </p:sp>
      <p:sp>
        <p:nvSpPr>
          <p:cNvPr id="8" name="Shape 6"/>
          <p:cNvSpPr/>
          <p:nvPr/>
        </p:nvSpPr>
        <p:spPr>
          <a:xfrm>
            <a:off x="4731990" y="1109811"/>
            <a:ext cx="4145310" cy="1249561"/>
          </a:xfrm>
          <a:prstGeom prst="roundRect">
            <a:avLst>
              <a:gd name="adj" fmla="val 7623"/>
            </a:avLst>
          </a:prstGeom>
          <a:solidFill>
            <a:srgbClr val="FFFFFF"/>
          </a:solidFill>
          <a:ln w="9525">
            <a:solidFill>
              <a:srgbClr val="DDD9D2"/>
            </a:solidFill>
            <a:prstDash val="solid"/>
          </a:ln>
        </p:spPr>
      </p:sp>
      <p:sp>
        <p:nvSpPr>
          <p:cNvPr id="9" name="Text 7"/>
          <p:cNvSpPr txBox="1"/>
          <p:nvPr/>
        </p:nvSpPr>
        <p:spPr>
          <a:xfrm>
            <a:off x="4916686" y="1258342"/>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02</a:t>
            </a:r>
            <a:endParaRPr lang="en-US" sz="1500" dirty="0"/>
          </a:p>
        </p:txBody>
      </p:sp>
      <p:sp>
        <p:nvSpPr>
          <p:cNvPr id="10" name="Text 8"/>
          <p:cNvSpPr txBox="1"/>
          <p:nvPr/>
        </p:nvSpPr>
        <p:spPr>
          <a:xfrm>
            <a:off x="4916686" y="1549747"/>
            <a:ext cx="64665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SHAPE</a:t>
            </a:r>
            <a:endParaRPr lang="en-US" sz="1260" dirty="0"/>
          </a:p>
        </p:txBody>
      </p:sp>
      <p:sp>
        <p:nvSpPr>
          <p:cNvPr id="11" name="Text 9"/>
          <p:cNvSpPr txBox="1"/>
          <p:nvPr/>
        </p:nvSpPr>
        <p:spPr>
          <a:xfrm>
            <a:off x="4916686" y="1832372"/>
            <a:ext cx="3740348"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The key you set doesn't produce the key the binder looks for.</a:t>
            </a:r>
            <a:endParaRPr lang="en-US" sz="1032" dirty="0"/>
          </a:p>
        </p:txBody>
      </p:sp>
      <p:sp>
        <p:nvSpPr>
          <p:cNvPr id="12" name="Shape 10"/>
          <p:cNvSpPr/>
          <p:nvPr/>
        </p:nvSpPr>
        <p:spPr>
          <a:xfrm>
            <a:off x="457200" y="2488853"/>
            <a:ext cx="4145310" cy="1302693"/>
          </a:xfrm>
          <a:prstGeom prst="roundRect">
            <a:avLst>
              <a:gd name="adj" fmla="val 7312"/>
            </a:avLst>
          </a:prstGeom>
          <a:solidFill>
            <a:srgbClr val="FFFFFF"/>
          </a:solidFill>
          <a:ln w="9525">
            <a:solidFill>
              <a:srgbClr val="DDD9D2"/>
            </a:solidFill>
            <a:prstDash val="solid"/>
          </a:ln>
        </p:spPr>
      </p:sp>
      <p:sp>
        <p:nvSpPr>
          <p:cNvPr id="13" name="Text 11"/>
          <p:cNvSpPr txBox="1"/>
          <p:nvPr/>
        </p:nvSpPr>
        <p:spPr>
          <a:xfrm>
            <a:off x="64189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03</a:t>
            </a:r>
            <a:endParaRPr lang="en-US" sz="1500" dirty="0"/>
          </a:p>
        </p:txBody>
      </p:sp>
      <p:sp>
        <p:nvSpPr>
          <p:cNvPr id="14" name="Text 12"/>
          <p:cNvSpPr txBox="1"/>
          <p:nvPr/>
        </p:nvSpPr>
        <p:spPr>
          <a:xfrm>
            <a:off x="641896" y="2928789"/>
            <a:ext cx="80411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LIFETIME</a:t>
            </a:r>
            <a:endParaRPr lang="en-US" sz="1260" dirty="0"/>
          </a:p>
        </p:txBody>
      </p:sp>
      <p:sp>
        <p:nvSpPr>
          <p:cNvPr id="15" name="Text 13"/>
          <p:cNvSpPr txBox="1"/>
          <p:nvPr/>
        </p:nvSpPr>
        <p:spPr>
          <a:xfrm>
            <a:off x="641896" y="3211413"/>
            <a:ext cx="3794968" cy="371029"/>
          </a:xfrm>
          <a:prstGeom prst="rect">
            <a:avLst/>
          </a:prstGeom>
          <a:noFill/>
          <a:ln/>
        </p:spPr>
        <p:txBody>
          <a:bodyPr wrap="square" lIns="0" tIns="0" rIns="0" bIns="0" rtlCol="0" anchor="t"/>
          <a:lstStyle/>
          <a:p>
            <a:pPr algn="l" indent="0" marL="0">
              <a:lnSpc>
                <a:spcPts val="1496"/>
              </a:lnSpc>
              <a:buNone/>
            </a:pPr>
            <a:r>
              <a:rPr lang="en-US" sz="1032" dirty="0">
                <a:solidFill>
                  <a:srgbClr val="44535A"/>
                </a:solidFill>
                <a:latin typeface="Manrope" pitchFamily="34" charset="0"/>
                <a:ea typeface="Manrope" pitchFamily="34" charset="-122"/>
                <a:cs typeface="Manrope" pitchFamily="34" charset="-120"/>
              </a:rPr>
              <a:t>You cached a value that was supposed to change — or vice versa.</a:t>
            </a:r>
            <a:endParaRPr lang="en-US" sz="1032" dirty="0"/>
          </a:p>
        </p:txBody>
      </p:sp>
      <p:sp>
        <p:nvSpPr>
          <p:cNvPr id="16" name="Shape 14"/>
          <p:cNvSpPr/>
          <p:nvPr/>
        </p:nvSpPr>
        <p:spPr>
          <a:xfrm>
            <a:off x="4731990" y="2488853"/>
            <a:ext cx="4145310" cy="1302693"/>
          </a:xfrm>
          <a:prstGeom prst="roundRect">
            <a:avLst>
              <a:gd name="adj" fmla="val 7312"/>
            </a:avLst>
          </a:prstGeom>
          <a:solidFill>
            <a:srgbClr val="FFFFFF"/>
          </a:solidFill>
          <a:ln w="9525">
            <a:solidFill>
              <a:srgbClr val="DDD9D2"/>
            </a:solidFill>
            <a:prstDash val="solid"/>
          </a:ln>
        </p:spPr>
      </p:sp>
      <p:sp>
        <p:nvSpPr>
          <p:cNvPr id="17" name="Text 15"/>
          <p:cNvSpPr txBox="1"/>
          <p:nvPr/>
        </p:nvSpPr>
        <p:spPr>
          <a:xfrm>
            <a:off x="4916686" y="2637383"/>
            <a:ext cx="342900" cy="247650"/>
          </a:xfrm>
          <a:prstGeom prst="rect">
            <a:avLst/>
          </a:prstGeom>
          <a:noFill/>
          <a:ln/>
        </p:spPr>
        <p:txBody>
          <a:bodyPr wrap="none" lIns="0" tIns="0" rIns="0" bIns="0" rtlCol="0" anchor="t"/>
          <a:lstStyle/>
          <a:p>
            <a:pPr algn="l" indent="0" marL="0">
              <a:buNone/>
            </a:pPr>
            <a:r>
              <a:rPr lang="en-US" sz="1500" b="1" dirty="0">
                <a:solidFill>
                  <a:srgbClr val="44535A"/>
                </a:solidFill>
                <a:latin typeface="JetBrains Mono" pitchFamily="34" charset="0"/>
                <a:ea typeface="JetBrains Mono" pitchFamily="34" charset="-122"/>
                <a:cs typeface="JetBrains Mono" pitchFamily="34" charset="-120"/>
              </a:rPr>
              <a:t>04</a:t>
            </a:r>
            <a:endParaRPr lang="en-US" sz="1500" dirty="0"/>
          </a:p>
        </p:txBody>
      </p:sp>
      <p:sp>
        <p:nvSpPr>
          <p:cNvPr id="18" name="Text 16"/>
          <p:cNvSpPr txBox="1"/>
          <p:nvPr/>
        </p:nvSpPr>
        <p:spPr>
          <a:xfrm>
            <a:off x="4916686" y="2928789"/>
            <a:ext cx="635198" cy="219075"/>
          </a:xfrm>
          <a:prstGeom prst="rect">
            <a:avLst/>
          </a:prstGeom>
          <a:noFill/>
          <a:ln/>
        </p:spPr>
        <p:txBody>
          <a:bodyPr wrap="none" lIns="0" tIns="0" rIns="0" bIns="0" rtlCol="0" anchor="t"/>
          <a:lstStyle/>
          <a:p>
            <a:pPr algn="l" indent="0" marL="0">
              <a:buNone/>
            </a:pPr>
            <a:r>
              <a:rPr lang="en-US" sz="1260" b="1" dirty="0">
                <a:solidFill>
                  <a:srgbClr val="16303F"/>
                </a:solidFill>
                <a:latin typeface="Manrope" pitchFamily="34" charset="0"/>
                <a:ea typeface="Manrope" pitchFamily="34" charset="-122"/>
                <a:cs typeface="Manrope" pitchFamily="34" charset="-120"/>
              </a:rPr>
              <a:t>TRUST</a:t>
            </a:r>
            <a:endParaRPr lang="en-US" sz="1260" dirty="0"/>
          </a:p>
        </p:txBody>
      </p:sp>
      <p:sp>
        <p:nvSpPr>
          <p:cNvPr id="19" name="Text 17"/>
          <p:cNvSpPr txBox="1"/>
          <p:nvPr/>
        </p:nvSpPr>
        <p:spPr>
          <a:xfrm>
            <a:off x="4916686" y="3211413"/>
            <a:ext cx="3034010" cy="180975"/>
          </a:xfrm>
          <a:prstGeom prst="rect">
            <a:avLst/>
          </a:prstGeom>
          <a:noFill/>
          <a:ln/>
        </p:spPr>
        <p:txBody>
          <a:bodyPr wrap="none" lIns="0" tIns="0" rIns="0" bIns="0" rtlCol="0" anchor="t"/>
          <a:lstStyle/>
          <a:p>
            <a:pPr algn="l" indent="0" marL="0">
              <a:buNone/>
            </a:pPr>
            <a:r>
              <a:rPr lang="en-US" sz="1032" dirty="0">
                <a:solidFill>
                  <a:srgbClr val="44535A"/>
                </a:solidFill>
                <a:latin typeface="Manrope" pitchFamily="34" charset="0"/>
                <a:ea typeface="Manrope" pitchFamily="34" charset="-122"/>
                <a:cs typeface="Manrope" pitchFamily="34" charset="-120"/>
              </a:rPr>
              <a:t>A secret is sitting in a file that ships with the app.</a:t>
            </a:r>
            <a:endParaRPr lang="en-US" sz="1032"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2600176"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1 · THE SHARED BASELINE</a:t>
            </a:r>
            <a:endParaRPr lang="en-US" sz="936" dirty="0"/>
          </a:p>
        </p:txBody>
      </p:sp>
      <p:sp>
        <p:nvSpPr>
          <p:cNvPr id="4" name="Shape 2"/>
          <p:cNvSpPr/>
          <p:nvPr/>
        </p:nvSpPr>
        <p:spPr>
          <a:xfrm>
            <a:off x="609600" y="2340769"/>
            <a:ext cx="3284339" cy="495300"/>
          </a:xfrm>
          <a:prstGeom prst="roundRect">
            <a:avLst>
              <a:gd name="adj" fmla="val 7692"/>
            </a:avLst>
          </a:prstGeom>
          <a:solidFill>
            <a:srgbClr val="F7F6F3">
              <a:alpha val="16000"/>
            </a:srgbClr>
          </a:solidFill>
          <a:ln/>
        </p:spPr>
      </p:sp>
      <p:sp>
        <p:nvSpPr>
          <p:cNvPr id="5" name="Text 3"/>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appsettings.json</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is a team decision, and it ships with the app.</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379109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It’s one flat dictionary</a:t>
            </a:r>
            <a:endParaRPr lang="en-US" sz="2820" dirty="0"/>
          </a:p>
        </p:txBody>
      </p:sp>
      <p:sp>
        <p:nvSpPr>
          <p:cNvPr id="4" name="Text 2"/>
          <p:cNvSpPr txBox="1"/>
          <p:nvPr/>
        </p:nvSpPr>
        <p:spPr>
          <a:xfrm>
            <a:off x="304800" y="1071711"/>
            <a:ext cx="12104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WHAT YOU WROTE</a:t>
            </a:r>
            <a:endParaRPr lang="en-US" sz="768" dirty="0"/>
          </a:p>
        </p:txBody>
      </p:sp>
      <p:sp>
        <p:nvSpPr>
          <p:cNvPr id="5" name="Shape 3"/>
          <p:cNvSpPr/>
          <p:nvPr/>
        </p:nvSpPr>
        <p:spPr>
          <a:xfrm>
            <a:off x="304800" y="1313855"/>
            <a:ext cx="4103340" cy="1866900"/>
          </a:xfrm>
          <a:prstGeom prst="roundRect">
            <a:avLst>
              <a:gd name="adj" fmla="val 2041"/>
            </a:avLst>
          </a:prstGeom>
          <a:solidFill>
            <a:srgbClr val="011627"/>
          </a:solidFill>
          <a:ln/>
        </p:spPr>
      </p:sp>
      <p:sp>
        <p:nvSpPr>
          <p:cNvPr id="6" name="Text 4"/>
          <p:cNvSpPr txBox="1"/>
          <p:nvPr/>
        </p:nvSpPr>
        <p:spPr>
          <a:xfrm>
            <a:off x="381000" y="1409105"/>
            <a:ext cx="3969990" cy="1676400"/>
          </a:xfrm>
          <a:prstGeom prst="rect">
            <a:avLst/>
          </a:prstGeom>
          <a:noFill/>
          <a:ln/>
        </p:spPr>
        <p:txBody>
          <a:bodyPr wrap="square" lIns="0" tIns="0" rIns="0" bIns="0" rtlCol="0" anchor="t"/>
          <a:lstStyle/>
          <a:p>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"Weather"</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placeholder-set-a-real-one-with-user-secrets</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"ConnectionStrings"</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840" dirty="0">
                <a:solidFill>
                  <a:srgbClr val="7FDBCA"/>
                </a:solidFill>
                <a:latin typeface="JetBrains Mono" pitchFamily="34" charset="0"/>
                <a:ea typeface="JetBrains Mono" pitchFamily="34" charset="-122"/>
                <a:cs typeface="JetBrains Mono" pitchFamily="34" charset="-120"/>
              </a:rPr>
              <a:t>"Default"</a:t>
            </a: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840" dirty="0">
                <a:solidFill>
                  <a:srgbClr val="C789D6"/>
                </a:solidFill>
                <a:latin typeface="JetBrains Mono" pitchFamily="34" charset="0"/>
                <a:ea typeface="JetBrains Mono" pitchFamily="34" charset="-122"/>
                <a:cs typeface="JetBrains Mono" pitchFamily="34" charset="-120"/>
              </a:rPr>
              <a:t>Server=localhost;Database=Demo;...</a:t>
            </a:r>
            <a:pPr algn="l" indent="0" marL="0">
              <a:lnSpc>
                <a:spcPts val="1350"/>
              </a:lnSpc>
              <a:buNone/>
            </a:pPr>
            <a:r>
              <a:rPr lang="en-US" sz="840"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a:t>
            </a:r>
            <a:endParaRPr lang="en-US" sz="840" dirty="0"/>
          </a:p>
        </p:txBody>
      </p:sp>
      <p:sp>
        <p:nvSpPr>
          <p:cNvPr id="7" name="Text 5"/>
          <p:cNvSpPr txBox="1"/>
          <p:nvPr/>
        </p:nvSpPr>
        <p:spPr>
          <a:xfrm>
            <a:off x="4926211" y="1071711"/>
            <a:ext cx="1578025"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ACTUALLY EXISTS</a:t>
            </a:r>
            <a:endParaRPr lang="en-US" sz="768" dirty="0"/>
          </a:p>
        </p:txBody>
      </p:sp>
      <p:sp>
        <p:nvSpPr>
          <p:cNvPr id="8" name="Shape 6"/>
          <p:cNvSpPr/>
          <p:nvPr/>
        </p:nvSpPr>
        <p:spPr>
          <a:xfrm>
            <a:off x="4926211" y="1313855"/>
            <a:ext cx="4103489" cy="838200"/>
          </a:xfrm>
          <a:prstGeom prst="roundRect">
            <a:avLst>
              <a:gd name="adj" fmla="val 4545"/>
            </a:avLst>
          </a:prstGeom>
          <a:solidFill>
            <a:srgbClr val="011627"/>
          </a:solidFill>
          <a:ln/>
        </p:spPr>
      </p:sp>
      <p:sp>
        <p:nvSpPr>
          <p:cNvPr id="9" name="Text 7"/>
          <p:cNvSpPr txBox="1"/>
          <p:nvPr/>
        </p:nvSpPr>
        <p:spPr>
          <a:xfrm>
            <a:off x="5002411" y="1409105"/>
            <a:ext cx="3970139" cy="647700"/>
          </a:xfrm>
          <a:prstGeom prst="rect">
            <a:avLst/>
          </a:prstGeom>
          <a:noFill/>
          <a:ln/>
        </p:spPr>
        <p:txBody>
          <a:bodyPr wrap="square" lIns="0" tIns="0" rIns="0" bIns="0" rtlCol="0" anchor="t"/>
          <a:lstStyle/>
          <a:p>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Weather:ApiBaseUrl         "https://api.example.com"</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Weather:TimeoutSeconds     "30"</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Weather:ApiKey             "placeholder-set-a-real-..."</a:t>
            </a:r>
            <a:br/>
            <a:pPr algn="l" indent="0" marL="0">
              <a:lnSpc>
                <a:spcPts val="1350"/>
              </a:lnSpc>
              <a:buNone/>
            </a:pPr>
            <a:r>
              <a:rPr lang="en-US" sz="840" dirty="0">
                <a:solidFill>
                  <a:srgbClr val="D6DEEB"/>
                </a:solidFill>
                <a:latin typeface="JetBrains Mono" pitchFamily="34" charset="0"/>
                <a:ea typeface="JetBrains Mono" pitchFamily="34" charset="-122"/>
                <a:cs typeface="JetBrains Mono" pitchFamily="34" charset="-120"/>
              </a:rPr>
              <a:t>ConnectionStrings:Default  "Server=localhost;Database=..."</a:t>
            </a:r>
            <a:endParaRPr lang="en-US" sz="840" dirty="0"/>
          </a:p>
        </p:txBody>
      </p:sp>
      <p:pic>
        <p:nvPicPr>
          <p:cNvPr id="10" name="Image 0" descr="Rendered as an image because of CSS transform">    </p:cNvPr>
          <p:cNvPicPr>
            <a:picLocks noChangeAspect="1"/>
          </p:cNvPicPr>
          <p:nvPr/>
        </p:nvPicPr>
        <p:blipFill>
          <a:blip r:embed="rId1"/>
          <a:stretch>
            <a:fillRect/>
          </a:stretch>
        </p:blipFill>
        <p:spPr>
          <a:xfrm>
            <a:off x="4469160" y="2095723"/>
            <a:ext cx="396180" cy="989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2359372"/>
            <a:ext cx="4317355" cy="438150"/>
          </a:xfrm>
          <a:prstGeom prst="rect">
            <a:avLst/>
          </a:prstGeom>
          <a:noFill/>
          <a:ln/>
        </p:spPr>
        <p:txBody>
          <a:bodyPr wrap="none" lIns="0" tIns="0" rIns="0" bIns="0" rtlCol="0" anchor="t"/>
          <a:lstStyle/>
          <a:p>
            <a:pPr algn="l" indent="0" marL="0">
              <a:buNone/>
            </a:pPr>
            <a:r>
              <a:rPr lang="en-US" sz="2520" b="1" spc="-50" kern="0" dirty="0">
                <a:solidFill>
                  <a:srgbClr val="16303F"/>
                </a:solidFill>
                <a:latin typeface="Manrope" pitchFamily="34" charset="0"/>
                <a:ea typeface="Manrope" pitchFamily="34" charset="-122"/>
                <a:cs typeface="Manrope" pitchFamily="34" charset="-120"/>
              </a:rPr>
              <a:t>Every scalar is text — or null.</a:t>
            </a:r>
            <a:endParaRPr lang="en-US" sz="25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87380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Arrays overlay. They don’t replace.</a:t>
            </a:r>
            <a:endParaRPr lang="en-US" sz="2820" dirty="0"/>
          </a:p>
        </p:txBody>
      </p:sp>
      <p:sp>
        <p:nvSpPr>
          <p:cNvPr id="4" name="Text 2"/>
          <p:cNvSpPr txBox="1"/>
          <p:nvPr/>
        </p:nvSpPr>
        <p:spPr>
          <a:xfrm>
            <a:off x="304800" y="1071711"/>
            <a:ext cx="2300436"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THE TWO FILES, AND WHAT YOU GET</a:t>
            </a:r>
            <a:endParaRPr lang="en-US" sz="768" dirty="0"/>
          </a:p>
        </p:txBody>
      </p:sp>
      <p:sp>
        <p:nvSpPr>
          <p:cNvPr id="5" name="Shape 3"/>
          <p:cNvSpPr/>
          <p:nvPr/>
        </p:nvSpPr>
        <p:spPr>
          <a:xfrm>
            <a:off x="304800" y="1313855"/>
            <a:ext cx="8724900" cy="1009650"/>
          </a:xfrm>
          <a:prstGeom prst="roundRect">
            <a:avLst>
              <a:gd name="adj" fmla="val 3774"/>
            </a:avLst>
          </a:prstGeom>
          <a:solidFill>
            <a:srgbClr val="011627"/>
          </a:solidFill>
          <a:ln/>
        </p:spPr>
      </p:sp>
      <p:sp>
        <p:nvSpPr>
          <p:cNvPr id="6" name="Text 4"/>
          <p:cNvSpPr txBox="1"/>
          <p:nvPr/>
        </p:nvSpPr>
        <p:spPr>
          <a:xfrm>
            <a:off x="381000" y="1399580"/>
            <a:ext cx="8591550" cy="833437"/>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appsettings.json               a, b, c</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appsettings.Development.json   x</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WHAT YOUR APP BINDS            x, b, c</a:t>
            </a:r>
            <a:endParaRPr lang="en-US" sz="1125" dirty="0"/>
          </a:p>
        </p:txBody>
      </p:sp>
      <p:sp>
        <p:nvSpPr>
          <p:cNvPr id="7" name="Text 5"/>
          <p:cNvSpPr txBox="1"/>
          <p:nvPr/>
        </p:nvSpPr>
        <p:spPr>
          <a:xfrm>
            <a:off x="304800" y="2491085"/>
            <a:ext cx="2376636"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BECAUSE ARRAY ELEMENTS ARE KEYS</a:t>
            </a:r>
            <a:endParaRPr lang="en-US" sz="768" dirty="0"/>
          </a:p>
        </p:txBody>
      </p:sp>
      <p:sp>
        <p:nvSpPr>
          <p:cNvPr id="8" name="Shape 6"/>
          <p:cNvSpPr/>
          <p:nvPr/>
        </p:nvSpPr>
        <p:spPr>
          <a:xfrm>
            <a:off x="304800" y="2733229"/>
            <a:ext cx="8724900" cy="795338"/>
          </a:xfrm>
          <a:prstGeom prst="roundRect">
            <a:avLst>
              <a:gd name="adj" fmla="val 4790"/>
            </a:avLst>
          </a:prstGeom>
          <a:solidFill>
            <a:srgbClr val="011627"/>
          </a:solidFill>
          <a:ln/>
        </p:spPr>
      </p:sp>
      <p:sp>
        <p:nvSpPr>
          <p:cNvPr id="9" name="Text 7"/>
          <p:cNvSpPr txBox="1"/>
          <p:nvPr/>
        </p:nvSpPr>
        <p:spPr>
          <a:xfrm>
            <a:off x="381000" y="2818954"/>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Weather:AllowedOrigins:0  = https://x.example.com   Development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Weather:AllowedOrigins:1  = https://b.example.com   base, survived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Weather:AllowedOrigins:2  = https://c.example.com   base, survived</a:t>
            </a:r>
            <a:endParaRPr lang="en-US" sz="1125" dirty="0"/>
          </a:p>
        </p:txBody>
      </p:sp>
      <p:sp>
        <p:nvSpPr>
          <p:cNvPr id="10" name="Text 8"/>
          <p:cNvSpPr txBox="1"/>
          <p:nvPr/>
        </p:nvSpPr>
        <p:spPr>
          <a:xfrm>
            <a:off x="304800" y="3926681"/>
            <a:ext cx="5825579"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Only index 0 was overlaid. Precedence then runs per key, exactly as it always does.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785789"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2 · MY MACHINE</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Your machine can differ from mine — without changing the repo.</a:t>
            </a:r>
            <a:endParaRPr lang="en-US" sz="3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95086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environment file merges. Key by key.</a:t>
            </a:r>
            <a:endParaRPr lang="en-US" sz="2820" dirty="0"/>
          </a:p>
        </p:txBody>
      </p:sp>
      <p:sp>
        <p:nvSpPr>
          <p:cNvPr id="4" name="Text 2"/>
          <p:cNvSpPr txBox="1"/>
          <p:nvPr/>
        </p:nvSpPr>
        <p:spPr>
          <a:xfrm>
            <a:off x="304800" y="1071711"/>
            <a:ext cx="133230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APPSETTINGS.JSON</a:t>
            </a:r>
            <a:endParaRPr lang="en-US" sz="768" dirty="0"/>
          </a:p>
        </p:txBody>
      </p:sp>
      <p:sp>
        <p:nvSpPr>
          <p:cNvPr id="5" name="Shape 3"/>
          <p:cNvSpPr/>
          <p:nvPr/>
        </p:nvSpPr>
        <p:spPr>
          <a:xfrm>
            <a:off x="304800" y="1313855"/>
            <a:ext cx="2821930" cy="1009650"/>
          </a:xfrm>
          <a:prstGeom prst="roundRect">
            <a:avLst>
              <a:gd name="adj" fmla="val 3774"/>
            </a:avLst>
          </a:prstGeom>
          <a:solidFill>
            <a:srgbClr val="011627"/>
          </a:solidFill>
          <a:ln/>
        </p:spPr>
      </p:sp>
      <p:sp>
        <p:nvSpPr>
          <p:cNvPr id="6" name="Text 4"/>
          <p:cNvSpPr txBox="1"/>
          <p:nvPr/>
        </p:nvSpPr>
        <p:spPr>
          <a:xfrm>
            <a:off x="381000" y="1409105"/>
            <a:ext cx="2688580" cy="8191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https://api.example.com</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"TimeoutSeconds"</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F78C6C"/>
                </a:solidFill>
                <a:latin typeface="JetBrains Mono" pitchFamily="34" charset="0"/>
                <a:ea typeface="JetBrains Mono" pitchFamily="34" charset="-122"/>
                <a:cs typeface="JetBrains Mono" pitchFamily="34" charset="-120"/>
              </a:rPr>
              <a:t>30</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"ApiKey"</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placeholder-...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7" name="Text 5"/>
          <p:cNvSpPr txBox="1"/>
          <p:nvPr/>
        </p:nvSpPr>
        <p:spPr>
          <a:xfrm>
            <a:off x="3256211" y="1071711"/>
            <a:ext cx="224923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APPSETTINGS.DEVELOPMENT.JSON</a:t>
            </a:r>
            <a:endParaRPr lang="en-US" sz="768" dirty="0"/>
          </a:p>
        </p:txBody>
      </p:sp>
      <p:sp>
        <p:nvSpPr>
          <p:cNvPr id="8" name="Shape 6"/>
          <p:cNvSpPr/>
          <p:nvPr/>
        </p:nvSpPr>
        <p:spPr>
          <a:xfrm>
            <a:off x="3256211" y="1313855"/>
            <a:ext cx="2821930" cy="666750"/>
          </a:xfrm>
          <a:prstGeom prst="roundRect">
            <a:avLst>
              <a:gd name="adj" fmla="val 5714"/>
            </a:avLst>
          </a:prstGeom>
          <a:solidFill>
            <a:srgbClr val="011627"/>
          </a:solidFill>
          <a:ln/>
        </p:spPr>
      </p:sp>
      <p:sp>
        <p:nvSpPr>
          <p:cNvPr id="9" name="Text 7"/>
          <p:cNvSpPr txBox="1"/>
          <p:nvPr/>
        </p:nvSpPr>
        <p:spPr>
          <a:xfrm>
            <a:off x="3332411" y="1409105"/>
            <a:ext cx="2688580" cy="476250"/>
          </a:xfrm>
          <a:prstGeom prst="rect">
            <a:avLst/>
          </a:prstGeom>
          <a:noFill/>
          <a:ln/>
        </p:spPr>
        <p:txBody>
          <a:bodyPr wrap="square" lIns="0" tIns="0" rIns="0" bIns="0" rtlCol="0" anchor="t"/>
          <a:lstStyle/>
          <a:p>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ECC48D"/>
                </a:solidFill>
                <a:latin typeface="JetBrains Mono" pitchFamily="34" charset="0"/>
                <a:ea typeface="JetBrains Mono" pitchFamily="34" charset="-122"/>
                <a:cs typeface="JetBrains Mono" pitchFamily="34" charset="-120"/>
              </a:rPr>
              <a:t>Weather</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br/>
            <a:pPr algn="l" indent="0" marL="0">
              <a:lnSpc>
                <a:spcPts val="1350"/>
              </a:lnSpc>
              <a:buNone/>
            </a:pPr>
            <a:r>
              <a:rPr lang="en-US" sz="795" dirty="0">
                <a:solidFill>
                  <a:srgbClr val="7FDBCA"/>
                </a:solidFill>
                <a:latin typeface="JetBrains Mono" pitchFamily="34" charset="0"/>
                <a:ea typeface="JetBrains Mono" pitchFamily="34" charset="-122"/>
                <a:cs typeface="JetBrains Mono" pitchFamily="34" charset="-120"/>
              </a:rPr>
              <a:t>"ApiBaseUrl"</a:t>
            </a: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 </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pPr algn="l" indent="0" marL="0">
              <a:lnSpc>
                <a:spcPts val="1350"/>
              </a:lnSpc>
              <a:buNone/>
            </a:pPr>
            <a:r>
              <a:rPr lang="en-US" sz="795" dirty="0">
                <a:solidFill>
                  <a:srgbClr val="C789D6"/>
                </a:solidFill>
                <a:latin typeface="JetBrains Mono" pitchFamily="34" charset="0"/>
                <a:ea typeface="JetBrains Mono" pitchFamily="34" charset="-122"/>
                <a:cs typeface="JetBrains Mono" pitchFamily="34" charset="-120"/>
              </a:rPr>
              <a:t>https://localhost:7104</a:t>
            </a:r>
            <a:pPr algn="l" indent="0" marL="0">
              <a:lnSpc>
                <a:spcPts val="1350"/>
              </a:lnSpc>
              <a:buNone/>
            </a:pPr>
            <a:r>
              <a:rPr lang="en-US" sz="795" dirty="0">
                <a:solidFill>
                  <a:srgbClr val="D9F5DD"/>
                </a:solidFill>
                <a:latin typeface="JetBrains Mono" pitchFamily="34" charset="0"/>
                <a:ea typeface="JetBrains Mono" pitchFamily="34" charset="-122"/>
                <a:cs typeface="JetBrains Mono" pitchFamily="34" charset="-120"/>
              </a:rPr>
              <a:t>"</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t>
            </a:r>
            <a:endParaRPr lang="en-US" sz="795" dirty="0"/>
          </a:p>
        </p:txBody>
      </p:sp>
      <p:sp>
        <p:nvSpPr>
          <p:cNvPr id="10" name="Text 8"/>
          <p:cNvSpPr txBox="1"/>
          <p:nvPr/>
        </p:nvSpPr>
        <p:spPr>
          <a:xfrm>
            <a:off x="6207621" y="1071711"/>
            <a:ext cx="1351657"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WHAT THE APP SEES</a:t>
            </a:r>
            <a:endParaRPr lang="en-US" sz="768" dirty="0"/>
          </a:p>
        </p:txBody>
      </p:sp>
      <p:sp>
        <p:nvSpPr>
          <p:cNvPr id="11" name="Shape 9"/>
          <p:cNvSpPr/>
          <p:nvPr/>
        </p:nvSpPr>
        <p:spPr>
          <a:xfrm>
            <a:off x="6207621" y="1313855"/>
            <a:ext cx="2822079" cy="666750"/>
          </a:xfrm>
          <a:prstGeom prst="roundRect">
            <a:avLst>
              <a:gd name="adj" fmla="val 5714"/>
            </a:avLst>
          </a:prstGeom>
          <a:solidFill>
            <a:srgbClr val="011627"/>
          </a:solidFill>
          <a:ln/>
        </p:spPr>
      </p:sp>
      <p:sp>
        <p:nvSpPr>
          <p:cNvPr id="12" name="Text 10"/>
          <p:cNvSpPr txBox="1"/>
          <p:nvPr/>
        </p:nvSpPr>
        <p:spPr>
          <a:xfrm>
            <a:off x="6283821" y="1409105"/>
            <a:ext cx="2688729" cy="476250"/>
          </a:xfrm>
          <a:prstGeom prst="rect">
            <a:avLst/>
          </a:prstGeom>
          <a:noFill/>
          <a:ln/>
        </p:spPr>
        <p:txBody>
          <a:bodyPr wrap="square" lIns="0" tIns="0" rIns="0" bIns="0" rtlCol="0" anchor="t"/>
          <a:lstStyle/>
          <a:p>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ApiBaseUrl       https://localhost:7104</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TimeoutSeconds   30           &lt;- survived</a:t>
            </a:r>
            <a:br/>
            <a:pPr algn="l" indent="0" marL="0">
              <a:lnSpc>
                <a:spcPts val="1350"/>
              </a:lnSpc>
              <a:buNone/>
            </a:pPr>
            <a:r>
              <a:rPr lang="en-US" sz="795" dirty="0">
                <a:solidFill>
                  <a:srgbClr val="D6DEEB"/>
                </a:solidFill>
                <a:latin typeface="JetBrains Mono" pitchFamily="34" charset="0"/>
                <a:ea typeface="JetBrains Mono" pitchFamily="34" charset="-122"/>
                <a:cs typeface="JetBrains Mono" pitchFamily="34" charset="-120"/>
              </a:rPr>
              <a:t>ApiKey           placeholder  &lt;- survived</a:t>
            </a:r>
            <a:endParaRPr lang="en-US" sz="795" dirty="0"/>
          </a:p>
        </p:txBody>
      </p:sp>
      <p:sp>
        <p:nvSpPr>
          <p:cNvPr id="13" name="Text 11"/>
          <p:cNvSpPr txBox="1"/>
          <p:nvPr/>
        </p:nvSpPr>
        <p:spPr>
          <a:xfrm>
            <a:off x="304800" y="2721620"/>
            <a:ext cx="577527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surviving rows are the whole point. It merges key by key — it does not replace.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63108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Not encrypted. Not a vault.</a:t>
            </a:r>
            <a:endParaRPr lang="en-US" sz="2820" dirty="0"/>
          </a:p>
        </p:txBody>
      </p:sp>
      <p:sp>
        <p:nvSpPr>
          <p:cNvPr id="4" name="Text 2"/>
          <p:cNvSpPr txBox="1"/>
          <p:nvPr/>
        </p:nvSpPr>
        <p:spPr>
          <a:xfrm>
            <a:off x="304800" y="1071711"/>
            <a:ext cx="873919"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IN THE REPO</a:t>
            </a:r>
            <a:endParaRPr lang="en-US" sz="768" dirty="0"/>
          </a:p>
        </p:txBody>
      </p:sp>
      <p:sp>
        <p:nvSpPr>
          <p:cNvPr id="5" name="Shape 3"/>
          <p:cNvSpPr/>
          <p:nvPr/>
        </p:nvSpPr>
        <p:spPr>
          <a:xfrm>
            <a:off x="304800" y="1313855"/>
            <a:ext cx="8724900" cy="366712"/>
          </a:xfrm>
          <a:prstGeom prst="roundRect">
            <a:avLst>
              <a:gd name="adj" fmla="val 10390"/>
            </a:avLst>
          </a:prstGeom>
          <a:solidFill>
            <a:srgbClr val="011627"/>
          </a:solidFill>
          <a:ln/>
        </p:spPr>
      </p:sp>
      <p:sp>
        <p:nvSpPr>
          <p:cNvPr id="6" name="Text 4"/>
          <p:cNvSpPr txBox="1"/>
          <p:nvPr/>
        </p:nvSpPr>
        <p:spPr>
          <a:xfrm>
            <a:off x="381000" y="1399580"/>
            <a:ext cx="5857875" cy="190500"/>
          </a:xfrm>
          <a:prstGeom prst="rect">
            <a:avLst/>
          </a:prstGeom>
          <a:noFill/>
          <a:ln/>
        </p:spPr>
        <p:txBody>
          <a:bodyPr wrap="none" lIns="0" tIns="0" rIns="0" bIns="0" rtlCol="0" anchor="t"/>
          <a:lstStyle/>
          <a:p>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d09a1b2c-3d4e-5f60-7182-93a4b5c6d7e8</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&lt;/</a:t>
            </a:r>
            <a:pPr algn="l" indent="0" marL="0">
              <a:buNone/>
            </a:pPr>
            <a:r>
              <a:rPr lang="en-US" sz="1125" dirty="0">
                <a:solidFill>
                  <a:srgbClr val="CAECE6"/>
                </a:solidFill>
                <a:latin typeface="JetBrains Mono" pitchFamily="34" charset="0"/>
                <a:ea typeface="JetBrains Mono" pitchFamily="34" charset="-122"/>
                <a:cs typeface="JetBrains Mono" pitchFamily="34" charset="-120"/>
              </a:rPr>
              <a:t>UserSecretsId</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&gt;</a:t>
            </a:r>
            <a:endParaRPr lang="en-US" sz="1125" dirty="0"/>
          </a:p>
        </p:txBody>
      </p:sp>
      <p:sp>
        <p:nvSpPr>
          <p:cNvPr id="7" name="Text 5"/>
          <p:cNvSpPr txBox="1"/>
          <p:nvPr/>
        </p:nvSpPr>
        <p:spPr>
          <a:xfrm>
            <a:off x="304800" y="1787128"/>
            <a:ext cx="1483519" cy="161925"/>
          </a:xfrm>
          <a:prstGeom prst="rect">
            <a:avLst/>
          </a:prstGeom>
          <a:noFill/>
          <a:ln/>
        </p:spPr>
        <p:txBody>
          <a:bodyPr wrap="none" lIns="0" tIns="0" rIns="0" bIns="0" rtlCol="0" anchor="t"/>
          <a:lstStyle/>
          <a:p>
            <a:pPr algn="l" indent="0" marL="0">
              <a:buNone/>
            </a:pPr>
            <a:r>
              <a:rPr lang="en-US" sz="888" i="1" dirty="0">
                <a:solidFill>
                  <a:srgbClr val="44535A"/>
                </a:solidFill>
                <a:latin typeface="Manrope" pitchFamily="34" charset="0"/>
                <a:ea typeface="Manrope" pitchFamily="34" charset="-122"/>
                <a:cs typeface="Manrope" pitchFamily="34" charset="-120"/>
              </a:rPr>
              <a:t>a pointer, and nothing else</a:t>
            </a:r>
            <a:endParaRPr lang="en-US" sz="888" dirty="0"/>
          </a:p>
        </p:txBody>
      </p:sp>
      <p:sp>
        <p:nvSpPr>
          <p:cNvPr id="8" name="Text 6"/>
          <p:cNvSpPr txBox="1"/>
          <p:nvPr/>
        </p:nvSpPr>
        <p:spPr>
          <a:xfrm>
            <a:off x="304800" y="2085826"/>
            <a:ext cx="1250603" cy="133350"/>
          </a:xfrm>
          <a:prstGeom prst="rect">
            <a:avLst/>
          </a:prstGeom>
          <a:noFill/>
          <a:ln/>
        </p:spPr>
        <p:txBody>
          <a:bodyPr wrap="none" lIns="0" tIns="0" rIns="0" bIns="0" rtlCol="0" anchor="t"/>
          <a:lstStyle/>
          <a:p>
            <a:pPr algn="l" indent="0" marL="0">
              <a:buNone/>
            </a:pPr>
            <a:r>
              <a:rPr lang="en-US" sz="768" b="1" spc="123" kern="0" dirty="0">
                <a:solidFill>
                  <a:srgbClr val="A9825F"/>
                </a:solidFill>
                <a:latin typeface="Manrope" pitchFamily="34" charset="0"/>
                <a:ea typeface="Manrope" pitchFamily="34" charset="-122"/>
                <a:cs typeface="Manrope" pitchFamily="34" charset="-120"/>
              </a:rPr>
              <a:t>ON YOUR MACHINE</a:t>
            </a:r>
            <a:endParaRPr lang="en-US" sz="768" dirty="0"/>
          </a:p>
        </p:txBody>
      </p:sp>
      <p:sp>
        <p:nvSpPr>
          <p:cNvPr id="9" name="Shape 7"/>
          <p:cNvSpPr/>
          <p:nvPr/>
        </p:nvSpPr>
        <p:spPr>
          <a:xfrm>
            <a:off x="304800" y="2327970"/>
            <a:ext cx="8724900" cy="795338"/>
          </a:xfrm>
          <a:prstGeom prst="roundRect">
            <a:avLst>
              <a:gd name="adj" fmla="val 4790"/>
            </a:avLst>
          </a:prstGeom>
          <a:solidFill>
            <a:srgbClr val="011627"/>
          </a:solidFill>
          <a:ln/>
        </p:spPr>
      </p:sp>
      <p:sp>
        <p:nvSpPr>
          <p:cNvPr id="10" name="Text 8"/>
          <p:cNvSpPr txBox="1"/>
          <p:nvPr/>
        </p:nvSpPr>
        <p:spPr>
          <a:xfrm>
            <a:off x="381000" y="2413695"/>
            <a:ext cx="85915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%APPDATA%\Microsoft\UserSecrets\d09a1b2c-...\secrets.json</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"Weather:ApiKey": "dev-key-12345" }</a:t>
            </a:r>
            <a:endParaRPr lang="en-US" sz="1125" dirty="0"/>
          </a:p>
        </p:txBody>
      </p:sp>
      <p:sp>
        <p:nvSpPr>
          <p:cNvPr id="11" name="Text 9"/>
          <p:cNvSpPr txBox="1"/>
          <p:nvPr/>
        </p:nvSpPr>
        <p:spPr>
          <a:xfrm>
            <a:off x="304800" y="3229868"/>
            <a:ext cx="1834902" cy="161925"/>
          </a:xfrm>
          <a:prstGeom prst="rect">
            <a:avLst/>
          </a:prstGeom>
          <a:noFill/>
          <a:ln/>
        </p:spPr>
        <p:txBody>
          <a:bodyPr wrap="none" lIns="0" tIns="0" rIns="0" bIns="0" rtlCol="0" anchor="t"/>
          <a:lstStyle/>
          <a:p>
            <a:pPr algn="l" indent="0" marL="0">
              <a:buNone/>
            </a:pPr>
            <a:r>
              <a:rPr lang="en-US" sz="888" b="1" dirty="0">
                <a:solidFill>
                  <a:srgbClr val="16303F"/>
                </a:solidFill>
                <a:latin typeface="Manrope" pitchFamily="34" charset="0"/>
                <a:ea typeface="Manrope" pitchFamily="34" charset="-122"/>
                <a:cs typeface="Manrope" pitchFamily="34" charset="-120"/>
              </a:rPr>
              <a:t>plaintext, on disk, unencrypted</a:t>
            </a:r>
            <a:endParaRPr lang="en-US" sz="888"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47614"/>
            <a:ext cx="4694337"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User secrets live outside the repo</a:t>
            </a:r>
            <a:endParaRPr lang="en-US" sz="2280" dirty="0"/>
          </a:p>
        </p:txBody>
      </p:sp>
      <p:sp>
        <p:nvSpPr>
          <p:cNvPr id="4" name="Shape 2"/>
          <p:cNvSpPr/>
          <p:nvPr/>
        </p:nvSpPr>
        <p:spPr>
          <a:xfrm>
            <a:off x="628650" y="1816447"/>
            <a:ext cx="8077200" cy="2095500"/>
          </a:xfrm>
          <a:prstGeom prst="roundRect">
            <a:avLst>
              <a:gd name="adj" fmla="val 1818"/>
            </a:avLst>
          </a:prstGeom>
          <a:solidFill>
            <a:srgbClr val="011627"/>
          </a:solidFill>
          <a:ln/>
        </p:spPr>
      </p:sp>
      <p:sp>
        <p:nvSpPr>
          <p:cNvPr id="5" name="Text 3"/>
          <p:cNvSpPr txBox="1"/>
          <p:nvPr/>
        </p:nvSpPr>
        <p:spPr>
          <a:xfrm>
            <a:off x="704850" y="1902172"/>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init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dev-key-12345</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list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remove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clear</a:t>
            </a:r>
            <a:br/>
            <a:pPr algn="l" indent="0" marL="0">
              <a:lnSpc>
                <a:spcPts val="1913"/>
              </a:lnSpc>
              <a:buNone/>
            </a:pPr>
            <a:b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.NET 10 - file-based apps, no .csproj anywhere</a:t>
            </a:r>
            <a:b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dotnet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user-secrets</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set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ApiKey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--file</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 app.cs</a:t>
            </a:r>
            <a:endParaRPr lang="en-US" sz="127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23593"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The launchSettings trap</a:t>
            </a:r>
            <a:endParaRPr lang="en-US" sz="2820" dirty="0"/>
          </a:p>
        </p:txBody>
      </p:sp>
      <p:sp>
        <p:nvSpPr>
          <p:cNvPr id="4" name="Shape 2"/>
          <p:cNvSpPr/>
          <p:nvPr/>
        </p:nvSpPr>
        <p:spPr>
          <a:xfrm>
            <a:off x="457200" y="1163241"/>
            <a:ext cx="38100" cy="1295400"/>
          </a:xfrm>
          <a:prstGeom prst="rect">
            <a:avLst/>
          </a:prstGeom>
          <a:solidFill>
            <a:srgbClr val="F4C233"/>
          </a:solidFill>
          <a:ln/>
        </p:spPr>
      </p:sp>
      <p:sp>
        <p:nvSpPr>
          <p:cNvPr id="5" name="Shape 3"/>
          <p:cNvSpPr/>
          <p:nvPr/>
        </p:nvSpPr>
        <p:spPr>
          <a:xfrm>
            <a:off x="1564481" y="1333351"/>
            <a:ext cx="916186" cy="202704"/>
          </a:xfrm>
          <a:prstGeom prst="roundRect">
            <a:avLst>
              <a:gd name="adj" fmla="val 18796"/>
            </a:avLst>
          </a:prstGeom>
          <a:solidFill>
            <a:srgbClr val="16303F">
              <a:alpha val="7000"/>
            </a:srgbClr>
          </a:solidFill>
          <a:ln/>
        </p:spPr>
      </p:sp>
      <p:sp>
        <p:nvSpPr>
          <p:cNvPr id="6" name="Shape 4"/>
          <p:cNvSpPr/>
          <p:nvPr/>
        </p:nvSpPr>
        <p:spPr>
          <a:xfrm>
            <a:off x="4520208" y="1333351"/>
            <a:ext cx="504676" cy="202704"/>
          </a:xfrm>
          <a:prstGeom prst="roundRect">
            <a:avLst>
              <a:gd name="adj" fmla="val 18796"/>
            </a:avLst>
          </a:prstGeom>
          <a:solidFill>
            <a:srgbClr val="16303F">
              <a:alpha val="7000"/>
            </a:srgbClr>
          </a:solidFill>
          <a:ln/>
        </p:spPr>
      </p:sp>
      <p:sp>
        <p:nvSpPr>
          <p:cNvPr id="7" name="Text 5"/>
          <p:cNvSpPr txBox="1"/>
          <p:nvPr/>
        </p:nvSpPr>
        <p:spPr>
          <a:xfrm>
            <a:off x="617190" y="1325166"/>
            <a:ext cx="5793284"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Deliberately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dotnet run</a:t>
            </a:r>
            <a:pPr algn="l" indent="0" marL="0">
              <a:buNone/>
            </a:pPr>
            <a:r>
              <a:rPr lang="en-US" sz="1200" b="1" dirty="0">
                <a:solidFill>
                  <a:srgbClr val="16303F"/>
                </a:solidFill>
                <a:latin typeface="Manrope" pitchFamily="34" charset="0"/>
                <a:ea typeface="Manrope" pitchFamily="34" charset="-122"/>
                <a:cs typeface="Manrope" pitchFamily="34" charset="-120"/>
              </a:rPr>
              <a:t> in the same shell, not F5. A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$env:</a:t>
            </a:r>
            <a:pPr algn="l" indent="0" marL="0">
              <a:buNone/>
            </a:pPr>
            <a:r>
              <a:rPr lang="en-US" sz="1200" b="1" dirty="0">
                <a:solidFill>
                  <a:srgbClr val="16303F"/>
                </a:solidFill>
                <a:latin typeface="Manrope" pitchFamily="34" charset="0"/>
                <a:ea typeface="Manrope" pitchFamily="34" charset="-122"/>
                <a:cs typeface="Manrope" pitchFamily="34" charset="-120"/>
              </a:rPr>
              <a:t> assignment only</a:t>
            </a:r>
            <a:endParaRPr lang="en-US" sz="1200" dirty="0"/>
          </a:p>
        </p:txBody>
      </p:sp>
      <p:sp>
        <p:nvSpPr>
          <p:cNvPr id="8" name="Text 6"/>
          <p:cNvSpPr txBox="1"/>
          <p:nvPr/>
        </p:nvSpPr>
        <p:spPr>
          <a:xfrm>
            <a:off x="617190" y="1706166"/>
            <a:ext cx="578450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affects that PowerShell process and its children — an already-running Visual</a:t>
            </a:r>
            <a:endParaRPr lang="en-US" sz="1200" dirty="0"/>
          </a:p>
        </p:txBody>
      </p:sp>
      <p:sp>
        <p:nvSpPr>
          <p:cNvPr id="9" name="Text 7"/>
          <p:cNvSpPr txBox="1"/>
          <p:nvPr/>
        </p:nvSpPr>
        <p:spPr>
          <a:xfrm>
            <a:off x="617190" y="2087166"/>
            <a:ext cx="4979789"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Studio never sees it, so an F5 version of this would prove nothing.</a:t>
            </a:r>
            <a:endParaRPr lang="en-US" sz="1200" dirty="0"/>
          </a:p>
        </p:txBody>
      </p:sp>
      <p:sp>
        <p:nvSpPr>
          <p:cNvPr id="10" name="Shape 8"/>
          <p:cNvSpPr/>
          <p:nvPr/>
        </p:nvSpPr>
        <p:spPr>
          <a:xfrm>
            <a:off x="457200" y="2796629"/>
            <a:ext cx="8420100" cy="9525"/>
          </a:xfrm>
          <a:prstGeom prst="rect">
            <a:avLst/>
          </a:prstGeom>
          <a:solidFill>
            <a:srgbClr val="9CA3AF">
              <a:alpha val="20000"/>
            </a:srgbClr>
          </a:solidFill>
          <a:ln/>
        </p:spPr>
      </p:sp>
      <p:sp>
        <p:nvSpPr>
          <p:cNvPr id="11" name="Shape 9"/>
          <p:cNvSpPr/>
          <p:nvPr/>
        </p:nvSpPr>
        <p:spPr>
          <a:xfrm>
            <a:off x="457200" y="2787104"/>
            <a:ext cx="3220938" cy="19050"/>
          </a:xfrm>
          <a:prstGeom prst="rect">
            <a:avLst/>
          </a:prstGeom>
          <a:solidFill>
            <a:srgbClr val="16303F"/>
          </a:solidFill>
          <a:ln/>
        </p:spPr>
      </p:sp>
      <p:sp>
        <p:nvSpPr>
          <p:cNvPr id="12" name="Text 10"/>
          <p:cNvSpPr txBox="1"/>
          <p:nvPr/>
        </p:nvSpPr>
        <p:spPr>
          <a:xfrm>
            <a:off x="563761" y="2572792"/>
            <a:ext cx="18377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YOU SET THIS, IN THIS SHELL</a:t>
            </a:r>
            <a:endParaRPr lang="en-US" sz="816" dirty="0"/>
          </a:p>
        </p:txBody>
      </p:sp>
      <p:sp>
        <p:nvSpPr>
          <p:cNvPr id="13" name="Shape 11"/>
          <p:cNvSpPr/>
          <p:nvPr/>
        </p:nvSpPr>
        <p:spPr>
          <a:xfrm>
            <a:off x="3678138" y="2787104"/>
            <a:ext cx="5199162" cy="19050"/>
          </a:xfrm>
          <a:prstGeom prst="rect">
            <a:avLst/>
          </a:prstGeom>
          <a:solidFill>
            <a:srgbClr val="16303F"/>
          </a:solidFill>
          <a:ln/>
        </p:spPr>
      </p:sp>
      <p:sp>
        <p:nvSpPr>
          <p:cNvPr id="14" name="Text 12"/>
          <p:cNvSpPr txBox="1"/>
          <p:nvPr/>
        </p:nvSpPr>
        <p:spPr>
          <a:xfrm>
            <a:off x="3784699" y="2572792"/>
            <a:ext cx="140970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AND THIS FILE EXISTS</a:t>
            </a:r>
            <a:endParaRPr lang="en-US" sz="816" dirty="0"/>
          </a:p>
        </p:txBody>
      </p:sp>
      <p:sp>
        <p:nvSpPr>
          <p:cNvPr id="15" name="Shape 13"/>
          <p:cNvSpPr/>
          <p:nvPr/>
        </p:nvSpPr>
        <p:spPr>
          <a:xfrm>
            <a:off x="457200" y="3142952"/>
            <a:ext cx="8420100" cy="9525"/>
          </a:xfrm>
          <a:prstGeom prst="rect">
            <a:avLst/>
          </a:prstGeom>
          <a:solidFill>
            <a:srgbClr val="9CA3AF">
              <a:alpha val="20000"/>
            </a:srgbClr>
          </a:solidFill>
          <a:ln/>
        </p:spPr>
      </p:sp>
      <p:sp>
        <p:nvSpPr>
          <p:cNvPr id="16" name="Shape 14"/>
          <p:cNvSpPr/>
          <p:nvPr/>
        </p:nvSpPr>
        <p:spPr>
          <a:xfrm>
            <a:off x="457200" y="3142952"/>
            <a:ext cx="3220938" cy="9525"/>
          </a:xfrm>
          <a:prstGeom prst="rect">
            <a:avLst/>
          </a:prstGeom>
          <a:solidFill>
            <a:srgbClr val="DDD9D2"/>
          </a:solidFill>
          <a:ln/>
        </p:spPr>
      </p:sp>
      <p:sp>
        <p:nvSpPr>
          <p:cNvPr id="17" name="Shape 15"/>
          <p:cNvSpPr/>
          <p:nvPr/>
        </p:nvSpPr>
        <p:spPr>
          <a:xfrm>
            <a:off x="563761" y="2898428"/>
            <a:ext cx="2679055" cy="181570"/>
          </a:xfrm>
          <a:prstGeom prst="roundRect">
            <a:avLst>
              <a:gd name="adj" fmla="val 20984"/>
            </a:avLst>
          </a:prstGeom>
          <a:solidFill>
            <a:srgbClr val="16303F">
              <a:alpha val="7000"/>
            </a:srgbClr>
          </a:solidFill>
          <a:ln/>
        </p:spPr>
      </p:sp>
      <p:sp>
        <p:nvSpPr>
          <p:cNvPr id="18" name="Text 16"/>
          <p:cNvSpPr txBox="1"/>
          <p:nvPr/>
        </p:nvSpPr>
        <p:spPr>
          <a:xfrm>
            <a:off x="506611" y="2898428"/>
            <a:ext cx="279335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$env:Weather__TimeoutSeconds = "10"</a:t>
            </a:r>
            <a:endParaRPr lang="en-US" sz="972" dirty="0"/>
          </a:p>
        </p:txBody>
      </p:sp>
      <p:sp>
        <p:nvSpPr>
          <p:cNvPr id="19" name="Shape 17"/>
          <p:cNvSpPr/>
          <p:nvPr/>
        </p:nvSpPr>
        <p:spPr>
          <a:xfrm>
            <a:off x="3678138" y="3142952"/>
            <a:ext cx="5199162" cy="9525"/>
          </a:xfrm>
          <a:prstGeom prst="rect">
            <a:avLst/>
          </a:prstGeom>
          <a:solidFill>
            <a:srgbClr val="DDD9D2"/>
          </a:solidFill>
          <a:ln/>
        </p:spPr>
      </p:sp>
      <p:sp>
        <p:nvSpPr>
          <p:cNvPr id="20" name="Shape 18"/>
          <p:cNvSpPr/>
          <p:nvPr/>
        </p:nvSpPr>
        <p:spPr>
          <a:xfrm>
            <a:off x="3784699" y="2898428"/>
            <a:ext cx="2309068" cy="181570"/>
          </a:xfrm>
          <a:prstGeom prst="roundRect">
            <a:avLst>
              <a:gd name="adj" fmla="val 20984"/>
            </a:avLst>
          </a:prstGeom>
          <a:solidFill>
            <a:srgbClr val="16303F">
              <a:alpha val="7000"/>
            </a:srgbClr>
          </a:solidFill>
          <a:ln/>
        </p:spPr>
      </p:sp>
      <p:sp>
        <p:nvSpPr>
          <p:cNvPr id="21" name="Text 19"/>
          <p:cNvSpPr txBox="1"/>
          <p:nvPr/>
        </p:nvSpPr>
        <p:spPr>
          <a:xfrm>
            <a:off x="3727549" y="2898428"/>
            <a:ext cx="242336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Properties/launchSettings.json</a:t>
            </a:r>
            <a:endParaRPr lang="en-US" sz="972" dirty="0"/>
          </a:p>
        </p:txBody>
      </p:sp>
      <p:sp>
        <p:nvSpPr>
          <p:cNvPr id="22" name="Shape 20"/>
          <p:cNvSpPr/>
          <p:nvPr/>
        </p:nvSpPr>
        <p:spPr>
          <a:xfrm>
            <a:off x="457200" y="3152477"/>
            <a:ext cx="8420100" cy="341561"/>
          </a:xfrm>
          <a:prstGeom prst="rect">
            <a:avLst/>
          </a:prstGeom>
          <a:solidFill>
            <a:srgbClr val="16303F">
              <a:alpha val="3000"/>
            </a:srgbClr>
          </a:solidFill>
          <a:ln/>
        </p:spPr>
      </p:sp>
      <p:sp>
        <p:nvSpPr>
          <p:cNvPr id="23" name="Shape 21"/>
          <p:cNvSpPr/>
          <p:nvPr/>
        </p:nvSpPr>
        <p:spPr>
          <a:xfrm>
            <a:off x="457200" y="3484513"/>
            <a:ext cx="8420100" cy="9525"/>
          </a:xfrm>
          <a:prstGeom prst="rect">
            <a:avLst/>
          </a:prstGeom>
          <a:solidFill>
            <a:srgbClr val="9CA3AF">
              <a:alpha val="20000"/>
            </a:srgbClr>
          </a:solidFill>
          <a:ln/>
        </p:spPr>
      </p:sp>
      <p:sp>
        <p:nvSpPr>
          <p:cNvPr id="24" name="Shape 22"/>
          <p:cNvSpPr/>
          <p:nvPr/>
        </p:nvSpPr>
        <p:spPr>
          <a:xfrm>
            <a:off x="457200" y="3484513"/>
            <a:ext cx="3220938" cy="9525"/>
          </a:xfrm>
          <a:prstGeom prst="rect">
            <a:avLst/>
          </a:prstGeom>
          <a:solidFill>
            <a:srgbClr val="DDD9D2"/>
          </a:solidFill>
          <a:ln/>
        </p:spPr>
      </p:sp>
      <p:sp>
        <p:nvSpPr>
          <p:cNvPr id="25" name="Shape 23"/>
          <p:cNvSpPr/>
          <p:nvPr/>
        </p:nvSpPr>
        <p:spPr>
          <a:xfrm>
            <a:off x="563761" y="3239988"/>
            <a:ext cx="828824" cy="181570"/>
          </a:xfrm>
          <a:prstGeom prst="roundRect">
            <a:avLst>
              <a:gd name="adj" fmla="val 20984"/>
            </a:avLst>
          </a:prstGeom>
          <a:solidFill>
            <a:srgbClr val="16303F">
              <a:alpha val="7000"/>
            </a:srgbClr>
          </a:solidFill>
          <a:ln/>
        </p:spPr>
      </p:sp>
      <p:sp>
        <p:nvSpPr>
          <p:cNvPr id="26" name="Text 24"/>
          <p:cNvSpPr txBox="1"/>
          <p:nvPr/>
        </p:nvSpPr>
        <p:spPr>
          <a:xfrm>
            <a:off x="506611" y="3239988"/>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dotnet run</a:t>
            </a:r>
            <a:endParaRPr lang="en-US" sz="972" dirty="0"/>
          </a:p>
        </p:txBody>
      </p:sp>
      <p:sp>
        <p:nvSpPr>
          <p:cNvPr id="27" name="Shape 25"/>
          <p:cNvSpPr/>
          <p:nvPr/>
        </p:nvSpPr>
        <p:spPr>
          <a:xfrm>
            <a:off x="3678138" y="3484513"/>
            <a:ext cx="5199162" cy="9525"/>
          </a:xfrm>
          <a:prstGeom prst="rect">
            <a:avLst/>
          </a:prstGeom>
          <a:solidFill>
            <a:srgbClr val="DDD9D2"/>
          </a:solidFill>
          <a:ln/>
        </p:spPr>
      </p:sp>
      <p:sp>
        <p:nvSpPr>
          <p:cNvPr id="28" name="Shape 26"/>
          <p:cNvSpPr/>
          <p:nvPr/>
        </p:nvSpPr>
        <p:spPr>
          <a:xfrm>
            <a:off x="3784699" y="3239988"/>
            <a:ext cx="4455319" cy="181570"/>
          </a:xfrm>
          <a:prstGeom prst="roundRect">
            <a:avLst>
              <a:gd name="adj" fmla="val 20984"/>
            </a:avLst>
          </a:prstGeom>
          <a:solidFill>
            <a:srgbClr val="16303F">
              <a:alpha val="7000"/>
            </a:srgbClr>
          </a:solidFill>
          <a:ln/>
        </p:spPr>
      </p:sp>
      <p:sp>
        <p:nvSpPr>
          <p:cNvPr id="29" name="Text 27"/>
          <p:cNvSpPr txBox="1"/>
          <p:nvPr/>
        </p:nvSpPr>
        <p:spPr>
          <a:xfrm>
            <a:off x="3727549" y="3239988"/>
            <a:ext cx="456961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"environmentVariables": { "Weather__TimeoutSeconds": "45" }</a:t>
            </a:r>
            <a:endParaRPr lang="en-US" sz="972" dirty="0"/>
          </a:p>
        </p:txBody>
      </p:sp>
      <p:sp>
        <p:nvSpPr>
          <p:cNvPr id="30" name="Shape 28"/>
          <p:cNvSpPr/>
          <p:nvPr/>
        </p:nvSpPr>
        <p:spPr>
          <a:xfrm>
            <a:off x="457200" y="3658791"/>
            <a:ext cx="38100" cy="533400"/>
          </a:xfrm>
          <a:prstGeom prst="rect">
            <a:avLst/>
          </a:prstGeom>
          <a:solidFill>
            <a:srgbClr val="F4C233"/>
          </a:solidFill>
          <a:ln/>
        </p:spPr>
      </p:sp>
      <p:sp>
        <p:nvSpPr>
          <p:cNvPr id="31" name="Text 29"/>
          <p:cNvSpPr txBox="1"/>
          <p:nvPr/>
        </p:nvSpPr>
        <p:spPr>
          <a:xfrm>
            <a:off x="617190" y="3820716"/>
            <a:ext cx="1518196"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“Which one wins?”</a:t>
            </a:r>
            <a:endParaRPr lang="en-US" sz="1200" dirty="0"/>
          </a:p>
        </p:txBody>
      </p:sp>
      <p:sp>
        <p:nvSpPr>
          <p:cNvPr id="32" name="Shape 30"/>
          <p:cNvSpPr/>
          <p:nvPr/>
        </p:nvSpPr>
        <p:spPr>
          <a:xfrm>
            <a:off x="8463260" y="228600"/>
            <a:ext cx="581769" cy="228451"/>
          </a:xfrm>
          <a:prstGeom prst="roundRect">
            <a:avLst>
              <a:gd name="adj" fmla="val 16678"/>
            </a:avLst>
          </a:prstGeom>
          <a:solidFill>
            <a:srgbClr val="16303F"/>
          </a:solidFill>
          <a:ln/>
        </p:spPr>
      </p:sp>
      <p:sp>
        <p:nvSpPr>
          <p:cNvPr id="33" name="Text 31"/>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628650" y="1349722"/>
            <a:ext cx="8077200" cy="638175"/>
          </a:xfrm>
          <a:prstGeom prst="roundRect">
            <a:avLst>
              <a:gd name="adj" fmla="val 5970"/>
            </a:avLst>
          </a:prstGeom>
          <a:solidFill>
            <a:srgbClr val="011627"/>
          </a:solidFill>
          <a:ln/>
        </p:spPr>
      </p:sp>
      <p:sp>
        <p:nvSpPr>
          <p:cNvPr id="4" name="Text 2"/>
          <p:cNvSpPr txBox="1"/>
          <p:nvPr/>
        </p:nvSpPr>
        <p:spPr>
          <a:xfrm>
            <a:off x="704850" y="1435447"/>
            <a:ext cx="7943850" cy="452437"/>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dotnet run</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Weather timeout is 45 seconds.</a:t>
            </a:r>
            <a:endParaRPr lang="en-US" sz="1275" dirty="0"/>
          </a:p>
        </p:txBody>
      </p:sp>
      <p:sp>
        <p:nvSpPr>
          <p:cNvPr id="5" name="Shape 3"/>
          <p:cNvSpPr/>
          <p:nvPr/>
        </p:nvSpPr>
        <p:spPr>
          <a:xfrm>
            <a:off x="628650" y="2277368"/>
            <a:ext cx="38100" cy="533400"/>
          </a:xfrm>
          <a:prstGeom prst="rect">
            <a:avLst/>
          </a:prstGeom>
          <a:solidFill>
            <a:srgbClr val="F4C233"/>
          </a:solidFill>
          <a:ln/>
        </p:spPr>
      </p:sp>
      <p:sp>
        <p:nvSpPr>
          <p:cNvPr id="6" name="Shape 4"/>
          <p:cNvSpPr/>
          <p:nvPr/>
        </p:nvSpPr>
        <p:spPr>
          <a:xfrm>
            <a:off x="788640" y="2447479"/>
            <a:ext cx="1656904" cy="202704"/>
          </a:xfrm>
          <a:prstGeom prst="roundRect">
            <a:avLst>
              <a:gd name="adj" fmla="val 18796"/>
            </a:avLst>
          </a:prstGeom>
          <a:solidFill>
            <a:srgbClr val="16303F">
              <a:alpha val="7000"/>
            </a:srgbClr>
          </a:solidFill>
          <a:ln/>
        </p:spPr>
      </p:sp>
      <p:sp>
        <p:nvSpPr>
          <p:cNvPr id="7" name="Text 5"/>
          <p:cNvSpPr txBox="1"/>
          <p:nvPr/>
        </p:nvSpPr>
        <p:spPr>
          <a:xfrm>
            <a:off x="835223" y="2439293"/>
            <a:ext cx="5160020"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launchSettings.json</a:t>
            </a:r>
            <a:pPr algn="l" indent="0" marL="0">
              <a:buNone/>
            </a:pPr>
            <a:r>
              <a:rPr lang="en-US" sz="1200" b="1" dirty="0">
                <a:solidFill>
                  <a:srgbClr val="16303F"/>
                </a:solidFill>
                <a:latin typeface="Manrope" pitchFamily="34" charset="0"/>
                <a:ea typeface="Manrope" pitchFamily="34" charset="-122"/>
                <a:cs typeface="Manrope" pitchFamily="34" charset="-120"/>
              </a:rPr>
              <a:t> is a development-only file that never deploys.</a:t>
            </a:r>
            <a:endParaRPr lang="en-US" sz="1080" dirty="0"/>
          </a:p>
        </p:txBody>
      </p:sp>
      <p:sp>
        <p:nvSpPr>
          <p:cNvPr id="8" name="Text 6"/>
          <p:cNvSpPr txBox="1"/>
          <p:nvPr/>
        </p:nvSpPr>
        <p:spPr>
          <a:xfrm>
            <a:off x="628650" y="3224064"/>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So the value you carefully set is beaten locally by a file that will not exist in production — where your environment variable is the only thing left.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466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Default provider order</a:t>
            </a:r>
            <a:endParaRPr lang="en-US" sz="2820" dirty="0"/>
          </a:p>
        </p:txBody>
      </p:sp>
      <p:sp>
        <p:nvSpPr>
          <p:cNvPr id="4" name="Shape 2"/>
          <p:cNvSpPr/>
          <p:nvPr/>
        </p:nvSpPr>
        <p:spPr>
          <a:xfrm>
            <a:off x="457200" y="1163241"/>
            <a:ext cx="38100" cy="533400"/>
          </a:xfrm>
          <a:prstGeom prst="rect">
            <a:avLst/>
          </a:prstGeom>
          <a:solidFill>
            <a:srgbClr val="F4C233"/>
          </a:solidFill>
          <a:ln/>
        </p:spPr>
      </p:sp>
      <p:sp>
        <p:nvSpPr>
          <p:cNvPr id="5" name="Text 3"/>
          <p:cNvSpPr txBox="1"/>
          <p:nvPr/>
        </p:nvSpPr>
        <p:spPr>
          <a:xfrm>
            <a:off x="617190" y="1325166"/>
            <a:ext cx="365477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HIGHEST PRECEDENCE first — row 1 beats row 8.</a:t>
            </a:r>
            <a:endParaRPr lang="en-US" sz="1200" dirty="0"/>
          </a:p>
        </p:txBody>
      </p:sp>
      <p:sp>
        <p:nvSpPr>
          <p:cNvPr id="6" name="Shape 4"/>
          <p:cNvSpPr/>
          <p:nvPr/>
        </p:nvSpPr>
        <p:spPr>
          <a:xfrm>
            <a:off x="457200" y="1989088"/>
            <a:ext cx="8420100" cy="9525"/>
          </a:xfrm>
          <a:prstGeom prst="rect">
            <a:avLst/>
          </a:prstGeom>
          <a:solidFill>
            <a:srgbClr val="9CA3AF">
              <a:alpha val="20000"/>
            </a:srgbClr>
          </a:solidFill>
          <a:ln/>
        </p:spPr>
      </p:sp>
      <p:sp>
        <p:nvSpPr>
          <p:cNvPr id="7" name="Shape 5"/>
          <p:cNvSpPr/>
          <p:nvPr/>
        </p:nvSpPr>
        <p:spPr>
          <a:xfrm>
            <a:off x="457200" y="1979563"/>
            <a:ext cx="461665" cy="19050"/>
          </a:xfrm>
          <a:prstGeom prst="rect">
            <a:avLst/>
          </a:prstGeom>
          <a:solidFill>
            <a:srgbClr val="16303F"/>
          </a:solidFill>
          <a:ln/>
        </p:spPr>
      </p:sp>
      <p:sp>
        <p:nvSpPr>
          <p:cNvPr id="8" name="Shape 6"/>
          <p:cNvSpPr/>
          <p:nvPr/>
        </p:nvSpPr>
        <p:spPr>
          <a:xfrm>
            <a:off x="918865" y="1979563"/>
            <a:ext cx="5486400" cy="19050"/>
          </a:xfrm>
          <a:prstGeom prst="rect">
            <a:avLst/>
          </a:prstGeom>
          <a:solidFill>
            <a:srgbClr val="16303F"/>
          </a:solidFill>
          <a:ln/>
        </p:spPr>
      </p:sp>
      <p:sp>
        <p:nvSpPr>
          <p:cNvPr id="9" name="Text 7"/>
          <p:cNvSpPr txBox="1"/>
          <p:nvPr/>
        </p:nvSpPr>
        <p:spPr>
          <a:xfrm>
            <a:off x="1025426" y="17880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10" name="Shape 8"/>
          <p:cNvSpPr/>
          <p:nvPr/>
        </p:nvSpPr>
        <p:spPr>
          <a:xfrm>
            <a:off x="6405265" y="1979563"/>
            <a:ext cx="2472035" cy="19050"/>
          </a:xfrm>
          <a:prstGeom prst="rect">
            <a:avLst/>
          </a:prstGeom>
          <a:solidFill>
            <a:srgbClr val="16303F"/>
          </a:solidFill>
          <a:ln/>
        </p:spPr>
      </p:sp>
      <p:sp>
        <p:nvSpPr>
          <p:cNvPr id="11" name="Shape 9"/>
          <p:cNvSpPr/>
          <p:nvPr/>
        </p:nvSpPr>
        <p:spPr>
          <a:xfrm>
            <a:off x="457200" y="2280493"/>
            <a:ext cx="8420100" cy="9525"/>
          </a:xfrm>
          <a:prstGeom prst="rect">
            <a:avLst/>
          </a:prstGeom>
          <a:solidFill>
            <a:srgbClr val="9CA3AF">
              <a:alpha val="20000"/>
            </a:srgbClr>
          </a:solidFill>
          <a:ln/>
        </p:spPr>
      </p:sp>
      <p:sp>
        <p:nvSpPr>
          <p:cNvPr id="12" name="Shape 10"/>
          <p:cNvSpPr/>
          <p:nvPr/>
        </p:nvSpPr>
        <p:spPr>
          <a:xfrm>
            <a:off x="457200" y="2280493"/>
            <a:ext cx="461665" cy="9525"/>
          </a:xfrm>
          <a:prstGeom prst="rect">
            <a:avLst/>
          </a:prstGeom>
          <a:solidFill>
            <a:srgbClr val="DDD9D2"/>
          </a:solidFill>
          <a:ln/>
        </p:spPr>
      </p:sp>
      <p:sp>
        <p:nvSpPr>
          <p:cNvPr id="13" name="Text 11"/>
          <p:cNvSpPr txBox="1"/>
          <p:nvPr/>
        </p:nvSpPr>
        <p:spPr>
          <a:xfrm>
            <a:off x="563761" y="2060228"/>
            <a:ext cx="16430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1</a:t>
            </a:r>
            <a:endParaRPr lang="en-US" sz="1008" dirty="0"/>
          </a:p>
        </p:txBody>
      </p:sp>
      <p:sp>
        <p:nvSpPr>
          <p:cNvPr id="14" name="Shape 12"/>
          <p:cNvSpPr/>
          <p:nvPr/>
        </p:nvSpPr>
        <p:spPr>
          <a:xfrm>
            <a:off x="918865" y="2280493"/>
            <a:ext cx="5486400" cy="9525"/>
          </a:xfrm>
          <a:prstGeom prst="rect">
            <a:avLst/>
          </a:prstGeom>
          <a:solidFill>
            <a:srgbClr val="DDD9D2"/>
          </a:solidFill>
          <a:ln/>
        </p:spPr>
      </p:sp>
      <p:sp>
        <p:nvSpPr>
          <p:cNvPr id="15" name="Text 13"/>
          <p:cNvSpPr txBox="1"/>
          <p:nvPr/>
        </p:nvSpPr>
        <p:spPr>
          <a:xfrm>
            <a:off x="1025426" y="2060228"/>
            <a:ext cx="17935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Host / chained configuration</a:t>
            </a:r>
            <a:endParaRPr lang="en-US" sz="1008" dirty="0"/>
          </a:p>
        </p:txBody>
      </p:sp>
      <p:sp>
        <p:nvSpPr>
          <p:cNvPr id="16" name="Shape 14"/>
          <p:cNvSpPr/>
          <p:nvPr/>
        </p:nvSpPr>
        <p:spPr>
          <a:xfrm>
            <a:off x="6405265" y="2280493"/>
            <a:ext cx="2472035" cy="9525"/>
          </a:xfrm>
          <a:prstGeom prst="rect">
            <a:avLst/>
          </a:prstGeom>
          <a:solidFill>
            <a:srgbClr val="DDD9D2"/>
          </a:solidFill>
          <a:ln/>
        </p:spPr>
      </p:sp>
      <p:sp>
        <p:nvSpPr>
          <p:cNvPr id="17" name="Text 15"/>
          <p:cNvSpPr txBox="1"/>
          <p:nvPr/>
        </p:nvSpPr>
        <p:spPr>
          <a:xfrm>
            <a:off x="6511826" y="2060228"/>
            <a:ext cx="140612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added LAST, so it wins</a:t>
            </a:r>
            <a:endParaRPr lang="en-US" sz="1008" dirty="0"/>
          </a:p>
        </p:txBody>
      </p:sp>
      <p:sp>
        <p:nvSpPr>
          <p:cNvPr id="18" name="Shape 16"/>
          <p:cNvSpPr/>
          <p:nvPr/>
        </p:nvSpPr>
        <p:spPr>
          <a:xfrm>
            <a:off x="457200" y="2290018"/>
            <a:ext cx="8420100" cy="286643"/>
          </a:xfrm>
          <a:prstGeom prst="rect">
            <a:avLst/>
          </a:prstGeom>
          <a:solidFill>
            <a:srgbClr val="16303F">
              <a:alpha val="3000"/>
            </a:srgbClr>
          </a:solidFill>
          <a:ln/>
        </p:spPr>
      </p:sp>
      <p:sp>
        <p:nvSpPr>
          <p:cNvPr id="19" name="Shape 17"/>
          <p:cNvSpPr/>
          <p:nvPr/>
        </p:nvSpPr>
        <p:spPr>
          <a:xfrm>
            <a:off x="457200" y="2567136"/>
            <a:ext cx="8420100" cy="9525"/>
          </a:xfrm>
          <a:prstGeom prst="rect">
            <a:avLst/>
          </a:prstGeom>
          <a:solidFill>
            <a:srgbClr val="9CA3AF">
              <a:alpha val="20000"/>
            </a:srgbClr>
          </a:solidFill>
          <a:ln/>
        </p:spPr>
      </p:sp>
      <p:sp>
        <p:nvSpPr>
          <p:cNvPr id="20" name="Shape 18"/>
          <p:cNvSpPr/>
          <p:nvPr/>
        </p:nvSpPr>
        <p:spPr>
          <a:xfrm>
            <a:off x="457200" y="2567136"/>
            <a:ext cx="461665" cy="9525"/>
          </a:xfrm>
          <a:prstGeom prst="rect">
            <a:avLst/>
          </a:prstGeom>
          <a:solidFill>
            <a:srgbClr val="DDD9D2"/>
          </a:solidFill>
          <a:ln/>
        </p:spPr>
      </p:sp>
      <p:sp>
        <p:nvSpPr>
          <p:cNvPr id="21" name="Text 19"/>
          <p:cNvSpPr txBox="1"/>
          <p:nvPr/>
        </p:nvSpPr>
        <p:spPr>
          <a:xfrm>
            <a:off x="563761" y="2346871"/>
            <a:ext cx="18737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2</a:t>
            </a:r>
            <a:endParaRPr lang="en-US" sz="1008" dirty="0"/>
          </a:p>
        </p:txBody>
      </p:sp>
      <p:sp>
        <p:nvSpPr>
          <p:cNvPr id="22" name="Shape 20"/>
          <p:cNvSpPr/>
          <p:nvPr/>
        </p:nvSpPr>
        <p:spPr>
          <a:xfrm>
            <a:off x="918865" y="2567136"/>
            <a:ext cx="5486400" cy="9525"/>
          </a:xfrm>
          <a:prstGeom prst="rect">
            <a:avLst/>
          </a:prstGeom>
          <a:solidFill>
            <a:srgbClr val="DDD9D2"/>
          </a:solidFill>
          <a:ln/>
        </p:spPr>
      </p:sp>
      <p:sp>
        <p:nvSpPr>
          <p:cNvPr id="23" name="Text 21"/>
          <p:cNvSpPr txBox="1"/>
          <p:nvPr/>
        </p:nvSpPr>
        <p:spPr>
          <a:xfrm>
            <a:off x="1025426" y="2346871"/>
            <a:ext cx="165303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Command-line arguments</a:t>
            </a:r>
            <a:endParaRPr lang="en-US" sz="1008" dirty="0"/>
          </a:p>
        </p:txBody>
      </p:sp>
      <p:sp>
        <p:nvSpPr>
          <p:cNvPr id="24" name="Shape 22"/>
          <p:cNvSpPr/>
          <p:nvPr/>
        </p:nvSpPr>
        <p:spPr>
          <a:xfrm>
            <a:off x="6405265" y="2567136"/>
            <a:ext cx="2472035" cy="9525"/>
          </a:xfrm>
          <a:prstGeom prst="rect">
            <a:avLst/>
          </a:prstGeom>
          <a:solidFill>
            <a:srgbClr val="DDD9D2"/>
          </a:solidFill>
          <a:ln/>
        </p:spPr>
      </p:sp>
      <p:sp>
        <p:nvSpPr>
          <p:cNvPr id="25" name="Text 23"/>
          <p:cNvSpPr txBox="1"/>
          <p:nvPr/>
        </p:nvSpPr>
        <p:spPr>
          <a:xfrm>
            <a:off x="6511826" y="2346871"/>
            <a:ext cx="146744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the provider runs twice</a:t>
            </a:r>
            <a:endParaRPr lang="en-US" sz="1008" dirty="0"/>
          </a:p>
        </p:txBody>
      </p:sp>
      <p:sp>
        <p:nvSpPr>
          <p:cNvPr id="26" name="Shape 24"/>
          <p:cNvSpPr/>
          <p:nvPr/>
        </p:nvSpPr>
        <p:spPr>
          <a:xfrm>
            <a:off x="457200" y="2853779"/>
            <a:ext cx="8420100" cy="9525"/>
          </a:xfrm>
          <a:prstGeom prst="rect">
            <a:avLst/>
          </a:prstGeom>
          <a:solidFill>
            <a:srgbClr val="9CA3AF">
              <a:alpha val="20000"/>
            </a:srgbClr>
          </a:solidFill>
          <a:ln/>
        </p:spPr>
      </p:sp>
      <p:sp>
        <p:nvSpPr>
          <p:cNvPr id="27" name="Shape 25"/>
          <p:cNvSpPr/>
          <p:nvPr/>
        </p:nvSpPr>
        <p:spPr>
          <a:xfrm>
            <a:off x="457200" y="2853779"/>
            <a:ext cx="461665" cy="9525"/>
          </a:xfrm>
          <a:prstGeom prst="rect">
            <a:avLst/>
          </a:prstGeom>
          <a:solidFill>
            <a:srgbClr val="DDD9D2"/>
          </a:solidFill>
          <a:ln/>
        </p:spPr>
      </p:sp>
      <p:sp>
        <p:nvSpPr>
          <p:cNvPr id="28" name="Text 26"/>
          <p:cNvSpPr txBox="1"/>
          <p:nvPr/>
        </p:nvSpPr>
        <p:spPr>
          <a:xfrm>
            <a:off x="563761" y="2633514"/>
            <a:ext cx="18514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3</a:t>
            </a:r>
            <a:endParaRPr lang="en-US" sz="1008" dirty="0"/>
          </a:p>
        </p:txBody>
      </p:sp>
      <p:sp>
        <p:nvSpPr>
          <p:cNvPr id="29" name="Shape 27"/>
          <p:cNvSpPr/>
          <p:nvPr/>
        </p:nvSpPr>
        <p:spPr>
          <a:xfrm>
            <a:off x="918865" y="2853779"/>
            <a:ext cx="5486400" cy="9525"/>
          </a:xfrm>
          <a:prstGeom prst="rect">
            <a:avLst/>
          </a:prstGeom>
          <a:solidFill>
            <a:srgbClr val="DDD9D2"/>
          </a:solidFill>
          <a:ln/>
        </p:spPr>
      </p:sp>
      <p:sp>
        <p:nvSpPr>
          <p:cNvPr id="30" name="Text 28"/>
          <p:cNvSpPr txBox="1"/>
          <p:nvPr/>
        </p:nvSpPr>
        <p:spPr>
          <a:xfrm>
            <a:off x="1025426" y="2633514"/>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6405265" y="2853779"/>
            <a:ext cx="2472035" cy="9525"/>
          </a:xfrm>
          <a:prstGeom prst="rect">
            <a:avLst/>
          </a:prstGeom>
          <a:solidFill>
            <a:srgbClr val="DDD9D2"/>
          </a:solidFill>
          <a:ln/>
        </p:spPr>
      </p:sp>
      <p:sp>
        <p:nvSpPr>
          <p:cNvPr id="32" name="Text 30"/>
          <p:cNvSpPr txBox="1"/>
          <p:nvPr/>
        </p:nvSpPr>
        <p:spPr>
          <a:xfrm>
            <a:off x="6511826" y="2633514"/>
            <a:ext cx="75470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unprefixed</a:t>
            </a:r>
            <a:endParaRPr lang="en-US" sz="1008" dirty="0"/>
          </a:p>
        </p:txBody>
      </p:sp>
      <p:sp>
        <p:nvSpPr>
          <p:cNvPr id="33" name="Shape 31"/>
          <p:cNvSpPr/>
          <p:nvPr/>
        </p:nvSpPr>
        <p:spPr>
          <a:xfrm>
            <a:off x="457200" y="2863304"/>
            <a:ext cx="8420100" cy="286643"/>
          </a:xfrm>
          <a:prstGeom prst="rect">
            <a:avLst/>
          </a:prstGeom>
          <a:solidFill>
            <a:srgbClr val="16303F">
              <a:alpha val="3000"/>
            </a:srgbClr>
          </a:solidFill>
          <a:ln/>
        </p:spPr>
      </p:sp>
      <p:sp>
        <p:nvSpPr>
          <p:cNvPr id="34" name="Shape 32"/>
          <p:cNvSpPr/>
          <p:nvPr/>
        </p:nvSpPr>
        <p:spPr>
          <a:xfrm>
            <a:off x="457200" y="3140422"/>
            <a:ext cx="8420100" cy="9525"/>
          </a:xfrm>
          <a:prstGeom prst="rect">
            <a:avLst/>
          </a:prstGeom>
          <a:solidFill>
            <a:srgbClr val="9CA3AF">
              <a:alpha val="20000"/>
            </a:srgbClr>
          </a:solidFill>
          <a:ln/>
        </p:spPr>
      </p:sp>
      <p:sp>
        <p:nvSpPr>
          <p:cNvPr id="35" name="Shape 33"/>
          <p:cNvSpPr/>
          <p:nvPr/>
        </p:nvSpPr>
        <p:spPr>
          <a:xfrm>
            <a:off x="457200" y="3140422"/>
            <a:ext cx="461665" cy="9525"/>
          </a:xfrm>
          <a:prstGeom prst="rect">
            <a:avLst/>
          </a:prstGeom>
          <a:solidFill>
            <a:srgbClr val="DDD9D2"/>
          </a:solidFill>
          <a:ln/>
        </p:spPr>
      </p:sp>
      <p:sp>
        <p:nvSpPr>
          <p:cNvPr id="36" name="Text 34"/>
          <p:cNvSpPr txBox="1"/>
          <p:nvPr/>
        </p:nvSpPr>
        <p:spPr>
          <a:xfrm>
            <a:off x="563761" y="2920157"/>
            <a:ext cx="18990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4</a:t>
            </a:r>
            <a:endParaRPr lang="en-US" sz="1008" dirty="0"/>
          </a:p>
        </p:txBody>
      </p:sp>
      <p:sp>
        <p:nvSpPr>
          <p:cNvPr id="37" name="Shape 35"/>
          <p:cNvSpPr/>
          <p:nvPr/>
        </p:nvSpPr>
        <p:spPr>
          <a:xfrm>
            <a:off x="918865" y="3140422"/>
            <a:ext cx="5486400" cy="9525"/>
          </a:xfrm>
          <a:prstGeom prst="rect">
            <a:avLst/>
          </a:prstGeom>
          <a:solidFill>
            <a:srgbClr val="DDD9D2"/>
          </a:solidFill>
          <a:ln/>
        </p:spPr>
      </p:sp>
      <p:sp>
        <p:nvSpPr>
          <p:cNvPr id="38" name="Text 36"/>
          <p:cNvSpPr txBox="1"/>
          <p:nvPr/>
        </p:nvSpPr>
        <p:spPr>
          <a:xfrm>
            <a:off x="1025426" y="2920157"/>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39" name="Shape 37"/>
          <p:cNvSpPr/>
          <p:nvPr/>
        </p:nvSpPr>
        <p:spPr>
          <a:xfrm>
            <a:off x="6405265" y="3140422"/>
            <a:ext cx="2472035" cy="9525"/>
          </a:xfrm>
          <a:prstGeom prst="rect">
            <a:avLst/>
          </a:prstGeom>
          <a:solidFill>
            <a:srgbClr val="DDD9D2"/>
          </a:solidFill>
          <a:ln/>
        </p:spPr>
      </p:sp>
      <p:sp>
        <p:nvSpPr>
          <p:cNvPr id="40" name="Text 38"/>
          <p:cNvSpPr txBox="1"/>
          <p:nvPr/>
        </p:nvSpPr>
        <p:spPr>
          <a:xfrm>
            <a:off x="6511826" y="2920157"/>
            <a:ext cx="11744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Development only</a:t>
            </a:r>
            <a:endParaRPr lang="en-US" sz="1008" dirty="0"/>
          </a:p>
        </p:txBody>
      </p:sp>
      <p:sp>
        <p:nvSpPr>
          <p:cNvPr id="41" name="Shape 39"/>
          <p:cNvSpPr/>
          <p:nvPr/>
        </p:nvSpPr>
        <p:spPr>
          <a:xfrm>
            <a:off x="457200" y="3430637"/>
            <a:ext cx="8420100" cy="9525"/>
          </a:xfrm>
          <a:prstGeom prst="rect">
            <a:avLst/>
          </a:prstGeom>
          <a:solidFill>
            <a:srgbClr val="9CA3AF">
              <a:alpha val="20000"/>
            </a:srgbClr>
          </a:solidFill>
          <a:ln/>
        </p:spPr>
      </p:sp>
      <p:sp>
        <p:nvSpPr>
          <p:cNvPr id="42" name="Shape 40"/>
          <p:cNvSpPr/>
          <p:nvPr/>
        </p:nvSpPr>
        <p:spPr>
          <a:xfrm>
            <a:off x="457200" y="3430637"/>
            <a:ext cx="461665" cy="9525"/>
          </a:xfrm>
          <a:prstGeom prst="rect">
            <a:avLst/>
          </a:prstGeom>
          <a:solidFill>
            <a:srgbClr val="DDD9D2"/>
          </a:solidFill>
          <a:ln/>
        </p:spPr>
      </p:sp>
      <p:sp>
        <p:nvSpPr>
          <p:cNvPr id="43" name="Text 41"/>
          <p:cNvSpPr txBox="1"/>
          <p:nvPr/>
        </p:nvSpPr>
        <p:spPr>
          <a:xfrm>
            <a:off x="563761" y="3206800"/>
            <a:ext cx="188268"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5</a:t>
            </a:r>
            <a:endParaRPr lang="en-US" sz="1008" dirty="0"/>
          </a:p>
        </p:txBody>
      </p:sp>
      <p:sp>
        <p:nvSpPr>
          <p:cNvPr id="44" name="Shape 42"/>
          <p:cNvSpPr/>
          <p:nvPr/>
        </p:nvSpPr>
        <p:spPr>
          <a:xfrm>
            <a:off x="918865" y="3430637"/>
            <a:ext cx="5486400" cy="9525"/>
          </a:xfrm>
          <a:prstGeom prst="rect">
            <a:avLst/>
          </a:prstGeom>
          <a:solidFill>
            <a:srgbClr val="DDD9D2"/>
          </a:solidFill>
          <a:ln/>
        </p:spPr>
      </p:sp>
      <p:sp>
        <p:nvSpPr>
          <p:cNvPr id="45" name="Shape 43"/>
          <p:cNvSpPr/>
          <p:nvPr/>
        </p:nvSpPr>
        <p:spPr>
          <a:xfrm>
            <a:off x="1025426" y="3206948"/>
            <a:ext cx="3263354" cy="180677"/>
          </a:xfrm>
          <a:prstGeom prst="roundRect">
            <a:avLst>
              <a:gd name="adj" fmla="val 21087"/>
            </a:avLst>
          </a:prstGeom>
          <a:solidFill>
            <a:srgbClr val="16303F">
              <a:alpha val="7000"/>
            </a:srgbClr>
          </a:solidFill>
          <a:ln/>
        </p:spPr>
      </p:sp>
      <p:sp>
        <p:nvSpPr>
          <p:cNvPr id="46" name="Text 44"/>
          <p:cNvSpPr txBox="1"/>
          <p:nvPr/>
        </p:nvSpPr>
        <p:spPr>
          <a:xfrm>
            <a:off x="968276" y="3206948"/>
            <a:ext cx="3377654"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927" dirty="0"/>
          </a:p>
        </p:txBody>
      </p:sp>
      <p:sp>
        <p:nvSpPr>
          <p:cNvPr id="47" name="Shape 45"/>
          <p:cNvSpPr/>
          <p:nvPr/>
        </p:nvSpPr>
        <p:spPr>
          <a:xfrm>
            <a:off x="6405265" y="3430637"/>
            <a:ext cx="2472035" cy="9525"/>
          </a:xfrm>
          <a:prstGeom prst="rect">
            <a:avLst/>
          </a:prstGeom>
          <a:solidFill>
            <a:srgbClr val="DDD9D2"/>
          </a:solidFill>
          <a:ln/>
        </p:spPr>
      </p:sp>
      <p:sp>
        <p:nvSpPr>
          <p:cNvPr id="48" name="Shape 46"/>
          <p:cNvSpPr/>
          <p:nvPr/>
        </p:nvSpPr>
        <p:spPr>
          <a:xfrm>
            <a:off x="457200" y="3440162"/>
            <a:ext cx="8420100" cy="290215"/>
          </a:xfrm>
          <a:prstGeom prst="rect">
            <a:avLst/>
          </a:prstGeom>
          <a:solidFill>
            <a:srgbClr val="16303F">
              <a:alpha val="3000"/>
            </a:srgbClr>
          </a:solidFill>
          <a:ln/>
        </p:spPr>
      </p:sp>
      <p:sp>
        <p:nvSpPr>
          <p:cNvPr id="49" name="Shape 47"/>
          <p:cNvSpPr/>
          <p:nvPr/>
        </p:nvSpPr>
        <p:spPr>
          <a:xfrm>
            <a:off x="457200" y="3720852"/>
            <a:ext cx="8420100" cy="9525"/>
          </a:xfrm>
          <a:prstGeom prst="rect">
            <a:avLst/>
          </a:prstGeom>
          <a:solidFill>
            <a:srgbClr val="9CA3AF">
              <a:alpha val="20000"/>
            </a:srgbClr>
          </a:solidFill>
          <a:ln/>
        </p:spPr>
      </p:sp>
      <p:sp>
        <p:nvSpPr>
          <p:cNvPr id="50" name="Shape 48"/>
          <p:cNvSpPr/>
          <p:nvPr/>
        </p:nvSpPr>
        <p:spPr>
          <a:xfrm>
            <a:off x="457200" y="3720852"/>
            <a:ext cx="461665" cy="9525"/>
          </a:xfrm>
          <a:prstGeom prst="rect">
            <a:avLst/>
          </a:prstGeom>
          <a:solidFill>
            <a:srgbClr val="DDD9D2"/>
          </a:solidFill>
          <a:ln/>
        </p:spPr>
      </p:sp>
      <p:sp>
        <p:nvSpPr>
          <p:cNvPr id="51" name="Text 49"/>
          <p:cNvSpPr txBox="1"/>
          <p:nvPr/>
        </p:nvSpPr>
        <p:spPr>
          <a:xfrm>
            <a:off x="563761" y="3497014"/>
            <a:ext cx="19377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6</a:t>
            </a:r>
            <a:endParaRPr lang="en-US" sz="1008" dirty="0"/>
          </a:p>
        </p:txBody>
      </p:sp>
      <p:sp>
        <p:nvSpPr>
          <p:cNvPr id="52" name="Shape 50"/>
          <p:cNvSpPr/>
          <p:nvPr/>
        </p:nvSpPr>
        <p:spPr>
          <a:xfrm>
            <a:off x="918865" y="3720852"/>
            <a:ext cx="5486400" cy="9525"/>
          </a:xfrm>
          <a:prstGeom prst="rect">
            <a:avLst/>
          </a:prstGeom>
          <a:solidFill>
            <a:srgbClr val="DDD9D2"/>
          </a:solidFill>
          <a:ln/>
        </p:spPr>
      </p:sp>
      <p:sp>
        <p:nvSpPr>
          <p:cNvPr id="53" name="Shape 51"/>
          <p:cNvSpPr/>
          <p:nvPr/>
        </p:nvSpPr>
        <p:spPr>
          <a:xfrm>
            <a:off x="1025426" y="3497163"/>
            <a:ext cx="2274391" cy="180677"/>
          </a:xfrm>
          <a:prstGeom prst="roundRect">
            <a:avLst>
              <a:gd name="adj" fmla="val 21087"/>
            </a:avLst>
          </a:prstGeom>
          <a:solidFill>
            <a:srgbClr val="16303F">
              <a:alpha val="7000"/>
            </a:srgbClr>
          </a:solidFill>
          <a:ln/>
        </p:spPr>
      </p:sp>
      <p:sp>
        <p:nvSpPr>
          <p:cNvPr id="54" name="Text 52"/>
          <p:cNvSpPr txBox="1"/>
          <p:nvPr/>
        </p:nvSpPr>
        <p:spPr>
          <a:xfrm>
            <a:off x="968276" y="3497163"/>
            <a:ext cx="238869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{ApplicationName}.settings.json</a:t>
            </a:r>
            <a:endParaRPr lang="en-US" sz="927" dirty="0"/>
          </a:p>
        </p:txBody>
      </p:sp>
      <p:sp>
        <p:nvSpPr>
          <p:cNvPr id="55" name="Shape 53"/>
          <p:cNvSpPr/>
          <p:nvPr/>
        </p:nvSpPr>
        <p:spPr>
          <a:xfrm>
            <a:off x="6405265" y="3720852"/>
            <a:ext cx="2472035" cy="9525"/>
          </a:xfrm>
          <a:prstGeom prst="rect">
            <a:avLst/>
          </a:prstGeom>
          <a:solidFill>
            <a:srgbClr val="DDD9D2"/>
          </a:solidFill>
          <a:ln/>
        </p:spPr>
      </p:sp>
      <p:sp>
        <p:nvSpPr>
          <p:cNvPr id="56" name="Shape 54"/>
          <p:cNvSpPr/>
          <p:nvPr/>
        </p:nvSpPr>
        <p:spPr>
          <a:xfrm>
            <a:off x="457200" y="4011067"/>
            <a:ext cx="8420100" cy="9525"/>
          </a:xfrm>
          <a:prstGeom prst="rect">
            <a:avLst/>
          </a:prstGeom>
          <a:solidFill>
            <a:srgbClr val="9CA3AF">
              <a:alpha val="20000"/>
            </a:srgbClr>
          </a:solidFill>
          <a:ln/>
        </p:spPr>
      </p:sp>
      <p:sp>
        <p:nvSpPr>
          <p:cNvPr id="57" name="Shape 55"/>
          <p:cNvSpPr/>
          <p:nvPr/>
        </p:nvSpPr>
        <p:spPr>
          <a:xfrm>
            <a:off x="457200" y="4011067"/>
            <a:ext cx="461665" cy="9525"/>
          </a:xfrm>
          <a:prstGeom prst="rect">
            <a:avLst/>
          </a:prstGeom>
          <a:solidFill>
            <a:srgbClr val="DDD9D2"/>
          </a:solidFill>
          <a:ln/>
        </p:spPr>
      </p:sp>
      <p:sp>
        <p:nvSpPr>
          <p:cNvPr id="58" name="Text 56"/>
          <p:cNvSpPr txBox="1"/>
          <p:nvPr/>
        </p:nvSpPr>
        <p:spPr>
          <a:xfrm>
            <a:off x="563761" y="3787229"/>
            <a:ext cx="17859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7</a:t>
            </a:r>
            <a:endParaRPr lang="en-US" sz="1008" dirty="0"/>
          </a:p>
        </p:txBody>
      </p:sp>
      <p:sp>
        <p:nvSpPr>
          <p:cNvPr id="59" name="Shape 57"/>
          <p:cNvSpPr/>
          <p:nvPr/>
        </p:nvSpPr>
        <p:spPr>
          <a:xfrm>
            <a:off x="918865" y="4011067"/>
            <a:ext cx="5486400" cy="9525"/>
          </a:xfrm>
          <a:prstGeom prst="rect">
            <a:avLst/>
          </a:prstGeom>
          <a:solidFill>
            <a:srgbClr val="DDD9D2"/>
          </a:solidFill>
          <a:ln/>
        </p:spPr>
      </p:sp>
      <p:sp>
        <p:nvSpPr>
          <p:cNvPr id="60" name="Shape 58"/>
          <p:cNvSpPr/>
          <p:nvPr/>
        </p:nvSpPr>
        <p:spPr>
          <a:xfrm>
            <a:off x="1025426" y="3787378"/>
            <a:ext cx="2203698" cy="180677"/>
          </a:xfrm>
          <a:prstGeom prst="roundRect">
            <a:avLst>
              <a:gd name="adj" fmla="val 21087"/>
            </a:avLst>
          </a:prstGeom>
          <a:solidFill>
            <a:srgbClr val="16303F">
              <a:alpha val="7000"/>
            </a:srgbClr>
          </a:solidFill>
          <a:ln/>
        </p:spPr>
      </p:sp>
      <p:sp>
        <p:nvSpPr>
          <p:cNvPr id="61" name="Text 59"/>
          <p:cNvSpPr txBox="1"/>
          <p:nvPr/>
        </p:nvSpPr>
        <p:spPr>
          <a:xfrm>
            <a:off x="968276" y="3787378"/>
            <a:ext cx="2317998"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appsettings.{Environment}.json</a:t>
            </a:r>
            <a:endParaRPr lang="en-US" sz="927" dirty="0"/>
          </a:p>
        </p:txBody>
      </p:sp>
      <p:sp>
        <p:nvSpPr>
          <p:cNvPr id="62" name="Shape 60"/>
          <p:cNvSpPr/>
          <p:nvPr/>
        </p:nvSpPr>
        <p:spPr>
          <a:xfrm>
            <a:off x="6405265" y="4011067"/>
            <a:ext cx="2472035" cy="9525"/>
          </a:xfrm>
          <a:prstGeom prst="rect">
            <a:avLst/>
          </a:prstGeom>
          <a:solidFill>
            <a:srgbClr val="DDD9D2"/>
          </a:solidFill>
          <a:ln/>
        </p:spPr>
      </p:sp>
      <p:sp>
        <p:nvSpPr>
          <p:cNvPr id="63" name="Shape 61"/>
          <p:cNvSpPr/>
          <p:nvPr/>
        </p:nvSpPr>
        <p:spPr>
          <a:xfrm>
            <a:off x="457200" y="4020592"/>
            <a:ext cx="8420100" cy="290215"/>
          </a:xfrm>
          <a:prstGeom prst="rect">
            <a:avLst/>
          </a:prstGeom>
          <a:solidFill>
            <a:srgbClr val="16303F">
              <a:alpha val="3000"/>
            </a:srgbClr>
          </a:solidFill>
          <a:ln/>
        </p:spPr>
      </p:sp>
      <p:sp>
        <p:nvSpPr>
          <p:cNvPr id="64" name="Shape 62"/>
          <p:cNvSpPr/>
          <p:nvPr/>
        </p:nvSpPr>
        <p:spPr>
          <a:xfrm>
            <a:off x="457200" y="4301282"/>
            <a:ext cx="8420100" cy="9525"/>
          </a:xfrm>
          <a:prstGeom prst="rect">
            <a:avLst/>
          </a:prstGeom>
          <a:solidFill>
            <a:srgbClr val="9CA3AF">
              <a:alpha val="20000"/>
            </a:srgbClr>
          </a:solidFill>
          <a:ln/>
        </p:spPr>
      </p:sp>
      <p:sp>
        <p:nvSpPr>
          <p:cNvPr id="65" name="Shape 63"/>
          <p:cNvSpPr/>
          <p:nvPr/>
        </p:nvSpPr>
        <p:spPr>
          <a:xfrm>
            <a:off x="457200" y="4301282"/>
            <a:ext cx="461665" cy="9525"/>
          </a:xfrm>
          <a:prstGeom prst="rect">
            <a:avLst/>
          </a:prstGeom>
          <a:solidFill>
            <a:srgbClr val="DDD9D2"/>
          </a:solidFill>
          <a:ln/>
        </p:spPr>
      </p:sp>
      <p:sp>
        <p:nvSpPr>
          <p:cNvPr id="66" name="Text 64"/>
          <p:cNvSpPr txBox="1"/>
          <p:nvPr/>
        </p:nvSpPr>
        <p:spPr>
          <a:xfrm>
            <a:off x="563761" y="4077444"/>
            <a:ext cx="18871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8</a:t>
            </a:r>
            <a:endParaRPr lang="en-US" sz="1008" dirty="0"/>
          </a:p>
        </p:txBody>
      </p:sp>
      <p:sp>
        <p:nvSpPr>
          <p:cNvPr id="67" name="Shape 65"/>
          <p:cNvSpPr/>
          <p:nvPr/>
        </p:nvSpPr>
        <p:spPr>
          <a:xfrm>
            <a:off x="918865" y="4301282"/>
            <a:ext cx="5486400" cy="9525"/>
          </a:xfrm>
          <a:prstGeom prst="rect">
            <a:avLst/>
          </a:prstGeom>
          <a:solidFill>
            <a:srgbClr val="DDD9D2"/>
          </a:solidFill>
          <a:ln/>
        </p:spPr>
      </p:sp>
      <p:sp>
        <p:nvSpPr>
          <p:cNvPr id="68" name="Shape 66"/>
          <p:cNvSpPr/>
          <p:nvPr/>
        </p:nvSpPr>
        <p:spPr>
          <a:xfrm>
            <a:off x="1025426" y="4077593"/>
            <a:ext cx="1214735" cy="180677"/>
          </a:xfrm>
          <a:prstGeom prst="roundRect">
            <a:avLst>
              <a:gd name="adj" fmla="val 21087"/>
            </a:avLst>
          </a:prstGeom>
          <a:solidFill>
            <a:srgbClr val="16303F">
              <a:alpha val="7000"/>
            </a:srgbClr>
          </a:solidFill>
          <a:ln/>
        </p:spPr>
      </p:sp>
      <p:sp>
        <p:nvSpPr>
          <p:cNvPr id="69" name="Text 67"/>
          <p:cNvSpPr txBox="1"/>
          <p:nvPr/>
        </p:nvSpPr>
        <p:spPr>
          <a:xfrm>
            <a:off x="968276" y="4077593"/>
            <a:ext cx="1329035"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70" name="Shape 68"/>
          <p:cNvSpPr/>
          <p:nvPr/>
        </p:nvSpPr>
        <p:spPr>
          <a:xfrm>
            <a:off x="6405265" y="4301282"/>
            <a:ext cx="2472035" cy="9525"/>
          </a:xfrm>
          <a:prstGeom prst="rect">
            <a:avLst/>
          </a:prstGeom>
          <a:solidFill>
            <a:srgbClr val="DDD9D2"/>
          </a:solidFill>
          <a:ln/>
        </p:spPr>
      </p:sp>
      <p:sp>
        <p:nvSpPr>
          <p:cNvPr id="71" name="Text 69"/>
          <p:cNvSpPr txBox="1"/>
          <p:nvPr/>
        </p:nvSpPr>
        <p:spPr>
          <a:xfrm>
            <a:off x="457200" y="4637484"/>
            <a:ext cx="624899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Rows 5 and 6 are the ones almost nobody knows exist — and they apply to web apps too.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468957"/>
            <a:ext cx="597425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host reads configuration in two passes</a:t>
            </a:r>
            <a:endParaRPr lang="en-US" sz="2280" dirty="0"/>
          </a:p>
        </p:txBody>
      </p:sp>
      <p:sp>
        <p:nvSpPr>
          <p:cNvPr id="4" name="Shape 2"/>
          <p:cNvSpPr/>
          <p:nvPr/>
        </p:nvSpPr>
        <p:spPr>
          <a:xfrm>
            <a:off x="628650" y="1137791"/>
            <a:ext cx="8077200" cy="3452813"/>
          </a:xfrm>
          <a:prstGeom prst="roundRect">
            <a:avLst>
              <a:gd name="adj" fmla="val 1103"/>
            </a:avLst>
          </a:prstGeom>
          <a:solidFill>
            <a:srgbClr val="011627"/>
          </a:solidFill>
          <a:ln/>
        </p:spPr>
      </p:sp>
      <p:sp>
        <p:nvSpPr>
          <p:cNvPr id="5" name="Text 3"/>
          <p:cNvSpPr txBox="1"/>
          <p:nvPr/>
        </p:nvSpPr>
        <p:spPr>
          <a:xfrm>
            <a:off x="704850" y="1223516"/>
            <a:ext cx="8002307" cy="3274219"/>
          </a:xfrm>
          <a:prstGeom prst="rect">
            <a:avLst/>
          </a:prstGeom>
          <a:noFill/>
          <a:ln/>
        </p:spPr>
        <p:txBody>
          <a:bodyPr wrap="square" lIns="0" tIns="0" rIns="0" bIns="0" rtlCol="0" anchor="t"/>
          <a:lstStyle/>
          <a:p>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 dotnet run --environment Staging</a:t>
            </a:r>
            <a:br/>
            <a:pPr algn="l" indent="0" marL="0">
              <a:lnSpc>
                <a:spcPts val="1856"/>
              </a:lnSpc>
              <a:buNone/>
            </a:pP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MemoryConfigurationProvider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 Prefix: 'ASPNETCORE_'</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MemoryConfigurationProvider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 Prefix: 'DOTNET_'</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CommandLineConfigurationProvider                        &lt;--  picks which file loads</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'appsettings.json'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'appsettings.Staging.json'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'web.settings.json'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JsonConfigurationProvider for 'web.settings.Staging.json'</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EnvironmentVariablesConfigurationProvider</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CommandLineConfigurationProvider                        &lt;--  wins the final read</a:t>
            </a:r>
            <a:br/>
            <a:pPr algn="l" indent="0" marL="0">
              <a:lnSpc>
                <a:spcPts val="1856"/>
              </a:lnSpc>
              <a:buNone/>
            </a:pPr>
            <a:r>
              <a:rPr lang="en-US" sz="1238" dirty="0">
                <a:solidFill>
                  <a:srgbClr val="D6DEEB"/>
                </a:solidFill>
                <a:latin typeface="JetBrains Mono" pitchFamily="34" charset="0"/>
                <a:ea typeface="JetBrains Mono" pitchFamily="34" charset="-122"/>
                <a:cs typeface="JetBrains Mono" pitchFamily="34" charset="-120"/>
              </a:rPr>
              <a:t>ChainedConfigurationProvider</a:t>
            </a:r>
            <a:endParaRPr lang="en-US" sz="1238"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15557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Same key. Four winners.</a:t>
            </a:r>
            <a:endParaRPr lang="en-US" sz="2820" dirty="0"/>
          </a:p>
        </p:txBody>
      </p:sp>
      <p:sp>
        <p:nvSpPr>
          <p:cNvPr id="4" name="Shape 2"/>
          <p:cNvSpPr/>
          <p:nvPr/>
        </p:nvSpPr>
        <p:spPr>
          <a:xfrm>
            <a:off x="457200" y="1231553"/>
            <a:ext cx="8420100" cy="9525"/>
          </a:xfrm>
          <a:prstGeom prst="rect">
            <a:avLst/>
          </a:prstGeom>
          <a:solidFill>
            <a:srgbClr val="9CA3AF">
              <a:alpha val="20000"/>
            </a:srgbClr>
          </a:solidFill>
          <a:ln/>
        </p:spPr>
      </p:sp>
      <p:sp>
        <p:nvSpPr>
          <p:cNvPr id="5" name="Shape 3"/>
          <p:cNvSpPr/>
          <p:nvPr/>
        </p:nvSpPr>
        <p:spPr>
          <a:xfrm>
            <a:off x="457200" y="1222028"/>
            <a:ext cx="7144792" cy="19050"/>
          </a:xfrm>
          <a:prstGeom prst="rect">
            <a:avLst/>
          </a:prstGeom>
          <a:solidFill>
            <a:srgbClr val="16303F"/>
          </a:solidFill>
          <a:ln/>
        </p:spPr>
      </p:sp>
      <p:sp>
        <p:nvSpPr>
          <p:cNvPr id="6" name="Shape 4"/>
          <p:cNvSpPr/>
          <p:nvPr/>
        </p:nvSpPr>
        <p:spPr>
          <a:xfrm>
            <a:off x="7601992" y="1222028"/>
            <a:ext cx="1275308" cy="19050"/>
          </a:xfrm>
          <a:prstGeom prst="rect">
            <a:avLst/>
          </a:prstGeom>
          <a:solidFill>
            <a:srgbClr val="16303F"/>
          </a:solidFill>
          <a:ln/>
        </p:spPr>
      </p:sp>
      <p:sp>
        <p:nvSpPr>
          <p:cNvPr id="7" name="Shape 5"/>
          <p:cNvSpPr/>
          <p:nvPr/>
        </p:nvSpPr>
        <p:spPr>
          <a:xfrm>
            <a:off x="457200" y="1577876"/>
            <a:ext cx="8420100" cy="9525"/>
          </a:xfrm>
          <a:prstGeom prst="rect">
            <a:avLst/>
          </a:prstGeom>
          <a:solidFill>
            <a:srgbClr val="9CA3AF">
              <a:alpha val="20000"/>
            </a:srgbClr>
          </a:solidFill>
          <a:ln/>
        </p:spPr>
      </p:sp>
      <p:sp>
        <p:nvSpPr>
          <p:cNvPr id="8" name="Shape 6"/>
          <p:cNvSpPr/>
          <p:nvPr/>
        </p:nvSpPr>
        <p:spPr>
          <a:xfrm>
            <a:off x="457200" y="1577876"/>
            <a:ext cx="7144792" cy="9525"/>
          </a:xfrm>
          <a:prstGeom prst="rect">
            <a:avLst/>
          </a:prstGeom>
          <a:solidFill>
            <a:srgbClr val="DDD9D2"/>
          </a:solidFill>
          <a:ln/>
        </p:spPr>
      </p:sp>
      <p:sp>
        <p:nvSpPr>
          <p:cNvPr id="9" name="Shape 7"/>
          <p:cNvSpPr/>
          <p:nvPr/>
        </p:nvSpPr>
        <p:spPr>
          <a:xfrm>
            <a:off x="563761" y="1333351"/>
            <a:ext cx="1272927" cy="181570"/>
          </a:xfrm>
          <a:prstGeom prst="roundRect">
            <a:avLst>
              <a:gd name="adj" fmla="val 20984"/>
            </a:avLst>
          </a:prstGeom>
          <a:solidFill>
            <a:srgbClr val="16303F">
              <a:alpha val="7000"/>
            </a:srgbClr>
          </a:solidFill>
          <a:ln/>
        </p:spPr>
      </p:sp>
      <p:sp>
        <p:nvSpPr>
          <p:cNvPr id="10" name="Text 8"/>
          <p:cNvSpPr txBox="1"/>
          <p:nvPr/>
        </p:nvSpPr>
        <p:spPr>
          <a:xfrm>
            <a:off x="506611" y="1333351"/>
            <a:ext cx="1387227"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endParaRPr lang="en-US" sz="972" dirty="0"/>
          </a:p>
        </p:txBody>
      </p:sp>
      <p:sp>
        <p:nvSpPr>
          <p:cNvPr id="11" name="Shape 9"/>
          <p:cNvSpPr/>
          <p:nvPr/>
        </p:nvSpPr>
        <p:spPr>
          <a:xfrm>
            <a:off x="7601992" y="1577876"/>
            <a:ext cx="1275308" cy="9525"/>
          </a:xfrm>
          <a:prstGeom prst="rect">
            <a:avLst/>
          </a:prstGeom>
          <a:solidFill>
            <a:srgbClr val="DDD9D2"/>
          </a:solidFill>
          <a:ln/>
        </p:spPr>
      </p:sp>
      <p:sp>
        <p:nvSpPr>
          <p:cNvPr id="12" name="Text 10"/>
          <p:cNvSpPr txBox="1"/>
          <p:nvPr/>
        </p:nvSpPr>
        <p:spPr>
          <a:xfrm>
            <a:off x="7708553" y="1324124"/>
            <a:ext cx="27042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30</a:t>
            </a:r>
            <a:endParaRPr lang="en-US" sz="1056" dirty="0"/>
          </a:p>
        </p:txBody>
      </p:sp>
      <p:sp>
        <p:nvSpPr>
          <p:cNvPr id="13" name="Shape 11"/>
          <p:cNvSpPr/>
          <p:nvPr/>
        </p:nvSpPr>
        <p:spPr>
          <a:xfrm>
            <a:off x="457200" y="1587401"/>
            <a:ext cx="8420100" cy="341561"/>
          </a:xfrm>
          <a:prstGeom prst="rect">
            <a:avLst/>
          </a:prstGeom>
          <a:solidFill>
            <a:srgbClr val="16303F">
              <a:alpha val="3000"/>
            </a:srgbClr>
          </a:solidFill>
          <a:ln/>
        </p:spPr>
      </p:sp>
      <p:sp>
        <p:nvSpPr>
          <p:cNvPr id="14" name="Shape 12"/>
          <p:cNvSpPr/>
          <p:nvPr/>
        </p:nvSpPr>
        <p:spPr>
          <a:xfrm>
            <a:off x="457200" y="1919436"/>
            <a:ext cx="8420100" cy="9525"/>
          </a:xfrm>
          <a:prstGeom prst="rect">
            <a:avLst/>
          </a:prstGeom>
          <a:solidFill>
            <a:srgbClr val="9CA3AF">
              <a:alpha val="20000"/>
            </a:srgbClr>
          </a:solidFill>
          <a:ln/>
        </p:spPr>
      </p:sp>
      <p:sp>
        <p:nvSpPr>
          <p:cNvPr id="15" name="Shape 13"/>
          <p:cNvSpPr/>
          <p:nvPr/>
        </p:nvSpPr>
        <p:spPr>
          <a:xfrm>
            <a:off x="457200" y="1919436"/>
            <a:ext cx="7144792" cy="9525"/>
          </a:xfrm>
          <a:prstGeom prst="rect">
            <a:avLst/>
          </a:prstGeom>
          <a:solidFill>
            <a:srgbClr val="DDD9D2"/>
          </a:solidFill>
          <a:ln/>
        </p:spPr>
      </p:sp>
      <p:sp>
        <p:nvSpPr>
          <p:cNvPr id="16" name="Shape 14"/>
          <p:cNvSpPr/>
          <p:nvPr/>
        </p:nvSpPr>
        <p:spPr>
          <a:xfrm>
            <a:off x="563761" y="1674912"/>
            <a:ext cx="2160984" cy="181570"/>
          </a:xfrm>
          <a:prstGeom prst="roundRect">
            <a:avLst>
              <a:gd name="adj" fmla="val 20984"/>
            </a:avLst>
          </a:prstGeom>
          <a:solidFill>
            <a:srgbClr val="16303F">
              <a:alpha val="7000"/>
            </a:srgbClr>
          </a:solidFill>
          <a:ln/>
        </p:spPr>
      </p:sp>
      <p:sp>
        <p:nvSpPr>
          <p:cNvPr id="17" name="Text 15"/>
          <p:cNvSpPr txBox="1"/>
          <p:nvPr/>
        </p:nvSpPr>
        <p:spPr>
          <a:xfrm>
            <a:off x="506611" y="1674912"/>
            <a:ext cx="227528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appsettings.Development.json</a:t>
            </a:r>
            <a:endParaRPr lang="en-US" sz="972" dirty="0"/>
          </a:p>
        </p:txBody>
      </p:sp>
      <p:sp>
        <p:nvSpPr>
          <p:cNvPr id="18" name="Shape 16"/>
          <p:cNvSpPr/>
          <p:nvPr/>
        </p:nvSpPr>
        <p:spPr>
          <a:xfrm>
            <a:off x="7601992" y="1919436"/>
            <a:ext cx="1275308" cy="9525"/>
          </a:xfrm>
          <a:prstGeom prst="rect">
            <a:avLst/>
          </a:prstGeom>
          <a:solidFill>
            <a:srgbClr val="DDD9D2"/>
          </a:solidFill>
          <a:ln/>
        </p:spPr>
      </p:sp>
      <p:sp>
        <p:nvSpPr>
          <p:cNvPr id="19" name="Text 17"/>
          <p:cNvSpPr txBox="1"/>
          <p:nvPr/>
        </p:nvSpPr>
        <p:spPr>
          <a:xfrm>
            <a:off x="7708553" y="1665684"/>
            <a:ext cx="3248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120</a:t>
            </a:r>
            <a:endParaRPr lang="en-US" sz="1056" dirty="0"/>
          </a:p>
        </p:txBody>
      </p:sp>
      <p:sp>
        <p:nvSpPr>
          <p:cNvPr id="20" name="Shape 18"/>
          <p:cNvSpPr/>
          <p:nvPr/>
        </p:nvSpPr>
        <p:spPr>
          <a:xfrm>
            <a:off x="457200" y="2260997"/>
            <a:ext cx="8420100" cy="9525"/>
          </a:xfrm>
          <a:prstGeom prst="rect">
            <a:avLst/>
          </a:prstGeom>
          <a:solidFill>
            <a:srgbClr val="9CA3AF">
              <a:alpha val="20000"/>
            </a:srgbClr>
          </a:solidFill>
          <a:ln/>
        </p:spPr>
      </p:sp>
      <p:sp>
        <p:nvSpPr>
          <p:cNvPr id="21" name="Shape 19"/>
          <p:cNvSpPr/>
          <p:nvPr/>
        </p:nvSpPr>
        <p:spPr>
          <a:xfrm>
            <a:off x="457200" y="2260997"/>
            <a:ext cx="7144792" cy="9525"/>
          </a:xfrm>
          <a:prstGeom prst="rect">
            <a:avLst/>
          </a:prstGeom>
          <a:solidFill>
            <a:srgbClr val="DDD9D2"/>
          </a:solidFill>
          <a:ln/>
        </p:spPr>
      </p:sp>
      <p:sp>
        <p:nvSpPr>
          <p:cNvPr id="22" name="Shape 20"/>
          <p:cNvSpPr/>
          <p:nvPr/>
        </p:nvSpPr>
        <p:spPr>
          <a:xfrm>
            <a:off x="563761" y="2016472"/>
            <a:ext cx="1790998" cy="181570"/>
          </a:xfrm>
          <a:prstGeom prst="roundRect">
            <a:avLst>
              <a:gd name="adj" fmla="val 20984"/>
            </a:avLst>
          </a:prstGeom>
          <a:solidFill>
            <a:srgbClr val="16303F">
              <a:alpha val="7000"/>
            </a:srgbClr>
          </a:solidFill>
          <a:ln/>
        </p:spPr>
      </p:sp>
      <p:sp>
        <p:nvSpPr>
          <p:cNvPr id="23" name="Text 21"/>
          <p:cNvSpPr txBox="1"/>
          <p:nvPr/>
        </p:nvSpPr>
        <p:spPr>
          <a:xfrm>
            <a:off x="506611" y="2016472"/>
            <a:ext cx="190529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Weather__TimeoutSeconds</a:t>
            </a:r>
            <a:endParaRPr lang="en-US" sz="972" dirty="0"/>
          </a:p>
        </p:txBody>
      </p:sp>
      <p:sp>
        <p:nvSpPr>
          <p:cNvPr id="24" name="Shape 22"/>
          <p:cNvSpPr/>
          <p:nvPr/>
        </p:nvSpPr>
        <p:spPr>
          <a:xfrm>
            <a:off x="7601992" y="2260997"/>
            <a:ext cx="1275308" cy="9525"/>
          </a:xfrm>
          <a:prstGeom prst="rect">
            <a:avLst/>
          </a:prstGeom>
          <a:solidFill>
            <a:srgbClr val="DDD9D2"/>
          </a:solidFill>
          <a:ln/>
        </p:spPr>
      </p:sp>
      <p:sp>
        <p:nvSpPr>
          <p:cNvPr id="25" name="Text 23"/>
          <p:cNvSpPr txBox="1"/>
          <p:nvPr/>
        </p:nvSpPr>
        <p:spPr>
          <a:xfrm>
            <a:off x="7708553" y="2007245"/>
            <a:ext cx="248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10</a:t>
            </a:r>
            <a:endParaRPr lang="en-US" sz="1056" dirty="0"/>
          </a:p>
        </p:txBody>
      </p:sp>
      <p:sp>
        <p:nvSpPr>
          <p:cNvPr id="26" name="Shape 24"/>
          <p:cNvSpPr/>
          <p:nvPr/>
        </p:nvSpPr>
        <p:spPr>
          <a:xfrm>
            <a:off x="457200" y="2270522"/>
            <a:ext cx="8420100" cy="388888"/>
          </a:xfrm>
          <a:prstGeom prst="rect">
            <a:avLst/>
          </a:prstGeom>
          <a:solidFill>
            <a:srgbClr val="16303F"/>
          </a:solidFill>
          <a:ln/>
        </p:spPr>
      </p:sp>
      <p:sp>
        <p:nvSpPr>
          <p:cNvPr id="27" name="Shape 25"/>
          <p:cNvSpPr/>
          <p:nvPr/>
        </p:nvSpPr>
        <p:spPr>
          <a:xfrm>
            <a:off x="457200" y="2649885"/>
            <a:ext cx="8420100" cy="9525"/>
          </a:xfrm>
          <a:prstGeom prst="rect">
            <a:avLst/>
          </a:prstGeom>
          <a:solidFill>
            <a:srgbClr val="9CA3AF">
              <a:alpha val="20000"/>
            </a:srgbClr>
          </a:solidFill>
          <a:ln/>
        </p:spPr>
      </p:sp>
      <p:sp>
        <p:nvSpPr>
          <p:cNvPr id="28" name="Shape 26"/>
          <p:cNvSpPr/>
          <p:nvPr/>
        </p:nvSpPr>
        <p:spPr>
          <a:xfrm>
            <a:off x="457200" y="2649885"/>
            <a:ext cx="7144792" cy="9525"/>
          </a:xfrm>
          <a:prstGeom prst="rect">
            <a:avLst/>
          </a:prstGeom>
          <a:solidFill>
            <a:srgbClr val="16303F"/>
          </a:solidFill>
          <a:ln/>
        </p:spPr>
      </p:sp>
      <p:sp>
        <p:nvSpPr>
          <p:cNvPr id="29" name="Shape 27"/>
          <p:cNvSpPr/>
          <p:nvPr/>
        </p:nvSpPr>
        <p:spPr>
          <a:xfrm>
            <a:off x="563761" y="2358033"/>
            <a:ext cx="1864965" cy="181570"/>
          </a:xfrm>
          <a:prstGeom prst="roundRect">
            <a:avLst>
              <a:gd name="adj" fmla="val 20984"/>
            </a:avLst>
          </a:prstGeom>
          <a:solidFill>
            <a:srgbClr val="F7F6F3">
              <a:alpha val="14000"/>
            </a:srgbClr>
          </a:solidFill>
          <a:ln/>
        </p:spPr>
      </p:sp>
      <p:sp>
        <p:nvSpPr>
          <p:cNvPr id="30" name="Text 28"/>
          <p:cNvSpPr txBox="1"/>
          <p:nvPr/>
        </p:nvSpPr>
        <p:spPr>
          <a:xfrm>
            <a:off x="608112" y="2367855"/>
            <a:ext cx="1890564" cy="161925"/>
          </a:xfrm>
          <a:prstGeom prst="rect">
            <a:avLst/>
          </a:prstGeom>
          <a:noFill/>
          <a:ln/>
        </p:spPr>
        <p:txBody>
          <a:bodyPr wrap="none" lIns="0" tIns="0" rIns="0" bIns="0" rtlCol="0" anchor="t"/>
          <a:lstStyle/>
          <a:p>
            <a:pPr algn="l" indent="0" marL="0">
              <a:buNone/>
            </a:pPr>
            <a:r>
              <a:rPr lang="en-US" sz="972" dirty="0">
                <a:solidFill>
                  <a:srgbClr val="F7F6F3"/>
                </a:solidFill>
                <a:latin typeface="JetBrains Mono" pitchFamily="34" charset="0"/>
                <a:ea typeface="JetBrains Mono" pitchFamily="34" charset="-122"/>
                <a:cs typeface="JetBrains Mono" pitchFamily="34" charset="-120"/>
              </a:rPr>
              <a:t>--Weather:TimeoutSeconds</a:t>
            </a:r>
            <a:endParaRPr lang="en-US" sz="972" dirty="0"/>
          </a:p>
        </p:txBody>
      </p:sp>
      <p:sp>
        <p:nvSpPr>
          <p:cNvPr id="31" name="Shape 29"/>
          <p:cNvSpPr/>
          <p:nvPr/>
        </p:nvSpPr>
        <p:spPr>
          <a:xfrm>
            <a:off x="7601992" y="2649885"/>
            <a:ext cx="1275308" cy="9525"/>
          </a:xfrm>
          <a:prstGeom prst="rect">
            <a:avLst/>
          </a:prstGeom>
          <a:solidFill>
            <a:srgbClr val="16303F"/>
          </a:solidFill>
          <a:ln/>
        </p:spPr>
      </p:sp>
      <p:sp>
        <p:nvSpPr>
          <p:cNvPr id="32" name="Text 30"/>
          <p:cNvSpPr txBox="1"/>
          <p:nvPr/>
        </p:nvSpPr>
        <p:spPr>
          <a:xfrm>
            <a:off x="7708553" y="2348805"/>
            <a:ext cx="213122" cy="228600"/>
          </a:xfrm>
          <a:prstGeom prst="rect">
            <a:avLst/>
          </a:prstGeom>
          <a:noFill/>
          <a:ln/>
        </p:spPr>
        <p:txBody>
          <a:bodyPr wrap="none" lIns="0" tIns="0" rIns="0" bIns="0" rtlCol="0" anchor="t"/>
          <a:lstStyle/>
          <a:p>
            <a:pPr algn="l" indent="0" marL="0">
              <a:buNone/>
            </a:pPr>
            <a:r>
              <a:rPr lang="en-US" sz="1320" b="1" dirty="0">
                <a:solidFill>
                  <a:srgbClr val="F4C233"/>
                </a:solidFill>
                <a:latin typeface="Manrope" pitchFamily="34" charset="0"/>
                <a:ea typeface="Manrope" pitchFamily="34" charset="-122"/>
                <a:cs typeface="Manrope" pitchFamily="34" charset="-120"/>
              </a:rPr>
              <a:t>5</a:t>
            </a:r>
            <a:endParaRPr lang="en-US" sz="1320" dirty="0"/>
          </a:p>
        </p:txBody>
      </p:sp>
      <p:sp>
        <p:nvSpPr>
          <p:cNvPr id="33" name="Text 31"/>
          <p:cNvSpPr txBox="1"/>
          <p:nvPr/>
        </p:nvSpPr>
        <p:spPr>
          <a:xfrm>
            <a:off x="457200" y="2986088"/>
            <a:ext cx="1028998"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last one wins</a:t>
            </a:r>
            <a:endParaRPr lang="en-US" sz="1200" dirty="0"/>
          </a:p>
        </p:txBody>
      </p:sp>
      <p:sp>
        <p:nvSpPr>
          <p:cNvPr id="34" name="Shape 32"/>
          <p:cNvSpPr/>
          <p:nvPr/>
        </p:nvSpPr>
        <p:spPr>
          <a:xfrm>
            <a:off x="8463260" y="228600"/>
            <a:ext cx="581769" cy="228451"/>
          </a:xfrm>
          <a:prstGeom prst="roundRect">
            <a:avLst>
              <a:gd name="adj" fmla="val 16678"/>
            </a:avLst>
          </a:prstGeom>
          <a:solidFill>
            <a:srgbClr val="16303F"/>
          </a:solidFill>
          <a:ln/>
        </p:spPr>
      </p:sp>
      <p:sp>
        <p:nvSpPr>
          <p:cNvPr id="35" name="Text 33"/>
          <p:cNvSpPr txBox="1"/>
          <p:nvPr/>
        </p:nvSpPr>
        <p:spPr>
          <a:xfrm>
            <a:off x="8557617" y="274290"/>
            <a:ext cx="5073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ORDER</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374303"/>
            <a:ext cx="361771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Prove which provider won</a:t>
            </a:r>
            <a:endParaRPr lang="en-US" sz="2280" dirty="0"/>
          </a:p>
        </p:txBody>
      </p:sp>
      <p:sp>
        <p:nvSpPr>
          <p:cNvPr id="4" name="Shape 2"/>
          <p:cNvSpPr/>
          <p:nvPr/>
        </p:nvSpPr>
        <p:spPr>
          <a:xfrm>
            <a:off x="628650" y="1043136"/>
            <a:ext cx="8077200" cy="2095500"/>
          </a:xfrm>
          <a:prstGeom prst="roundRect">
            <a:avLst>
              <a:gd name="adj" fmla="val 1818"/>
            </a:avLst>
          </a:prstGeom>
          <a:solidFill>
            <a:srgbClr val="011627"/>
          </a:solidFill>
          <a:ln/>
        </p:spPr>
      </p:sp>
      <p:sp>
        <p:nvSpPr>
          <p:cNvPr id="5" name="Text 3"/>
          <p:cNvSpPr txBox="1"/>
          <p:nvPr/>
        </p:nvSpPr>
        <p:spPr>
          <a:xfrm>
            <a:off x="704850" y="1128861"/>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((IConfigurationRoot)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GetDebugView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(ctx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secret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password</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Contains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key</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StringComparison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OrdinalIgnoreCase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ctx</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Value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app</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Logger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LogInformation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\n</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{Dump}</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dump);</a:t>
            </a:r>
            <a:endParaRPr lang="en-US" sz="1275" dirty="0"/>
          </a:p>
        </p:txBody>
      </p:sp>
      <p:sp>
        <p:nvSpPr>
          <p:cNvPr id="6" name="Shape 4"/>
          <p:cNvSpPr/>
          <p:nvPr/>
        </p:nvSpPr>
        <p:spPr>
          <a:xfrm>
            <a:off x="628650" y="3428107"/>
            <a:ext cx="38100" cy="1295400"/>
          </a:xfrm>
          <a:prstGeom prst="rect">
            <a:avLst/>
          </a:prstGeom>
          <a:solidFill>
            <a:srgbClr val="F4C233"/>
          </a:solidFill>
          <a:ln/>
        </p:spPr>
      </p:sp>
      <p:sp>
        <p:nvSpPr>
          <p:cNvPr id="7" name="Text 5"/>
          <p:cNvSpPr txBox="1"/>
          <p:nvPr/>
        </p:nvSpPr>
        <p:spPr>
          <a:xfrm>
            <a:off x="788640" y="3590032"/>
            <a:ext cx="5643414"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Development only.</a:t>
            </a:r>
            <a:pPr algn="l" indent="0" marL="0">
              <a:buNone/>
            </a:pPr>
            <a:r>
              <a:rPr lang="en-US" sz="1200" b="1" dirty="0">
                <a:solidFill>
                  <a:srgbClr val="16303F"/>
                </a:solidFill>
                <a:latin typeface="Manrope" pitchFamily="34" charset="0"/>
                <a:ea typeface="Manrope" pitchFamily="34" charset="-122"/>
                <a:cs typeface="Manrope" pitchFamily="34" charset="-120"/>
              </a:rPr>
              <a:t> That filter is a denylist, so it misses tokens, connection</a:t>
            </a:r>
            <a:endParaRPr lang="en-US" sz="1200" dirty="0"/>
          </a:p>
        </p:txBody>
      </p:sp>
      <p:sp>
        <p:nvSpPr>
          <p:cNvPr id="8" name="Shape 6"/>
          <p:cNvSpPr/>
          <p:nvPr/>
        </p:nvSpPr>
        <p:spPr>
          <a:xfrm>
            <a:off x="3373189" y="3979218"/>
            <a:ext cx="1327696" cy="202704"/>
          </a:xfrm>
          <a:prstGeom prst="roundRect">
            <a:avLst>
              <a:gd name="adj" fmla="val 18796"/>
            </a:avLst>
          </a:prstGeom>
          <a:solidFill>
            <a:srgbClr val="16303F">
              <a:alpha val="7000"/>
            </a:srgbClr>
          </a:solidFill>
          <a:ln/>
        </p:spPr>
      </p:sp>
      <p:sp>
        <p:nvSpPr>
          <p:cNvPr id="9" name="Text 7"/>
          <p:cNvSpPr txBox="1"/>
          <p:nvPr/>
        </p:nvSpPr>
        <p:spPr>
          <a:xfrm>
            <a:off x="788640" y="3971032"/>
            <a:ext cx="6000452"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strings and certificates. Gate it on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IsDevelopment()</a:t>
            </a:r>
            <a:pPr algn="l" indent="0" marL="0">
              <a:buNone/>
            </a:pPr>
            <a:r>
              <a:rPr lang="en-US" sz="1200" b="1" dirty="0">
                <a:solidFill>
                  <a:srgbClr val="16303F"/>
                </a:solidFill>
                <a:latin typeface="Manrope" pitchFamily="34" charset="0"/>
                <a:ea typeface="Manrope" pitchFamily="34" charset="-122"/>
                <a:cs typeface="Manrope" pitchFamily="34" charset="-120"/>
              </a:rPr>
              <a:t>, and prefer inspecting the</a:t>
            </a:r>
            <a:endParaRPr lang="en-US" sz="1200" dirty="0"/>
          </a:p>
        </p:txBody>
      </p:sp>
      <p:sp>
        <p:nvSpPr>
          <p:cNvPr id="10" name="Text 8"/>
          <p:cNvSpPr txBox="1"/>
          <p:nvPr/>
        </p:nvSpPr>
        <p:spPr>
          <a:xfrm>
            <a:off x="788640" y="4352032"/>
            <a:ext cx="3080445"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handful of keys you actually care about.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783282"/>
            <a:ext cx="3740795"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The provider is why 10 won</a:t>
            </a:r>
            <a:endParaRPr lang="en-US" sz="2280" dirty="0"/>
          </a:p>
        </p:txBody>
      </p:sp>
      <p:sp>
        <p:nvSpPr>
          <p:cNvPr id="4" name="Shape 2"/>
          <p:cNvSpPr/>
          <p:nvPr/>
        </p:nvSpPr>
        <p:spPr>
          <a:xfrm>
            <a:off x="628650" y="1452116"/>
            <a:ext cx="8077200" cy="2824163"/>
          </a:xfrm>
          <a:prstGeom prst="roundRect">
            <a:avLst>
              <a:gd name="adj" fmla="val 1349"/>
            </a:avLst>
          </a:prstGeom>
          <a:solidFill>
            <a:srgbClr val="011627"/>
          </a:solidFill>
          <a:ln/>
        </p:spPr>
      </p:sp>
      <p:sp>
        <p:nvSpPr>
          <p:cNvPr id="5" name="Shape 3"/>
          <p:cNvSpPr/>
          <p:nvPr/>
        </p:nvSpPr>
        <p:spPr>
          <a:xfrm>
            <a:off x="704850" y="2742754"/>
            <a:ext cx="7924800" cy="242888"/>
          </a:xfrm>
          <a:prstGeom prst="rect">
            <a:avLst/>
          </a:prstGeom>
          <a:solidFill>
            <a:srgbClr val="F4C233">
              <a:alpha val="16000"/>
            </a:srgbClr>
          </a:solidFill>
          <a:ln/>
        </p:spPr>
      </p:sp>
      <p:sp>
        <p:nvSpPr>
          <p:cNvPr id="6" name="Shape 4"/>
          <p:cNvSpPr/>
          <p:nvPr/>
        </p:nvSpPr>
        <p:spPr>
          <a:xfrm>
            <a:off x="704850" y="3228529"/>
            <a:ext cx="7924800" cy="242888"/>
          </a:xfrm>
          <a:prstGeom prst="rect">
            <a:avLst/>
          </a:prstGeom>
          <a:solidFill>
            <a:srgbClr val="F4C233">
              <a:alpha val="16000"/>
            </a:srgbClr>
          </a:solidFill>
          <a:ln/>
        </p:spPr>
      </p:sp>
      <p:sp>
        <p:nvSpPr>
          <p:cNvPr id="7" name="Text 5"/>
          <p:cNvSpPr txBox="1"/>
          <p:nvPr/>
        </p:nvSpPr>
        <p:spPr>
          <a:xfrm>
            <a:off x="704850" y="2752279"/>
            <a:ext cx="1960364"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TimeoutSeconds=10</a:t>
            </a:r>
            <a:endParaRPr lang="en-US" sz="1275" dirty="0"/>
          </a:p>
        </p:txBody>
      </p:sp>
      <p:sp>
        <p:nvSpPr>
          <p:cNvPr id="8" name="Text 6"/>
          <p:cNvSpPr txBox="1"/>
          <p:nvPr/>
        </p:nvSpPr>
        <p:spPr>
          <a:xfrm>
            <a:off x="704850" y="3238054"/>
            <a:ext cx="5749379" cy="209550"/>
          </a:xfrm>
          <a:prstGeom prst="rect">
            <a:avLst/>
          </a:prstGeom>
          <a:noFill/>
          <a:ln/>
        </p:spPr>
        <p:txBody>
          <a:bodyPr wrap="none" lIns="0" tIns="0" rIns="0" bIns="0" rtlCol="0" anchor="t"/>
          <a:lstStyle/>
          <a:p>
            <a:pPr algn="l" indent="0" marL="0">
              <a:buNone/>
            </a:pPr>
            <a:r>
              <a:rPr lang="en-US" sz="1275" dirty="0">
                <a:solidFill>
                  <a:srgbClr val="D6DEEB"/>
                </a:solidFill>
                <a:latin typeface="JetBrains Mono" pitchFamily="34" charset="0"/>
                <a:ea typeface="JetBrains Mono" pitchFamily="34" charset="-122"/>
                <a:cs typeface="JetBrains Mono" pitchFamily="34" charset="-120"/>
              </a:rPr>
              <a:t>(EnvironmentVariablesConfigurationProvider Prefix: '')</a:t>
            </a:r>
            <a:endParaRPr lang="en-US" sz="1275" dirty="0"/>
          </a:p>
        </p:txBody>
      </p:sp>
      <p:sp>
        <p:nvSpPr>
          <p:cNvPr id="9" name="Text 7"/>
          <p:cNvSpPr txBox="1"/>
          <p:nvPr/>
        </p:nvSpPr>
        <p:spPr>
          <a:xfrm>
            <a:off x="704850" y="1537841"/>
            <a:ext cx="7943850" cy="2638425"/>
          </a:xfrm>
          <a:prstGeom prst="rect">
            <a:avLst/>
          </a:prstGeom>
          <a:noFill/>
          <a:ln/>
        </p:spPr>
        <p:txBody>
          <a:bodyPr wrap="square" lIns="0" tIns="0" rIns="0" bIns="0" rtlCol="0" anchor="t"/>
          <a:lstStyle/>
          <a:p>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Weather:</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ApiBaseUrl=https://localhost:7104</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'appsettings.Development.json')</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Retries=3</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(JsonConfigurationProvider for 'appsettings.json')</a:t>
            </a:r>
            <a:br/>
            <a:pPr algn="l" indent="0" marL="0">
              <a:lnSpc>
                <a:spcPts val="1913"/>
              </a:lnSpc>
              <a:buNone/>
            </a:pPr>
            <a:br/>
            <a:pPr algn="l" indent="0" marL="0">
              <a:lnSpc>
                <a:spcPts val="1913"/>
              </a:lnSpc>
              <a:buNone/>
            </a:pP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ApiKey=***</a:t>
            </a:r>
            <a:br/>
            <a:pPr algn="l" indent="0" marL="0">
              <a:lnSpc>
                <a:spcPts val="1913"/>
              </a:lnSpc>
              <a:buNone/>
            </a:pPr>
            <a:r>
              <a:rPr lang="en-US" sz="1275" dirty="0">
                <a:solidFill>
                  <a:srgbClr val="D6DEEB">
                    <a:alpha val="30000"/>
                  </a:srgbClr>
                </a:solidFill>
                <a:latin typeface="JetBrains Mono" pitchFamily="34" charset="0"/>
                <a:ea typeface="JetBrains Mono" pitchFamily="34" charset="-122"/>
                <a:cs typeface="JetBrains Mono" pitchFamily="34" charset="-120"/>
              </a:rPr>
              <a:t>(UserSecretsConfigurationProvider)</a:t>
            </a:r>
            <a:endParaRPr lang="en-US" sz="127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3369022"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3 · THE SHARED DEV ENVIRONMENT</a:t>
            </a:r>
            <a:endParaRPr lang="en-US" sz="936" dirty="0"/>
          </a:p>
        </p:txBody>
      </p:sp>
      <p:sp>
        <p:nvSpPr>
          <p:cNvPr id="4" name="Shape 2"/>
          <p:cNvSpPr/>
          <p:nvPr/>
        </p:nvSpPr>
        <p:spPr>
          <a:xfrm>
            <a:off x="3866108" y="2340769"/>
            <a:ext cx="2888010" cy="495300"/>
          </a:xfrm>
          <a:prstGeom prst="roundRect">
            <a:avLst>
              <a:gd name="adj" fmla="val 7692"/>
            </a:avLst>
          </a:prstGeom>
          <a:solidFill>
            <a:srgbClr val="F7F6F3">
              <a:alpha val="16000"/>
            </a:srgbClr>
          </a:solidFill>
          <a:ln/>
        </p:spPr>
      </p:sp>
      <p:sp>
        <p:nvSpPr>
          <p:cNvPr id="5" name="Text 3"/>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It left your laptop.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launchSettings</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and user secrets are gone.</a:t>
            </a:r>
            <a:endParaRPr lang="en-US" sz="3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91001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Environment variables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281190" cy="19050"/>
          </a:xfrm>
          <a:prstGeom prst="rect">
            <a:avLst/>
          </a:prstGeom>
          <a:solidFill>
            <a:srgbClr val="16303F"/>
          </a:solidFill>
          <a:ln/>
        </p:spPr>
      </p:sp>
      <p:sp>
        <p:nvSpPr>
          <p:cNvPr id="6" name="Text 4"/>
          <p:cNvSpPr txBox="1"/>
          <p:nvPr/>
        </p:nvSpPr>
        <p:spPr>
          <a:xfrm>
            <a:off x="563761" y="1163092"/>
            <a:ext cx="123884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EXPORT</a:t>
            </a:r>
            <a:endParaRPr lang="en-US" sz="816" dirty="0"/>
          </a:p>
        </p:txBody>
      </p:sp>
      <p:sp>
        <p:nvSpPr>
          <p:cNvPr id="7" name="Shape 5"/>
          <p:cNvSpPr/>
          <p:nvPr/>
        </p:nvSpPr>
        <p:spPr>
          <a:xfrm>
            <a:off x="4738390" y="1377404"/>
            <a:ext cx="4138910" cy="19050"/>
          </a:xfrm>
          <a:prstGeom prst="rect">
            <a:avLst/>
          </a:prstGeom>
          <a:solidFill>
            <a:srgbClr val="16303F"/>
          </a:solidFill>
          <a:ln/>
        </p:spPr>
      </p:sp>
      <p:sp>
        <p:nvSpPr>
          <p:cNvPr id="8" name="Text 6"/>
          <p:cNvSpPr txBox="1"/>
          <p:nvPr/>
        </p:nvSpPr>
        <p:spPr>
          <a:xfrm>
            <a:off x="4844951" y="1163092"/>
            <a:ext cx="13457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KEY IT BECOMES</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281190" cy="9525"/>
          </a:xfrm>
          <a:prstGeom prst="rect">
            <a:avLst/>
          </a:prstGeom>
          <a:solidFill>
            <a:srgbClr val="DDD9D2"/>
          </a:solidFill>
          <a:ln/>
        </p:spPr>
      </p:sp>
      <p:sp>
        <p:nvSpPr>
          <p:cNvPr id="11" name="Shape 9"/>
          <p:cNvSpPr/>
          <p:nvPr/>
        </p:nvSpPr>
        <p:spPr>
          <a:xfrm>
            <a:off x="563761" y="1488728"/>
            <a:ext cx="1494979" cy="181570"/>
          </a:xfrm>
          <a:prstGeom prst="roundRect">
            <a:avLst>
              <a:gd name="adj" fmla="val 20984"/>
            </a:avLst>
          </a:prstGeom>
          <a:solidFill>
            <a:srgbClr val="16303F">
              <a:alpha val="7000"/>
            </a:srgbClr>
          </a:solidFill>
          <a:ln/>
        </p:spPr>
      </p:sp>
      <p:sp>
        <p:nvSpPr>
          <p:cNvPr id="12" name="Text 10"/>
          <p:cNvSpPr txBox="1"/>
          <p:nvPr/>
        </p:nvSpPr>
        <p:spPr>
          <a:xfrm>
            <a:off x="506611" y="148872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Weather__ApiBaseUrl</a:t>
            </a:r>
            <a:endParaRPr lang="en-US" sz="972" dirty="0"/>
          </a:p>
        </p:txBody>
      </p:sp>
      <p:sp>
        <p:nvSpPr>
          <p:cNvPr id="13" name="Shape 11"/>
          <p:cNvSpPr/>
          <p:nvPr/>
        </p:nvSpPr>
        <p:spPr>
          <a:xfrm>
            <a:off x="4738390" y="1733252"/>
            <a:ext cx="4138910" cy="9525"/>
          </a:xfrm>
          <a:prstGeom prst="rect">
            <a:avLst/>
          </a:prstGeom>
          <a:solidFill>
            <a:srgbClr val="DDD9D2"/>
          </a:solidFill>
          <a:ln/>
        </p:spPr>
      </p:sp>
      <p:sp>
        <p:nvSpPr>
          <p:cNvPr id="14" name="Shape 12"/>
          <p:cNvSpPr/>
          <p:nvPr/>
        </p:nvSpPr>
        <p:spPr>
          <a:xfrm>
            <a:off x="4844951" y="1488728"/>
            <a:ext cx="1421011" cy="181570"/>
          </a:xfrm>
          <a:prstGeom prst="roundRect">
            <a:avLst>
              <a:gd name="adj" fmla="val 20984"/>
            </a:avLst>
          </a:prstGeom>
          <a:solidFill>
            <a:srgbClr val="16303F">
              <a:alpha val="7000"/>
            </a:srgbClr>
          </a:solidFill>
          <a:ln/>
        </p:spPr>
      </p:sp>
      <p:sp>
        <p:nvSpPr>
          <p:cNvPr id="15" name="Text 13"/>
          <p:cNvSpPr txBox="1"/>
          <p:nvPr/>
        </p:nvSpPr>
        <p:spPr>
          <a:xfrm>
            <a:off x="4787801" y="1488728"/>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Weather:ApiBaseUrl</a:t>
            </a:r>
            <a:endParaRPr lang="en-US" sz="972" dirty="0"/>
          </a:p>
        </p:txBody>
      </p:sp>
      <p:sp>
        <p:nvSpPr>
          <p:cNvPr id="16" name="Shape 14"/>
          <p:cNvSpPr/>
          <p:nvPr/>
        </p:nvSpPr>
        <p:spPr>
          <a:xfrm>
            <a:off x="457200" y="1742777"/>
            <a:ext cx="8420100" cy="341561"/>
          </a:xfrm>
          <a:prstGeom prst="rect">
            <a:avLst/>
          </a:prstGeom>
          <a:solidFill>
            <a:srgbClr val="16303F">
              <a:alpha val="3000"/>
            </a:srgbClr>
          </a:solidFill>
          <a:ln/>
        </p:spPr>
      </p:sp>
      <p:sp>
        <p:nvSpPr>
          <p:cNvPr id="17" name="Shape 15"/>
          <p:cNvSpPr/>
          <p:nvPr/>
        </p:nvSpPr>
        <p:spPr>
          <a:xfrm>
            <a:off x="457200" y="2074813"/>
            <a:ext cx="8420100" cy="9525"/>
          </a:xfrm>
          <a:prstGeom prst="rect">
            <a:avLst/>
          </a:prstGeom>
          <a:solidFill>
            <a:srgbClr val="9CA3AF">
              <a:alpha val="20000"/>
            </a:srgbClr>
          </a:solidFill>
          <a:ln/>
        </p:spPr>
      </p:sp>
      <p:sp>
        <p:nvSpPr>
          <p:cNvPr id="18" name="Shape 16"/>
          <p:cNvSpPr/>
          <p:nvPr/>
        </p:nvSpPr>
        <p:spPr>
          <a:xfrm>
            <a:off x="457200" y="2074813"/>
            <a:ext cx="4281190" cy="9525"/>
          </a:xfrm>
          <a:prstGeom prst="rect">
            <a:avLst/>
          </a:prstGeom>
          <a:solidFill>
            <a:srgbClr val="DDD9D2"/>
          </a:solidFill>
          <a:ln/>
        </p:spPr>
      </p:sp>
      <p:sp>
        <p:nvSpPr>
          <p:cNvPr id="19" name="Shape 17"/>
          <p:cNvSpPr/>
          <p:nvPr/>
        </p:nvSpPr>
        <p:spPr>
          <a:xfrm>
            <a:off x="563761" y="1830288"/>
            <a:ext cx="2013049" cy="181570"/>
          </a:xfrm>
          <a:prstGeom prst="roundRect">
            <a:avLst>
              <a:gd name="adj" fmla="val 20984"/>
            </a:avLst>
          </a:prstGeom>
          <a:solidFill>
            <a:srgbClr val="16303F">
              <a:alpha val="7000"/>
            </a:srgbClr>
          </a:solidFill>
          <a:ln/>
        </p:spPr>
      </p:sp>
      <p:sp>
        <p:nvSpPr>
          <p:cNvPr id="20" name="Text 18"/>
          <p:cNvSpPr txBox="1"/>
          <p:nvPr/>
        </p:nvSpPr>
        <p:spPr>
          <a:xfrm>
            <a:off x="506611" y="1830288"/>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Weather__AllowedOrigins__0</a:t>
            </a:r>
            <a:endParaRPr lang="en-US" sz="972" dirty="0"/>
          </a:p>
        </p:txBody>
      </p:sp>
      <p:sp>
        <p:nvSpPr>
          <p:cNvPr id="21" name="Shape 19"/>
          <p:cNvSpPr/>
          <p:nvPr/>
        </p:nvSpPr>
        <p:spPr>
          <a:xfrm>
            <a:off x="4738390" y="2074813"/>
            <a:ext cx="4138910" cy="9525"/>
          </a:xfrm>
          <a:prstGeom prst="rect">
            <a:avLst/>
          </a:prstGeom>
          <a:solidFill>
            <a:srgbClr val="DDD9D2"/>
          </a:solidFill>
          <a:ln/>
        </p:spPr>
      </p:sp>
      <p:sp>
        <p:nvSpPr>
          <p:cNvPr id="22" name="Shape 20"/>
          <p:cNvSpPr/>
          <p:nvPr/>
        </p:nvSpPr>
        <p:spPr>
          <a:xfrm>
            <a:off x="4844951" y="1830288"/>
            <a:ext cx="1864965" cy="181570"/>
          </a:xfrm>
          <a:prstGeom prst="roundRect">
            <a:avLst>
              <a:gd name="adj" fmla="val 20984"/>
            </a:avLst>
          </a:prstGeom>
          <a:solidFill>
            <a:srgbClr val="16303F">
              <a:alpha val="7000"/>
            </a:srgbClr>
          </a:solidFill>
          <a:ln/>
        </p:spPr>
      </p:sp>
      <p:sp>
        <p:nvSpPr>
          <p:cNvPr id="23" name="Text 21"/>
          <p:cNvSpPr txBox="1"/>
          <p:nvPr/>
        </p:nvSpPr>
        <p:spPr>
          <a:xfrm>
            <a:off x="4787801" y="1830288"/>
            <a:ext cx="1979265"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Weather:AllowedOrigins:0</a:t>
            </a:r>
            <a:endParaRPr lang="en-US" sz="972" dirty="0"/>
          </a:p>
        </p:txBody>
      </p:sp>
      <p:sp>
        <p:nvSpPr>
          <p:cNvPr id="24" name="Shape 22"/>
          <p:cNvSpPr/>
          <p:nvPr/>
        </p:nvSpPr>
        <p:spPr>
          <a:xfrm>
            <a:off x="457200" y="2416373"/>
            <a:ext cx="8420100" cy="9525"/>
          </a:xfrm>
          <a:prstGeom prst="rect">
            <a:avLst/>
          </a:prstGeom>
          <a:solidFill>
            <a:srgbClr val="9CA3AF">
              <a:alpha val="20000"/>
            </a:srgbClr>
          </a:solidFill>
          <a:ln/>
        </p:spPr>
      </p:sp>
      <p:sp>
        <p:nvSpPr>
          <p:cNvPr id="25" name="Shape 23"/>
          <p:cNvSpPr/>
          <p:nvPr/>
        </p:nvSpPr>
        <p:spPr>
          <a:xfrm>
            <a:off x="457200" y="2416373"/>
            <a:ext cx="4281190" cy="9525"/>
          </a:xfrm>
          <a:prstGeom prst="rect">
            <a:avLst/>
          </a:prstGeom>
          <a:solidFill>
            <a:srgbClr val="DDD9D2"/>
          </a:solidFill>
          <a:ln/>
        </p:spPr>
      </p:sp>
      <p:sp>
        <p:nvSpPr>
          <p:cNvPr id="26" name="Shape 24"/>
          <p:cNvSpPr/>
          <p:nvPr/>
        </p:nvSpPr>
        <p:spPr>
          <a:xfrm>
            <a:off x="563761" y="2171849"/>
            <a:ext cx="2013049" cy="181570"/>
          </a:xfrm>
          <a:prstGeom prst="roundRect">
            <a:avLst>
              <a:gd name="adj" fmla="val 20984"/>
            </a:avLst>
          </a:prstGeom>
          <a:solidFill>
            <a:srgbClr val="16303F">
              <a:alpha val="7000"/>
            </a:srgbClr>
          </a:solidFill>
          <a:ln/>
        </p:spPr>
      </p:sp>
      <p:sp>
        <p:nvSpPr>
          <p:cNvPr id="27" name="Text 25"/>
          <p:cNvSpPr txBox="1"/>
          <p:nvPr/>
        </p:nvSpPr>
        <p:spPr>
          <a:xfrm>
            <a:off x="506611" y="2171849"/>
            <a:ext cx="212734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ConnectionStrings__Default</a:t>
            </a:r>
            <a:endParaRPr lang="en-US" sz="972" dirty="0"/>
          </a:p>
        </p:txBody>
      </p:sp>
      <p:sp>
        <p:nvSpPr>
          <p:cNvPr id="28" name="Shape 26"/>
          <p:cNvSpPr/>
          <p:nvPr/>
        </p:nvSpPr>
        <p:spPr>
          <a:xfrm>
            <a:off x="4738390" y="2416373"/>
            <a:ext cx="4138910" cy="9525"/>
          </a:xfrm>
          <a:prstGeom prst="rect">
            <a:avLst/>
          </a:prstGeom>
          <a:solidFill>
            <a:srgbClr val="DDD9D2"/>
          </a:solidFill>
          <a:ln/>
        </p:spPr>
      </p:sp>
      <p:sp>
        <p:nvSpPr>
          <p:cNvPr id="29" name="Shape 27"/>
          <p:cNvSpPr/>
          <p:nvPr/>
        </p:nvSpPr>
        <p:spPr>
          <a:xfrm>
            <a:off x="4844951" y="2171849"/>
            <a:ext cx="1938933" cy="181570"/>
          </a:xfrm>
          <a:prstGeom prst="roundRect">
            <a:avLst>
              <a:gd name="adj" fmla="val 20984"/>
            </a:avLst>
          </a:prstGeom>
          <a:solidFill>
            <a:srgbClr val="16303F">
              <a:alpha val="7000"/>
            </a:srgbClr>
          </a:solidFill>
          <a:ln/>
        </p:spPr>
      </p:sp>
      <p:sp>
        <p:nvSpPr>
          <p:cNvPr id="30" name="Text 28"/>
          <p:cNvSpPr txBox="1"/>
          <p:nvPr/>
        </p:nvSpPr>
        <p:spPr>
          <a:xfrm>
            <a:off x="4787801" y="2171849"/>
            <a:ext cx="205323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ConnectionStrings:Default</a:t>
            </a:r>
            <a:endParaRPr lang="en-US" sz="972" dirty="0"/>
          </a:p>
        </p:txBody>
      </p:sp>
      <p:sp>
        <p:nvSpPr>
          <p:cNvPr id="31" name="Shape 29"/>
          <p:cNvSpPr/>
          <p:nvPr/>
        </p:nvSpPr>
        <p:spPr>
          <a:xfrm>
            <a:off x="457200" y="2590651"/>
            <a:ext cx="38100" cy="533400"/>
          </a:xfrm>
          <a:prstGeom prst="rect">
            <a:avLst/>
          </a:prstGeom>
          <a:solidFill>
            <a:srgbClr val="F4C233"/>
          </a:solidFill>
          <a:ln/>
        </p:spPr>
      </p:sp>
      <p:sp>
        <p:nvSpPr>
          <p:cNvPr id="32" name="Shape 30"/>
          <p:cNvSpPr/>
          <p:nvPr/>
        </p:nvSpPr>
        <p:spPr>
          <a:xfrm>
            <a:off x="617190" y="2760762"/>
            <a:ext cx="175468" cy="202704"/>
          </a:xfrm>
          <a:prstGeom prst="roundRect">
            <a:avLst>
              <a:gd name="adj" fmla="val 21713"/>
            </a:avLst>
          </a:prstGeom>
          <a:solidFill>
            <a:srgbClr val="16303F">
              <a:alpha val="7000"/>
            </a:srgbClr>
          </a:solidFill>
          <a:ln/>
        </p:spPr>
      </p:sp>
      <p:sp>
        <p:nvSpPr>
          <p:cNvPr id="33" name="Shape 31"/>
          <p:cNvSpPr/>
          <p:nvPr/>
        </p:nvSpPr>
        <p:spPr>
          <a:xfrm>
            <a:off x="4453235" y="2760762"/>
            <a:ext cx="257770" cy="202704"/>
          </a:xfrm>
          <a:prstGeom prst="roundRect">
            <a:avLst>
              <a:gd name="adj" fmla="val 18796"/>
            </a:avLst>
          </a:prstGeom>
          <a:solidFill>
            <a:srgbClr val="16303F">
              <a:alpha val="7000"/>
            </a:srgbClr>
          </a:solidFill>
          <a:ln/>
        </p:spPr>
      </p:sp>
      <p:sp>
        <p:nvSpPr>
          <p:cNvPr id="34" name="Text 32"/>
          <p:cNvSpPr txBox="1"/>
          <p:nvPr/>
        </p:nvSpPr>
        <p:spPr>
          <a:xfrm>
            <a:off x="663773" y="2752576"/>
            <a:ext cx="4369296"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not portable in an environment variable name.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__</a:t>
            </a:r>
            <a:pPr algn="l" indent="0" marL="0">
              <a:buNone/>
            </a:pPr>
            <a:r>
              <a:rPr lang="en-US" sz="1200" b="1" dirty="0">
                <a:solidFill>
                  <a:srgbClr val="16303F"/>
                </a:solidFill>
                <a:latin typeface="Manrope" pitchFamily="34" charset="0"/>
                <a:ea typeface="Manrope" pitchFamily="34" charset="-122"/>
                <a:cs typeface="Manrope" pitchFamily="34" charset="-120"/>
              </a:rPr>
              <a:t> is.</a:t>
            </a:r>
            <a:endParaRPr lang="en-US" sz="1080" dirty="0"/>
          </a:p>
        </p:txBody>
      </p:sp>
      <p:sp>
        <p:nvSpPr>
          <p:cNvPr id="35" name="Shape 33"/>
          <p:cNvSpPr/>
          <p:nvPr/>
        </p:nvSpPr>
        <p:spPr>
          <a:xfrm>
            <a:off x="8469660" y="228600"/>
            <a:ext cx="575370" cy="228451"/>
          </a:xfrm>
          <a:prstGeom prst="roundRect">
            <a:avLst>
              <a:gd name="adj" fmla="val 16678"/>
            </a:avLst>
          </a:prstGeom>
          <a:solidFill>
            <a:srgbClr val="16303F"/>
          </a:solidFill>
          <a:ln/>
        </p:spPr>
      </p:sp>
      <p:sp>
        <p:nvSpPr>
          <p:cNvPr id="36" name="Text 34"/>
          <p:cNvSpPr txBox="1"/>
          <p:nvPr/>
        </p:nvSpPr>
        <p:spPr>
          <a:xfrm>
            <a:off x="8564017" y="274290"/>
            <a:ext cx="500955"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SHAPE</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13300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Key-per-file</a:t>
            </a:r>
            <a:endParaRPr lang="en-US" sz="2820" dirty="0"/>
          </a:p>
        </p:txBody>
      </p:sp>
      <p:sp>
        <p:nvSpPr>
          <p:cNvPr id="4" name="Shape 2"/>
          <p:cNvSpPr/>
          <p:nvPr/>
        </p:nvSpPr>
        <p:spPr>
          <a:xfrm>
            <a:off x="457200" y="1087041"/>
            <a:ext cx="8420100" cy="795338"/>
          </a:xfrm>
          <a:prstGeom prst="roundRect">
            <a:avLst>
              <a:gd name="adj" fmla="val 4790"/>
            </a:avLst>
          </a:prstGeom>
          <a:solidFill>
            <a:srgbClr val="011627"/>
          </a:solidFill>
          <a:ln/>
        </p:spPr>
      </p:sp>
      <p:sp>
        <p:nvSpPr>
          <p:cNvPr id="5" name="Text 3"/>
          <p:cNvSpPr txBox="1"/>
          <p:nvPr/>
        </p:nvSpPr>
        <p:spPr>
          <a:xfrm>
            <a:off x="533400" y="117276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/run/secrets/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Weather__ApiKey            -&gt;   Weather:ApiKey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ConnectionStrings__Default -&gt;   ConnectionStrings:Default</a:t>
            </a:r>
            <a:endParaRPr lang="en-US" sz="1125" dirty="0"/>
          </a:p>
        </p:txBody>
      </p:sp>
      <p:sp>
        <p:nvSpPr>
          <p:cNvPr id="6" name="Shape 4"/>
          <p:cNvSpPr/>
          <p:nvPr/>
        </p:nvSpPr>
        <p:spPr>
          <a:xfrm>
            <a:off x="457200" y="1958578"/>
            <a:ext cx="8420100" cy="581025"/>
          </a:xfrm>
          <a:prstGeom prst="roundRect">
            <a:avLst>
              <a:gd name="adj" fmla="val 6557"/>
            </a:avLst>
          </a:prstGeom>
          <a:solidFill>
            <a:srgbClr val="011627"/>
          </a:solidFill>
          <a:ln/>
        </p:spPr>
      </p:sp>
      <p:sp>
        <p:nvSpPr>
          <p:cNvPr id="7" name="Text 5"/>
          <p:cNvSpPr txBox="1"/>
          <p:nvPr/>
        </p:nvSpPr>
        <p:spPr>
          <a:xfrm>
            <a:off x="533400" y="2044303"/>
            <a:ext cx="8286750" cy="404813"/>
          </a:xfrm>
          <a:prstGeom prst="rect">
            <a:avLst/>
          </a:prstGeom>
          <a:noFill/>
          <a:ln/>
        </p:spPr>
        <p:txBody>
          <a:bodyPr wrap="square" lIns="0" tIns="0" rIns="0" bIns="0" rtlCol="0" anchor="t"/>
          <a:lstStyle/>
          <a:p>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 not reload</a:t>
            </a:r>
            <a:b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AddKeyPerFile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(dir, optional: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reloadOnChange: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does</a:t>
            </a:r>
            <a:endParaRPr lang="en-US" sz="1125" dirty="0"/>
          </a:p>
        </p:txBody>
      </p:sp>
      <p:sp>
        <p:nvSpPr>
          <p:cNvPr id="8" name="Text 6"/>
          <p:cNvSpPr txBox="1"/>
          <p:nvPr/>
        </p:nvSpPr>
        <p:spPr>
          <a:xfrm>
            <a:off x="457200" y="2853928"/>
            <a:ext cx="851722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path must be absolute. On Kubernetes the mounts are symlink swaps, so even the reloading overload may not fire — treat restart as the contract.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73665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Key Vault</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4044107" cy="19050"/>
          </a:xfrm>
          <a:prstGeom prst="rect">
            <a:avLst/>
          </a:prstGeom>
          <a:solidFill>
            <a:srgbClr val="16303F"/>
          </a:solidFill>
          <a:ln/>
        </p:spPr>
      </p:sp>
      <p:sp>
        <p:nvSpPr>
          <p:cNvPr id="6" name="Text 4"/>
          <p:cNvSpPr txBox="1"/>
          <p:nvPr/>
        </p:nvSpPr>
        <p:spPr>
          <a:xfrm>
            <a:off x="563761" y="1163092"/>
            <a:ext cx="138945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 IN THE VAULT</a:t>
            </a:r>
            <a:endParaRPr lang="en-US" sz="816" dirty="0"/>
          </a:p>
        </p:txBody>
      </p:sp>
      <p:sp>
        <p:nvSpPr>
          <p:cNvPr id="7" name="Shape 5"/>
          <p:cNvSpPr/>
          <p:nvPr/>
        </p:nvSpPr>
        <p:spPr>
          <a:xfrm>
            <a:off x="4501307" y="1377404"/>
            <a:ext cx="4375993" cy="19050"/>
          </a:xfrm>
          <a:prstGeom prst="rect">
            <a:avLst/>
          </a:prstGeom>
          <a:solidFill>
            <a:srgbClr val="16303F"/>
          </a:solidFill>
          <a:ln/>
        </p:spPr>
      </p:sp>
      <p:sp>
        <p:nvSpPr>
          <p:cNvPr id="8" name="Text 6"/>
          <p:cNvSpPr txBox="1"/>
          <p:nvPr/>
        </p:nvSpPr>
        <p:spPr>
          <a:xfrm>
            <a:off x="4607868" y="1163092"/>
            <a:ext cx="15114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KEY IN CONFIGURATION</a:t>
            </a:r>
            <a:endParaRPr lang="en-US" sz="816" dirty="0"/>
          </a:p>
        </p:txBody>
      </p:sp>
      <p:sp>
        <p:nvSpPr>
          <p:cNvPr id="9" name="Shape 7"/>
          <p:cNvSpPr/>
          <p:nvPr/>
        </p:nvSpPr>
        <p:spPr>
          <a:xfrm>
            <a:off x="457200" y="1733252"/>
            <a:ext cx="8420100" cy="9525"/>
          </a:xfrm>
          <a:prstGeom prst="rect">
            <a:avLst/>
          </a:prstGeom>
          <a:solidFill>
            <a:srgbClr val="9CA3AF">
              <a:alpha val="20000"/>
            </a:srgbClr>
          </a:solidFill>
          <a:ln/>
        </p:spPr>
      </p:sp>
      <p:sp>
        <p:nvSpPr>
          <p:cNvPr id="10" name="Shape 8"/>
          <p:cNvSpPr/>
          <p:nvPr/>
        </p:nvSpPr>
        <p:spPr>
          <a:xfrm>
            <a:off x="457200" y="1733252"/>
            <a:ext cx="4044107" cy="9525"/>
          </a:xfrm>
          <a:prstGeom prst="rect">
            <a:avLst/>
          </a:prstGeom>
          <a:solidFill>
            <a:srgbClr val="DDD9D2"/>
          </a:solidFill>
          <a:ln/>
        </p:spPr>
      </p:sp>
      <p:sp>
        <p:nvSpPr>
          <p:cNvPr id="11" name="Shape 9"/>
          <p:cNvSpPr/>
          <p:nvPr/>
        </p:nvSpPr>
        <p:spPr>
          <a:xfrm>
            <a:off x="563761" y="1488728"/>
            <a:ext cx="1198959" cy="181570"/>
          </a:xfrm>
          <a:prstGeom prst="roundRect">
            <a:avLst>
              <a:gd name="adj" fmla="val 20984"/>
            </a:avLst>
          </a:prstGeom>
          <a:solidFill>
            <a:srgbClr val="16303F">
              <a:alpha val="7000"/>
            </a:srgbClr>
          </a:solidFill>
          <a:ln/>
        </p:spPr>
      </p:sp>
      <p:sp>
        <p:nvSpPr>
          <p:cNvPr id="12" name="Text 10"/>
          <p:cNvSpPr txBox="1"/>
          <p:nvPr/>
        </p:nvSpPr>
        <p:spPr>
          <a:xfrm>
            <a:off x="506611" y="1488728"/>
            <a:ext cx="131325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3" name="Shape 11"/>
          <p:cNvSpPr/>
          <p:nvPr/>
        </p:nvSpPr>
        <p:spPr>
          <a:xfrm>
            <a:off x="4501307" y="1733252"/>
            <a:ext cx="4375993" cy="9525"/>
          </a:xfrm>
          <a:prstGeom prst="rect">
            <a:avLst/>
          </a:prstGeom>
          <a:solidFill>
            <a:srgbClr val="DDD9D2"/>
          </a:solidFill>
          <a:ln/>
        </p:spPr>
      </p:sp>
      <p:sp>
        <p:nvSpPr>
          <p:cNvPr id="14" name="Shape 12"/>
          <p:cNvSpPr/>
          <p:nvPr/>
        </p:nvSpPr>
        <p:spPr>
          <a:xfrm>
            <a:off x="4607868" y="1488728"/>
            <a:ext cx="1124843" cy="181570"/>
          </a:xfrm>
          <a:prstGeom prst="roundRect">
            <a:avLst>
              <a:gd name="adj" fmla="val 20984"/>
            </a:avLst>
          </a:prstGeom>
          <a:solidFill>
            <a:srgbClr val="16303F">
              <a:alpha val="7000"/>
            </a:srgbClr>
          </a:solidFill>
          <a:ln/>
        </p:spPr>
      </p:sp>
      <p:sp>
        <p:nvSpPr>
          <p:cNvPr id="15" name="Text 13"/>
          <p:cNvSpPr txBox="1"/>
          <p:nvPr/>
        </p:nvSpPr>
        <p:spPr>
          <a:xfrm>
            <a:off x="4550718" y="1488728"/>
            <a:ext cx="1239143"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Weather:ApiKey</a:t>
            </a:r>
            <a:endParaRPr lang="en-US" sz="972" dirty="0"/>
          </a:p>
        </p:txBody>
      </p:sp>
      <p:sp>
        <p:nvSpPr>
          <p:cNvPr id="16" name="Shape 14"/>
          <p:cNvSpPr/>
          <p:nvPr/>
        </p:nvSpPr>
        <p:spPr>
          <a:xfrm>
            <a:off x="457200" y="1831330"/>
            <a:ext cx="8420100" cy="795338"/>
          </a:xfrm>
          <a:prstGeom prst="roundRect">
            <a:avLst>
              <a:gd name="adj" fmla="val 4790"/>
            </a:avLst>
          </a:prstGeom>
          <a:solidFill>
            <a:srgbClr val="011627"/>
          </a:solidFill>
          <a:ln/>
        </p:spPr>
      </p:sp>
      <p:sp>
        <p:nvSpPr>
          <p:cNvPr id="17" name="Text 15"/>
          <p:cNvSpPr txBox="1"/>
          <p:nvPr/>
        </p:nvSpPr>
        <p:spPr>
          <a:xfrm>
            <a:off x="533400" y="1917055"/>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AddAzureKeyVault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Uri(</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https://</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vaultName</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.vault.azure.net/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DefaultAzureCredential());</a:t>
            </a:r>
            <a:endParaRPr lang="en-US" sz="1125" dirty="0"/>
          </a:p>
        </p:txBody>
      </p:sp>
      <p:sp>
        <p:nvSpPr>
          <p:cNvPr id="18" name="Shape 16"/>
          <p:cNvSpPr/>
          <p:nvPr/>
        </p:nvSpPr>
        <p:spPr>
          <a:xfrm>
            <a:off x="457200" y="2949178"/>
            <a:ext cx="257770" cy="202704"/>
          </a:xfrm>
          <a:prstGeom prst="roundRect">
            <a:avLst>
              <a:gd name="adj" fmla="val 18796"/>
            </a:avLst>
          </a:prstGeom>
          <a:solidFill>
            <a:srgbClr val="16303F">
              <a:alpha val="7000"/>
            </a:srgbClr>
          </a:solidFill>
          <a:ln/>
        </p:spPr>
      </p:sp>
      <p:sp>
        <p:nvSpPr>
          <p:cNvPr id="19" name="Shape 17"/>
          <p:cNvSpPr/>
          <p:nvPr/>
        </p:nvSpPr>
        <p:spPr>
          <a:xfrm>
            <a:off x="1425327" y="2949178"/>
            <a:ext cx="175468" cy="202704"/>
          </a:xfrm>
          <a:prstGeom prst="roundRect">
            <a:avLst>
              <a:gd name="adj" fmla="val 21713"/>
            </a:avLst>
          </a:prstGeom>
          <a:solidFill>
            <a:srgbClr val="16303F">
              <a:alpha val="7000"/>
            </a:srgbClr>
          </a:solidFill>
          <a:ln/>
        </p:spPr>
      </p:sp>
      <p:sp>
        <p:nvSpPr>
          <p:cNvPr id="20" name="Shape 18"/>
          <p:cNvSpPr/>
          <p:nvPr/>
        </p:nvSpPr>
        <p:spPr>
          <a:xfrm>
            <a:off x="6792813" y="2949178"/>
            <a:ext cx="1245394" cy="202704"/>
          </a:xfrm>
          <a:prstGeom prst="roundRect">
            <a:avLst>
              <a:gd name="adj" fmla="val 18796"/>
            </a:avLst>
          </a:prstGeom>
          <a:solidFill>
            <a:srgbClr val="16303F">
              <a:alpha val="7000"/>
            </a:srgbClr>
          </a:solidFill>
          <a:ln/>
        </p:spPr>
      </p:sp>
      <p:sp>
        <p:nvSpPr>
          <p:cNvPr id="21" name="Text 19"/>
          <p:cNvSpPr txBox="1"/>
          <p:nvPr/>
        </p:nvSpPr>
        <p:spPr>
          <a:xfrm>
            <a:off x="457200" y="2940993"/>
            <a:ext cx="8539695"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becomes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because Key Vault forbids a colon in a secret name. No reload by default —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ReloadInterval</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is null until you set it.</a:t>
            </a:r>
            <a:endParaRPr lang="en-US" sz="10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805904"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BINDING</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Stop passing configuration around as strings. Give it a type.</a:t>
            </a:r>
            <a:endParaRPr lang="en-US" sz="3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066109"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Stop injecting IConfiguration</a:t>
            </a:r>
            <a:endParaRPr lang="en-US" sz="2820" dirty="0"/>
          </a:p>
        </p:txBody>
      </p:sp>
      <p:sp>
        <p:nvSpPr>
          <p:cNvPr id="4" name="Text 2"/>
          <p:cNvSpPr txBox="1"/>
          <p:nvPr/>
        </p:nvSpPr>
        <p:spPr>
          <a:xfrm>
            <a:off x="304800" y="1071711"/>
            <a:ext cx="49306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DON'T</a:t>
            </a:r>
            <a:endParaRPr lang="en-US" sz="768" dirty="0"/>
          </a:p>
        </p:txBody>
      </p:sp>
      <p:sp>
        <p:nvSpPr>
          <p:cNvPr id="5" name="Shape 3"/>
          <p:cNvSpPr/>
          <p:nvPr/>
        </p:nvSpPr>
        <p:spPr>
          <a:xfrm>
            <a:off x="304800" y="1313855"/>
            <a:ext cx="8724900" cy="1381720"/>
          </a:xfrm>
          <a:prstGeom prst="roundRect">
            <a:avLst>
              <a:gd name="adj" fmla="val 2757"/>
            </a:avLst>
          </a:prstGeom>
          <a:solidFill>
            <a:srgbClr val="011627"/>
          </a:solidFill>
          <a:ln/>
        </p:spPr>
      </p:sp>
      <p:sp>
        <p:nvSpPr>
          <p:cNvPr id="6" name="Text 4"/>
          <p:cNvSpPr txBox="1"/>
          <p:nvPr/>
        </p:nvSpPr>
        <p:spPr>
          <a:xfrm>
            <a:off x="381000" y="1390055"/>
            <a:ext cx="8591550" cy="1215628"/>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DON'T - over-broad dependency, stringly typed, unvalidated, re-parsed</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(IConfiguration config)</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Task&lt;Forecast&gt; </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GetAsync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a:t>
            </a:r>
            <a:pPr algn="l" indent="0" marL="0">
              <a:lnSpc>
                <a:spcPts val="1383"/>
              </a:lnSpc>
              <a:buNone/>
            </a:pPr>
            <a:r>
              <a:rPr lang="en-US" sz="923" dirty="0">
                <a:solidFill>
                  <a:srgbClr val="7FDBCA"/>
                </a:solidFill>
                <a:latin typeface="JetBrains Mono" pitchFamily="34" charset="0"/>
                <a:ea typeface="JetBrains Mono" pitchFamily="34" charset="-122"/>
                <a:cs typeface="JetBrains Mono" pitchFamily="34" charset="-120"/>
              </a:rPr>
              <a:t>=&gt;</a:t>
            </a:r>
            <a:b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CallAsync</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int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82AAFF"/>
                </a:solidFill>
                <a:latin typeface="JetBrains Mono" pitchFamily="34" charset="0"/>
                <a:ea typeface="JetBrains Mono" pitchFamily="34" charset="-122"/>
                <a:cs typeface="JetBrains Mono" pitchFamily="34" charset="-120"/>
              </a:rPr>
              <a:t>Parse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config</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383"/>
              </a:lnSpc>
              <a:buNone/>
            </a:pPr>
            <a:r>
              <a:rPr lang="en-US" sz="923" dirty="0">
                <a:solidFill>
                  <a:srgbClr val="D9F5DD"/>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7" name="Text 5"/>
          <p:cNvSpPr txBox="1"/>
          <p:nvPr/>
        </p:nvSpPr>
        <p:spPr>
          <a:xfrm>
            <a:off x="304800" y="2863155"/>
            <a:ext cx="288727"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DO</a:t>
            </a:r>
            <a:endParaRPr lang="en-US" sz="768" dirty="0"/>
          </a:p>
        </p:txBody>
      </p:sp>
      <p:sp>
        <p:nvSpPr>
          <p:cNvPr id="8" name="Shape 6"/>
          <p:cNvSpPr/>
          <p:nvPr/>
        </p:nvSpPr>
        <p:spPr>
          <a:xfrm>
            <a:off x="304800" y="3105299"/>
            <a:ext cx="8724900" cy="1030486"/>
          </a:xfrm>
          <a:prstGeom prst="roundRect">
            <a:avLst>
              <a:gd name="adj" fmla="val 3697"/>
            </a:avLst>
          </a:prstGeom>
          <a:solidFill>
            <a:srgbClr val="011627"/>
          </a:solidFill>
          <a:ln/>
        </p:spPr>
      </p:sp>
      <p:sp>
        <p:nvSpPr>
          <p:cNvPr id="9" name="Text 7"/>
          <p:cNvSpPr txBox="1"/>
          <p:nvPr/>
        </p:nvSpPr>
        <p:spPr>
          <a:xfrm>
            <a:off x="381000" y="3181499"/>
            <a:ext cx="8591550" cy="864394"/>
          </a:xfrm>
          <a:prstGeom prst="rect">
            <a:avLst/>
          </a:prstGeom>
          <a:noFill/>
          <a:ln/>
        </p:spPr>
        <p:txBody>
          <a:bodyPr wrap="square" lIns="0" tIns="0" rIns="0" bIns="0" rtlCol="0" anchor="t"/>
          <a:lstStyle/>
          <a:p>
            <a:pPr algn="l" indent="0" marL="0">
              <a:lnSpc>
                <a:spcPts val="1383"/>
              </a:lnSpc>
              <a:buNone/>
            </a:pPr>
            <a:r>
              <a:rPr lang="en-US" sz="923" dirty="0">
                <a:solidFill>
                  <a:srgbClr val="637777"/>
                </a:solidFill>
                <a:latin typeface="JetBrains Mono" pitchFamily="34" charset="0"/>
                <a:ea typeface="JetBrains Mono" pitchFamily="34" charset="-122"/>
                <a:cs typeface="JetBrains Mono" pitchFamily="34" charset="-120"/>
              </a:rPr>
              <a:t>// DO - the class declares exactly what it needs</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public</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sealed</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class</a:t>
            </a:r>
            <a:pPr algn="l" indent="0" marL="0">
              <a:lnSpc>
                <a:spcPts val="1383"/>
              </a:lnSpc>
              <a:buNone/>
            </a:pPr>
            <a:r>
              <a:rPr lang="en-US" sz="923" dirty="0">
                <a:solidFill>
                  <a:srgbClr val="FFCB8B"/>
                </a:solidFill>
                <a:latin typeface="JetBrains Mono" pitchFamily="34" charset="0"/>
                <a:ea typeface="JetBrains Mono" pitchFamily="34" charset="-122"/>
                <a:cs typeface="JetBrains Mono" pitchFamily="34" charset="-120"/>
              </a:rPr>
              <a:t> WeatherClient</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(IOptions&lt;WeatherOptions&gt; options)</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private</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 readonly</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 WeatherOptions _options </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B2CCD6"/>
                </a:solidFill>
                <a:latin typeface="JetBrains Mono" pitchFamily="34" charset="0"/>
                <a:ea typeface="JetBrains Mono" pitchFamily="34" charset="-122"/>
                <a:cs typeface="JetBrains Mono" pitchFamily="34" charset="-120"/>
              </a:rPr>
              <a:t> options</a:t>
            </a:r>
            <a:pPr algn="l" indent="0" marL="0">
              <a:lnSpc>
                <a:spcPts val="1383"/>
              </a:lnSpc>
              <a:buNone/>
            </a:pPr>
            <a:r>
              <a:rPr lang="en-US" sz="923" dirty="0">
                <a:solidFill>
                  <a:srgbClr val="C792EA"/>
                </a:solidFill>
                <a:latin typeface="JetBrains Mono" pitchFamily="34" charset="0"/>
                <a:ea typeface="JetBrains Mono" pitchFamily="34" charset="-122"/>
                <a:cs typeface="JetBrains Mono" pitchFamily="34" charset="-120"/>
              </a:rPr>
              <a:t>.</a:t>
            </a:r>
            <a:pPr algn="l" indent="0" marL="0">
              <a:lnSpc>
                <a:spcPts val="1383"/>
              </a:lnSpc>
              <a:buNone/>
            </a:pPr>
            <a:r>
              <a:rPr lang="en-US" sz="923" dirty="0">
                <a:solidFill>
                  <a:srgbClr val="FAF39F"/>
                </a:solidFill>
                <a:latin typeface="JetBrains Mono" pitchFamily="34" charset="0"/>
                <a:ea typeface="JetBrains Mono" pitchFamily="34" charset="-122"/>
                <a:cs typeface="JetBrains Mono" pitchFamily="34" charset="-120"/>
              </a:rPr>
              <a:t>Value</a:t>
            </a: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br/>
            <a:pPr algn="l" indent="0" marL="0">
              <a:lnSpc>
                <a:spcPts val="1383"/>
              </a:lnSpc>
              <a:buNone/>
            </a:pPr>
            <a:r>
              <a:rPr lang="en-US" sz="923" dirty="0">
                <a:solidFill>
                  <a:srgbClr val="D6DEEB"/>
                </a:solidFill>
                <a:latin typeface="JetBrains Mono" pitchFamily="34" charset="0"/>
                <a:ea typeface="JetBrains Mono" pitchFamily="34" charset="-122"/>
                <a:cs typeface="JetBrains Mono" pitchFamily="34" charset="-120"/>
              </a:rPr>
              <a:t>}</a:t>
            </a:r>
            <a:endParaRPr lang="en-US" sz="923" dirty="0"/>
          </a:p>
        </p:txBody>
      </p:sp>
      <p:sp>
        <p:nvSpPr>
          <p:cNvPr id="10" name="Shape 8"/>
          <p:cNvSpPr/>
          <p:nvPr/>
        </p:nvSpPr>
        <p:spPr>
          <a:xfrm>
            <a:off x="304800" y="4371975"/>
            <a:ext cx="38100" cy="533400"/>
          </a:xfrm>
          <a:prstGeom prst="rect">
            <a:avLst/>
          </a:prstGeom>
          <a:solidFill>
            <a:srgbClr val="F4C233"/>
          </a:solidFill>
          <a:ln/>
        </p:spPr>
      </p:sp>
      <p:sp>
        <p:nvSpPr>
          <p:cNvPr id="11" name="Shape 9"/>
          <p:cNvSpPr/>
          <p:nvPr/>
        </p:nvSpPr>
        <p:spPr>
          <a:xfrm>
            <a:off x="841772" y="4542086"/>
            <a:ext cx="175468" cy="202704"/>
          </a:xfrm>
          <a:prstGeom prst="roundRect">
            <a:avLst>
              <a:gd name="adj" fmla="val 21713"/>
            </a:avLst>
          </a:prstGeom>
          <a:solidFill>
            <a:srgbClr val="16303F">
              <a:alpha val="7000"/>
            </a:srgbClr>
          </a:solidFill>
          <a:ln/>
        </p:spPr>
      </p:sp>
      <p:sp>
        <p:nvSpPr>
          <p:cNvPr id="12" name="Text 10"/>
          <p:cNvSpPr txBox="1"/>
          <p:nvPr/>
        </p:nvSpPr>
        <p:spPr>
          <a:xfrm>
            <a:off x="464790" y="4533900"/>
            <a:ext cx="2886670"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That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a:t>
            </a:r>
            <a:pPr algn="l" indent="0" marL="0">
              <a:buNone/>
            </a:pPr>
            <a:r>
              <a:rPr lang="en-US" sz="1200" b="1" dirty="0">
                <a:solidFill>
                  <a:srgbClr val="16303F"/>
                </a:solidFill>
                <a:latin typeface="Manrope" pitchFamily="34" charset="0"/>
                <a:ea typeface="Manrope" pitchFamily="34" charset="-122"/>
                <a:cs typeface="Manrope" pitchFamily="34" charset="-120"/>
              </a:rPr>
              <a:t> is anti-pattern #3 on its own.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540395"/>
            <a:ext cx="494109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Define the contract, then enforce it</a:t>
            </a:r>
            <a:endParaRPr lang="en-US" sz="2280" dirty="0"/>
          </a:p>
        </p:txBody>
      </p:sp>
      <p:sp>
        <p:nvSpPr>
          <p:cNvPr id="4" name="Shape 2"/>
          <p:cNvSpPr/>
          <p:nvPr/>
        </p:nvSpPr>
        <p:spPr>
          <a:xfrm>
            <a:off x="628650" y="1209229"/>
            <a:ext cx="8077200" cy="3309938"/>
          </a:xfrm>
          <a:prstGeom prst="roundRect">
            <a:avLst>
              <a:gd name="adj" fmla="val 1151"/>
            </a:avLst>
          </a:prstGeom>
          <a:solidFill>
            <a:srgbClr val="011627"/>
          </a:solidFill>
          <a:ln/>
        </p:spPr>
      </p:sp>
      <p:sp>
        <p:nvSpPr>
          <p:cNvPr id="5" name="Text 3"/>
          <p:cNvSpPr txBox="1"/>
          <p:nvPr/>
        </p:nvSpPr>
        <p:spPr>
          <a:xfrm>
            <a:off x="704850" y="1294954"/>
            <a:ext cx="7943850" cy="3124200"/>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WeatherOptions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const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SectionName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Url]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ApiBaseUrl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[Range(</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300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int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TimeoutSeconds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 30</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[Required, MinLength(</a:t>
            </a:r>
            <a:pPr algn="l" indent="0" marL="0">
              <a:lnSpc>
                <a:spcPts val="1913"/>
              </a:lnSpc>
              <a:buNone/>
            </a:pPr>
            <a:r>
              <a:rPr lang="en-US" sz="1275" dirty="0">
                <a:solidFill>
                  <a:srgbClr val="F78C6C"/>
                </a:solidFill>
                <a:latin typeface="JetBrains Mono" pitchFamily="34" charset="0"/>
                <a:ea typeface="JetBrains Mono" pitchFamily="34" charset="-122"/>
                <a:cs typeface="JetBrains Mono" pitchFamily="34" charset="-120"/>
              </a:rPr>
              <a:t>8</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required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ApiKey {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get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init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GetSection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WeatherOptions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SectionName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09225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An invalid environment fails before traffic</a:t>
            </a:r>
            <a:endParaRPr lang="en-US" sz="2820" dirty="0"/>
          </a:p>
        </p:txBody>
      </p:sp>
      <p:sp>
        <p:nvSpPr>
          <p:cNvPr id="4" name="Shape 2"/>
          <p:cNvSpPr/>
          <p:nvPr/>
        </p:nvSpPr>
        <p:spPr>
          <a:xfrm>
            <a:off x="457200" y="1087041"/>
            <a:ext cx="8420100" cy="1009650"/>
          </a:xfrm>
          <a:prstGeom prst="roundRect">
            <a:avLst>
              <a:gd name="adj" fmla="val 3774"/>
            </a:avLst>
          </a:prstGeom>
          <a:solidFill>
            <a:srgbClr val="011627"/>
          </a:solidFill>
          <a:ln/>
        </p:spPr>
      </p:sp>
      <p:sp>
        <p:nvSpPr>
          <p:cNvPr id="5" name="Text 3"/>
          <p:cNvSpPr txBox="1"/>
          <p:nvPr/>
        </p:nvSpPr>
        <p:spPr>
          <a:xfrm>
            <a:off x="533400" y="1172766"/>
            <a:ext cx="8286750" cy="833437"/>
          </a:xfrm>
          <a:prstGeom prst="rect">
            <a:avLst/>
          </a:prstGeom>
          <a:noFill/>
          <a:ln/>
        </p:spPr>
        <p:txBody>
          <a:bodyPr wrap="square" lIns="0" tIns="0" rIns="0" bIns="0" rtlCol="0" anchor="t"/>
          <a:lstStyle/>
          <a:p>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Services</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AddOptionsWithValidateOnStart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&lt;WeatherOptions&gt;()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Bind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builder</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AF39F"/>
                </a:solidFill>
                <a:latin typeface="JetBrains Mono" pitchFamily="34" charset="0"/>
                <a:ea typeface="JetBrains Mono" pitchFamily="34" charset="-122"/>
                <a:cs typeface="JetBrains Mono" pitchFamily="34" charset="-120"/>
              </a:rPr>
              <a:t>Configuration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GetSection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ValidateDataAnnotations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2172891"/>
            <a:ext cx="8420100" cy="795338"/>
          </a:xfrm>
          <a:prstGeom prst="roundRect">
            <a:avLst>
              <a:gd name="adj" fmla="val 4790"/>
            </a:avLst>
          </a:prstGeom>
          <a:solidFill>
            <a:srgbClr val="011627"/>
          </a:solidFill>
          <a:ln/>
        </p:spPr>
      </p:sp>
      <p:sp>
        <p:nvSpPr>
          <p:cNvPr id="7" name="Text 5"/>
          <p:cNvSpPr txBox="1"/>
          <p:nvPr/>
        </p:nvSpPr>
        <p:spPr>
          <a:xfrm>
            <a:off x="533400" y="2258616"/>
            <a:ext cx="8286750" cy="61912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Unhandled exception. Microsoft.Extensions.Options.OptionsValidationException:</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DataAnnotation validation failed for 'WeatherOptions' members: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'TimeoutSeconds' with the error: 'The field TimeoutSeconds must be between 1 and 300.'</a:t>
            </a:r>
            <a:endParaRPr lang="en-US" sz="1125" dirty="0"/>
          </a:p>
        </p:txBody>
      </p:sp>
      <p:sp>
        <p:nvSpPr>
          <p:cNvPr id="8" name="Shape 6"/>
          <p:cNvSpPr/>
          <p:nvPr/>
        </p:nvSpPr>
        <p:spPr>
          <a:xfrm>
            <a:off x="6414046" y="3290739"/>
            <a:ext cx="1327696" cy="202704"/>
          </a:xfrm>
          <a:prstGeom prst="roundRect">
            <a:avLst>
              <a:gd name="adj" fmla="val 18796"/>
            </a:avLst>
          </a:prstGeom>
          <a:solidFill>
            <a:srgbClr val="16303F">
              <a:alpha val="7000"/>
            </a:srgbClr>
          </a:solidFill>
          <a:ln/>
        </p:spPr>
      </p:sp>
      <p:sp>
        <p:nvSpPr>
          <p:cNvPr id="9" name="Shape 7"/>
          <p:cNvSpPr/>
          <p:nvPr/>
        </p:nvSpPr>
        <p:spPr>
          <a:xfrm>
            <a:off x="772567" y="3519339"/>
            <a:ext cx="586978" cy="202704"/>
          </a:xfrm>
          <a:prstGeom prst="roundRect">
            <a:avLst>
              <a:gd name="adj" fmla="val 18796"/>
            </a:avLst>
          </a:prstGeom>
          <a:solidFill>
            <a:srgbClr val="16303F">
              <a:alpha val="7000"/>
            </a:srgbClr>
          </a:solidFill>
          <a:ln/>
        </p:spPr>
      </p:sp>
      <p:sp>
        <p:nvSpPr>
          <p:cNvPr id="10" name="Text 8"/>
          <p:cNvSpPr txBox="1"/>
          <p:nvPr/>
        </p:nvSpPr>
        <p:spPr>
          <a:xfrm>
            <a:off x="457200" y="3282553"/>
            <a:ext cx="8450738"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point is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where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this happened: at startup, before the process took traffic. Without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ValidateOnStart</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it happens on first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.Value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access — in production, on the first request that reaches that code path.</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04726"/>
            <a:ext cx="5179070"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Tests must satisfy the same contract</a:t>
            </a:r>
            <a:endParaRPr lang="en-US" sz="2280" dirty="0"/>
          </a:p>
        </p:txBody>
      </p:sp>
      <p:sp>
        <p:nvSpPr>
          <p:cNvPr id="4" name="Shape 2"/>
          <p:cNvSpPr/>
          <p:nvPr/>
        </p:nvSpPr>
        <p:spPr>
          <a:xfrm>
            <a:off x="628650" y="1573560"/>
            <a:ext cx="8077200" cy="2581275"/>
          </a:xfrm>
          <a:prstGeom prst="roundRect">
            <a:avLst>
              <a:gd name="adj" fmla="val 1476"/>
            </a:avLst>
          </a:prstGeom>
          <a:solidFill>
            <a:srgbClr val="011627"/>
          </a:solidFill>
          <a:ln/>
        </p:spPr>
      </p:sp>
      <p:sp>
        <p:nvSpPr>
          <p:cNvPr id="5" name="Text 3"/>
          <p:cNvSpPr txBox="1"/>
          <p:nvPr/>
        </p:nvSpPr>
        <p:spPr>
          <a:xfrm>
            <a:off x="704850" y="1659285"/>
            <a:ext cx="7943850" cy="2395538"/>
          </a:xfrm>
          <a:prstGeom prst="rect">
            <a:avLst/>
          </a:prstGeom>
          <a:noFill/>
          <a:ln/>
        </p:spPr>
        <p:txBody>
          <a:bodyPr wrap="square" lIns="0" tIns="0" rIns="0" bIns="0" rtlCol="0" anchor="t"/>
          <a:lstStyle/>
          <a:p>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public</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sealed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class</a:t>
            </a:r>
            <a:pPr algn="l" indent="0" marL="0">
              <a:lnSpc>
                <a:spcPts val="1913"/>
              </a:lnSpc>
              <a:buNone/>
            </a:pPr>
            <a:r>
              <a:rPr lang="en-US" sz="1275" dirty="0">
                <a:solidFill>
                  <a:srgbClr val="FFCB8B"/>
                </a:solidFill>
                <a:latin typeface="JetBrains Mono" pitchFamily="34" charset="0"/>
                <a:ea typeface="JetBrains Mono" pitchFamily="34" charset="-122"/>
                <a:cs typeface="JetBrains Mono" pitchFamily="34" charset="-120"/>
              </a:rPr>
              <a:t> ApiFactory</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 WebApplicationFactory&lt;Program&gt;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protected</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override</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 void</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 ConfigureWebHost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(IWebHostBuilder builder)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ConfigureAppConfiguration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(config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config</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AddInMemoryCollection</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Dictionary&lt;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string</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?&gt;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Weather:ApiBaseUrl</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http://localhost/stub</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Weather:TimeoutSeconds</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1</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832967"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4 · PRODUCTION</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Production supplies the values. Nothing gets rebuilt to change one.</a:t>
            </a:r>
            <a:endParaRPr lang="en-US" sz="3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450181"/>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Production adds a question the other environments never asked:</a:t>
            </a:r>
            <a:endParaRPr lang="en-US" sz="2520" dirty="0"/>
          </a:p>
        </p:txBody>
      </p:sp>
      <p:sp>
        <p:nvSpPr>
          <p:cNvPr id="4" name="Text 2"/>
          <p:cNvSpPr txBox="1"/>
          <p:nvPr/>
        </p:nvSpPr>
        <p:spPr>
          <a:xfrm>
            <a:off x="685800" y="2322314"/>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can this value change while the process is running?</a:t>
            </a:r>
            <a:endParaRPr lang="en-US" sz="2520" dirty="0"/>
          </a:p>
        </p:txBody>
      </p:sp>
      <p:sp>
        <p:nvSpPr>
          <p:cNvPr id="5" name="Text 3"/>
          <p:cNvSpPr txBox="1"/>
          <p:nvPr/>
        </p:nvSpPr>
        <p:spPr>
          <a:xfrm>
            <a:off x="685800" y="3308747"/>
            <a:ext cx="7046848" cy="458986"/>
          </a:xfrm>
          <a:prstGeom prst="rect">
            <a:avLst/>
          </a:prstGeom>
          <a:noFill/>
          <a:ln/>
        </p:spPr>
        <p:txBody>
          <a:bodyPr wrap="square" lIns="0" tIns="0" rIns="0" bIns="0" rtlCol="0" anchor="t"/>
          <a:lstStyle/>
          <a:p>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Binding and validation answered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is it there, and is it valid</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 Lifetime answers </a:t>
            </a:r>
            <a:pPr algn="l" indent="0" marL="0">
              <a:lnSpc>
                <a:spcPts val="1889"/>
              </a:lnSpc>
              <a:buNone/>
            </a:pPr>
            <a:r>
              <a:rPr lang="en-US" sz="1260" i="1" dirty="0">
                <a:solidFill>
                  <a:srgbClr val="44535A"/>
                </a:solidFill>
                <a:latin typeface="Manrope" pitchFamily="34" charset="0"/>
                <a:ea typeface="Manrope" pitchFamily="34" charset="-122"/>
                <a:cs typeface="Manrope" pitchFamily="34" charset="-120"/>
              </a:rPr>
              <a:t>and does it still hold five minutes from now</a:t>
            </a:r>
            <a:pPr algn="l" indent="0" marL="0">
              <a:lnSpc>
                <a:spcPts val="1889"/>
              </a:lnSpc>
              <a:buNone/>
            </a:pPr>
            <a:r>
              <a:rPr lang="en-US" sz="1260" dirty="0">
                <a:solidFill>
                  <a:srgbClr val="44535A"/>
                </a:solidFill>
                <a:latin typeface="Manrope" pitchFamily="34" charset="0"/>
                <a:ea typeface="Manrope" pitchFamily="34" charset="-122"/>
                <a:cs typeface="Manrope" pitchFamily="34" charset="-120"/>
              </a:rPr>
              <a:t>.</a:t>
            </a:r>
            <a:endParaRPr lang="en-US" sz="12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80544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IOptions, IOptionsSnapshot, IOptionsMonitor</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10234" cy="19050"/>
          </a:xfrm>
          <a:prstGeom prst="rect">
            <a:avLst/>
          </a:prstGeom>
          <a:solidFill>
            <a:srgbClr val="16303F"/>
          </a:solidFill>
          <a:ln/>
        </p:spPr>
      </p:sp>
      <p:sp>
        <p:nvSpPr>
          <p:cNvPr id="6" name="Shape 4"/>
          <p:cNvSpPr/>
          <p:nvPr/>
        </p:nvSpPr>
        <p:spPr>
          <a:xfrm>
            <a:off x="2567434" y="1377404"/>
            <a:ext cx="995511" cy="19050"/>
          </a:xfrm>
          <a:prstGeom prst="rect">
            <a:avLst/>
          </a:prstGeom>
          <a:solidFill>
            <a:srgbClr val="16303F"/>
          </a:solidFill>
          <a:ln/>
        </p:spPr>
      </p:sp>
      <p:sp>
        <p:nvSpPr>
          <p:cNvPr id="7" name="Text 5"/>
          <p:cNvSpPr txBox="1"/>
          <p:nvPr/>
        </p:nvSpPr>
        <p:spPr>
          <a:xfrm>
            <a:off x="2673995" y="1163092"/>
            <a:ext cx="64427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LIFETIME</a:t>
            </a:r>
            <a:endParaRPr lang="en-US" sz="816" dirty="0"/>
          </a:p>
        </p:txBody>
      </p:sp>
      <p:sp>
        <p:nvSpPr>
          <p:cNvPr id="8" name="Shape 6"/>
          <p:cNvSpPr/>
          <p:nvPr/>
        </p:nvSpPr>
        <p:spPr>
          <a:xfrm>
            <a:off x="3562945" y="1377404"/>
            <a:ext cx="2192238" cy="19050"/>
          </a:xfrm>
          <a:prstGeom prst="rect">
            <a:avLst/>
          </a:prstGeom>
          <a:solidFill>
            <a:srgbClr val="16303F"/>
          </a:solidFill>
          <a:ln/>
        </p:spPr>
      </p:sp>
      <p:sp>
        <p:nvSpPr>
          <p:cNvPr id="9" name="Text 7"/>
          <p:cNvSpPr txBox="1"/>
          <p:nvPr/>
        </p:nvSpPr>
        <p:spPr>
          <a:xfrm>
            <a:off x="3669506" y="1163092"/>
            <a:ext cx="1271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RE-READS CONFIG?</a:t>
            </a:r>
            <a:endParaRPr lang="en-US" sz="816" dirty="0"/>
          </a:p>
        </p:txBody>
      </p:sp>
      <p:sp>
        <p:nvSpPr>
          <p:cNvPr id="10" name="Shape 8"/>
          <p:cNvSpPr/>
          <p:nvPr/>
        </p:nvSpPr>
        <p:spPr>
          <a:xfrm>
            <a:off x="5755184" y="1377404"/>
            <a:ext cx="3122116" cy="19050"/>
          </a:xfrm>
          <a:prstGeom prst="rect">
            <a:avLst/>
          </a:prstGeom>
          <a:solidFill>
            <a:srgbClr val="16303F"/>
          </a:solidFill>
          <a:ln/>
        </p:spPr>
      </p:sp>
      <p:sp>
        <p:nvSpPr>
          <p:cNvPr id="11" name="Text 9"/>
          <p:cNvSpPr txBox="1"/>
          <p:nvPr/>
        </p:nvSpPr>
        <p:spPr>
          <a:xfrm>
            <a:off x="5861745" y="1163092"/>
            <a:ext cx="73610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USE WHEN</a:t>
            </a:r>
            <a:endParaRPr lang="en-US" sz="816" dirty="0"/>
          </a:p>
        </p:txBody>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2110234" cy="9525"/>
          </a:xfrm>
          <a:prstGeom prst="rect">
            <a:avLst/>
          </a:prstGeom>
          <a:solidFill>
            <a:srgbClr val="DDD9D2"/>
          </a:solidFill>
          <a:ln/>
        </p:spPr>
      </p:sp>
      <p:sp>
        <p:nvSpPr>
          <p:cNvPr id="14" name="Shape 12"/>
          <p:cNvSpPr/>
          <p:nvPr/>
        </p:nvSpPr>
        <p:spPr>
          <a:xfrm>
            <a:off x="563761" y="1488728"/>
            <a:ext cx="902940" cy="181570"/>
          </a:xfrm>
          <a:prstGeom prst="roundRect">
            <a:avLst>
              <a:gd name="adj" fmla="val 20984"/>
            </a:avLst>
          </a:prstGeom>
          <a:solidFill>
            <a:srgbClr val="16303F">
              <a:alpha val="7000"/>
            </a:srgbClr>
          </a:solidFill>
          <a:ln/>
        </p:spPr>
      </p:sp>
      <p:sp>
        <p:nvSpPr>
          <p:cNvPr id="15" name="Text 13"/>
          <p:cNvSpPr txBox="1"/>
          <p:nvPr/>
        </p:nvSpPr>
        <p:spPr>
          <a:xfrm>
            <a:off x="506611" y="1488728"/>
            <a:ext cx="101724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IOptions&lt;T&gt;</a:t>
            </a:r>
            <a:endParaRPr lang="en-US" sz="972" dirty="0"/>
          </a:p>
        </p:txBody>
      </p:sp>
      <p:sp>
        <p:nvSpPr>
          <p:cNvPr id="16" name="Shape 14"/>
          <p:cNvSpPr/>
          <p:nvPr/>
        </p:nvSpPr>
        <p:spPr>
          <a:xfrm>
            <a:off x="2567434" y="1733252"/>
            <a:ext cx="995511" cy="9525"/>
          </a:xfrm>
          <a:prstGeom prst="rect">
            <a:avLst/>
          </a:prstGeom>
          <a:solidFill>
            <a:srgbClr val="DDD9D2"/>
          </a:solidFill>
          <a:ln/>
        </p:spPr>
      </p:sp>
      <p:sp>
        <p:nvSpPr>
          <p:cNvPr id="17" name="Text 15"/>
          <p:cNvSpPr txBox="1"/>
          <p:nvPr/>
        </p:nvSpPr>
        <p:spPr>
          <a:xfrm>
            <a:off x="2673995" y="1479500"/>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18" name="Shape 16"/>
          <p:cNvSpPr/>
          <p:nvPr/>
        </p:nvSpPr>
        <p:spPr>
          <a:xfrm>
            <a:off x="3562945" y="1733252"/>
            <a:ext cx="2192238" cy="9525"/>
          </a:xfrm>
          <a:prstGeom prst="rect">
            <a:avLst/>
          </a:prstGeom>
          <a:solidFill>
            <a:srgbClr val="DDD9D2"/>
          </a:solidFill>
          <a:ln/>
        </p:spPr>
      </p:sp>
      <p:sp>
        <p:nvSpPr>
          <p:cNvPr id="19" name="Text 17"/>
          <p:cNvSpPr txBox="1"/>
          <p:nvPr/>
        </p:nvSpPr>
        <p:spPr>
          <a:xfrm>
            <a:off x="3669506" y="1479500"/>
            <a:ext cx="167565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bound once, forever</a:t>
            </a:r>
            <a:endParaRPr lang="en-US" sz="1056" dirty="0"/>
          </a:p>
        </p:txBody>
      </p:sp>
      <p:sp>
        <p:nvSpPr>
          <p:cNvPr id="20" name="Shape 18"/>
          <p:cNvSpPr/>
          <p:nvPr/>
        </p:nvSpPr>
        <p:spPr>
          <a:xfrm>
            <a:off x="5755184" y="1733252"/>
            <a:ext cx="3122116" cy="9525"/>
          </a:xfrm>
          <a:prstGeom prst="rect">
            <a:avLst/>
          </a:prstGeom>
          <a:solidFill>
            <a:srgbClr val="DDD9D2"/>
          </a:solidFill>
          <a:ln/>
        </p:spPr>
      </p:sp>
      <p:sp>
        <p:nvSpPr>
          <p:cNvPr id="21" name="Text 19"/>
          <p:cNvSpPr txBox="1"/>
          <p:nvPr/>
        </p:nvSpPr>
        <p:spPr>
          <a:xfrm>
            <a:off x="5861745" y="1479500"/>
            <a:ext cx="219893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The value can’t change at runtime</a:t>
            </a:r>
            <a:endParaRPr lang="en-US" sz="1056" dirty="0"/>
          </a:p>
        </p:txBody>
      </p:sp>
      <p:sp>
        <p:nvSpPr>
          <p:cNvPr id="22" name="Shape 20"/>
          <p:cNvSpPr/>
          <p:nvPr/>
        </p:nvSpPr>
        <p:spPr>
          <a:xfrm>
            <a:off x="457200" y="1742777"/>
            <a:ext cx="8420100" cy="341561"/>
          </a:xfrm>
          <a:prstGeom prst="rect">
            <a:avLst/>
          </a:prstGeom>
          <a:solidFill>
            <a:srgbClr val="16303F">
              <a:alpha val="3000"/>
            </a:srgbClr>
          </a:solidFill>
          <a:ln/>
        </p:spPr>
      </p:sp>
      <p:sp>
        <p:nvSpPr>
          <p:cNvPr id="23" name="Shape 21"/>
          <p:cNvSpPr/>
          <p:nvPr/>
        </p:nvSpPr>
        <p:spPr>
          <a:xfrm>
            <a:off x="457200" y="2074813"/>
            <a:ext cx="8420100" cy="9525"/>
          </a:xfrm>
          <a:prstGeom prst="rect">
            <a:avLst/>
          </a:prstGeom>
          <a:solidFill>
            <a:srgbClr val="9CA3AF">
              <a:alpha val="20000"/>
            </a:srgbClr>
          </a:solidFill>
          <a:ln/>
        </p:spPr>
      </p:sp>
      <p:sp>
        <p:nvSpPr>
          <p:cNvPr id="24" name="Shape 22"/>
          <p:cNvSpPr/>
          <p:nvPr/>
        </p:nvSpPr>
        <p:spPr>
          <a:xfrm>
            <a:off x="457200" y="2074813"/>
            <a:ext cx="2110234" cy="9525"/>
          </a:xfrm>
          <a:prstGeom prst="rect">
            <a:avLst/>
          </a:prstGeom>
          <a:solidFill>
            <a:srgbClr val="DDD9D2"/>
          </a:solidFill>
          <a:ln/>
        </p:spPr>
      </p:sp>
      <p:sp>
        <p:nvSpPr>
          <p:cNvPr id="25" name="Shape 23"/>
          <p:cNvSpPr/>
          <p:nvPr/>
        </p:nvSpPr>
        <p:spPr>
          <a:xfrm>
            <a:off x="563761" y="1830288"/>
            <a:ext cx="1494979" cy="181570"/>
          </a:xfrm>
          <a:prstGeom prst="roundRect">
            <a:avLst>
              <a:gd name="adj" fmla="val 20984"/>
            </a:avLst>
          </a:prstGeom>
          <a:solidFill>
            <a:srgbClr val="16303F">
              <a:alpha val="7000"/>
            </a:srgbClr>
          </a:solidFill>
          <a:ln/>
        </p:spPr>
      </p:sp>
      <p:sp>
        <p:nvSpPr>
          <p:cNvPr id="26" name="Text 24"/>
          <p:cNvSpPr txBox="1"/>
          <p:nvPr/>
        </p:nvSpPr>
        <p:spPr>
          <a:xfrm>
            <a:off x="506611" y="1830288"/>
            <a:ext cx="1609279"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endParaRPr lang="en-US" sz="972" dirty="0"/>
          </a:p>
        </p:txBody>
      </p:sp>
      <p:sp>
        <p:nvSpPr>
          <p:cNvPr id="27" name="Shape 25"/>
          <p:cNvSpPr/>
          <p:nvPr/>
        </p:nvSpPr>
        <p:spPr>
          <a:xfrm>
            <a:off x="2567434" y="2074813"/>
            <a:ext cx="995511" cy="9525"/>
          </a:xfrm>
          <a:prstGeom prst="rect">
            <a:avLst/>
          </a:prstGeom>
          <a:solidFill>
            <a:srgbClr val="DDD9D2"/>
          </a:solidFill>
          <a:ln/>
        </p:spPr>
      </p:sp>
      <p:sp>
        <p:nvSpPr>
          <p:cNvPr id="28" name="Text 26"/>
          <p:cNvSpPr txBox="1"/>
          <p:nvPr/>
        </p:nvSpPr>
        <p:spPr>
          <a:xfrm>
            <a:off x="2673995" y="1821061"/>
            <a:ext cx="613618"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Scoped</a:t>
            </a:r>
            <a:endParaRPr lang="en-US" sz="1056" dirty="0"/>
          </a:p>
        </p:txBody>
      </p:sp>
      <p:sp>
        <p:nvSpPr>
          <p:cNvPr id="29" name="Shape 27"/>
          <p:cNvSpPr/>
          <p:nvPr/>
        </p:nvSpPr>
        <p:spPr>
          <a:xfrm>
            <a:off x="3562945" y="2074813"/>
            <a:ext cx="2192238" cy="9525"/>
          </a:xfrm>
          <a:prstGeom prst="rect">
            <a:avLst/>
          </a:prstGeom>
          <a:solidFill>
            <a:srgbClr val="DDD9D2"/>
          </a:solidFill>
          <a:ln/>
        </p:spPr>
      </p:sp>
      <p:sp>
        <p:nvSpPr>
          <p:cNvPr id="30" name="Text 28"/>
          <p:cNvSpPr txBox="1"/>
          <p:nvPr/>
        </p:nvSpPr>
        <p:spPr>
          <a:xfrm>
            <a:off x="3669506" y="1821061"/>
            <a:ext cx="118809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Once per request</a:t>
            </a:r>
            <a:endParaRPr lang="en-US" sz="1056" dirty="0"/>
          </a:p>
        </p:txBody>
      </p:sp>
      <p:sp>
        <p:nvSpPr>
          <p:cNvPr id="31" name="Shape 29"/>
          <p:cNvSpPr/>
          <p:nvPr/>
        </p:nvSpPr>
        <p:spPr>
          <a:xfrm>
            <a:off x="5755184" y="2074813"/>
            <a:ext cx="3122116" cy="9525"/>
          </a:xfrm>
          <a:prstGeom prst="rect">
            <a:avLst/>
          </a:prstGeom>
          <a:solidFill>
            <a:srgbClr val="DDD9D2"/>
          </a:solidFill>
          <a:ln/>
        </p:spPr>
      </p:sp>
      <p:sp>
        <p:nvSpPr>
          <p:cNvPr id="32" name="Text 30"/>
          <p:cNvSpPr txBox="1"/>
          <p:nvPr/>
        </p:nvSpPr>
        <p:spPr>
          <a:xfrm>
            <a:off x="5861745" y="1821061"/>
            <a:ext cx="242813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Per-request consistency in a web app</a:t>
            </a:r>
            <a:endParaRPr lang="en-US" sz="1056" dirty="0"/>
          </a:p>
        </p:txBody>
      </p:sp>
      <p:sp>
        <p:nvSpPr>
          <p:cNvPr id="33" name="Shape 31"/>
          <p:cNvSpPr/>
          <p:nvPr/>
        </p:nvSpPr>
        <p:spPr>
          <a:xfrm>
            <a:off x="457200" y="2416373"/>
            <a:ext cx="8420100" cy="9525"/>
          </a:xfrm>
          <a:prstGeom prst="rect">
            <a:avLst/>
          </a:prstGeom>
          <a:solidFill>
            <a:srgbClr val="9CA3AF">
              <a:alpha val="20000"/>
            </a:srgbClr>
          </a:solidFill>
          <a:ln/>
        </p:spPr>
      </p:sp>
      <p:sp>
        <p:nvSpPr>
          <p:cNvPr id="34" name="Shape 32"/>
          <p:cNvSpPr/>
          <p:nvPr/>
        </p:nvSpPr>
        <p:spPr>
          <a:xfrm>
            <a:off x="457200" y="2416373"/>
            <a:ext cx="2110234" cy="9525"/>
          </a:xfrm>
          <a:prstGeom prst="rect">
            <a:avLst/>
          </a:prstGeom>
          <a:solidFill>
            <a:srgbClr val="DDD9D2"/>
          </a:solidFill>
          <a:ln/>
        </p:spPr>
      </p:sp>
      <p:sp>
        <p:nvSpPr>
          <p:cNvPr id="35" name="Shape 33"/>
          <p:cNvSpPr/>
          <p:nvPr/>
        </p:nvSpPr>
        <p:spPr>
          <a:xfrm>
            <a:off x="563761" y="2171849"/>
            <a:ext cx="1421011" cy="181570"/>
          </a:xfrm>
          <a:prstGeom prst="roundRect">
            <a:avLst>
              <a:gd name="adj" fmla="val 20984"/>
            </a:avLst>
          </a:prstGeom>
          <a:solidFill>
            <a:srgbClr val="16303F">
              <a:alpha val="7000"/>
            </a:srgbClr>
          </a:solidFill>
          <a:ln/>
        </p:spPr>
      </p:sp>
      <p:sp>
        <p:nvSpPr>
          <p:cNvPr id="36" name="Text 34"/>
          <p:cNvSpPr txBox="1"/>
          <p:nvPr/>
        </p:nvSpPr>
        <p:spPr>
          <a:xfrm>
            <a:off x="506611" y="2171849"/>
            <a:ext cx="1535311"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IOptionsMonitor&lt;T&gt;</a:t>
            </a:r>
            <a:endParaRPr lang="en-US" sz="972" dirty="0"/>
          </a:p>
        </p:txBody>
      </p:sp>
      <p:sp>
        <p:nvSpPr>
          <p:cNvPr id="37" name="Shape 35"/>
          <p:cNvSpPr/>
          <p:nvPr/>
        </p:nvSpPr>
        <p:spPr>
          <a:xfrm>
            <a:off x="2567434" y="2416373"/>
            <a:ext cx="995511" cy="9525"/>
          </a:xfrm>
          <a:prstGeom prst="rect">
            <a:avLst/>
          </a:prstGeom>
          <a:solidFill>
            <a:srgbClr val="DDD9D2"/>
          </a:solidFill>
          <a:ln/>
        </p:spPr>
      </p:sp>
      <p:sp>
        <p:nvSpPr>
          <p:cNvPr id="38" name="Text 36"/>
          <p:cNvSpPr txBox="1"/>
          <p:nvPr/>
        </p:nvSpPr>
        <p:spPr>
          <a:xfrm>
            <a:off x="2673995" y="2162621"/>
            <a:ext cx="70708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a:t>
            </a:r>
            <a:endParaRPr lang="en-US" sz="1056" dirty="0"/>
          </a:p>
        </p:txBody>
      </p:sp>
      <p:sp>
        <p:nvSpPr>
          <p:cNvPr id="39" name="Shape 37"/>
          <p:cNvSpPr/>
          <p:nvPr/>
        </p:nvSpPr>
        <p:spPr>
          <a:xfrm>
            <a:off x="3562945" y="2416373"/>
            <a:ext cx="2192238" cy="9525"/>
          </a:xfrm>
          <a:prstGeom prst="rect">
            <a:avLst/>
          </a:prstGeom>
          <a:solidFill>
            <a:srgbClr val="DDD9D2"/>
          </a:solidFill>
          <a:ln/>
        </p:spPr>
      </p:sp>
      <p:sp>
        <p:nvSpPr>
          <p:cNvPr id="40" name="Shape 38"/>
          <p:cNvSpPr/>
          <p:nvPr/>
        </p:nvSpPr>
        <p:spPr>
          <a:xfrm>
            <a:off x="4239071" y="2171849"/>
            <a:ext cx="680889" cy="181570"/>
          </a:xfrm>
          <a:prstGeom prst="roundRect">
            <a:avLst>
              <a:gd name="adj" fmla="val 20984"/>
            </a:avLst>
          </a:prstGeom>
          <a:solidFill>
            <a:srgbClr val="16303F">
              <a:alpha val="7000"/>
            </a:srgbClr>
          </a:solidFill>
          <a:ln/>
        </p:spPr>
      </p:sp>
      <p:sp>
        <p:nvSpPr>
          <p:cNvPr id="41" name="Text 39"/>
          <p:cNvSpPr txBox="1"/>
          <p:nvPr/>
        </p:nvSpPr>
        <p:spPr>
          <a:xfrm>
            <a:off x="3669506" y="2162621"/>
            <a:ext cx="132040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with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OnChange</a:t>
            </a:r>
            <a:endParaRPr lang="en-US" sz="1056" dirty="0"/>
          </a:p>
        </p:txBody>
      </p:sp>
      <p:sp>
        <p:nvSpPr>
          <p:cNvPr id="42" name="Shape 40"/>
          <p:cNvSpPr/>
          <p:nvPr/>
        </p:nvSpPr>
        <p:spPr>
          <a:xfrm>
            <a:off x="5755184" y="2416373"/>
            <a:ext cx="3122116" cy="9525"/>
          </a:xfrm>
          <a:prstGeom prst="rect">
            <a:avLst/>
          </a:prstGeom>
          <a:solidFill>
            <a:srgbClr val="DDD9D2"/>
          </a:solidFill>
          <a:ln/>
        </p:spPr>
      </p:sp>
      <p:sp>
        <p:nvSpPr>
          <p:cNvPr id="43" name="Text 41"/>
          <p:cNvSpPr txBox="1"/>
          <p:nvPr/>
        </p:nvSpPr>
        <p:spPr>
          <a:xfrm>
            <a:off x="5861745" y="2162621"/>
            <a:ext cx="2347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Singletons and background services</a:t>
            </a:r>
            <a:endParaRPr lang="en-US" sz="1056" dirty="0"/>
          </a:p>
        </p:txBody>
      </p:sp>
      <p:sp>
        <p:nvSpPr>
          <p:cNvPr id="44" name="Shape 42"/>
          <p:cNvSpPr/>
          <p:nvPr/>
        </p:nvSpPr>
        <p:spPr>
          <a:xfrm>
            <a:off x="8330208" y="228600"/>
            <a:ext cx="714821" cy="228451"/>
          </a:xfrm>
          <a:prstGeom prst="roundRect">
            <a:avLst>
              <a:gd name="adj" fmla="val 16678"/>
            </a:avLst>
          </a:prstGeom>
          <a:solidFill>
            <a:srgbClr val="16303F"/>
          </a:solidFill>
          <a:ln/>
        </p:spPr>
      </p:sp>
      <p:sp>
        <p:nvSpPr>
          <p:cNvPr id="45" name="Text 43"/>
          <p:cNvSpPr txBox="1"/>
          <p:nvPr/>
        </p:nvSpPr>
        <p:spPr>
          <a:xfrm>
            <a:off x="8424565" y="274290"/>
            <a:ext cx="640407" cy="123825"/>
          </a:xfrm>
          <a:prstGeom prst="rect">
            <a:avLst/>
          </a:prstGeom>
          <a:noFill/>
          <a:ln/>
        </p:spPr>
        <p:txBody>
          <a:bodyPr wrap="none" lIns="0" tIns="0" rIns="0" bIns="0" rtlCol="0" anchor="t"/>
          <a:lstStyle/>
          <a:p>
            <a:pPr algn="l" indent="0" marL="0">
              <a:buNone/>
            </a:pPr>
            <a:r>
              <a:rPr lang="en-US" sz="720" b="1" spc="130" kern="0" dirty="0">
                <a:solidFill>
                  <a:srgbClr val="F4C233"/>
                </a:solidFill>
                <a:latin typeface="Manrope" pitchFamily="34" charset="0"/>
                <a:ea typeface="Manrope" pitchFamily="34" charset="-122"/>
                <a:cs typeface="Manrope" pitchFamily="34" charset="-120"/>
              </a:rPr>
              <a:t>LIFETIME</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881063"/>
          </a:xfrm>
          <a:prstGeom prst="roundRect">
            <a:avLst>
              <a:gd name="adj" fmla="val 4324"/>
            </a:avLst>
          </a:prstGeom>
          <a:solidFill>
            <a:srgbClr val="011627"/>
          </a:solidFill>
          <a:ln/>
        </p:spPr>
      </p:sp>
      <p:sp>
        <p:nvSpPr>
          <p:cNvPr id="5" name="Text 3"/>
          <p:cNvSpPr txBox="1"/>
          <p:nvPr/>
        </p:nvSpPr>
        <p:spPr>
          <a:xfrm>
            <a:off x="381000" y="1144637"/>
            <a:ext cx="8591550" cy="695325"/>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a:t>
            </a:r>
            <a:endParaRPr lang="en-US" sz="1275" dirty="0"/>
          </a:p>
        </p:txBody>
      </p:sp>
      <p:sp>
        <p:nvSpPr>
          <p:cNvPr id="6" name="Shape 4"/>
          <p:cNvSpPr/>
          <p:nvPr/>
        </p:nvSpPr>
        <p:spPr>
          <a:xfrm>
            <a:off x="629394" y="2262485"/>
            <a:ext cx="1409998" cy="202704"/>
          </a:xfrm>
          <a:prstGeom prst="roundRect">
            <a:avLst>
              <a:gd name="adj" fmla="val 18796"/>
            </a:avLst>
          </a:prstGeom>
          <a:solidFill>
            <a:srgbClr val="16303F">
              <a:alpha val="7000"/>
            </a:srgbClr>
          </a:solidFill>
          <a:ln/>
        </p:spPr>
      </p:sp>
      <p:sp>
        <p:nvSpPr>
          <p:cNvPr id="7" name="Text 5"/>
          <p:cNvSpPr txBox="1"/>
          <p:nvPr/>
        </p:nvSpPr>
        <p:spPr>
          <a:xfrm>
            <a:off x="304800" y="2254300"/>
            <a:ext cx="4920109" cy="209550"/>
          </a:xfrm>
          <a:prstGeom prst="rect">
            <a:avLst/>
          </a:prstGeom>
          <a:noFill/>
          <a:ln/>
        </p:spPr>
        <p:txBody>
          <a:bodyPr wrap="none" lIns="0" tIns="0" rIns="0" bIns="0" rtlCol="0" anchor="t"/>
          <a:lstStyle/>
          <a:p>
            <a:pPr algn="l" indent="0" marL="0">
              <a:buNone/>
            </a:pPr>
            <a:r>
              <a:rPr lang="en-US" sz="1200" i="1" dirty="0">
                <a:solidFill>
                  <a:srgbClr val="44535A"/>
                </a:solidFill>
                <a:latin typeface="Manrope" pitchFamily="34" charset="0"/>
                <a:ea typeface="Manrope" pitchFamily="34" charset="-122"/>
                <a:cs typeface="Manrope" pitchFamily="34" charset="-120"/>
              </a:rPr>
              <a:t>now </a:t>
            </a:r>
            <a:pPr algn="l" indent="0" marL="0">
              <a:buNone/>
            </a:pPr>
            <a:r>
              <a:rPr lang="en-US" sz="1080" i="1" dirty="0">
                <a:solidFill>
                  <a:srgbClr val="44535A"/>
                </a:solidFill>
                <a:latin typeface="JetBrains Mono" pitchFamily="34" charset="0"/>
                <a:ea typeface="JetBrains Mono" pitchFamily="34" charset="-122"/>
                <a:cs typeface="JetBrains Mono" pitchFamily="34" charset="-120"/>
              </a:rPr>
              <a:t>appsettings.json</a:t>
            </a:r>
            <a:pPr algn="l" indent="0" marL="0">
              <a:buNone/>
            </a:pPr>
            <a:r>
              <a:rPr lang="en-US" sz="1200" i="1" dirty="0">
                <a:solidFill>
                  <a:srgbClr val="44535A"/>
                </a:solidFill>
                <a:latin typeface="Manrope" pitchFamily="34" charset="0"/>
                <a:ea typeface="Manrope" pitchFamily="34" charset="-122"/>
                <a:cs typeface="Manrope" pitchFamily="34" charset="-120"/>
              </a:rPr>
              <a:t> changes to 90 underneath the running app.</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5288310"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Same three interfaces. One file edit.</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same request      next request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IOptions&lt;T&gt;          30        30                30      &lt;- never moves</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IOptionsSnapshot&lt;T&gt;  30        30                90      &lt;- new scope only</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IOptionsMonitor&lt;T&gt;   30        90                90      &lt;- immediately</a:t>
            </a:r>
            <a:endParaRPr lang="en-US" sz="1275" dirty="0"/>
          </a:p>
        </p:txBody>
      </p:sp>
      <p:sp>
        <p:nvSpPr>
          <p:cNvPr id="6" name="Text 4"/>
          <p:cNvSpPr txBox="1"/>
          <p:nvPr/>
        </p:nvSpPr>
        <p:spPr>
          <a:xfrm>
            <a:off x="304800" y="2497187"/>
            <a:ext cx="87439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middle column matters: a snapshot already resolved in the current request stays at 30. It is scoped, so it only picks up the change in a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new scope</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normally the next request.</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806130"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actually reloads</a:t>
            </a:r>
            <a:endParaRPr lang="en-US" sz="2820" dirty="0"/>
          </a:p>
        </p:txBody>
      </p:sp>
      <p:sp>
        <p:nvSpPr>
          <p:cNvPr id="4" name="Shape 2"/>
          <p:cNvSpPr/>
          <p:nvPr/>
        </p:nvSpPr>
        <p:spPr>
          <a:xfrm>
            <a:off x="457200" y="1341388"/>
            <a:ext cx="8420100" cy="9525"/>
          </a:xfrm>
          <a:prstGeom prst="rect">
            <a:avLst/>
          </a:prstGeom>
          <a:solidFill>
            <a:srgbClr val="9CA3AF">
              <a:alpha val="20000"/>
            </a:srgbClr>
          </a:solidFill>
          <a:ln/>
        </p:spPr>
      </p:sp>
      <p:sp>
        <p:nvSpPr>
          <p:cNvPr id="5" name="Shape 3"/>
          <p:cNvSpPr/>
          <p:nvPr/>
        </p:nvSpPr>
        <p:spPr>
          <a:xfrm>
            <a:off x="457200" y="1331863"/>
            <a:ext cx="2413397" cy="19050"/>
          </a:xfrm>
          <a:prstGeom prst="rect">
            <a:avLst/>
          </a:prstGeom>
          <a:solidFill>
            <a:srgbClr val="16303F"/>
          </a:solidFill>
          <a:ln/>
        </p:spPr>
      </p:sp>
      <p:sp>
        <p:nvSpPr>
          <p:cNvPr id="6" name="Text 4"/>
          <p:cNvSpPr txBox="1"/>
          <p:nvPr/>
        </p:nvSpPr>
        <p:spPr>
          <a:xfrm>
            <a:off x="563761" y="1140321"/>
            <a:ext cx="60468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SOURCE</a:t>
            </a:r>
            <a:endParaRPr lang="en-US" sz="816" dirty="0"/>
          </a:p>
        </p:txBody>
      </p:sp>
      <p:sp>
        <p:nvSpPr>
          <p:cNvPr id="7" name="Shape 5"/>
          <p:cNvSpPr/>
          <p:nvPr/>
        </p:nvSpPr>
        <p:spPr>
          <a:xfrm>
            <a:off x="2870597" y="1331863"/>
            <a:ext cx="3829943" cy="19050"/>
          </a:xfrm>
          <a:prstGeom prst="rect">
            <a:avLst/>
          </a:prstGeom>
          <a:solidFill>
            <a:srgbClr val="16303F"/>
          </a:solidFill>
          <a:ln/>
        </p:spPr>
      </p:sp>
      <p:sp>
        <p:nvSpPr>
          <p:cNvPr id="8" name="Text 6"/>
          <p:cNvSpPr txBox="1"/>
          <p:nvPr/>
        </p:nvSpPr>
        <p:spPr>
          <a:xfrm>
            <a:off x="2977158" y="1140321"/>
            <a:ext cx="73059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RELOADS?</a:t>
            </a:r>
            <a:endParaRPr lang="en-US" sz="816" dirty="0"/>
          </a:p>
        </p:txBody>
      </p:sp>
      <p:sp>
        <p:nvSpPr>
          <p:cNvPr id="9" name="Shape 7"/>
          <p:cNvSpPr/>
          <p:nvPr/>
        </p:nvSpPr>
        <p:spPr>
          <a:xfrm>
            <a:off x="6700540" y="1331863"/>
            <a:ext cx="2176760" cy="19050"/>
          </a:xfrm>
          <a:prstGeom prst="rect">
            <a:avLst/>
          </a:prstGeom>
          <a:solidFill>
            <a:srgbClr val="16303F"/>
          </a:solidFill>
          <a:ln/>
        </p:spPr>
      </p:sp>
      <p:sp>
        <p:nvSpPr>
          <p:cNvPr id="10" name="Text 8"/>
          <p:cNvSpPr txBox="1"/>
          <p:nvPr/>
        </p:nvSpPr>
        <p:spPr>
          <a:xfrm>
            <a:off x="6807101" y="1140321"/>
            <a:ext cx="39945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HOW</a:t>
            </a:r>
            <a:endParaRPr lang="en-US" sz="816" dirty="0"/>
          </a:p>
        </p:txBody>
      </p:sp>
      <p:sp>
        <p:nvSpPr>
          <p:cNvPr id="11" name="Shape 9"/>
          <p:cNvSpPr/>
          <p:nvPr/>
        </p:nvSpPr>
        <p:spPr>
          <a:xfrm>
            <a:off x="457200" y="1636365"/>
            <a:ext cx="8420100" cy="9525"/>
          </a:xfrm>
          <a:prstGeom prst="rect">
            <a:avLst/>
          </a:prstGeom>
          <a:solidFill>
            <a:srgbClr val="9CA3AF">
              <a:alpha val="20000"/>
            </a:srgbClr>
          </a:solidFill>
          <a:ln/>
        </p:spPr>
      </p:sp>
      <p:sp>
        <p:nvSpPr>
          <p:cNvPr id="12" name="Shape 10"/>
          <p:cNvSpPr/>
          <p:nvPr/>
        </p:nvSpPr>
        <p:spPr>
          <a:xfrm>
            <a:off x="457200" y="1636365"/>
            <a:ext cx="2413397" cy="9525"/>
          </a:xfrm>
          <a:prstGeom prst="rect">
            <a:avLst/>
          </a:prstGeom>
          <a:solidFill>
            <a:srgbClr val="DDD9D2"/>
          </a:solidFill>
          <a:ln/>
        </p:spPr>
      </p:sp>
      <p:sp>
        <p:nvSpPr>
          <p:cNvPr id="13" name="Shape 11"/>
          <p:cNvSpPr/>
          <p:nvPr/>
        </p:nvSpPr>
        <p:spPr>
          <a:xfrm>
            <a:off x="563761" y="1412677"/>
            <a:ext cx="1285429" cy="180677"/>
          </a:xfrm>
          <a:prstGeom prst="roundRect">
            <a:avLst>
              <a:gd name="adj" fmla="val 21087"/>
            </a:avLst>
          </a:prstGeom>
          <a:solidFill>
            <a:srgbClr val="16303F">
              <a:alpha val="7000"/>
            </a:srgbClr>
          </a:solidFill>
          <a:ln/>
        </p:spPr>
      </p:sp>
      <p:sp>
        <p:nvSpPr>
          <p:cNvPr id="14" name="Text 12"/>
          <p:cNvSpPr txBox="1"/>
          <p:nvPr/>
        </p:nvSpPr>
        <p:spPr>
          <a:xfrm>
            <a:off x="50661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appsettings*.json</a:t>
            </a:r>
            <a:endParaRPr lang="en-US" sz="927" dirty="0"/>
          </a:p>
        </p:txBody>
      </p:sp>
      <p:sp>
        <p:nvSpPr>
          <p:cNvPr id="15" name="Shape 13"/>
          <p:cNvSpPr/>
          <p:nvPr/>
        </p:nvSpPr>
        <p:spPr>
          <a:xfrm>
            <a:off x="2870597" y="1636365"/>
            <a:ext cx="3829943" cy="9525"/>
          </a:xfrm>
          <a:prstGeom prst="rect">
            <a:avLst/>
          </a:prstGeom>
          <a:solidFill>
            <a:srgbClr val="DDD9D2"/>
          </a:solidFill>
          <a:ln/>
        </p:spPr>
      </p:sp>
      <p:sp>
        <p:nvSpPr>
          <p:cNvPr id="16" name="Text 14"/>
          <p:cNvSpPr txBox="1"/>
          <p:nvPr/>
        </p:nvSpPr>
        <p:spPr>
          <a:xfrm>
            <a:off x="2977158" y="1412528"/>
            <a:ext cx="116964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(host default)</a:t>
            </a:r>
            <a:endParaRPr lang="en-US" sz="1008" dirty="0"/>
          </a:p>
        </p:txBody>
      </p:sp>
      <p:sp>
        <p:nvSpPr>
          <p:cNvPr id="17" name="Shape 15"/>
          <p:cNvSpPr/>
          <p:nvPr/>
        </p:nvSpPr>
        <p:spPr>
          <a:xfrm>
            <a:off x="6700540" y="1636365"/>
            <a:ext cx="2176760" cy="9525"/>
          </a:xfrm>
          <a:prstGeom prst="rect">
            <a:avLst/>
          </a:prstGeom>
          <a:solidFill>
            <a:srgbClr val="DDD9D2"/>
          </a:solidFill>
          <a:ln/>
        </p:spPr>
      </p:sp>
      <p:sp>
        <p:nvSpPr>
          <p:cNvPr id="18" name="Shape 16"/>
          <p:cNvSpPr/>
          <p:nvPr/>
        </p:nvSpPr>
        <p:spPr>
          <a:xfrm>
            <a:off x="6807101" y="1412677"/>
            <a:ext cx="1285429" cy="180677"/>
          </a:xfrm>
          <a:prstGeom prst="roundRect">
            <a:avLst>
              <a:gd name="adj" fmla="val 21087"/>
            </a:avLst>
          </a:prstGeom>
          <a:solidFill>
            <a:srgbClr val="16303F">
              <a:alpha val="7000"/>
            </a:srgbClr>
          </a:solidFill>
          <a:ln/>
        </p:spPr>
      </p:sp>
      <p:sp>
        <p:nvSpPr>
          <p:cNvPr id="19" name="Text 17"/>
          <p:cNvSpPr txBox="1"/>
          <p:nvPr/>
        </p:nvSpPr>
        <p:spPr>
          <a:xfrm>
            <a:off x="6749951" y="1412677"/>
            <a:ext cx="1399729"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FileSystemWatcher</a:t>
            </a:r>
            <a:endParaRPr lang="en-US" sz="927" dirty="0"/>
          </a:p>
        </p:txBody>
      </p:sp>
      <p:sp>
        <p:nvSpPr>
          <p:cNvPr id="20" name="Shape 18"/>
          <p:cNvSpPr/>
          <p:nvPr/>
        </p:nvSpPr>
        <p:spPr>
          <a:xfrm>
            <a:off x="457200" y="1645890"/>
            <a:ext cx="8420100" cy="286643"/>
          </a:xfrm>
          <a:prstGeom prst="rect">
            <a:avLst/>
          </a:prstGeom>
          <a:solidFill>
            <a:srgbClr val="16303F">
              <a:alpha val="3000"/>
            </a:srgbClr>
          </a:solidFill>
          <a:ln/>
        </p:spPr>
      </p:sp>
      <p:sp>
        <p:nvSpPr>
          <p:cNvPr id="21" name="Shape 19"/>
          <p:cNvSpPr/>
          <p:nvPr/>
        </p:nvSpPr>
        <p:spPr>
          <a:xfrm>
            <a:off x="457200" y="1923008"/>
            <a:ext cx="8420100" cy="9525"/>
          </a:xfrm>
          <a:prstGeom prst="rect">
            <a:avLst/>
          </a:prstGeom>
          <a:solidFill>
            <a:srgbClr val="9CA3AF">
              <a:alpha val="20000"/>
            </a:srgbClr>
          </a:solidFill>
          <a:ln/>
        </p:spPr>
      </p:sp>
      <p:sp>
        <p:nvSpPr>
          <p:cNvPr id="22" name="Shape 20"/>
          <p:cNvSpPr/>
          <p:nvPr/>
        </p:nvSpPr>
        <p:spPr>
          <a:xfrm>
            <a:off x="457200" y="1923008"/>
            <a:ext cx="2413397" cy="9525"/>
          </a:xfrm>
          <a:prstGeom prst="rect">
            <a:avLst/>
          </a:prstGeom>
          <a:solidFill>
            <a:srgbClr val="DDD9D2"/>
          </a:solidFill>
          <a:ln/>
        </p:spPr>
      </p:sp>
      <p:sp>
        <p:nvSpPr>
          <p:cNvPr id="23" name="Text 21"/>
          <p:cNvSpPr txBox="1"/>
          <p:nvPr/>
        </p:nvSpPr>
        <p:spPr>
          <a:xfrm>
            <a:off x="563761" y="1702743"/>
            <a:ext cx="86915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User secrets</a:t>
            </a:r>
            <a:endParaRPr lang="en-US" sz="1008" dirty="0"/>
          </a:p>
        </p:txBody>
      </p:sp>
      <p:sp>
        <p:nvSpPr>
          <p:cNvPr id="24" name="Shape 22"/>
          <p:cNvSpPr/>
          <p:nvPr/>
        </p:nvSpPr>
        <p:spPr>
          <a:xfrm>
            <a:off x="2870597" y="1923008"/>
            <a:ext cx="3829943" cy="9525"/>
          </a:xfrm>
          <a:prstGeom prst="rect">
            <a:avLst/>
          </a:prstGeom>
          <a:solidFill>
            <a:srgbClr val="DDD9D2"/>
          </a:solidFill>
          <a:ln/>
        </p:spPr>
      </p:sp>
      <p:sp>
        <p:nvSpPr>
          <p:cNvPr id="25" name="Text 23"/>
          <p:cNvSpPr txBox="1"/>
          <p:nvPr/>
        </p:nvSpPr>
        <p:spPr>
          <a:xfrm>
            <a:off x="2977158" y="1702743"/>
            <a:ext cx="31730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a:t>
            </a:r>
            <a:endParaRPr lang="en-US" sz="1008" dirty="0"/>
          </a:p>
        </p:txBody>
      </p:sp>
      <p:sp>
        <p:nvSpPr>
          <p:cNvPr id="26" name="Shape 24"/>
          <p:cNvSpPr/>
          <p:nvPr/>
        </p:nvSpPr>
        <p:spPr>
          <a:xfrm>
            <a:off x="6700540" y="1923008"/>
            <a:ext cx="2176760" cy="9525"/>
          </a:xfrm>
          <a:prstGeom prst="rect">
            <a:avLst/>
          </a:prstGeom>
          <a:solidFill>
            <a:srgbClr val="DDD9D2"/>
          </a:solidFill>
          <a:ln/>
        </p:spPr>
      </p:sp>
      <p:sp>
        <p:nvSpPr>
          <p:cNvPr id="27" name="Text 25"/>
          <p:cNvSpPr txBox="1"/>
          <p:nvPr/>
        </p:nvSpPr>
        <p:spPr>
          <a:xfrm>
            <a:off x="6807101" y="1702743"/>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28" name="Shape 26"/>
          <p:cNvSpPr/>
          <p:nvPr/>
        </p:nvSpPr>
        <p:spPr>
          <a:xfrm>
            <a:off x="457200" y="2209651"/>
            <a:ext cx="8420100" cy="9525"/>
          </a:xfrm>
          <a:prstGeom prst="rect">
            <a:avLst/>
          </a:prstGeom>
          <a:solidFill>
            <a:srgbClr val="9CA3AF">
              <a:alpha val="20000"/>
            </a:srgbClr>
          </a:solidFill>
          <a:ln/>
        </p:spPr>
      </p:sp>
      <p:sp>
        <p:nvSpPr>
          <p:cNvPr id="29" name="Shape 27"/>
          <p:cNvSpPr/>
          <p:nvPr/>
        </p:nvSpPr>
        <p:spPr>
          <a:xfrm>
            <a:off x="457200" y="2209651"/>
            <a:ext cx="2413397" cy="9525"/>
          </a:xfrm>
          <a:prstGeom prst="rect">
            <a:avLst/>
          </a:prstGeom>
          <a:solidFill>
            <a:srgbClr val="DDD9D2"/>
          </a:solidFill>
          <a:ln/>
        </p:spPr>
      </p:sp>
      <p:sp>
        <p:nvSpPr>
          <p:cNvPr id="30" name="Text 28"/>
          <p:cNvSpPr txBox="1"/>
          <p:nvPr/>
        </p:nvSpPr>
        <p:spPr>
          <a:xfrm>
            <a:off x="563761" y="1989386"/>
            <a:ext cx="141610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Environment variables</a:t>
            </a:r>
            <a:endParaRPr lang="en-US" sz="1008" dirty="0"/>
          </a:p>
        </p:txBody>
      </p:sp>
      <p:sp>
        <p:nvSpPr>
          <p:cNvPr id="31" name="Shape 29"/>
          <p:cNvSpPr/>
          <p:nvPr/>
        </p:nvSpPr>
        <p:spPr>
          <a:xfrm>
            <a:off x="2870597" y="2209651"/>
            <a:ext cx="3829943" cy="9525"/>
          </a:xfrm>
          <a:prstGeom prst="rect">
            <a:avLst/>
          </a:prstGeom>
          <a:solidFill>
            <a:srgbClr val="DDD9D2"/>
          </a:solidFill>
          <a:ln/>
        </p:spPr>
      </p:sp>
      <p:sp>
        <p:nvSpPr>
          <p:cNvPr id="32" name="Text 30"/>
          <p:cNvSpPr txBox="1"/>
          <p:nvPr/>
        </p:nvSpPr>
        <p:spPr>
          <a:xfrm>
            <a:off x="2977158" y="1989386"/>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33" name="Shape 31"/>
          <p:cNvSpPr/>
          <p:nvPr/>
        </p:nvSpPr>
        <p:spPr>
          <a:xfrm>
            <a:off x="6700540" y="2209651"/>
            <a:ext cx="2176760" cy="9525"/>
          </a:xfrm>
          <a:prstGeom prst="rect">
            <a:avLst/>
          </a:prstGeom>
          <a:solidFill>
            <a:srgbClr val="DDD9D2"/>
          </a:solidFill>
          <a:ln/>
        </p:spPr>
      </p:sp>
      <p:sp>
        <p:nvSpPr>
          <p:cNvPr id="34" name="Text 32"/>
          <p:cNvSpPr txBox="1"/>
          <p:nvPr/>
        </p:nvSpPr>
        <p:spPr>
          <a:xfrm>
            <a:off x="6807101" y="1989386"/>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35" name="Shape 33"/>
          <p:cNvSpPr/>
          <p:nvPr/>
        </p:nvSpPr>
        <p:spPr>
          <a:xfrm>
            <a:off x="457200" y="2219176"/>
            <a:ext cx="8420100" cy="286643"/>
          </a:xfrm>
          <a:prstGeom prst="rect">
            <a:avLst/>
          </a:prstGeom>
          <a:solidFill>
            <a:srgbClr val="16303F">
              <a:alpha val="3000"/>
            </a:srgbClr>
          </a:solidFill>
          <a:ln/>
        </p:spPr>
      </p:sp>
      <p:sp>
        <p:nvSpPr>
          <p:cNvPr id="36" name="Shape 34"/>
          <p:cNvSpPr/>
          <p:nvPr/>
        </p:nvSpPr>
        <p:spPr>
          <a:xfrm>
            <a:off x="457200" y="2496294"/>
            <a:ext cx="8420100" cy="9525"/>
          </a:xfrm>
          <a:prstGeom prst="rect">
            <a:avLst/>
          </a:prstGeom>
          <a:solidFill>
            <a:srgbClr val="9CA3AF">
              <a:alpha val="20000"/>
            </a:srgbClr>
          </a:solidFill>
          <a:ln/>
        </p:spPr>
      </p:sp>
      <p:sp>
        <p:nvSpPr>
          <p:cNvPr id="37" name="Shape 35"/>
          <p:cNvSpPr/>
          <p:nvPr/>
        </p:nvSpPr>
        <p:spPr>
          <a:xfrm>
            <a:off x="457200" y="2496294"/>
            <a:ext cx="2413397" cy="9525"/>
          </a:xfrm>
          <a:prstGeom prst="rect">
            <a:avLst/>
          </a:prstGeom>
          <a:solidFill>
            <a:srgbClr val="DDD9D2"/>
          </a:solidFill>
          <a:ln/>
        </p:spPr>
      </p:sp>
      <p:sp>
        <p:nvSpPr>
          <p:cNvPr id="38" name="Text 36"/>
          <p:cNvSpPr txBox="1"/>
          <p:nvPr/>
        </p:nvSpPr>
        <p:spPr>
          <a:xfrm>
            <a:off x="563761" y="2276029"/>
            <a:ext cx="95726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Command line</a:t>
            </a:r>
            <a:endParaRPr lang="en-US" sz="1008" dirty="0"/>
          </a:p>
        </p:txBody>
      </p:sp>
      <p:sp>
        <p:nvSpPr>
          <p:cNvPr id="39" name="Shape 37"/>
          <p:cNvSpPr/>
          <p:nvPr/>
        </p:nvSpPr>
        <p:spPr>
          <a:xfrm>
            <a:off x="2870597" y="2496294"/>
            <a:ext cx="3829943" cy="9525"/>
          </a:xfrm>
          <a:prstGeom prst="rect">
            <a:avLst/>
          </a:prstGeom>
          <a:solidFill>
            <a:srgbClr val="DDD9D2"/>
          </a:solidFill>
          <a:ln/>
        </p:spPr>
      </p:sp>
      <p:sp>
        <p:nvSpPr>
          <p:cNvPr id="40" name="Text 38"/>
          <p:cNvSpPr txBox="1"/>
          <p:nvPr/>
        </p:nvSpPr>
        <p:spPr>
          <a:xfrm>
            <a:off x="2977158" y="2276029"/>
            <a:ext cx="287982"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No</a:t>
            </a:r>
            <a:endParaRPr lang="en-US" sz="1008" dirty="0"/>
          </a:p>
        </p:txBody>
      </p:sp>
      <p:sp>
        <p:nvSpPr>
          <p:cNvPr id="41" name="Shape 39"/>
          <p:cNvSpPr/>
          <p:nvPr/>
        </p:nvSpPr>
        <p:spPr>
          <a:xfrm>
            <a:off x="6700540" y="2496294"/>
            <a:ext cx="2176760" cy="9525"/>
          </a:xfrm>
          <a:prstGeom prst="rect">
            <a:avLst/>
          </a:prstGeom>
          <a:solidFill>
            <a:srgbClr val="DDD9D2"/>
          </a:solidFill>
          <a:ln/>
        </p:spPr>
      </p:sp>
      <p:sp>
        <p:nvSpPr>
          <p:cNvPr id="42" name="Text 40"/>
          <p:cNvSpPr txBox="1"/>
          <p:nvPr/>
        </p:nvSpPr>
        <p:spPr>
          <a:xfrm>
            <a:off x="6807101" y="2276029"/>
            <a:ext cx="13128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read once at startup</a:t>
            </a:r>
            <a:endParaRPr lang="en-US" sz="1008" dirty="0"/>
          </a:p>
        </p:txBody>
      </p:sp>
      <p:sp>
        <p:nvSpPr>
          <p:cNvPr id="43" name="Shape 41"/>
          <p:cNvSpPr/>
          <p:nvPr/>
        </p:nvSpPr>
        <p:spPr>
          <a:xfrm>
            <a:off x="457200" y="2786509"/>
            <a:ext cx="8420100" cy="9525"/>
          </a:xfrm>
          <a:prstGeom prst="rect">
            <a:avLst/>
          </a:prstGeom>
          <a:solidFill>
            <a:srgbClr val="9CA3AF">
              <a:alpha val="20000"/>
            </a:srgbClr>
          </a:solidFill>
          <a:ln/>
        </p:spPr>
      </p:sp>
      <p:sp>
        <p:nvSpPr>
          <p:cNvPr id="44" name="Shape 42"/>
          <p:cNvSpPr/>
          <p:nvPr/>
        </p:nvSpPr>
        <p:spPr>
          <a:xfrm>
            <a:off x="457200" y="2786509"/>
            <a:ext cx="2413397" cy="9525"/>
          </a:xfrm>
          <a:prstGeom prst="rect">
            <a:avLst/>
          </a:prstGeom>
          <a:solidFill>
            <a:srgbClr val="DDD9D2"/>
          </a:solidFill>
          <a:ln/>
        </p:spPr>
      </p:sp>
      <p:sp>
        <p:nvSpPr>
          <p:cNvPr id="45" name="Text 43"/>
          <p:cNvSpPr txBox="1"/>
          <p:nvPr/>
        </p:nvSpPr>
        <p:spPr>
          <a:xfrm>
            <a:off x="563761" y="2562671"/>
            <a:ext cx="102200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Key Vault</a:t>
            </a:r>
            <a:endParaRPr lang="en-US" sz="1008" dirty="0"/>
          </a:p>
        </p:txBody>
      </p:sp>
      <p:sp>
        <p:nvSpPr>
          <p:cNvPr id="46" name="Shape 44"/>
          <p:cNvSpPr/>
          <p:nvPr/>
        </p:nvSpPr>
        <p:spPr>
          <a:xfrm>
            <a:off x="2870597" y="2786509"/>
            <a:ext cx="3829943" cy="9525"/>
          </a:xfrm>
          <a:prstGeom prst="rect">
            <a:avLst/>
          </a:prstGeom>
          <a:solidFill>
            <a:srgbClr val="DDD9D2"/>
          </a:solidFill>
          <a:ln/>
        </p:spPr>
      </p:sp>
      <p:sp>
        <p:nvSpPr>
          <p:cNvPr id="47" name="Shape 45"/>
          <p:cNvSpPr/>
          <p:nvPr/>
        </p:nvSpPr>
        <p:spPr>
          <a:xfrm>
            <a:off x="3369766" y="2562820"/>
            <a:ext cx="1073497" cy="180677"/>
          </a:xfrm>
          <a:prstGeom prst="roundRect">
            <a:avLst>
              <a:gd name="adj" fmla="val 21087"/>
            </a:avLst>
          </a:prstGeom>
          <a:solidFill>
            <a:srgbClr val="16303F">
              <a:alpha val="7000"/>
            </a:srgbClr>
          </a:solidFill>
          <a:ln/>
        </p:spPr>
      </p:sp>
      <p:sp>
        <p:nvSpPr>
          <p:cNvPr id="48" name="Text 46"/>
          <p:cNvSpPr txBox="1"/>
          <p:nvPr/>
        </p:nvSpPr>
        <p:spPr>
          <a:xfrm>
            <a:off x="2977158" y="2562671"/>
            <a:ext cx="17993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Only if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ReloadInterval</a:t>
            </a:r>
            <a:pPr algn="l" indent="0" marL="0">
              <a:buNone/>
            </a:pPr>
            <a:r>
              <a:rPr lang="en-US" sz="1008" dirty="0">
                <a:solidFill>
                  <a:srgbClr val="16303F"/>
                </a:solidFill>
                <a:latin typeface="Manrope" pitchFamily="34" charset="0"/>
                <a:ea typeface="Manrope" pitchFamily="34" charset="-122"/>
                <a:cs typeface="Manrope" pitchFamily="34" charset="-120"/>
              </a:rPr>
              <a:t> set</a:t>
            </a:r>
            <a:endParaRPr lang="en-US" sz="1008" dirty="0"/>
          </a:p>
        </p:txBody>
      </p:sp>
      <p:sp>
        <p:nvSpPr>
          <p:cNvPr id="49" name="Shape 47"/>
          <p:cNvSpPr/>
          <p:nvPr/>
        </p:nvSpPr>
        <p:spPr>
          <a:xfrm>
            <a:off x="6700540" y="2786509"/>
            <a:ext cx="2176760" cy="9525"/>
          </a:xfrm>
          <a:prstGeom prst="rect">
            <a:avLst/>
          </a:prstGeom>
          <a:solidFill>
            <a:srgbClr val="DDD9D2"/>
          </a:solidFill>
          <a:ln/>
        </p:spPr>
      </p:sp>
      <p:sp>
        <p:nvSpPr>
          <p:cNvPr id="50" name="Text 48"/>
          <p:cNvSpPr txBox="1"/>
          <p:nvPr/>
        </p:nvSpPr>
        <p:spPr>
          <a:xfrm>
            <a:off x="6807101" y="2562671"/>
            <a:ext cx="507355"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a:t>
            </a:r>
            <a:endParaRPr lang="en-US" sz="1008" dirty="0"/>
          </a:p>
        </p:txBody>
      </p:sp>
      <p:sp>
        <p:nvSpPr>
          <p:cNvPr id="51" name="Shape 49"/>
          <p:cNvSpPr/>
          <p:nvPr/>
        </p:nvSpPr>
        <p:spPr>
          <a:xfrm>
            <a:off x="457200" y="2796034"/>
            <a:ext cx="8420100" cy="290215"/>
          </a:xfrm>
          <a:prstGeom prst="rect">
            <a:avLst/>
          </a:prstGeom>
          <a:solidFill>
            <a:srgbClr val="16303F">
              <a:alpha val="3000"/>
            </a:srgbClr>
          </a:solidFill>
          <a:ln/>
        </p:spPr>
      </p:sp>
      <p:sp>
        <p:nvSpPr>
          <p:cNvPr id="52" name="Shape 50"/>
          <p:cNvSpPr/>
          <p:nvPr/>
        </p:nvSpPr>
        <p:spPr>
          <a:xfrm>
            <a:off x="457200" y="3076724"/>
            <a:ext cx="8420100" cy="9525"/>
          </a:xfrm>
          <a:prstGeom prst="rect">
            <a:avLst/>
          </a:prstGeom>
          <a:solidFill>
            <a:srgbClr val="9CA3AF">
              <a:alpha val="20000"/>
            </a:srgbClr>
          </a:solidFill>
          <a:ln/>
        </p:spPr>
      </p:sp>
      <p:sp>
        <p:nvSpPr>
          <p:cNvPr id="53" name="Shape 51"/>
          <p:cNvSpPr/>
          <p:nvPr/>
        </p:nvSpPr>
        <p:spPr>
          <a:xfrm>
            <a:off x="457200" y="3076724"/>
            <a:ext cx="2413397" cy="9525"/>
          </a:xfrm>
          <a:prstGeom prst="rect">
            <a:avLst/>
          </a:prstGeom>
          <a:solidFill>
            <a:srgbClr val="DDD9D2"/>
          </a:solidFill>
          <a:ln/>
        </p:spPr>
      </p:sp>
      <p:sp>
        <p:nvSpPr>
          <p:cNvPr id="54" name="Text 52"/>
          <p:cNvSpPr txBox="1"/>
          <p:nvPr/>
        </p:nvSpPr>
        <p:spPr>
          <a:xfrm>
            <a:off x="563761" y="2852886"/>
            <a:ext cx="156284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Azure App Configuration</a:t>
            </a:r>
            <a:endParaRPr lang="en-US" sz="1008" dirty="0"/>
          </a:p>
        </p:txBody>
      </p:sp>
      <p:sp>
        <p:nvSpPr>
          <p:cNvPr id="55" name="Shape 53"/>
          <p:cNvSpPr/>
          <p:nvPr/>
        </p:nvSpPr>
        <p:spPr>
          <a:xfrm>
            <a:off x="2870597" y="3076724"/>
            <a:ext cx="3829943" cy="9525"/>
          </a:xfrm>
          <a:prstGeom prst="rect">
            <a:avLst/>
          </a:prstGeom>
          <a:solidFill>
            <a:srgbClr val="DDD9D2"/>
          </a:solidFill>
          <a:ln/>
        </p:spPr>
      </p:sp>
      <p:sp>
        <p:nvSpPr>
          <p:cNvPr id="56" name="Shape 54"/>
          <p:cNvSpPr/>
          <p:nvPr/>
        </p:nvSpPr>
        <p:spPr>
          <a:xfrm>
            <a:off x="3520827" y="2853035"/>
            <a:ext cx="1214735" cy="180677"/>
          </a:xfrm>
          <a:prstGeom prst="roundRect">
            <a:avLst>
              <a:gd name="adj" fmla="val 21087"/>
            </a:avLst>
          </a:prstGeom>
          <a:solidFill>
            <a:srgbClr val="16303F">
              <a:alpha val="7000"/>
            </a:srgbClr>
          </a:solidFill>
          <a:ln/>
        </p:spPr>
      </p:sp>
      <p:sp>
        <p:nvSpPr>
          <p:cNvPr id="57" name="Text 55"/>
          <p:cNvSpPr txBox="1"/>
          <p:nvPr/>
        </p:nvSpPr>
        <p:spPr>
          <a:xfrm>
            <a:off x="2977158" y="2852886"/>
            <a:ext cx="1830437"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Yes, with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ConfigureRefresh</a:t>
            </a:r>
            <a:endParaRPr lang="en-US" sz="1008" dirty="0"/>
          </a:p>
        </p:txBody>
      </p:sp>
      <p:sp>
        <p:nvSpPr>
          <p:cNvPr id="58" name="Shape 56"/>
          <p:cNvSpPr/>
          <p:nvPr/>
        </p:nvSpPr>
        <p:spPr>
          <a:xfrm>
            <a:off x="6700540" y="3076724"/>
            <a:ext cx="2176760" cy="9525"/>
          </a:xfrm>
          <a:prstGeom prst="rect">
            <a:avLst/>
          </a:prstGeom>
          <a:solidFill>
            <a:srgbClr val="DDD9D2"/>
          </a:solidFill>
          <a:ln/>
        </p:spPr>
      </p:sp>
      <p:sp>
        <p:nvSpPr>
          <p:cNvPr id="59" name="Text 57"/>
          <p:cNvSpPr txBox="1"/>
          <p:nvPr/>
        </p:nvSpPr>
        <p:spPr>
          <a:xfrm>
            <a:off x="6807101" y="2852886"/>
            <a:ext cx="1145232"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polling on activity</a:t>
            </a:r>
            <a:endParaRPr lang="en-US" sz="1008" dirty="0"/>
          </a:p>
        </p:txBody>
      </p:sp>
      <p:sp>
        <p:nvSpPr>
          <p:cNvPr id="60" name="Shape 58"/>
          <p:cNvSpPr/>
          <p:nvPr/>
        </p:nvSpPr>
        <p:spPr>
          <a:xfrm>
            <a:off x="457200" y="3366939"/>
            <a:ext cx="8420100" cy="9525"/>
          </a:xfrm>
          <a:prstGeom prst="rect">
            <a:avLst/>
          </a:prstGeom>
          <a:solidFill>
            <a:srgbClr val="9CA3AF">
              <a:alpha val="20000"/>
            </a:srgbClr>
          </a:solidFill>
          <a:ln/>
        </p:spPr>
      </p:sp>
      <p:sp>
        <p:nvSpPr>
          <p:cNvPr id="61" name="Shape 59"/>
          <p:cNvSpPr/>
          <p:nvPr/>
        </p:nvSpPr>
        <p:spPr>
          <a:xfrm>
            <a:off x="457200" y="3366939"/>
            <a:ext cx="2413397" cy="9525"/>
          </a:xfrm>
          <a:prstGeom prst="rect">
            <a:avLst/>
          </a:prstGeom>
          <a:solidFill>
            <a:srgbClr val="DDD9D2"/>
          </a:solidFill>
          <a:ln/>
        </p:spPr>
      </p:sp>
      <p:sp>
        <p:nvSpPr>
          <p:cNvPr id="62" name="Text 60"/>
          <p:cNvSpPr txBox="1"/>
          <p:nvPr/>
        </p:nvSpPr>
        <p:spPr>
          <a:xfrm>
            <a:off x="563761" y="3143101"/>
            <a:ext cx="81245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Key-per-file</a:t>
            </a:r>
            <a:endParaRPr lang="en-US" sz="1008" dirty="0"/>
          </a:p>
        </p:txBody>
      </p:sp>
      <p:sp>
        <p:nvSpPr>
          <p:cNvPr id="63" name="Shape 61"/>
          <p:cNvSpPr/>
          <p:nvPr/>
        </p:nvSpPr>
        <p:spPr>
          <a:xfrm>
            <a:off x="2870597" y="3366939"/>
            <a:ext cx="3829943" cy="9525"/>
          </a:xfrm>
          <a:prstGeom prst="rect">
            <a:avLst/>
          </a:prstGeom>
          <a:solidFill>
            <a:srgbClr val="DDD9D2"/>
          </a:solidFill>
          <a:ln/>
        </p:spPr>
      </p:sp>
      <p:sp>
        <p:nvSpPr>
          <p:cNvPr id="64" name="Shape 62"/>
          <p:cNvSpPr/>
          <p:nvPr/>
        </p:nvSpPr>
        <p:spPr>
          <a:xfrm>
            <a:off x="3660725" y="3143250"/>
            <a:ext cx="1073497" cy="180677"/>
          </a:xfrm>
          <a:prstGeom prst="roundRect">
            <a:avLst>
              <a:gd name="adj" fmla="val 21087"/>
            </a:avLst>
          </a:prstGeom>
          <a:solidFill>
            <a:srgbClr val="16303F">
              <a:alpha val="7000"/>
            </a:srgbClr>
          </a:solidFill>
          <a:ln/>
        </p:spPr>
      </p:sp>
      <p:sp>
        <p:nvSpPr>
          <p:cNvPr id="65" name="Text 63"/>
          <p:cNvSpPr txBox="1"/>
          <p:nvPr/>
        </p:nvSpPr>
        <p:spPr>
          <a:xfrm>
            <a:off x="2977158" y="3143101"/>
            <a:ext cx="2538115" cy="171450"/>
          </a:xfrm>
          <a:prstGeom prst="rect">
            <a:avLst/>
          </a:prstGeom>
          <a:noFill/>
          <a:ln/>
        </p:spPr>
        <p:txBody>
          <a:bodyPr wrap="none" lIns="0" tIns="0" rIns="0" bIns="0" rtlCol="0" anchor="t"/>
          <a:lstStyle/>
          <a:p>
            <a:pPr algn="l" indent="0" marL="0">
              <a:buNone/>
            </a:pPr>
            <a:r>
              <a:rPr lang="en-US" sz="1008" b="1" dirty="0">
                <a:solidFill>
                  <a:srgbClr val="16303F"/>
                </a:solidFill>
                <a:latin typeface="Manrope" pitchFamily="34" charset="0"/>
                <a:ea typeface="Manrope" pitchFamily="34" charset="-122"/>
                <a:cs typeface="Manrope" pitchFamily="34" charset="-120"/>
              </a:rPr>
              <a:t>Only when </a:t>
            </a:r>
            <a:pPr algn="l" indent="0" marL="0">
              <a:buNone/>
            </a:pPr>
            <a:r>
              <a:rPr lang="en-US" sz="927" dirty="0">
                <a:solidFill>
                  <a:srgbClr val="16303F"/>
                </a:solidFill>
                <a:latin typeface="JetBrains Mono" pitchFamily="34" charset="0"/>
                <a:ea typeface="JetBrains Mono" pitchFamily="34" charset="-122"/>
                <a:cs typeface="JetBrains Mono" pitchFamily="34" charset="-120"/>
              </a:rPr>
              <a:t>reloadOnChange</a:t>
            </a:r>
            <a:pPr algn="l" indent="0" marL="0">
              <a:buNone/>
            </a:pPr>
            <a:r>
              <a:rPr lang="en-US" sz="1008" b="1" dirty="0">
                <a:solidFill>
                  <a:srgbClr val="16303F"/>
                </a:solidFill>
                <a:latin typeface="Manrope" pitchFamily="34" charset="0"/>
                <a:ea typeface="Manrope" pitchFamily="34" charset="-122"/>
                <a:cs typeface="Manrope" pitchFamily="34" charset="-120"/>
              </a:rPr>
              <a:t> is enabled</a:t>
            </a:r>
            <a:endParaRPr lang="en-US" sz="1008" dirty="0"/>
          </a:p>
        </p:txBody>
      </p:sp>
      <p:sp>
        <p:nvSpPr>
          <p:cNvPr id="66" name="Shape 64"/>
          <p:cNvSpPr/>
          <p:nvPr/>
        </p:nvSpPr>
        <p:spPr>
          <a:xfrm>
            <a:off x="6700540" y="3366939"/>
            <a:ext cx="2176760" cy="9525"/>
          </a:xfrm>
          <a:prstGeom prst="rect">
            <a:avLst/>
          </a:prstGeom>
          <a:solidFill>
            <a:srgbClr val="DDD9D2"/>
          </a:solidFill>
          <a:ln/>
        </p:spPr>
      </p:sp>
      <p:sp>
        <p:nvSpPr>
          <p:cNvPr id="67" name="Text 65"/>
          <p:cNvSpPr txBox="1"/>
          <p:nvPr/>
        </p:nvSpPr>
        <p:spPr>
          <a:xfrm>
            <a:off x="6807101" y="3143101"/>
            <a:ext cx="803970"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file watcher</a:t>
            </a:r>
            <a:endParaRPr lang="en-US" sz="1008" dirty="0"/>
          </a:p>
        </p:txBody>
      </p:sp>
      <p:sp>
        <p:nvSpPr>
          <p:cNvPr id="68" name="Shape 66"/>
          <p:cNvSpPr/>
          <p:nvPr/>
        </p:nvSpPr>
        <p:spPr>
          <a:xfrm>
            <a:off x="457200" y="3376464"/>
            <a:ext cx="8420100" cy="286643"/>
          </a:xfrm>
          <a:prstGeom prst="rect">
            <a:avLst/>
          </a:prstGeom>
          <a:solidFill>
            <a:srgbClr val="16303F">
              <a:alpha val="3000"/>
            </a:srgbClr>
          </a:solidFill>
          <a:ln/>
        </p:spPr>
      </p:sp>
      <p:sp>
        <p:nvSpPr>
          <p:cNvPr id="69" name="Shape 67"/>
          <p:cNvSpPr/>
          <p:nvPr/>
        </p:nvSpPr>
        <p:spPr>
          <a:xfrm>
            <a:off x="457200" y="3653582"/>
            <a:ext cx="8420100" cy="9525"/>
          </a:xfrm>
          <a:prstGeom prst="rect">
            <a:avLst/>
          </a:prstGeom>
          <a:solidFill>
            <a:srgbClr val="9CA3AF">
              <a:alpha val="20000"/>
            </a:srgbClr>
          </a:solidFill>
          <a:ln/>
        </p:spPr>
      </p:sp>
      <p:sp>
        <p:nvSpPr>
          <p:cNvPr id="70" name="Shape 68"/>
          <p:cNvSpPr/>
          <p:nvPr/>
        </p:nvSpPr>
        <p:spPr>
          <a:xfrm>
            <a:off x="457200" y="3653582"/>
            <a:ext cx="2413397" cy="9525"/>
          </a:xfrm>
          <a:prstGeom prst="rect">
            <a:avLst/>
          </a:prstGeom>
          <a:solidFill>
            <a:srgbClr val="DDD9D2"/>
          </a:solidFill>
          <a:ln/>
        </p:spPr>
      </p:sp>
      <p:sp>
        <p:nvSpPr>
          <p:cNvPr id="71" name="Text 69"/>
          <p:cNvSpPr txBox="1"/>
          <p:nvPr/>
        </p:nvSpPr>
        <p:spPr>
          <a:xfrm>
            <a:off x="563761" y="3433316"/>
            <a:ext cx="751731"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In-memory</a:t>
            </a:r>
            <a:endParaRPr lang="en-US" sz="1008" dirty="0"/>
          </a:p>
        </p:txBody>
      </p:sp>
      <p:sp>
        <p:nvSpPr>
          <p:cNvPr id="72" name="Shape 70"/>
          <p:cNvSpPr/>
          <p:nvPr/>
        </p:nvSpPr>
        <p:spPr>
          <a:xfrm>
            <a:off x="2870597" y="3653582"/>
            <a:ext cx="3829943" cy="9525"/>
          </a:xfrm>
          <a:prstGeom prst="rect">
            <a:avLst/>
          </a:prstGeom>
          <a:solidFill>
            <a:srgbClr val="DDD9D2"/>
          </a:solidFill>
          <a:ln/>
        </p:spPr>
      </p:sp>
      <p:sp>
        <p:nvSpPr>
          <p:cNvPr id="73" name="Text 71"/>
          <p:cNvSpPr txBox="1"/>
          <p:nvPr/>
        </p:nvSpPr>
        <p:spPr>
          <a:xfrm>
            <a:off x="2977158" y="3433316"/>
            <a:ext cx="277713"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No</a:t>
            </a:r>
            <a:endParaRPr lang="en-US" sz="1008" dirty="0"/>
          </a:p>
        </p:txBody>
      </p:sp>
      <p:sp>
        <p:nvSpPr>
          <p:cNvPr id="74" name="Shape 72"/>
          <p:cNvSpPr/>
          <p:nvPr/>
        </p:nvSpPr>
        <p:spPr>
          <a:xfrm>
            <a:off x="6700540" y="3653582"/>
            <a:ext cx="2176760" cy="9525"/>
          </a:xfrm>
          <a:prstGeom prst="rect">
            <a:avLst/>
          </a:prstGeom>
          <a:solidFill>
            <a:srgbClr val="DDD9D2"/>
          </a:solidFill>
          <a:ln/>
        </p:spPr>
      </p:sp>
      <p:sp>
        <p:nvSpPr>
          <p:cNvPr id="75" name="Text 73"/>
          <p:cNvSpPr txBox="1"/>
          <p:nvPr/>
        </p:nvSpPr>
        <p:spPr>
          <a:xfrm>
            <a:off x="6807101" y="3433316"/>
            <a:ext cx="21416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a:t>
            </a:r>
            <a:endParaRPr lang="en-US" sz="1008" dirty="0"/>
          </a:p>
        </p:txBody>
      </p:sp>
      <p:sp>
        <p:nvSpPr>
          <p:cNvPr id="76" name="Shape 74"/>
          <p:cNvSpPr/>
          <p:nvPr/>
        </p:nvSpPr>
        <p:spPr>
          <a:xfrm>
            <a:off x="457200" y="3943796"/>
            <a:ext cx="8420100" cy="9525"/>
          </a:xfrm>
          <a:prstGeom prst="rect">
            <a:avLst/>
          </a:prstGeom>
          <a:solidFill>
            <a:srgbClr val="9CA3AF">
              <a:alpha val="20000"/>
            </a:srgbClr>
          </a:solidFill>
          <a:ln/>
        </p:spPr>
      </p:sp>
      <p:sp>
        <p:nvSpPr>
          <p:cNvPr id="77" name="Shape 75"/>
          <p:cNvSpPr/>
          <p:nvPr/>
        </p:nvSpPr>
        <p:spPr>
          <a:xfrm>
            <a:off x="457200" y="3943796"/>
            <a:ext cx="2413397" cy="9525"/>
          </a:xfrm>
          <a:prstGeom prst="rect">
            <a:avLst/>
          </a:prstGeom>
          <a:solidFill>
            <a:srgbClr val="DDD9D2"/>
          </a:solidFill>
          <a:ln/>
        </p:spPr>
      </p:sp>
      <p:sp>
        <p:nvSpPr>
          <p:cNvPr id="78" name="Text 76"/>
          <p:cNvSpPr txBox="1"/>
          <p:nvPr/>
        </p:nvSpPr>
        <p:spPr>
          <a:xfrm>
            <a:off x="563761" y="3719959"/>
            <a:ext cx="582216"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Custom</a:t>
            </a:r>
            <a:endParaRPr lang="en-US" sz="1008" dirty="0"/>
          </a:p>
        </p:txBody>
      </p:sp>
      <p:sp>
        <p:nvSpPr>
          <p:cNvPr id="79" name="Shape 77"/>
          <p:cNvSpPr/>
          <p:nvPr/>
        </p:nvSpPr>
        <p:spPr>
          <a:xfrm>
            <a:off x="2870597" y="3943796"/>
            <a:ext cx="3829943" cy="9525"/>
          </a:xfrm>
          <a:prstGeom prst="rect">
            <a:avLst/>
          </a:prstGeom>
          <a:solidFill>
            <a:srgbClr val="DDD9D2"/>
          </a:solidFill>
          <a:ln/>
        </p:spPr>
      </p:sp>
      <p:sp>
        <p:nvSpPr>
          <p:cNvPr id="80" name="Text 78"/>
          <p:cNvSpPr txBox="1"/>
          <p:nvPr/>
        </p:nvSpPr>
        <p:spPr>
          <a:xfrm>
            <a:off x="2977158" y="3719959"/>
            <a:ext cx="600224" cy="171450"/>
          </a:xfrm>
          <a:prstGeom prst="rect">
            <a:avLst/>
          </a:prstGeom>
          <a:noFill/>
          <a:ln/>
        </p:spPr>
        <p:txBody>
          <a:bodyPr wrap="none" lIns="0" tIns="0" rIns="0" bIns="0" rtlCol="0" anchor="t"/>
          <a:lstStyle/>
          <a:p>
            <a:pPr algn="l" indent="0" marL="0">
              <a:buNone/>
            </a:pPr>
            <a:r>
              <a:rPr lang="en-US" sz="1008" dirty="0">
                <a:solidFill>
                  <a:srgbClr val="16303F"/>
                </a:solidFill>
                <a:latin typeface="Manrope" pitchFamily="34" charset="0"/>
                <a:ea typeface="Manrope" pitchFamily="34" charset="-122"/>
                <a:cs typeface="Manrope" pitchFamily="34" charset="-120"/>
              </a:rPr>
              <a:t>Your call</a:t>
            </a:r>
            <a:endParaRPr lang="en-US" sz="1008" dirty="0"/>
          </a:p>
        </p:txBody>
      </p:sp>
      <p:sp>
        <p:nvSpPr>
          <p:cNvPr id="81" name="Shape 79"/>
          <p:cNvSpPr/>
          <p:nvPr/>
        </p:nvSpPr>
        <p:spPr>
          <a:xfrm>
            <a:off x="6700540" y="3943796"/>
            <a:ext cx="2176760" cy="9525"/>
          </a:xfrm>
          <a:prstGeom prst="rect">
            <a:avLst/>
          </a:prstGeom>
          <a:solidFill>
            <a:srgbClr val="DDD9D2"/>
          </a:solidFill>
          <a:ln/>
        </p:spPr>
      </p:sp>
      <p:sp>
        <p:nvSpPr>
          <p:cNvPr id="82" name="Shape 80"/>
          <p:cNvSpPr/>
          <p:nvPr/>
        </p:nvSpPr>
        <p:spPr>
          <a:xfrm>
            <a:off x="6807101" y="3720108"/>
            <a:ext cx="791021" cy="180677"/>
          </a:xfrm>
          <a:prstGeom prst="roundRect">
            <a:avLst>
              <a:gd name="adj" fmla="val 21087"/>
            </a:avLst>
          </a:prstGeom>
          <a:solidFill>
            <a:srgbClr val="16303F">
              <a:alpha val="7000"/>
            </a:srgbClr>
          </a:solidFill>
          <a:ln/>
        </p:spPr>
      </p:sp>
      <p:sp>
        <p:nvSpPr>
          <p:cNvPr id="83" name="Text 81"/>
          <p:cNvSpPr txBox="1"/>
          <p:nvPr/>
        </p:nvSpPr>
        <p:spPr>
          <a:xfrm>
            <a:off x="6749951" y="3720108"/>
            <a:ext cx="905321" cy="180677"/>
          </a:xfrm>
          <a:prstGeom prst="rect">
            <a:avLst/>
          </a:prstGeom>
          <a:noFill/>
          <a:ln/>
        </p:spPr>
        <p:txBody>
          <a:bodyPr wrap="none" lIns="0" tIns="0" rIns="0" bIns="0" rtlCol="0" anchor="ctr"/>
          <a:lstStyle/>
          <a:p>
            <a:pPr algn="ctr" indent="0" marL="0">
              <a:buNone/>
            </a:pPr>
            <a:r>
              <a:rPr lang="en-US" sz="927" dirty="0">
                <a:solidFill>
                  <a:srgbClr val="16303F"/>
                </a:solidFill>
                <a:latin typeface="JetBrains Mono" pitchFamily="34" charset="0"/>
                <a:ea typeface="JetBrains Mono" pitchFamily="34" charset="-122"/>
                <a:cs typeface="JetBrains Mono" pitchFamily="34" charset="-120"/>
              </a:rPr>
              <a:t>OnReload()</a:t>
            </a:r>
            <a:endParaRPr lang="en-US" sz="927" dirty="0"/>
          </a:p>
        </p:txBody>
      </p:sp>
      <p:sp>
        <p:nvSpPr>
          <p:cNvPr id="84" name="Text 82"/>
          <p:cNvSpPr txBox="1"/>
          <p:nvPr/>
        </p:nvSpPr>
        <p:spPr>
          <a:xfrm>
            <a:off x="457200" y="4279999"/>
            <a:ext cx="8130927"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The </a:t>
            </a:r>
            <a:pPr algn="l" indent="0" marL="0">
              <a:buNone/>
            </a:pPr>
            <a:r>
              <a:rPr lang="en-US" sz="1200" b="1" dirty="0">
                <a:solidFill>
                  <a:srgbClr val="44535A"/>
                </a:solidFill>
                <a:latin typeface="Manrope" pitchFamily="34" charset="0"/>
                <a:ea typeface="Manrope" pitchFamily="34" charset="-122"/>
                <a:cs typeface="Manrope" pitchFamily="34" charset="-120"/>
              </a:rPr>
              <a:t>No</a:t>
            </a:r>
            <a:pPr algn="l" indent="0" marL="0">
              <a:buNone/>
            </a:pPr>
            <a:r>
              <a:rPr lang="en-US" sz="1200" dirty="0">
                <a:solidFill>
                  <a:srgbClr val="44535A"/>
                </a:solidFill>
                <a:latin typeface="Manrope" pitchFamily="34" charset="0"/>
                <a:ea typeface="Manrope" pitchFamily="34" charset="-122"/>
                <a:cs typeface="Manrope" pitchFamily="34" charset="-120"/>
              </a:rPr>
              <a:t> rows are the ones that matter: changing an environment variable on a running container does nothing at all.</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257871"/>
            <a:ext cx="2009477"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COORDINATED CHANGE</a:t>
            </a:r>
            <a:endParaRPr lang="en-US" sz="936" dirty="0"/>
          </a:p>
        </p:txBody>
      </p:sp>
      <p:sp>
        <p:nvSpPr>
          <p:cNvPr id="4" name="Text 2"/>
          <p:cNvSpPr txBox="1"/>
          <p:nvPr/>
        </p:nvSpPr>
        <p:spPr>
          <a:xfrm>
            <a:off x="609600" y="2516088"/>
            <a:ext cx="7549604"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One edit now has to reach every instance.</a:t>
            </a:r>
            <a:endParaRPr lang="en-US" sz="3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429949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Azure App Configuration</a:t>
            </a:r>
            <a:endParaRPr lang="en-US" sz="2820" dirty="0"/>
          </a:p>
        </p:txBody>
      </p:sp>
      <p:sp>
        <p:nvSpPr>
          <p:cNvPr id="4" name="Shape 2"/>
          <p:cNvSpPr/>
          <p:nvPr/>
        </p:nvSpPr>
        <p:spPr>
          <a:xfrm>
            <a:off x="457200" y="1087041"/>
            <a:ext cx="8420100" cy="1652587"/>
          </a:xfrm>
          <a:prstGeom prst="roundRect">
            <a:avLst>
              <a:gd name="adj" fmla="val 2305"/>
            </a:avLst>
          </a:prstGeom>
          <a:solidFill>
            <a:srgbClr val="011627"/>
          </a:solidFill>
          <a:ln/>
        </p:spPr>
      </p:sp>
      <p:sp>
        <p:nvSpPr>
          <p:cNvPr id="5" name="Text 3"/>
          <p:cNvSpPr txBox="1"/>
          <p:nvPr/>
        </p:nvSpPr>
        <p:spPr>
          <a:xfrm>
            <a:off x="533400" y="117276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1.  edit  Weather:Timeout      -&gt;  60</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2.  edit  Weather:Retries      -&gt;  5</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3.  edit  Weather:Sentinel     -&gt;  v4      &lt;-- last, always</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next request TRIGGERS a refresh ---------+  it may still serve the OLD</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values; later requests see</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all three change together</a:t>
            </a:r>
            <a:endParaRPr lang="en-US" sz="1125" dirty="0"/>
          </a:p>
        </p:txBody>
      </p:sp>
      <p:sp>
        <p:nvSpPr>
          <p:cNvPr id="6" name="Shape 4"/>
          <p:cNvSpPr/>
          <p:nvPr/>
        </p:nvSpPr>
        <p:spPr>
          <a:xfrm>
            <a:off x="457200" y="2815828"/>
            <a:ext cx="8420100" cy="1223962"/>
          </a:xfrm>
          <a:prstGeom prst="roundRect">
            <a:avLst>
              <a:gd name="adj" fmla="val 3113"/>
            </a:avLst>
          </a:prstGeom>
          <a:solidFill>
            <a:srgbClr val="011627"/>
          </a:solidFill>
          <a:ln/>
        </p:spPr>
      </p:sp>
      <p:sp>
        <p:nvSpPr>
          <p:cNvPr id="7" name="Text 5"/>
          <p:cNvSpPr txBox="1"/>
          <p:nvPr/>
        </p:nvSpPr>
        <p:spPr>
          <a:xfrm>
            <a:off x="533400" y="2901553"/>
            <a:ext cx="8286750" cy="1047750"/>
          </a:xfrm>
          <a:prstGeom prst="rect">
            <a:avLst/>
          </a:prstGeom>
          <a:noFill/>
          <a:ln/>
        </p:spPr>
        <p:txBody>
          <a:bodyPr wrap="square" lIns="0" tIns="0" rIns="0" bIns="0" rtlCol="0" anchor="t"/>
          <a:lstStyle/>
          <a:p>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ConfigureRefresh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(refresh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refresh</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Register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Weather:Sentinel</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refreshAll: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SetRefreshInterval</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TimeSpan</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FromSeconds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30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1955453"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CONTROLLED RELEASE</a:t>
            </a:r>
            <a:endParaRPr lang="en-US" sz="936" dirty="0"/>
          </a:p>
        </p:txBody>
      </p:sp>
      <p:sp>
        <p:nvSpPr>
          <p:cNvPr id="4" name="Shape 2"/>
          <p:cNvSpPr/>
          <p:nvPr/>
        </p:nvSpPr>
        <p:spPr>
          <a:xfrm>
            <a:off x="7411343" y="2340769"/>
            <a:ext cx="510629" cy="495300"/>
          </a:xfrm>
          <a:prstGeom prst="roundRect">
            <a:avLst>
              <a:gd name="adj" fmla="val 7692"/>
            </a:avLst>
          </a:prstGeom>
          <a:solidFill>
            <a:srgbClr val="F7F6F3">
              <a:alpha val="16000"/>
            </a:srgbClr>
          </a:solidFill>
          <a:ln/>
        </p:spPr>
      </p:sp>
      <p:sp>
        <p:nvSpPr>
          <p:cNvPr id="5" name="Text 3"/>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A feature flag is configuration with an </a:t>
            </a:r>
            <a:pPr algn="l" indent="0" marL="0">
              <a:lnSpc>
                <a:spcPts val="3360"/>
              </a:lnSpc>
              <a:buNone/>
            </a:pPr>
            <a:r>
              <a:rPr lang="en-US" sz="2700" spc="-60" kern="0" dirty="0">
                <a:solidFill>
                  <a:srgbClr val="F7F6F3"/>
                </a:solidFill>
                <a:latin typeface="JetBrains Mono" pitchFamily="34" charset="0"/>
                <a:ea typeface="JetBrains Mono" pitchFamily="34" charset="-122"/>
                <a:cs typeface="JetBrains Mono" pitchFamily="34" charset="-120"/>
              </a:rPr>
              <a:t>if</a:t>
            </a:r>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 statement attached.</a:t>
            </a:r>
            <a:endParaRPr lang="en-US" sz="3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86129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feature flag is just configuration</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373684" cy="19050"/>
          </a:xfrm>
          <a:prstGeom prst="rect">
            <a:avLst/>
          </a:prstGeom>
          <a:solidFill>
            <a:srgbClr val="16303F"/>
          </a:solidFill>
          <a:ln/>
        </p:spPr>
      </p:sp>
      <p:sp>
        <p:nvSpPr>
          <p:cNvPr id="6" name="Text 4"/>
          <p:cNvSpPr txBox="1"/>
          <p:nvPr/>
        </p:nvSpPr>
        <p:spPr>
          <a:xfrm>
            <a:off x="563761" y="1163092"/>
            <a:ext cx="50348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STAGE</a:t>
            </a:r>
            <a:endParaRPr lang="en-US" sz="816" dirty="0"/>
          </a:p>
        </p:txBody>
      </p:sp>
      <p:sp>
        <p:nvSpPr>
          <p:cNvPr id="7" name="Shape 5"/>
          <p:cNvSpPr/>
          <p:nvPr/>
        </p:nvSpPr>
        <p:spPr>
          <a:xfrm>
            <a:off x="1830884" y="1377404"/>
            <a:ext cx="2158603" cy="19050"/>
          </a:xfrm>
          <a:prstGeom prst="rect">
            <a:avLst/>
          </a:prstGeom>
          <a:solidFill>
            <a:srgbClr val="16303F"/>
          </a:solidFill>
          <a:ln/>
        </p:spPr>
      </p:sp>
      <p:sp>
        <p:nvSpPr>
          <p:cNvPr id="8" name="Text 6"/>
          <p:cNvSpPr txBox="1"/>
          <p:nvPr/>
        </p:nvSpPr>
        <p:spPr>
          <a:xfrm>
            <a:off x="1937445" y="1163092"/>
            <a:ext cx="1496169"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THE FLAG LIVES</a:t>
            </a:r>
            <a:endParaRPr lang="en-US" sz="816" dirty="0"/>
          </a:p>
        </p:txBody>
      </p:sp>
      <p:sp>
        <p:nvSpPr>
          <p:cNvPr id="9" name="Shape 7"/>
          <p:cNvSpPr/>
          <p:nvPr/>
        </p:nvSpPr>
        <p:spPr>
          <a:xfrm>
            <a:off x="3989487" y="1377404"/>
            <a:ext cx="4887813" cy="19050"/>
          </a:xfrm>
          <a:prstGeom prst="rect">
            <a:avLst/>
          </a:prstGeom>
          <a:solidFill>
            <a:srgbClr val="16303F"/>
          </a:solidFill>
          <a:ln/>
        </p:spPr>
      </p:sp>
      <p:sp>
        <p:nvSpPr>
          <p:cNvPr id="10" name="Text 8"/>
          <p:cNvSpPr txBox="1"/>
          <p:nvPr/>
        </p:nvSpPr>
        <p:spPr>
          <a:xfrm>
            <a:off x="4096048" y="1163092"/>
            <a:ext cx="99953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WHAT YOU GET</a:t>
            </a:r>
            <a:endParaRPr lang="en-US" sz="816" dirty="0"/>
          </a:p>
        </p:txBody>
      </p:sp>
      <p:sp>
        <p:nvSpPr>
          <p:cNvPr id="11" name="Shape 9"/>
          <p:cNvSpPr/>
          <p:nvPr/>
        </p:nvSpPr>
        <p:spPr>
          <a:xfrm>
            <a:off x="457200" y="1396454"/>
            <a:ext cx="8420100" cy="346323"/>
          </a:xfrm>
          <a:prstGeom prst="rect">
            <a:avLst/>
          </a:prstGeom>
          <a:solidFill>
            <a:srgbClr val="16303F"/>
          </a:solidFill>
          <a:ln/>
        </p:spPr>
      </p:sp>
      <p:sp>
        <p:nvSpPr>
          <p:cNvPr id="12" name="Shape 10"/>
          <p:cNvSpPr/>
          <p:nvPr/>
        </p:nvSpPr>
        <p:spPr>
          <a:xfrm>
            <a:off x="457200" y="1733252"/>
            <a:ext cx="8420100" cy="9525"/>
          </a:xfrm>
          <a:prstGeom prst="rect">
            <a:avLst/>
          </a:prstGeom>
          <a:solidFill>
            <a:srgbClr val="9CA3AF">
              <a:alpha val="20000"/>
            </a:srgbClr>
          </a:solidFill>
          <a:ln/>
        </p:spPr>
      </p:sp>
      <p:sp>
        <p:nvSpPr>
          <p:cNvPr id="13" name="Shape 11"/>
          <p:cNvSpPr/>
          <p:nvPr/>
        </p:nvSpPr>
        <p:spPr>
          <a:xfrm>
            <a:off x="457200" y="1733252"/>
            <a:ext cx="1373684" cy="9525"/>
          </a:xfrm>
          <a:prstGeom prst="rect">
            <a:avLst/>
          </a:prstGeom>
          <a:solidFill>
            <a:srgbClr val="16303F"/>
          </a:solidFill>
          <a:ln/>
        </p:spPr>
      </p:sp>
      <p:sp>
        <p:nvSpPr>
          <p:cNvPr id="14" name="Text 12"/>
          <p:cNvSpPr txBox="1"/>
          <p:nvPr/>
        </p:nvSpPr>
        <p:spPr>
          <a:xfrm>
            <a:off x="563761" y="1479500"/>
            <a:ext cx="731490" cy="180975"/>
          </a:xfrm>
          <a:prstGeom prst="rect">
            <a:avLst/>
          </a:prstGeom>
          <a:noFill/>
          <a:ln/>
        </p:spPr>
        <p:txBody>
          <a:bodyPr wrap="none" lIns="0" tIns="0" rIns="0" bIns="0" rtlCol="0" anchor="t"/>
          <a:lstStyle/>
          <a:p>
            <a:pPr algn="l" indent="0" marL="0">
              <a:buNone/>
            </a:pPr>
            <a:r>
              <a:rPr lang="en-US" sz="1056" b="1" dirty="0">
                <a:solidFill>
                  <a:srgbClr val="F7F6F3"/>
                </a:solidFill>
                <a:latin typeface="Manrope" pitchFamily="34" charset="0"/>
                <a:ea typeface="Manrope" pitchFamily="34" charset="-122"/>
                <a:cs typeface="Manrope" pitchFamily="34" charset="-120"/>
              </a:rPr>
              <a:t>Local dev</a:t>
            </a:r>
            <a:endParaRPr lang="en-US" sz="1056" dirty="0"/>
          </a:p>
        </p:txBody>
      </p:sp>
      <p:sp>
        <p:nvSpPr>
          <p:cNvPr id="15" name="Shape 13"/>
          <p:cNvSpPr/>
          <p:nvPr/>
        </p:nvSpPr>
        <p:spPr>
          <a:xfrm>
            <a:off x="1830884" y="1733252"/>
            <a:ext cx="2158603" cy="9525"/>
          </a:xfrm>
          <a:prstGeom prst="rect">
            <a:avLst/>
          </a:prstGeom>
          <a:solidFill>
            <a:srgbClr val="16303F"/>
          </a:solidFill>
          <a:ln/>
        </p:spPr>
      </p:sp>
      <p:sp>
        <p:nvSpPr>
          <p:cNvPr id="16" name="Shape 14"/>
          <p:cNvSpPr/>
          <p:nvPr/>
        </p:nvSpPr>
        <p:spPr>
          <a:xfrm>
            <a:off x="1937445" y="1488728"/>
            <a:ext cx="1272927" cy="181570"/>
          </a:xfrm>
          <a:prstGeom prst="roundRect">
            <a:avLst>
              <a:gd name="adj" fmla="val 20984"/>
            </a:avLst>
          </a:prstGeom>
          <a:solidFill>
            <a:srgbClr val="F7F6F3">
              <a:alpha val="14000"/>
            </a:srgbClr>
          </a:solidFill>
          <a:ln/>
        </p:spPr>
      </p:sp>
      <p:sp>
        <p:nvSpPr>
          <p:cNvPr id="17" name="Text 15"/>
          <p:cNvSpPr txBox="1"/>
          <p:nvPr/>
        </p:nvSpPr>
        <p:spPr>
          <a:xfrm>
            <a:off x="1880295" y="1488728"/>
            <a:ext cx="1387227" cy="181570"/>
          </a:xfrm>
          <a:prstGeom prst="rect">
            <a:avLst/>
          </a:prstGeom>
          <a:noFill/>
          <a:ln/>
        </p:spPr>
        <p:txBody>
          <a:bodyPr wrap="none" lIns="0" tIns="0" rIns="0" bIns="0" rtlCol="0" anchor="ctr"/>
          <a:lstStyle/>
          <a:p>
            <a:pPr algn="ctr" indent="0" marL="0">
              <a:buNone/>
            </a:pPr>
            <a:r>
              <a:rPr lang="en-US" sz="972" dirty="0">
                <a:solidFill>
                  <a:srgbClr val="F7F6F3"/>
                </a:solidFill>
                <a:latin typeface="JetBrains Mono" pitchFamily="34" charset="0"/>
                <a:ea typeface="JetBrains Mono" pitchFamily="34" charset="-122"/>
                <a:cs typeface="JetBrains Mono" pitchFamily="34" charset="-120"/>
              </a:rPr>
              <a:t>appsettings.json</a:t>
            </a:r>
            <a:endParaRPr lang="en-US" sz="972" dirty="0"/>
          </a:p>
        </p:txBody>
      </p:sp>
      <p:sp>
        <p:nvSpPr>
          <p:cNvPr id="18" name="Shape 16"/>
          <p:cNvSpPr/>
          <p:nvPr/>
        </p:nvSpPr>
        <p:spPr>
          <a:xfrm>
            <a:off x="3989487" y="1733252"/>
            <a:ext cx="4887813" cy="9525"/>
          </a:xfrm>
          <a:prstGeom prst="rect">
            <a:avLst/>
          </a:prstGeom>
          <a:solidFill>
            <a:srgbClr val="16303F"/>
          </a:solidFill>
          <a:ln/>
        </p:spPr>
      </p:sp>
      <p:sp>
        <p:nvSpPr>
          <p:cNvPr id="19" name="Text 17"/>
          <p:cNvSpPr txBox="1"/>
          <p:nvPr/>
        </p:nvSpPr>
        <p:spPr>
          <a:xfrm>
            <a:off x="4096048" y="1479500"/>
            <a:ext cx="3512641" cy="180975"/>
          </a:xfrm>
          <a:prstGeom prst="rect">
            <a:avLst/>
          </a:prstGeom>
          <a:noFill/>
          <a:ln/>
        </p:spPr>
        <p:txBody>
          <a:bodyPr wrap="none" lIns="0" tIns="0" rIns="0" bIns="0" rtlCol="0" anchor="t"/>
          <a:lstStyle/>
          <a:p>
            <a:pPr algn="l" indent="0" marL="0">
              <a:buNone/>
            </a:pPr>
            <a:r>
              <a:rPr lang="en-US" sz="1056" b="1" dirty="0">
                <a:solidFill>
                  <a:srgbClr val="F4C233"/>
                </a:solidFill>
                <a:latin typeface="Manrope" pitchFamily="34" charset="0"/>
                <a:ea typeface="Manrope" pitchFamily="34" charset="-122"/>
                <a:cs typeface="Manrope" pitchFamily="34" charset="-120"/>
              </a:rPr>
              <a:t>Branch in code without branching in git. Zero cloud.</a:t>
            </a:r>
            <a:endParaRPr lang="en-US" sz="1056" dirty="0"/>
          </a:p>
        </p:txBody>
      </p:sp>
      <p:sp>
        <p:nvSpPr>
          <p:cNvPr id="20" name="Shape 18"/>
          <p:cNvSpPr/>
          <p:nvPr/>
        </p:nvSpPr>
        <p:spPr>
          <a:xfrm>
            <a:off x="457200" y="1742777"/>
            <a:ext cx="8420100" cy="338584"/>
          </a:xfrm>
          <a:prstGeom prst="rect">
            <a:avLst/>
          </a:prstGeom>
          <a:solidFill>
            <a:srgbClr val="16303F">
              <a:alpha val="3000"/>
            </a:srgbClr>
          </a:solidFill>
          <a:ln/>
        </p:spPr>
      </p:sp>
      <p:sp>
        <p:nvSpPr>
          <p:cNvPr id="21" name="Shape 19"/>
          <p:cNvSpPr/>
          <p:nvPr/>
        </p:nvSpPr>
        <p:spPr>
          <a:xfrm>
            <a:off x="457200" y="2071836"/>
            <a:ext cx="8420100" cy="9525"/>
          </a:xfrm>
          <a:prstGeom prst="rect">
            <a:avLst/>
          </a:prstGeom>
          <a:solidFill>
            <a:srgbClr val="9CA3AF">
              <a:alpha val="20000"/>
            </a:srgbClr>
          </a:solidFill>
          <a:ln/>
        </p:spPr>
      </p:sp>
      <p:sp>
        <p:nvSpPr>
          <p:cNvPr id="22" name="Shape 20"/>
          <p:cNvSpPr/>
          <p:nvPr/>
        </p:nvSpPr>
        <p:spPr>
          <a:xfrm>
            <a:off x="457200" y="2071836"/>
            <a:ext cx="1373684" cy="9525"/>
          </a:xfrm>
          <a:prstGeom prst="rect">
            <a:avLst/>
          </a:prstGeom>
          <a:solidFill>
            <a:srgbClr val="DDD9D2"/>
          </a:solidFill>
          <a:ln/>
        </p:spPr>
      </p:sp>
      <p:sp>
        <p:nvSpPr>
          <p:cNvPr id="23" name="Text 21"/>
          <p:cNvSpPr txBox="1"/>
          <p:nvPr/>
        </p:nvSpPr>
        <p:spPr>
          <a:xfrm>
            <a:off x="563761" y="1821061"/>
            <a:ext cx="91618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4" name="Shape 22"/>
          <p:cNvSpPr/>
          <p:nvPr/>
        </p:nvSpPr>
        <p:spPr>
          <a:xfrm>
            <a:off x="1830884" y="2071836"/>
            <a:ext cx="2158603" cy="9525"/>
          </a:xfrm>
          <a:prstGeom prst="rect">
            <a:avLst/>
          </a:prstGeom>
          <a:solidFill>
            <a:srgbClr val="DDD9D2"/>
          </a:solidFill>
          <a:ln/>
        </p:spPr>
      </p:sp>
      <p:sp>
        <p:nvSpPr>
          <p:cNvPr id="25" name="Text 23"/>
          <p:cNvSpPr txBox="1"/>
          <p:nvPr/>
        </p:nvSpPr>
        <p:spPr>
          <a:xfrm>
            <a:off x="1937445" y="1821061"/>
            <a:ext cx="140761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a:t>
            </a:r>
            <a:endParaRPr lang="en-US" sz="1056" dirty="0"/>
          </a:p>
        </p:txBody>
      </p:sp>
      <p:sp>
        <p:nvSpPr>
          <p:cNvPr id="26" name="Shape 24"/>
          <p:cNvSpPr/>
          <p:nvPr/>
        </p:nvSpPr>
        <p:spPr>
          <a:xfrm>
            <a:off x="3989487" y="2071836"/>
            <a:ext cx="4887813" cy="9525"/>
          </a:xfrm>
          <a:prstGeom prst="rect">
            <a:avLst/>
          </a:prstGeom>
          <a:solidFill>
            <a:srgbClr val="DDD9D2"/>
          </a:solidFill>
          <a:ln/>
        </p:spPr>
      </p:sp>
      <p:sp>
        <p:nvSpPr>
          <p:cNvPr id="27" name="Text 25"/>
          <p:cNvSpPr txBox="1"/>
          <p:nvPr/>
        </p:nvSpPr>
        <p:spPr>
          <a:xfrm>
            <a:off x="4096048" y="1821061"/>
            <a:ext cx="22093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Ship dark, enable per environment</a:t>
            </a:r>
            <a:endParaRPr lang="en-US" sz="1056" dirty="0"/>
          </a:p>
        </p:txBody>
      </p:sp>
      <p:sp>
        <p:nvSpPr>
          <p:cNvPr id="28" name="Shape 26"/>
          <p:cNvSpPr/>
          <p:nvPr/>
        </p:nvSpPr>
        <p:spPr>
          <a:xfrm>
            <a:off x="457200" y="2410420"/>
            <a:ext cx="8420100" cy="9525"/>
          </a:xfrm>
          <a:prstGeom prst="rect">
            <a:avLst/>
          </a:prstGeom>
          <a:solidFill>
            <a:srgbClr val="9CA3AF">
              <a:alpha val="20000"/>
            </a:srgbClr>
          </a:solidFill>
          <a:ln/>
        </p:spPr>
      </p:sp>
      <p:sp>
        <p:nvSpPr>
          <p:cNvPr id="29" name="Shape 27"/>
          <p:cNvSpPr/>
          <p:nvPr/>
        </p:nvSpPr>
        <p:spPr>
          <a:xfrm>
            <a:off x="457200" y="2410420"/>
            <a:ext cx="1373684" cy="9525"/>
          </a:xfrm>
          <a:prstGeom prst="rect">
            <a:avLst/>
          </a:prstGeom>
          <a:solidFill>
            <a:srgbClr val="DDD9D2"/>
          </a:solidFill>
          <a:ln/>
        </p:spPr>
      </p:sp>
      <p:sp>
        <p:nvSpPr>
          <p:cNvPr id="30" name="Text 28"/>
          <p:cNvSpPr txBox="1"/>
          <p:nvPr/>
        </p:nvSpPr>
        <p:spPr>
          <a:xfrm>
            <a:off x="563761" y="2159645"/>
            <a:ext cx="58712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Shared</a:t>
            </a:r>
            <a:endParaRPr lang="en-US" sz="1056" dirty="0"/>
          </a:p>
        </p:txBody>
      </p:sp>
      <p:sp>
        <p:nvSpPr>
          <p:cNvPr id="31" name="Shape 29"/>
          <p:cNvSpPr/>
          <p:nvPr/>
        </p:nvSpPr>
        <p:spPr>
          <a:xfrm>
            <a:off x="1830884" y="2410420"/>
            <a:ext cx="2158603" cy="9525"/>
          </a:xfrm>
          <a:prstGeom prst="rect">
            <a:avLst/>
          </a:prstGeom>
          <a:solidFill>
            <a:srgbClr val="DDD9D2"/>
          </a:solidFill>
          <a:ln/>
        </p:spPr>
      </p:sp>
      <p:sp>
        <p:nvSpPr>
          <p:cNvPr id="32" name="Text 30"/>
          <p:cNvSpPr txBox="1"/>
          <p:nvPr/>
        </p:nvSpPr>
        <p:spPr>
          <a:xfrm>
            <a:off x="1937445" y="2159645"/>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3" name="Shape 31"/>
          <p:cNvSpPr/>
          <p:nvPr/>
        </p:nvSpPr>
        <p:spPr>
          <a:xfrm>
            <a:off x="3989487" y="2410420"/>
            <a:ext cx="4887813" cy="9525"/>
          </a:xfrm>
          <a:prstGeom prst="rect">
            <a:avLst/>
          </a:prstGeom>
          <a:solidFill>
            <a:srgbClr val="DDD9D2"/>
          </a:solidFill>
          <a:ln/>
        </p:spPr>
      </p:sp>
      <p:sp>
        <p:nvSpPr>
          <p:cNvPr id="34" name="Text 32"/>
          <p:cNvSpPr txBox="1"/>
          <p:nvPr/>
        </p:nvSpPr>
        <p:spPr>
          <a:xfrm>
            <a:off x="4096048" y="2159645"/>
            <a:ext cx="324296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Flip at runtime, target a cohort, roll back in seconds</a:t>
            </a:r>
            <a:endParaRPr lang="en-US" sz="1056"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93911"/>
            <a:ext cx="4158704"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Flags start with no cloud at all</a:t>
            </a:r>
            <a:endParaRPr lang="en-US" sz="2280" dirty="0"/>
          </a:p>
        </p:txBody>
      </p:sp>
      <p:sp>
        <p:nvSpPr>
          <p:cNvPr id="4" name="Shape 2"/>
          <p:cNvSpPr/>
          <p:nvPr/>
        </p:nvSpPr>
        <p:spPr>
          <a:xfrm>
            <a:off x="628650" y="762744"/>
            <a:ext cx="8077200" cy="2095500"/>
          </a:xfrm>
          <a:prstGeom prst="roundRect">
            <a:avLst>
              <a:gd name="adj" fmla="val 1818"/>
            </a:avLst>
          </a:prstGeom>
          <a:solidFill>
            <a:srgbClr val="011627"/>
          </a:solidFill>
          <a:ln/>
        </p:spPr>
      </p:sp>
      <p:sp>
        <p:nvSpPr>
          <p:cNvPr id="5" name="Text 3"/>
          <p:cNvSpPr txBox="1"/>
          <p:nvPr/>
        </p:nvSpPr>
        <p:spPr>
          <a:xfrm>
            <a:off x="704850" y="848469"/>
            <a:ext cx="7943850" cy="190976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"feature_flags"</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false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"id"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C789D6"/>
                </a:solidFill>
                <a:latin typeface="JetBrains Mono" pitchFamily="34" charset="0"/>
                <a:ea typeface="JetBrains Mono" pitchFamily="34" charset="-122"/>
                <a:cs typeface="JetBrains Mono" pitchFamily="34" charset="-120"/>
              </a:rPr>
              <a:t>BetaBanner</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"enabled"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FF5874"/>
                </a:solidFill>
                <a:latin typeface="JetBrains Mono" pitchFamily="34" charset="0"/>
                <a:ea typeface="JetBrains Mono" pitchFamily="34" charset="-122"/>
                <a:cs typeface="JetBrains Mono" pitchFamily="34" charset="-120"/>
              </a:rPr>
              <a:t>true</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endParaRPr lang="en-US" sz="1275" dirty="0"/>
          </a:p>
        </p:txBody>
      </p:sp>
      <p:sp>
        <p:nvSpPr>
          <p:cNvPr id="6" name="Shape 4"/>
          <p:cNvSpPr/>
          <p:nvPr/>
        </p:nvSpPr>
        <p:spPr>
          <a:xfrm>
            <a:off x="628650" y="3071515"/>
            <a:ext cx="8077200" cy="881063"/>
          </a:xfrm>
          <a:prstGeom prst="roundRect">
            <a:avLst>
              <a:gd name="adj" fmla="val 4324"/>
            </a:avLst>
          </a:prstGeom>
          <a:solidFill>
            <a:srgbClr val="011627"/>
          </a:solidFill>
          <a:ln/>
        </p:spPr>
      </p:sp>
      <p:sp>
        <p:nvSpPr>
          <p:cNvPr id="7" name="Text 5"/>
          <p:cNvSpPr txBox="1"/>
          <p:nvPr/>
        </p:nvSpPr>
        <p:spPr>
          <a:xfrm>
            <a:off x="704850" y="3157240"/>
            <a:ext cx="7943850" cy="695325"/>
          </a:xfrm>
          <a:prstGeom prst="rect">
            <a:avLst/>
          </a:prstGeom>
          <a:noFill/>
          <a:ln/>
        </p:spPr>
        <p:txBody>
          <a:bodyPr wrap="square" lIns="0" tIns="0" rIns="0" bIns="0" rtlCol="0" anchor="t"/>
          <a:lstStyle/>
          <a:p>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builder</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Services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AddFeatureManagement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if</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IsEnabledAsync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NewCheckout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 { </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a:t>
            </a:r>
            <a:endParaRPr lang="en-US" sz="1275" dirty="0"/>
          </a:p>
        </p:txBody>
      </p:sp>
      <p:sp>
        <p:nvSpPr>
          <p:cNvPr id="8" name="Text 6"/>
          <p:cNvSpPr txBox="1"/>
          <p:nvPr/>
        </p:nvSpPr>
        <p:spPr>
          <a:xfrm>
            <a:off x="628650" y="4403973"/>
            <a:ext cx="8155326"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That is the entire setup. No cloud service, no cloud account, no network dependency — just a NuGet package and a JSON section.</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5089327"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50% of users, or 50% of calls?</a:t>
            </a:r>
            <a:endParaRPr lang="en-US" sz="2820" dirty="0"/>
          </a:p>
        </p:txBody>
      </p:sp>
      <p:sp>
        <p:nvSpPr>
          <p:cNvPr id="4" name="Shape 2"/>
          <p:cNvSpPr/>
          <p:nvPr/>
        </p:nvSpPr>
        <p:spPr>
          <a:xfrm>
            <a:off x="457200" y="1087041"/>
            <a:ext cx="8420100" cy="2081212"/>
          </a:xfrm>
          <a:prstGeom prst="roundRect">
            <a:avLst>
              <a:gd name="adj" fmla="val 1831"/>
            </a:avLst>
          </a:prstGeom>
          <a:solidFill>
            <a:srgbClr val="011627"/>
          </a:solidFill>
          <a:ln/>
        </p:spPr>
      </p:sp>
      <p:sp>
        <p:nvSpPr>
          <p:cNvPr id="5" name="Text 3"/>
          <p:cNvSpPr txBox="1"/>
          <p:nvPr/>
        </p:nvSpPr>
        <p:spPr>
          <a:xfrm>
            <a:off x="533400" y="1172766"/>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"id"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NewCheckout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"enabled"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F5874"/>
                </a:solidFill>
                <a:latin typeface="JetBrains Mono" pitchFamily="34" charset="0"/>
                <a:ea typeface="JetBrains Mono" pitchFamily="34" charset="-122"/>
                <a:cs typeface="JetBrains Mono" pitchFamily="34" charset="-120"/>
              </a:rPr>
              <a:t>true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"conditions"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"client_filters"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"name"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89D6"/>
                </a:solidFill>
                <a:latin typeface="JetBrains Mono" pitchFamily="34" charset="0"/>
                <a:ea typeface="JetBrains Mono" pitchFamily="34" charset="-122"/>
                <a:cs typeface="JetBrains Mono" pitchFamily="34" charset="-120"/>
              </a:rPr>
              <a:t>Microsoft.Percentage</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"parameters"</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"Value"</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F78C6C"/>
                </a:solidFill>
                <a:latin typeface="JetBrains Mono" pitchFamily="34" charset="0"/>
                <a:ea typeface="JetBrains Mono" pitchFamily="34" charset="-122"/>
                <a:cs typeface="JetBrains Mono" pitchFamily="34" charset="-120"/>
              </a:rPr>
              <a:t>50</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 }</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Shape 4"/>
          <p:cNvSpPr/>
          <p:nvPr/>
        </p:nvSpPr>
        <p:spPr>
          <a:xfrm>
            <a:off x="457200" y="3320653"/>
            <a:ext cx="38100" cy="533400"/>
          </a:xfrm>
          <a:prstGeom prst="rect">
            <a:avLst/>
          </a:prstGeom>
          <a:solidFill>
            <a:srgbClr val="F4C233"/>
          </a:solidFill>
          <a:ln/>
        </p:spPr>
      </p:sp>
      <p:sp>
        <p:nvSpPr>
          <p:cNvPr id="7" name="Text 5"/>
          <p:cNvSpPr txBox="1"/>
          <p:nvPr/>
        </p:nvSpPr>
        <p:spPr>
          <a:xfrm>
            <a:off x="617190" y="3482578"/>
            <a:ext cx="5832723"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“Same user, same session, checks this flag twice. Same answer both times?”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4349502" cy="419100"/>
          </a:xfrm>
          <a:prstGeom prst="rect">
            <a:avLst/>
          </a:prstGeom>
          <a:noFill/>
          <a:ln/>
        </p:spPr>
        <p:txBody>
          <a:bodyPr wrap="none" lIns="0" tIns="0" rIns="0" bIns="0" rtlCol="0" anchor="t"/>
          <a:lstStyle/>
          <a:p>
            <a:pPr algn="l" indent="0" marL="0">
              <a:buNone/>
            </a:pPr>
            <a:r>
              <a:rPr lang="en-US" sz="2400" b="1" spc="-48" kern="0" dirty="0">
                <a:solidFill>
                  <a:srgbClr val="16303F"/>
                </a:solidFill>
                <a:latin typeface="Manrope" pitchFamily="34" charset="0"/>
                <a:ea typeface="Manrope" pitchFamily="34" charset="-122"/>
                <a:cs typeface="Manrope" pitchFamily="34" charset="-120"/>
              </a:rPr>
              <a:t>50% of users, or 50% of calls?</a:t>
            </a:r>
            <a:endParaRPr lang="en-US" sz="2400" dirty="0"/>
          </a:p>
        </p:txBody>
      </p:sp>
      <p:sp>
        <p:nvSpPr>
          <p:cNvPr id="4" name="Shape 2"/>
          <p:cNvSpPr/>
          <p:nvPr/>
        </p:nvSpPr>
        <p:spPr>
          <a:xfrm>
            <a:off x="304800" y="1058912"/>
            <a:ext cx="8724900" cy="1123950"/>
          </a:xfrm>
          <a:prstGeom prst="roundRect">
            <a:avLst>
              <a:gd name="adj" fmla="val 3390"/>
            </a:avLst>
          </a:prstGeom>
          <a:solidFill>
            <a:srgbClr val="011627"/>
          </a:solidFill>
          <a:ln/>
        </p:spPr>
      </p:sp>
      <p:sp>
        <p:nvSpPr>
          <p:cNvPr id="5" name="Text 3"/>
          <p:cNvSpPr txBox="1"/>
          <p:nvPr/>
        </p:nvSpPr>
        <p:spPr>
          <a:xfrm>
            <a:off x="381000" y="1144637"/>
            <a:ext cx="85915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D29 - Microsoft.Percentage is per-call, not per-user</a:t>
            </a:r>
            <a:br/>
            <a:pPr algn="l" indent="0" marL="0">
              <a:lnSpc>
                <a:spcPts val="1913"/>
              </a:lnSpc>
              <a:buNone/>
            </a:pP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percentage   true  false true  true  false false true  false true  true</a:t>
            </a:r>
            <a:b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targeting    true  true  true  true  true  true  true  true  true  true</a:t>
            </a:r>
            <a:endParaRPr lang="en-US" sz="1275" dirty="0"/>
          </a:p>
        </p:txBody>
      </p:sp>
      <p:sp>
        <p:nvSpPr>
          <p:cNvPr id="6" name="Shape 4"/>
          <p:cNvSpPr/>
          <p:nvPr/>
        </p:nvSpPr>
        <p:spPr>
          <a:xfrm>
            <a:off x="304800" y="2335262"/>
            <a:ext cx="38100" cy="533400"/>
          </a:xfrm>
          <a:prstGeom prst="rect">
            <a:avLst/>
          </a:prstGeom>
          <a:solidFill>
            <a:srgbClr val="F4C233"/>
          </a:solidFill>
          <a:ln/>
        </p:spPr>
      </p:sp>
      <p:sp>
        <p:nvSpPr>
          <p:cNvPr id="7" name="Shape 5"/>
          <p:cNvSpPr/>
          <p:nvPr/>
        </p:nvSpPr>
        <p:spPr>
          <a:xfrm>
            <a:off x="464790" y="2505373"/>
            <a:ext cx="1739205" cy="202704"/>
          </a:xfrm>
          <a:prstGeom prst="roundRect">
            <a:avLst>
              <a:gd name="adj" fmla="val 18796"/>
            </a:avLst>
          </a:prstGeom>
          <a:solidFill>
            <a:srgbClr val="16303F">
              <a:alpha val="7000"/>
            </a:srgbClr>
          </a:solidFill>
          <a:ln/>
        </p:spPr>
      </p:sp>
      <p:sp>
        <p:nvSpPr>
          <p:cNvPr id="8" name="Text 6"/>
          <p:cNvSpPr txBox="1"/>
          <p:nvPr/>
        </p:nvSpPr>
        <p:spPr>
          <a:xfrm>
            <a:off x="511373" y="2497187"/>
            <a:ext cx="4337745"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Microsoft.Percentage</a:t>
            </a:r>
            <a:pPr algn="l" indent="0" marL="0">
              <a:buNone/>
            </a:pPr>
            <a:r>
              <a:rPr lang="en-US" sz="1200" b="1" dirty="0">
                <a:solidFill>
                  <a:srgbClr val="16303F"/>
                </a:solidFill>
                <a:latin typeface="Manrope" pitchFamily="34" charset="0"/>
                <a:ea typeface="Manrope" pitchFamily="34" charset="-122"/>
                <a:cs typeface="Manrope" pitchFamily="34" charset="-120"/>
              </a:rPr>
              <a:t> is evaluated per call, not per user.</a:t>
            </a:r>
            <a:endParaRPr lang="en-US" sz="1080" dirty="0"/>
          </a:p>
        </p:txBody>
      </p:sp>
      <p:sp>
        <p:nvSpPr>
          <p:cNvPr id="9" name="Shape 7"/>
          <p:cNvSpPr/>
          <p:nvPr/>
        </p:nvSpPr>
        <p:spPr>
          <a:xfrm>
            <a:off x="1476821" y="3381673"/>
            <a:ext cx="422374" cy="202704"/>
          </a:xfrm>
          <a:prstGeom prst="roundRect">
            <a:avLst>
              <a:gd name="adj" fmla="val 18796"/>
            </a:avLst>
          </a:prstGeom>
          <a:solidFill>
            <a:srgbClr val="16303F">
              <a:alpha val="7000"/>
            </a:srgbClr>
          </a:solidFill>
          <a:ln/>
        </p:spPr>
      </p:sp>
      <p:sp>
        <p:nvSpPr>
          <p:cNvPr id="10" name="Text 8"/>
          <p:cNvSpPr txBox="1"/>
          <p:nvPr/>
        </p:nvSpPr>
        <p:spPr>
          <a:xfrm>
            <a:off x="304800" y="3144887"/>
            <a:ext cx="8881863"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nav bar says new checkout, the checkout page says old, and it is invisible in a single test run. The fix: targeting, or variant allocation with a </a:t>
            </a:r>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seed</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that is what gives a stable per-user assignment.</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28650" y="1126778"/>
            <a:ext cx="4089202"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Boolean flags are not enough</a:t>
            </a:r>
            <a:endParaRPr lang="en-US" sz="2280" dirty="0"/>
          </a:p>
        </p:txBody>
      </p:sp>
      <p:sp>
        <p:nvSpPr>
          <p:cNvPr id="4" name="Shape 2"/>
          <p:cNvSpPr/>
          <p:nvPr/>
        </p:nvSpPr>
        <p:spPr>
          <a:xfrm>
            <a:off x="628650" y="1795611"/>
            <a:ext cx="8077200" cy="1123950"/>
          </a:xfrm>
          <a:prstGeom prst="roundRect">
            <a:avLst>
              <a:gd name="adj" fmla="val 3390"/>
            </a:avLst>
          </a:prstGeom>
          <a:solidFill>
            <a:srgbClr val="011627"/>
          </a:solidFill>
          <a:ln/>
        </p:spPr>
      </p:sp>
      <p:sp>
        <p:nvSpPr>
          <p:cNvPr id="5" name="Text 3"/>
          <p:cNvSpPr txBox="1"/>
          <p:nvPr/>
        </p:nvSpPr>
        <p:spPr>
          <a:xfrm>
            <a:off x="704850" y="1881336"/>
            <a:ext cx="7943850" cy="938212"/>
          </a:xfrm>
          <a:prstGeom prst="rect">
            <a:avLst/>
          </a:prstGeom>
          <a:noFill/>
          <a:ln/>
        </p:spPr>
        <p:txBody>
          <a:bodyPr wrap="square" lIns="0" tIns="0" rIns="0" bIns="0" rtlCol="0" anchor="t"/>
          <a:lstStyle/>
          <a:p>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Variant variant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await</a:t>
            </a: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 features</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GetVariantAsync</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ECC48D"/>
                </a:solidFill>
                <a:latin typeface="JetBrains Mono" pitchFamily="34" charset="0"/>
                <a:ea typeface="JetBrains Mono" pitchFamily="34" charset="-122"/>
                <a:cs typeface="JetBrains Mono" pitchFamily="34" charset="-120"/>
              </a:rPr>
              <a:t>CheckoutLayout</a:t>
            </a:r>
            <a:pPr algn="l" indent="0" marL="0">
              <a:lnSpc>
                <a:spcPts val="1913"/>
              </a:lnSpc>
              <a:buNone/>
            </a:pPr>
            <a:r>
              <a:rPr lang="en-US" sz="1275" dirty="0">
                <a:solidFill>
                  <a:srgbClr val="D9F5DD"/>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ct);</a:t>
            </a:r>
            <a:br/>
            <a:pPr algn="l" indent="0" marL="0">
              <a:lnSpc>
                <a:spcPts val="1913"/>
              </a:lnSpc>
              <a:buNone/>
            </a:pPr>
            <a:b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var</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settings </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7FDBCA"/>
                </a:solidFill>
                <a:latin typeface="JetBrains Mono" pitchFamily="34" charset="0"/>
                <a:ea typeface="JetBrains Mono" pitchFamily="34" charset="-122"/>
                <a:cs typeface="JetBrains Mono" pitchFamily="34" charset="-120"/>
              </a:rPr>
              <a:t> new</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 CheckoutLayoutSettings();</a:t>
            </a:r>
            <a:br/>
            <a:pPr algn="l" indent="0" marL="0">
              <a:lnSpc>
                <a:spcPts val="1913"/>
              </a:lnSpc>
              <a:buNone/>
            </a:pPr>
            <a:r>
              <a:rPr lang="en-US" sz="1275" dirty="0">
                <a:solidFill>
                  <a:srgbClr val="B2CCD6"/>
                </a:solidFill>
                <a:latin typeface="JetBrains Mono" pitchFamily="34" charset="0"/>
                <a:ea typeface="JetBrains Mono" pitchFamily="34" charset="-122"/>
                <a:cs typeface="JetBrains Mono" pitchFamily="34" charset="-120"/>
              </a:rPr>
              <a:t>variant</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FAF39F"/>
                </a:solidFill>
                <a:latin typeface="JetBrains Mono" pitchFamily="34" charset="0"/>
                <a:ea typeface="JetBrains Mono" pitchFamily="34" charset="-122"/>
                <a:cs typeface="JetBrains Mono" pitchFamily="34" charset="-120"/>
              </a:rPr>
              <a:t>Configuration</a:t>
            </a:r>
            <a:pPr algn="l" indent="0" marL="0">
              <a:lnSpc>
                <a:spcPts val="1913"/>
              </a:lnSpc>
              <a:buNone/>
            </a:pPr>
            <a:r>
              <a:rPr lang="en-US" sz="1275" dirty="0">
                <a:solidFill>
                  <a:srgbClr val="C792EA"/>
                </a:solidFill>
                <a:latin typeface="JetBrains Mono" pitchFamily="34" charset="0"/>
                <a:ea typeface="JetBrains Mono" pitchFamily="34" charset="-122"/>
                <a:cs typeface="JetBrains Mono" pitchFamily="34" charset="-120"/>
              </a:rPr>
              <a:t>.</a:t>
            </a:r>
            <a:pPr algn="l" indent="0" marL="0">
              <a:lnSpc>
                <a:spcPts val="1913"/>
              </a:lnSpc>
              <a:buNone/>
            </a:pPr>
            <a:r>
              <a:rPr lang="en-US" sz="1275" dirty="0">
                <a:solidFill>
                  <a:srgbClr val="82AAFF"/>
                </a:solidFill>
                <a:latin typeface="JetBrains Mono" pitchFamily="34" charset="0"/>
                <a:ea typeface="JetBrains Mono" pitchFamily="34" charset="-122"/>
                <a:cs typeface="JetBrains Mono" pitchFamily="34" charset="-120"/>
              </a:rPr>
              <a:t>Bind</a:t>
            </a:r>
            <a:pPr algn="l" indent="0" marL="0">
              <a:lnSpc>
                <a:spcPts val="1913"/>
              </a:lnSpc>
              <a:buNone/>
            </a:pPr>
            <a:r>
              <a:rPr lang="en-US" sz="1275" dirty="0">
                <a:solidFill>
                  <a:srgbClr val="D6DEEB"/>
                </a:solidFill>
                <a:latin typeface="JetBrains Mono" pitchFamily="34" charset="0"/>
                <a:ea typeface="JetBrains Mono" pitchFamily="34" charset="-122"/>
                <a:cs typeface="JetBrains Mono" pitchFamily="34" charset="-120"/>
              </a:rPr>
              <a:t>(settings);   </a:t>
            </a:r>
            <a:pPr algn="l" indent="0" marL="0">
              <a:lnSpc>
                <a:spcPts val="1913"/>
              </a:lnSpc>
              <a:buNone/>
            </a:pPr>
            <a:r>
              <a:rPr lang="en-US" sz="1275" dirty="0">
                <a:solidFill>
                  <a:srgbClr val="637777"/>
                </a:solidFill>
                <a:latin typeface="JetBrains Mono" pitchFamily="34" charset="0"/>
                <a:ea typeface="JetBrains Mono" pitchFamily="34" charset="-122"/>
                <a:cs typeface="JetBrains Mono" pitchFamily="34" charset="-120"/>
              </a:rPr>
              <a:t>// it's an IConfigurationSection</a:t>
            </a:r>
            <a:endParaRPr lang="en-US" sz="1275" dirty="0"/>
          </a:p>
        </p:txBody>
      </p:sp>
      <p:sp>
        <p:nvSpPr>
          <p:cNvPr id="6" name="Text 4"/>
          <p:cNvSpPr txBox="1"/>
          <p:nvPr/>
        </p:nvSpPr>
        <p:spPr>
          <a:xfrm>
            <a:off x="628650" y="3370957"/>
            <a:ext cx="80962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The last line is the whole point: a variant hands you a configuration section, so you bind it like anything else in this talk.</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4739432" y="468511"/>
            <a:ext cx="486817" cy="466725"/>
          </a:xfrm>
          <a:prstGeom prst="roundRect">
            <a:avLst>
              <a:gd name="adj" fmla="val 8163"/>
            </a:avLst>
          </a:prstGeom>
          <a:solidFill>
            <a:srgbClr val="F5F5F5"/>
          </a:solidFill>
          <a:ln/>
        </p:spPr>
      </p:sp>
      <p:sp>
        <p:nvSpPr>
          <p:cNvPr id="4" name="Text 2"/>
          <p:cNvSpPr txBox="1"/>
          <p:nvPr/>
        </p:nvSpPr>
        <p:spPr>
          <a:xfrm>
            <a:off x="457200" y="439936"/>
            <a:ext cx="8575369"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Every flag is a permanent </a:t>
            </a:r>
            <a:pPr algn="l" indent="0" marL="0">
              <a:lnSpc>
                <a:spcPts val="3101"/>
              </a:lnSpc>
              <a:buNone/>
            </a:pPr>
            <a:r>
              <a:rPr lang="en-US" sz="2538" spc="-56" kern="0" dirty="0">
                <a:solidFill>
                  <a:srgbClr val="16303F"/>
                </a:solidFill>
                <a:latin typeface="JetBrains Mono" pitchFamily="34" charset="0"/>
                <a:ea typeface="JetBrains Mono" pitchFamily="34" charset="-122"/>
                <a:cs typeface="JetBrains Mono" pitchFamily="34" charset="-120"/>
              </a:rPr>
              <a:t>if</a:t>
            </a:r>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 with an owner and an expiry</a:t>
            </a:r>
            <a:endParaRPr lang="en-US" sz="2820" dirty="0"/>
          </a:p>
        </p:txBody>
      </p:sp>
      <p:sp>
        <p:nvSpPr>
          <p:cNvPr id="5" name="Shape 3"/>
          <p:cNvSpPr/>
          <p:nvPr/>
        </p:nvSpPr>
        <p:spPr>
          <a:xfrm>
            <a:off x="457200" y="1780729"/>
            <a:ext cx="8420100" cy="9525"/>
          </a:xfrm>
          <a:prstGeom prst="rect">
            <a:avLst/>
          </a:prstGeom>
          <a:solidFill>
            <a:srgbClr val="9CA3AF">
              <a:alpha val="20000"/>
            </a:srgbClr>
          </a:solidFill>
          <a:ln/>
        </p:spPr>
      </p:sp>
      <p:sp>
        <p:nvSpPr>
          <p:cNvPr id="6" name="Shape 4"/>
          <p:cNvSpPr/>
          <p:nvPr/>
        </p:nvSpPr>
        <p:spPr>
          <a:xfrm>
            <a:off x="457200" y="1771204"/>
            <a:ext cx="2051149" cy="19050"/>
          </a:xfrm>
          <a:prstGeom prst="rect">
            <a:avLst/>
          </a:prstGeom>
          <a:solidFill>
            <a:srgbClr val="16303F"/>
          </a:solidFill>
          <a:ln/>
        </p:spPr>
      </p:sp>
      <p:sp>
        <p:nvSpPr>
          <p:cNvPr id="7" name="Text 5"/>
          <p:cNvSpPr txBox="1"/>
          <p:nvPr/>
        </p:nvSpPr>
        <p:spPr>
          <a:xfrm>
            <a:off x="563761" y="1556891"/>
            <a:ext cx="40451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KIND</a:t>
            </a:r>
            <a:endParaRPr lang="en-US" sz="816" dirty="0"/>
          </a:p>
        </p:txBody>
      </p:sp>
      <p:sp>
        <p:nvSpPr>
          <p:cNvPr id="8" name="Shape 6"/>
          <p:cNvSpPr/>
          <p:nvPr/>
        </p:nvSpPr>
        <p:spPr>
          <a:xfrm>
            <a:off x="2508349" y="1771204"/>
            <a:ext cx="1810494" cy="19050"/>
          </a:xfrm>
          <a:prstGeom prst="rect">
            <a:avLst/>
          </a:prstGeom>
          <a:solidFill>
            <a:srgbClr val="16303F"/>
          </a:solidFill>
          <a:ln/>
        </p:spPr>
      </p:sp>
      <p:sp>
        <p:nvSpPr>
          <p:cNvPr id="9" name="Text 7"/>
          <p:cNvSpPr txBox="1"/>
          <p:nvPr/>
        </p:nvSpPr>
        <p:spPr>
          <a:xfrm>
            <a:off x="2614910" y="1556891"/>
            <a:ext cx="71631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LIVES FOR</a:t>
            </a:r>
            <a:endParaRPr lang="en-US" sz="816" dirty="0"/>
          </a:p>
        </p:txBody>
      </p:sp>
      <p:sp>
        <p:nvSpPr>
          <p:cNvPr id="10" name="Shape 8"/>
          <p:cNvSpPr/>
          <p:nvPr/>
        </p:nvSpPr>
        <p:spPr>
          <a:xfrm>
            <a:off x="4318843" y="1771204"/>
            <a:ext cx="4558457" cy="19050"/>
          </a:xfrm>
          <a:prstGeom prst="rect">
            <a:avLst/>
          </a:prstGeom>
          <a:solidFill>
            <a:srgbClr val="16303F"/>
          </a:solidFill>
          <a:ln/>
        </p:spPr>
      </p:sp>
      <p:sp>
        <p:nvSpPr>
          <p:cNvPr id="11" name="Text 9"/>
          <p:cNvSpPr txBox="1"/>
          <p:nvPr/>
        </p:nvSpPr>
        <p:spPr>
          <a:xfrm>
            <a:off x="4425404" y="1556891"/>
            <a:ext cx="43175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THEN</a:t>
            </a:r>
            <a:endParaRPr lang="en-US" sz="816" dirty="0"/>
          </a:p>
        </p:txBody>
      </p:sp>
      <p:sp>
        <p:nvSpPr>
          <p:cNvPr id="12" name="Shape 10"/>
          <p:cNvSpPr/>
          <p:nvPr/>
        </p:nvSpPr>
        <p:spPr>
          <a:xfrm>
            <a:off x="457200" y="2124075"/>
            <a:ext cx="8420100" cy="9525"/>
          </a:xfrm>
          <a:prstGeom prst="rect">
            <a:avLst/>
          </a:prstGeom>
          <a:solidFill>
            <a:srgbClr val="9CA3AF">
              <a:alpha val="20000"/>
            </a:srgbClr>
          </a:solidFill>
          <a:ln/>
        </p:spPr>
      </p:sp>
      <p:sp>
        <p:nvSpPr>
          <p:cNvPr id="13" name="Shape 11"/>
          <p:cNvSpPr/>
          <p:nvPr/>
        </p:nvSpPr>
        <p:spPr>
          <a:xfrm>
            <a:off x="457200" y="2124075"/>
            <a:ext cx="2051149" cy="9525"/>
          </a:xfrm>
          <a:prstGeom prst="rect">
            <a:avLst/>
          </a:prstGeom>
          <a:solidFill>
            <a:srgbClr val="DDD9D2"/>
          </a:solidFill>
          <a:ln/>
        </p:spPr>
      </p:sp>
      <p:sp>
        <p:nvSpPr>
          <p:cNvPr id="14" name="Text 12"/>
          <p:cNvSpPr txBox="1"/>
          <p:nvPr/>
        </p:nvSpPr>
        <p:spPr>
          <a:xfrm>
            <a:off x="563761" y="1873300"/>
            <a:ext cx="60275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release</a:t>
            </a:r>
            <a:endParaRPr lang="en-US" sz="1056" dirty="0"/>
          </a:p>
        </p:txBody>
      </p:sp>
      <p:sp>
        <p:nvSpPr>
          <p:cNvPr id="15" name="Shape 13"/>
          <p:cNvSpPr/>
          <p:nvPr/>
        </p:nvSpPr>
        <p:spPr>
          <a:xfrm>
            <a:off x="2508349" y="2124075"/>
            <a:ext cx="1810494" cy="9525"/>
          </a:xfrm>
          <a:prstGeom prst="rect">
            <a:avLst/>
          </a:prstGeom>
          <a:solidFill>
            <a:srgbClr val="DDD9D2"/>
          </a:solidFill>
          <a:ln/>
        </p:spPr>
      </p:sp>
      <p:sp>
        <p:nvSpPr>
          <p:cNvPr id="16" name="Text 14"/>
          <p:cNvSpPr txBox="1"/>
          <p:nvPr/>
        </p:nvSpPr>
        <p:spPr>
          <a:xfrm>
            <a:off x="2614910" y="1873300"/>
            <a:ext cx="98211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days to weeks</a:t>
            </a:r>
            <a:endParaRPr lang="en-US" sz="1056" dirty="0"/>
          </a:p>
        </p:txBody>
      </p:sp>
      <p:sp>
        <p:nvSpPr>
          <p:cNvPr id="17" name="Shape 15"/>
          <p:cNvSpPr/>
          <p:nvPr/>
        </p:nvSpPr>
        <p:spPr>
          <a:xfrm>
            <a:off x="4318843" y="2124075"/>
            <a:ext cx="4558457" cy="9525"/>
          </a:xfrm>
          <a:prstGeom prst="rect">
            <a:avLst/>
          </a:prstGeom>
          <a:solidFill>
            <a:srgbClr val="DDD9D2"/>
          </a:solidFill>
          <a:ln/>
        </p:spPr>
      </p:sp>
      <p:sp>
        <p:nvSpPr>
          <p:cNvPr id="18" name="Text 16"/>
          <p:cNvSpPr txBox="1"/>
          <p:nvPr/>
        </p:nvSpPr>
        <p:spPr>
          <a:xfrm>
            <a:off x="4425404" y="1873300"/>
            <a:ext cx="126652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rollout</a:t>
            </a:r>
            <a:endParaRPr lang="en-US" sz="1056" dirty="0"/>
          </a:p>
        </p:txBody>
      </p:sp>
      <p:sp>
        <p:nvSpPr>
          <p:cNvPr id="19" name="Shape 17"/>
          <p:cNvSpPr/>
          <p:nvPr/>
        </p:nvSpPr>
        <p:spPr>
          <a:xfrm>
            <a:off x="457200" y="2133600"/>
            <a:ext cx="8420100" cy="338584"/>
          </a:xfrm>
          <a:prstGeom prst="rect">
            <a:avLst/>
          </a:prstGeom>
          <a:solidFill>
            <a:srgbClr val="16303F">
              <a:alpha val="3000"/>
            </a:srgbClr>
          </a:solidFill>
          <a:ln/>
        </p:spPr>
      </p:sp>
      <p:sp>
        <p:nvSpPr>
          <p:cNvPr id="20" name="Shape 18"/>
          <p:cNvSpPr/>
          <p:nvPr/>
        </p:nvSpPr>
        <p:spPr>
          <a:xfrm>
            <a:off x="457200" y="2462659"/>
            <a:ext cx="8420100" cy="9525"/>
          </a:xfrm>
          <a:prstGeom prst="rect">
            <a:avLst/>
          </a:prstGeom>
          <a:solidFill>
            <a:srgbClr val="9CA3AF">
              <a:alpha val="20000"/>
            </a:srgbClr>
          </a:solidFill>
          <a:ln/>
        </p:spPr>
      </p:sp>
      <p:sp>
        <p:nvSpPr>
          <p:cNvPr id="21" name="Shape 19"/>
          <p:cNvSpPr/>
          <p:nvPr/>
        </p:nvSpPr>
        <p:spPr>
          <a:xfrm>
            <a:off x="457200" y="2462659"/>
            <a:ext cx="2051149" cy="9525"/>
          </a:xfrm>
          <a:prstGeom prst="rect">
            <a:avLst/>
          </a:prstGeom>
          <a:solidFill>
            <a:srgbClr val="DDD9D2"/>
          </a:solidFill>
          <a:ln/>
        </p:spPr>
      </p:sp>
      <p:sp>
        <p:nvSpPr>
          <p:cNvPr id="22" name="Text 20"/>
          <p:cNvSpPr txBox="1"/>
          <p:nvPr/>
        </p:nvSpPr>
        <p:spPr>
          <a:xfrm>
            <a:off x="563761" y="2211884"/>
            <a:ext cx="87481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experiment</a:t>
            </a:r>
            <a:endParaRPr lang="en-US" sz="1056" dirty="0"/>
          </a:p>
        </p:txBody>
      </p:sp>
      <p:sp>
        <p:nvSpPr>
          <p:cNvPr id="23" name="Shape 21"/>
          <p:cNvSpPr/>
          <p:nvPr/>
        </p:nvSpPr>
        <p:spPr>
          <a:xfrm>
            <a:off x="2508349" y="2462659"/>
            <a:ext cx="1810494" cy="9525"/>
          </a:xfrm>
          <a:prstGeom prst="rect">
            <a:avLst/>
          </a:prstGeom>
          <a:solidFill>
            <a:srgbClr val="DDD9D2"/>
          </a:solidFill>
          <a:ln/>
        </p:spPr>
      </p:sp>
      <p:sp>
        <p:nvSpPr>
          <p:cNvPr id="24" name="Text 22"/>
          <p:cNvSpPr txBox="1"/>
          <p:nvPr/>
        </p:nvSpPr>
        <p:spPr>
          <a:xfrm>
            <a:off x="2614910" y="2211884"/>
            <a:ext cx="507057"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weeks</a:t>
            </a:r>
            <a:endParaRPr lang="en-US" sz="1056" dirty="0"/>
          </a:p>
        </p:txBody>
      </p:sp>
      <p:sp>
        <p:nvSpPr>
          <p:cNvPr id="25" name="Shape 23"/>
          <p:cNvSpPr/>
          <p:nvPr/>
        </p:nvSpPr>
        <p:spPr>
          <a:xfrm>
            <a:off x="4318843" y="2462659"/>
            <a:ext cx="4558457" cy="9525"/>
          </a:xfrm>
          <a:prstGeom prst="rect">
            <a:avLst/>
          </a:prstGeom>
          <a:solidFill>
            <a:srgbClr val="DDD9D2"/>
          </a:solidFill>
          <a:ln/>
        </p:spPr>
      </p:sp>
      <p:sp>
        <p:nvSpPr>
          <p:cNvPr id="26" name="Text 24"/>
          <p:cNvSpPr txBox="1"/>
          <p:nvPr/>
        </p:nvSpPr>
        <p:spPr>
          <a:xfrm>
            <a:off x="4425404" y="2211884"/>
            <a:ext cx="162550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delete after the decision</a:t>
            </a:r>
            <a:endParaRPr lang="en-US" sz="1056" dirty="0"/>
          </a:p>
        </p:txBody>
      </p:sp>
      <p:sp>
        <p:nvSpPr>
          <p:cNvPr id="27" name="Shape 25"/>
          <p:cNvSpPr/>
          <p:nvPr/>
        </p:nvSpPr>
        <p:spPr>
          <a:xfrm>
            <a:off x="457200" y="2801243"/>
            <a:ext cx="8420100" cy="9525"/>
          </a:xfrm>
          <a:prstGeom prst="rect">
            <a:avLst/>
          </a:prstGeom>
          <a:solidFill>
            <a:srgbClr val="9CA3AF">
              <a:alpha val="20000"/>
            </a:srgbClr>
          </a:solidFill>
          <a:ln/>
        </p:spPr>
      </p:sp>
      <p:sp>
        <p:nvSpPr>
          <p:cNvPr id="28" name="Shape 26"/>
          <p:cNvSpPr/>
          <p:nvPr/>
        </p:nvSpPr>
        <p:spPr>
          <a:xfrm>
            <a:off x="457200" y="2801243"/>
            <a:ext cx="2051149" cy="9525"/>
          </a:xfrm>
          <a:prstGeom prst="rect">
            <a:avLst/>
          </a:prstGeom>
          <a:solidFill>
            <a:srgbClr val="DDD9D2"/>
          </a:solidFill>
          <a:ln/>
        </p:spPr>
      </p:sp>
      <p:sp>
        <p:nvSpPr>
          <p:cNvPr id="29" name="Text 27"/>
          <p:cNvSpPr txBox="1"/>
          <p:nvPr/>
        </p:nvSpPr>
        <p:spPr>
          <a:xfrm>
            <a:off x="563761" y="2550468"/>
            <a:ext cx="11257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ops / kill switch</a:t>
            </a:r>
            <a:endParaRPr lang="en-US" sz="1056" dirty="0"/>
          </a:p>
        </p:txBody>
      </p:sp>
      <p:sp>
        <p:nvSpPr>
          <p:cNvPr id="30" name="Shape 28"/>
          <p:cNvSpPr/>
          <p:nvPr/>
        </p:nvSpPr>
        <p:spPr>
          <a:xfrm>
            <a:off x="2508349" y="2801243"/>
            <a:ext cx="1810494" cy="9525"/>
          </a:xfrm>
          <a:prstGeom prst="rect">
            <a:avLst/>
          </a:prstGeom>
          <a:solidFill>
            <a:srgbClr val="DDD9D2"/>
          </a:solidFill>
          <a:ln/>
        </p:spPr>
      </p:sp>
      <p:sp>
        <p:nvSpPr>
          <p:cNvPr id="31" name="Text 29"/>
          <p:cNvSpPr txBox="1"/>
          <p:nvPr/>
        </p:nvSpPr>
        <p:spPr>
          <a:xfrm>
            <a:off x="2614910" y="2550468"/>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32" name="Shape 30"/>
          <p:cNvSpPr/>
          <p:nvPr/>
        </p:nvSpPr>
        <p:spPr>
          <a:xfrm>
            <a:off x="4318843" y="2801243"/>
            <a:ext cx="4558457" cy="9525"/>
          </a:xfrm>
          <a:prstGeom prst="rect">
            <a:avLst/>
          </a:prstGeom>
          <a:solidFill>
            <a:srgbClr val="DDD9D2"/>
          </a:solidFill>
          <a:ln/>
        </p:spPr>
      </p:sp>
      <p:sp>
        <p:nvSpPr>
          <p:cNvPr id="33" name="Text 31"/>
          <p:cNvSpPr txBox="1"/>
          <p:nvPr/>
        </p:nvSpPr>
        <p:spPr>
          <a:xfrm>
            <a:off x="4425404" y="2550468"/>
            <a:ext cx="9906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and that’s fine</a:t>
            </a:r>
            <a:endParaRPr lang="en-US" sz="1056" dirty="0"/>
          </a:p>
        </p:txBody>
      </p:sp>
      <p:sp>
        <p:nvSpPr>
          <p:cNvPr id="34" name="Shape 32"/>
          <p:cNvSpPr/>
          <p:nvPr/>
        </p:nvSpPr>
        <p:spPr>
          <a:xfrm>
            <a:off x="457200" y="2810768"/>
            <a:ext cx="8420100" cy="338584"/>
          </a:xfrm>
          <a:prstGeom prst="rect">
            <a:avLst/>
          </a:prstGeom>
          <a:solidFill>
            <a:srgbClr val="16303F">
              <a:alpha val="3000"/>
            </a:srgbClr>
          </a:solidFill>
          <a:ln/>
        </p:spPr>
      </p:sp>
      <p:sp>
        <p:nvSpPr>
          <p:cNvPr id="35" name="Shape 33"/>
          <p:cNvSpPr/>
          <p:nvPr/>
        </p:nvSpPr>
        <p:spPr>
          <a:xfrm>
            <a:off x="457200" y="3139827"/>
            <a:ext cx="8420100" cy="9525"/>
          </a:xfrm>
          <a:prstGeom prst="rect">
            <a:avLst/>
          </a:prstGeom>
          <a:solidFill>
            <a:srgbClr val="9CA3AF">
              <a:alpha val="20000"/>
            </a:srgbClr>
          </a:solidFill>
          <a:ln/>
        </p:spPr>
      </p:sp>
      <p:sp>
        <p:nvSpPr>
          <p:cNvPr id="36" name="Shape 34"/>
          <p:cNvSpPr/>
          <p:nvPr/>
        </p:nvSpPr>
        <p:spPr>
          <a:xfrm>
            <a:off x="457200" y="3139827"/>
            <a:ext cx="2051149" cy="9525"/>
          </a:xfrm>
          <a:prstGeom prst="rect">
            <a:avLst/>
          </a:prstGeom>
          <a:solidFill>
            <a:srgbClr val="DDD9D2"/>
          </a:solidFill>
          <a:ln/>
        </p:spPr>
      </p:sp>
      <p:sp>
        <p:nvSpPr>
          <p:cNvPr id="37" name="Text 35"/>
          <p:cNvSpPr txBox="1"/>
          <p:nvPr/>
        </p:nvSpPr>
        <p:spPr>
          <a:xfrm>
            <a:off x="563761" y="2889052"/>
            <a:ext cx="853232"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permission</a:t>
            </a:r>
            <a:endParaRPr lang="en-US" sz="1056" dirty="0"/>
          </a:p>
        </p:txBody>
      </p:sp>
      <p:sp>
        <p:nvSpPr>
          <p:cNvPr id="38" name="Shape 36"/>
          <p:cNvSpPr/>
          <p:nvPr/>
        </p:nvSpPr>
        <p:spPr>
          <a:xfrm>
            <a:off x="2508349" y="3139827"/>
            <a:ext cx="1810494" cy="9525"/>
          </a:xfrm>
          <a:prstGeom prst="rect">
            <a:avLst/>
          </a:prstGeom>
          <a:solidFill>
            <a:srgbClr val="DDD9D2"/>
          </a:solidFill>
          <a:ln/>
        </p:spPr>
      </p:sp>
      <p:sp>
        <p:nvSpPr>
          <p:cNvPr id="39" name="Text 37"/>
          <p:cNvSpPr txBox="1"/>
          <p:nvPr/>
        </p:nvSpPr>
        <p:spPr>
          <a:xfrm>
            <a:off x="2614910" y="2889052"/>
            <a:ext cx="79771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permanent</a:t>
            </a:r>
            <a:endParaRPr lang="en-US" sz="1056" dirty="0"/>
          </a:p>
        </p:txBody>
      </p:sp>
      <p:sp>
        <p:nvSpPr>
          <p:cNvPr id="40" name="Shape 38"/>
          <p:cNvSpPr/>
          <p:nvPr/>
        </p:nvSpPr>
        <p:spPr>
          <a:xfrm>
            <a:off x="4318843" y="3139827"/>
            <a:ext cx="4558457" cy="9525"/>
          </a:xfrm>
          <a:prstGeom prst="rect">
            <a:avLst/>
          </a:prstGeom>
          <a:solidFill>
            <a:srgbClr val="DDD9D2"/>
          </a:solidFill>
          <a:ln/>
        </p:spPr>
      </p:sp>
      <p:sp>
        <p:nvSpPr>
          <p:cNvPr id="41" name="Text 39"/>
          <p:cNvSpPr txBox="1"/>
          <p:nvPr/>
        </p:nvSpPr>
        <p:spPr>
          <a:xfrm>
            <a:off x="4425404" y="2889052"/>
            <a:ext cx="262250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arguably not a flag — that’s authorization</a:t>
            </a:r>
            <a:endParaRPr lang="en-US" sz="1056" dirty="0"/>
          </a:p>
        </p:txBody>
      </p:sp>
      <p:sp>
        <p:nvSpPr>
          <p:cNvPr id="42" name="Shape 40"/>
          <p:cNvSpPr/>
          <p:nvPr/>
        </p:nvSpPr>
        <p:spPr>
          <a:xfrm>
            <a:off x="457200" y="3314105"/>
            <a:ext cx="38100" cy="533400"/>
          </a:xfrm>
          <a:prstGeom prst="rect">
            <a:avLst/>
          </a:prstGeom>
          <a:solidFill>
            <a:srgbClr val="F4C233"/>
          </a:solidFill>
          <a:ln/>
        </p:spPr>
      </p:sp>
      <p:sp>
        <p:nvSpPr>
          <p:cNvPr id="43" name="Shape 41"/>
          <p:cNvSpPr/>
          <p:nvPr/>
        </p:nvSpPr>
        <p:spPr>
          <a:xfrm>
            <a:off x="617190" y="3484215"/>
            <a:ext cx="998488" cy="202704"/>
          </a:xfrm>
          <a:prstGeom prst="roundRect">
            <a:avLst>
              <a:gd name="adj" fmla="val 18796"/>
            </a:avLst>
          </a:prstGeom>
          <a:solidFill>
            <a:srgbClr val="16303F">
              <a:alpha val="7000"/>
            </a:srgbClr>
          </a:solidFill>
          <a:ln/>
        </p:spPr>
      </p:sp>
      <p:sp>
        <p:nvSpPr>
          <p:cNvPr id="44" name="Shape 42"/>
          <p:cNvSpPr/>
          <p:nvPr/>
        </p:nvSpPr>
        <p:spPr>
          <a:xfrm>
            <a:off x="3125837" y="3484215"/>
            <a:ext cx="2232868" cy="202704"/>
          </a:xfrm>
          <a:prstGeom prst="roundRect">
            <a:avLst>
              <a:gd name="adj" fmla="val 18796"/>
            </a:avLst>
          </a:prstGeom>
          <a:solidFill>
            <a:srgbClr val="16303F">
              <a:alpha val="7000"/>
            </a:srgbClr>
          </a:solidFill>
          <a:ln/>
        </p:spPr>
      </p:sp>
      <p:sp>
        <p:nvSpPr>
          <p:cNvPr id="45" name="Text 43"/>
          <p:cNvSpPr txBox="1"/>
          <p:nvPr/>
        </p:nvSpPr>
        <p:spPr>
          <a:xfrm>
            <a:off x="663773" y="3476030"/>
            <a:ext cx="6267004" cy="209550"/>
          </a:xfrm>
          <a:prstGeom prst="rect">
            <a:avLst/>
          </a:prstGeom>
          <a:noFill/>
          <a:ln/>
        </p:spPr>
        <p:txBody>
          <a:bodyPr wrap="none" lIns="0" tIns="0" rIns="0" bIns="0" rtlCol="0" anchor="t"/>
          <a:lstStyle/>
          <a:p>
            <a:pPr algn="l" indent="0" marL="0">
              <a:buNone/>
            </a:pPr>
            <a:r>
              <a:rPr lang="en-US" sz="1080" dirty="0">
                <a:solidFill>
                  <a:srgbClr val="16303F"/>
                </a:solidFill>
                <a:latin typeface="JetBrains Mono" pitchFamily="34" charset="0"/>
                <a:ea typeface="JetBrains Mono" pitchFamily="34" charset="-122"/>
                <a:cs typeface="JetBrains Mono" pitchFamily="34" charset="-120"/>
              </a:rPr>
              <a:t>NewCheckout</a:t>
            </a:r>
            <a:pPr algn="l" indent="0" marL="0">
              <a:buNone/>
            </a:pPr>
            <a:r>
              <a:rPr lang="en-US" sz="1200" b="1" dirty="0">
                <a:solidFill>
                  <a:srgbClr val="16303F"/>
                </a:solidFill>
                <a:latin typeface="Manrope" pitchFamily="34" charset="0"/>
                <a:ea typeface="Manrope" pitchFamily="34" charset="-122"/>
                <a:cs typeface="Manrope" pitchFamily="34" charset="-120"/>
              </a:rPr>
              <a:t> never gets deleted. </a:t>
            </a:r>
            <a:pPr algn="l" indent="0" marL="0">
              <a:buNone/>
            </a:pPr>
            <a:r>
              <a:rPr lang="en-US" sz="1080" dirty="0">
                <a:solidFill>
                  <a:srgbClr val="16303F"/>
                </a:solidFill>
                <a:latin typeface="JetBrains Mono" pitchFamily="34" charset="0"/>
                <a:ea typeface="JetBrains Mono" pitchFamily="34" charset="-122"/>
                <a:cs typeface="JetBrains Mono" pitchFamily="34" charset="-120"/>
              </a:rPr>
              <a:t>Checkout_V2_Rollout_2026Q1</a:t>
            </a:r>
            <a:pPr algn="l" indent="0" marL="0">
              <a:buNone/>
            </a:pPr>
            <a:r>
              <a:rPr lang="en-US" sz="1200" b="1" dirty="0">
                <a:solidFill>
                  <a:srgbClr val="16303F"/>
                </a:solidFill>
                <a:latin typeface="Manrope" pitchFamily="34" charset="0"/>
                <a:ea typeface="Manrope" pitchFamily="34" charset="-122"/>
                <a:cs typeface="Manrope" pitchFamily="34" charset="-120"/>
              </a:rPr>
              <a:t> files its own expiry.</a:t>
            </a:r>
            <a:endParaRPr lang="en-US" sz="108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8439150" cy="879574"/>
          </a:xfrm>
          <a:prstGeom prst="rect">
            <a:avLst/>
          </a:prstGeom>
          <a:noFill/>
          <a:ln/>
        </p:spPr>
        <p:txBody>
          <a:bodyPr wrap="square" lIns="0" tIns="0" rIns="0" bIns="0" rtlCol="0" anchor="t"/>
          <a:lstStyle/>
          <a:p>
            <a:pPr algn="l" indent="0" marL="0">
              <a:lnSpc>
                <a:spcPts val="3101"/>
              </a:lnSpc>
              <a:buNone/>
            </a:pPr>
            <a:r>
              <a:rPr lang="en-US" sz="2820" b="1" spc="-56" kern="0" dirty="0">
                <a:solidFill>
                  <a:srgbClr val="16303F"/>
                </a:solidFill>
                <a:latin typeface="Manrope" pitchFamily="34" charset="0"/>
                <a:ea typeface="Manrope" pitchFamily="34" charset="-122"/>
                <a:cs typeface="Manrope" pitchFamily="34" charset="-120"/>
              </a:rPr>
              <a:t>Deleting a flag is a code change, not a config change</a:t>
            </a:r>
            <a:endParaRPr lang="en-US" sz="2820" dirty="0"/>
          </a:p>
        </p:txBody>
      </p:sp>
      <p:sp>
        <p:nvSpPr>
          <p:cNvPr id="4" name="Shape 2"/>
          <p:cNvSpPr/>
          <p:nvPr/>
        </p:nvSpPr>
        <p:spPr>
          <a:xfrm>
            <a:off x="457200" y="1480840"/>
            <a:ext cx="8420100" cy="2081212"/>
          </a:xfrm>
          <a:prstGeom prst="roundRect">
            <a:avLst>
              <a:gd name="adj" fmla="val 1831"/>
            </a:avLst>
          </a:prstGeom>
          <a:solidFill>
            <a:srgbClr val="011627"/>
          </a:solidFill>
          <a:ln/>
        </p:spPr>
      </p:sp>
      <p:sp>
        <p:nvSpPr>
          <p:cNvPr id="5" name="Text 3"/>
          <p:cNvSpPr txBox="1"/>
          <p:nvPr/>
        </p:nvSpPr>
        <p:spPr>
          <a:xfrm>
            <a:off x="533400" y="1566565"/>
            <a:ext cx="8286750" cy="1905000"/>
          </a:xfrm>
          <a:prstGeom prst="rect">
            <a:avLst/>
          </a:prstGeom>
          <a:noFill/>
          <a:ln/>
        </p:spPr>
        <p:txBody>
          <a:bodyPr wrap="square" lIns="0" tIns="0" rIns="0" bIns="0" rtlCol="0" anchor="t"/>
          <a:lstStyle/>
          <a:p>
            <a:pPr algn="l" indent="0" marL="0">
              <a:lnSpc>
                <a:spcPts val="1688"/>
              </a:lnSpc>
              <a:buNone/>
            </a:pPr>
            <a:r>
              <a:rPr lang="en-US" sz="1125" dirty="0">
                <a:solidFill>
                  <a:srgbClr val="637777"/>
                </a:solidFill>
                <a:latin typeface="JetBrains Mono" pitchFamily="34" charset="0"/>
                <a:ea typeface="JetBrains Mono" pitchFamily="34" charset="-122"/>
                <a:cs typeface="JetBrains Mono" pitchFamily="34" charset="-120"/>
              </a:rPr>
              <a:t>// internal diagnostics - authorize it; this leaks operational state</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app</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MapGet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ECC48D"/>
                </a:solidFill>
                <a:latin typeface="JetBrains Mono" pitchFamily="34" charset="0"/>
                <a:ea typeface="JetBrains Mono" pitchFamily="34" charset="-122"/>
                <a:cs typeface="JetBrains Mono" pitchFamily="34" charset="-120"/>
              </a:rPr>
              <a:t>/flags</a:t>
            </a:r>
            <a:pPr algn="l" indent="0" marL="0">
              <a:lnSpc>
                <a:spcPts val="1688"/>
              </a:lnSpc>
              <a:buNone/>
            </a:pPr>
            <a:r>
              <a:rPr lang="en-US" sz="1125" dirty="0">
                <a:solidFill>
                  <a:srgbClr val="D9F5DD"/>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(IVariantFeatureManager features, CancellationToken ct) </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=&gt;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List&lt;FlagRecord&gt; inventory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 foreach</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string</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name </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in</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GetFeatureNamesAsync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(ct))</a:t>
            </a:r>
            <a:b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inventory</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Add</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new</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FlagRecord(name,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Category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Owner</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Expiry</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a:t>
            </a:r>
            <a:br/>
            <a:pPr algn="l" indent="0" marL="0">
              <a:lnSpc>
                <a:spcPts val="1688"/>
              </a:lnSpc>
              <a:buNone/>
            </a:pPr>
            <a:r>
              <a:rPr lang="en-US" sz="1125" dirty="0">
                <a:solidFill>
                  <a:srgbClr val="7FDBCA"/>
                </a:solidFill>
                <a:latin typeface="JetBrains Mono" pitchFamily="34" charset="0"/>
                <a:ea typeface="JetBrains Mono" pitchFamily="34" charset="-122"/>
                <a:cs typeface="JetBrains Mono" pitchFamily="34" charset="-120"/>
              </a:rPr>
              <a:t>await</a:t>
            </a:r>
            <a:pPr algn="l" indent="0" marL="0">
              <a:lnSpc>
                <a:spcPts val="1688"/>
              </a:lnSpc>
              <a:buNone/>
            </a:pPr>
            <a:r>
              <a:rPr lang="en-US" sz="1125" dirty="0">
                <a:solidFill>
                  <a:srgbClr val="B2CCD6"/>
                </a:solidFill>
                <a:latin typeface="JetBrains Mono" pitchFamily="34" charset="0"/>
                <a:ea typeface="JetBrains Mono" pitchFamily="34" charset="-122"/>
                <a:cs typeface="JetBrains Mono" pitchFamily="34" charset="-120"/>
              </a:rPr>
              <a:t> features</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IsEnabledAsync</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(name, ct)));</a:t>
            </a:r>
            <a:b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return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inventory;</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C792EA"/>
                </a:solidFill>
                <a:latin typeface="JetBrains Mono" pitchFamily="34" charset="0"/>
                <a:ea typeface="JetBrains Mono" pitchFamily="34" charset="-122"/>
                <a:cs typeface="JetBrains Mono" pitchFamily="34" charset="-120"/>
              </a:rPr>
              <a:t>.</a:t>
            </a:r>
            <a:pPr algn="l" indent="0" marL="0">
              <a:lnSpc>
                <a:spcPts val="1688"/>
              </a:lnSpc>
              <a:buNone/>
            </a:pPr>
            <a:r>
              <a:rPr lang="en-US" sz="1125" dirty="0">
                <a:solidFill>
                  <a:srgbClr val="82AAFF"/>
                </a:solidFill>
                <a:latin typeface="JetBrains Mono" pitchFamily="34" charset="0"/>
                <a:ea typeface="JetBrains Mono" pitchFamily="34" charset="-122"/>
                <a:cs typeface="JetBrains Mono" pitchFamily="34" charset="-120"/>
              </a:rPr>
              <a:t>RequireAuthorization</a:t>
            </a: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a:t>
            </a:r>
            <a:endParaRPr lang="en-US" sz="1125" dirty="0"/>
          </a:p>
        </p:txBody>
      </p:sp>
      <p:sp>
        <p:nvSpPr>
          <p:cNvPr id="6" name="Text 4"/>
          <p:cNvSpPr txBox="1"/>
          <p:nvPr/>
        </p:nvSpPr>
        <p:spPr>
          <a:xfrm>
            <a:off x="457200" y="3876377"/>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Turning it off in the portal leaves the dead branch compiling forever.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Ten live flags is up to 1,024 nominal combinations. You test three.</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685800" y="1728192"/>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Flags convert a deployment problem into a runtime problem.</a:t>
            </a:r>
            <a:endParaRPr lang="en-US" sz="2520" dirty="0"/>
          </a:p>
        </p:txBody>
      </p:sp>
      <p:sp>
        <p:nvSpPr>
          <p:cNvPr id="4" name="Text 2"/>
          <p:cNvSpPr txBox="1"/>
          <p:nvPr/>
        </p:nvSpPr>
        <p:spPr>
          <a:xfrm>
            <a:off x="685800" y="2600325"/>
            <a:ext cx="7029450" cy="828526"/>
          </a:xfrm>
          <a:prstGeom prst="rect">
            <a:avLst/>
          </a:prstGeom>
          <a:noFill/>
          <a:ln/>
        </p:spPr>
        <p:txBody>
          <a:bodyPr wrap="square" lIns="0" tIns="0" rIns="0" bIns="0" rtlCol="0" anchor="t"/>
          <a:lstStyle/>
          <a:p>
            <a:pPr algn="l" indent="0" marL="0">
              <a:lnSpc>
                <a:spcPts val="3074"/>
              </a:lnSpc>
              <a:buNone/>
            </a:pPr>
            <a:r>
              <a:rPr lang="en-US" sz="2520" b="1" spc="-50" kern="0" dirty="0">
                <a:solidFill>
                  <a:srgbClr val="16303F"/>
                </a:solidFill>
                <a:latin typeface="Manrope" pitchFamily="34" charset="0"/>
                <a:ea typeface="Manrope" pitchFamily="34" charset="-122"/>
                <a:cs typeface="Manrope" pitchFamily="34" charset="-120"/>
              </a:rPr>
              <a:t>You gain instant rollback. You lose </a:t>
            </a:r>
            <a:pPr algn="l" indent="0" marL="0">
              <a:lnSpc>
                <a:spcPts val="3074"/>
              </a:lnSpc>
              <a:buNone/>
            </a:pPr>
            <a:r>
              <a:rPr lang="en-US" sz="2520" b="1" i="1" spc="-50" kern="0" dirty="0">
                <a:solidFill>
                  <a:srgbClr val="16303F"/>
                </a:solidFill>
                <a:latin typeface="Manrope" pitchFamily="34" charset="0"/>
                <a:ea typeface="Manrope" pitchFamily="34" charset="-122"/>
                <a:cs typeface="Manrope" pitchFamily="34" charset="-120"/>
              </a:rPr>
              <a:t>"the code that ran is the code in the commit."</a:t>
            </a:r>
            <a:endParaRPr lang="en-US" sz="252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044452"/>
            <a:ext cx="3553123"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ACT 5 · WHERE SHOULD THIS VALUE LIVE?</a:t>
            </a:r>
            <a:endParaRPr lang="en-US" sz="936" dirty="0"/>
          </a:p>
        </p:txBody>
      </p:sp>
      <p:sp>
        <p:nvSpPr>
          <p:cNvPr id="4" name="Text 2"/>
          <p:cNvSpPr txBox="1"/>
          <p:nvPr/>
        </p:nvSpPr>
        <p:spPr>
          <a:xfrm>
            <a:off x="609600" y="2302669"/>
            <a:ext cx="7943850" cy="950565"/>
          </a:xfrm>
          <a:prstGeom prst="rect">
            <a:avLst/>
          </a:prstGeom>
          <a:noFill/>
          <a:ln/>
        </p:spPr>
        <p:txBody>
          <a:bodyPr wrap="square" lIns="0" tIns="0" rIns="0" bIns="0" rtlCol="0" anchor="t"/>
          <a:lstStyle/>
          <a:p>
            <a:pPr algn="l" indent="0" marL="0">
              <a:lnSpc>
                <a:spcPts val="3360"/>
              </a:lnSpc>
              <a:buNone/>
            </a:pPr>
            <a:r>
              <a:rPr lang="en-US" sz="3000" b="1" spc="-60" kern="0" dirty="0">
                <a:solidFill>
                  <a:srgbClr val="F7F6F3"/>
                </a:solidFill>
                <a:latin typeface="Manrope" pitchFamily="34" charset="0"/>
                <a:ea typeface="Manrope" pitchFamily="34" charset="-122"/>
                <a:cs typeface="Manrope" pitchFamily="34" charset="-120"/>
              </a:rPr>
              <a:t>Who owns it? Is it secret? Who needs it? How fast must it change?</a:t>
            </a:r>
            <a:endParaRPr lang="en-US" sz="3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335018"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Sort every setting into three buckets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2133302" cy="19050"/>
          </a:xfrm>
          <a:prstGeom prst="rect">
            <a:avLst/>
          </a:prstGeom>
          <a:solidFill>
            <a:srgbClr val="16303F"/>
          </a:solidFill>
          <a:ln/>
        </p:spPr>
      </p:sp>
      <p:sp>
        <p:nvSpPr>
          <p:cNvPr id="6" name="Shape 4"/>
          <p:cNvSpPr/>
          <p:nvPr/>
        </p:nvSpPr>
        <p:spPr>
          <a:xfrm>
            <a:off x="2590502" y="1377404"/>
            <a:ext cx="3063180" cy="19050"/>
          </a:xfrm>
          <a:prstGeom prst="rect">
            <a:avLst/>
          </a:prstGeom>
          <a:solidFill>
            <a:srgbClr val="16303F"/>
          </a:solidFill>
          <a:ln/>
        </p:spPr>
      </p:sp>
      <p:sp>
        <p:nvSpPr>
          <p:cNvPr id="7" name="Text 5"/>
          <p:cNvSpPr txBox="1"/>
          <p:nvPr/>
        </p:nvSpPr>
        <p:spPr>
          <a:xfrm>
            <a:off x="2697063" y="1163092"/>
            <a:ext cx="74205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EXAMPLES</a:t>
            </a:r>
            <a:endParaRPr lang="en-US" sz="816" dirty="0"/>
          </a:p>
        </p:txBody>
      </p:sp>
      <p:sp>
        <p:nvSpPr>
          <p:cNvPr id="8" name="Shape 6"/>
          <p:cNvSpPr/>
          <p:nvPr/>
        </p:nvSpPr>
        <p:spPr>
          <a:xfrm>
            <a:off x="5653683" y="1377404"/>
            <a:ext cx="3223617" cy="19050"/>
          </a:xfrm>
          <a:prstGeom prst="rect">
            <a:avLst/>
          </a:prstGeom>
          <a:solidFill>
            <a:srgbClr val="16303F"/>
          </a:solidFill>
          <a:ln/>
        </p:spPr>
      </p:sp>
      <p:sp>
        <p:nvSpPr>
          <p:cNvPr id="9" name="Text 7"/>
          <p:cNvSpPr txBox="1"/>
          <p:nvPr/>
        </p:nvSpPr>
        <p:spPr>
          <a:xfrm>
            <a:off x="5760244" y="1163092"/>
            <a:ext cx="1264295"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WHERE IT BELONGS</a:t>
            </a:r>
            <a:endParaRPr lang="en-US" sz="816" dirty="0"/>
          </a:p>
        </p:txBody>
      </p:sp>
      <p:sp>
        <p:nvSpPr>
          <p:cNvPr id="10" name="Shape 8"/>
          <p:cNvSpPr/>
          <p:nvPr/>
        </p:nvSpPr>
        <p:spPr>
          <a:xfrm>
            <a:off x="457200" y="1934319"/>
            <a:ext cx="8420100" cy="9525"/>
          </a:xfrm>
          <a:prstGeom prst="rect">
            <a:avLst/>
          </a:prstGeom>
          <a:solidFill>
            <a:srgbClr val="9CA3AF">
              <a:alpha val="20000"/>
            </a:srgbClr>
          </a:solidFill>
          <a:ln/>
        </p:spPr>
      </p:sp>
      <p:sp>
        <p:nvSpPr>
          <p:cNvPr id="11" name="Shape 9"/>
          <p:cNvSpPr/>
          <p:nvPr/>
        </p:nvSpPr>
        <p:spPr>
          <a:xfrm>
            <a:off x="457200" y="1934319"/>
            <a:ext cx="2133302" cy="9525"/>
          </a:xfrm>
          <a:prstGeom prst="rect">
            <a:avLst/>
          </a:prstGeom>
          <a:solidFill>
            <a:srgbClr val="DDD9D2"/>
          </a:solidFill>
          <a:ln/>
        </p:spPr>
      </p:sp>
      <p:sp>
        <p:nvSpPr>
          <p:cNvPr id="12" name="Text 10"/>
          <p:cNvSpPr txBox="1"/>
          <p:nvPr/>
        </p:nvSpPr>
        <p:spPr>
          <a:xfrm>
            <a:off x="563880" y="1479500"/>
            <a:ext cx="1938992" cy="382042"/>
          </a:xfrm>
          <a:prstGeom prst="rect">
            <a:avLst/>
          </a:prstGeom>
          <a:noFill/>
          <a:ln/>
        </p:spPr>
        <p:txBody>
          <a:bodyPr wrap="square" lIns="0" tIns="0" rIns="0" bIns="0" rtlCol="0" anchor="t"/>
          <a:lstStyle/>
          <a:p>
            <a:pPr algn="l" indent="0" marL="0">
              <a:lnSpc>
                <a:spcPts val="1583"/>
              </a:lnSpc>
              <a:buNone/>
            </a:pPr>
            <a:r>
              <a:rPr lang="en-US" sz="1056" b="1" dirty="0">
                <a:solidFill>
                  <a:srgbClr val="16303F"/>
                </a:solidFill>
                <a:latin typeface="Manrope" pitchFamily="34" charset="0"/>
                <a:ea typeface="Manrope" pitchFamily="34" charset="-122"/>
                <a:cs typeface="Manrope" pitchFamily="34" charset="-120"/>
              </a:rPr>
              <a:t>Non-secret, per-environment</a:t>
            </a:r>
            <a:endParaRPr lang="en-US" sz="1056" dirty="0"/>
          </a:p>
        </p:txBody>
      </p:sp>
      <p:sp>
        <p:nvSpPr>
          <p:cNvPr id="13" name="Shape 11"/>
          <p:cNvSpPr/>
          <p:nvPr/>
        </p:nvSpPr>
        <p:spPr>
          <a:xfrm>
            <a:off x="2590502" y="1934319"/>
            <a:ext cx="3063180" cy="9525"/>
          </a:xfrm>
          <a:prstGeom prst="rect">
            <a:avLst/>
          </a:prstGeom>
          <a:solidFill>
            <a:srgbClr val="DDD9D2"/>
          </a:solidFill>
          <a:ln/>
        </p:spPr>
      </p:sp>
      <p:sp>
        <p:nvSpPr>
          <p:cNvPr id="14" name="Text 12"/>
          <p:cNvSpPr txBox="1"/>
          <p:nvPr/>
        </p:nvSpPr>
        <p:spPr>
          <a:xfrm>
            <a:off x="2697182" y="1479500"/>
            <a:ext cx="2868870"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base URLs, timeouts, retries, log levels, toggles</a:t>
            </a:r>
            <a:endParaRPr lang="en-US" sz="1056" dirty="0"/>
          </a:p>
        </p:txBody>
      </p:sp>
      <p:sp>
        <p:nvSpPr>
          <p:cNvPr id="15" name="Shape 13"/>
          <p:cNvSpPr/>
          <p:nvPr/>
        </p:nvSpPr>
        <p:spPr>
          <a:xfrm>
            <a:off x="5653683" y="1934319"/>
            <a:ext cx="3223617" cy="9525"/>
          </a:xfrm>
          <a:prstGeom prst="rect">
            <a:avLst/>
          </a:prstGeom>
          <a:solidFill>
            <a:srgbClr val="DDD9D2"/>
          </a:solidFill>
          <a:ln/>
        </p:spPr>
      </p:sp>
      <p:sp>
        <p:nvSpPr>
          <p:cNvPr id="16" name="Shape 14"/>
          <p:cNvSpPr/>
          <p:nvPr/>
        </p:nvSpPr>
        <p:spPr>
          <a:xfrm>
            <a:off x="5760244" y="1488728"/>
            <a:ext cx="1717030" cy="181570"/>
          </a:xfrm>
          <a:prstGeom prst="roundRect">
            <a:avLst>
              <a:gd name="adj" fmla="val 20984"/>
            </a:avLst>
          </a:prstGeom>
          <a:solidFill>
            <a:srgbClr val="16303F">
              <a:alpha val="7000"/>
            </a:srgbClr>
          </a:solidFill>
          <a:ln/>
        </p:spPr>
      </p:sp>
      <p:sp>
        <p:nvSpPr>
          <p:cNvPr id="17" name="Text 15"/>
          <p:cNvSpPr txBox="1"/>
          <p:nvPr/>
        </p:nvSpPr>
        <p:spPr>
          <a:xfrm>
            <a:off x="5760363" y="1479500"/>
            <a:ext cx="3029307" cy="385018"/>
          </a:xfrm>
          <a:prstGeom prst="rect">
            <a:avLst/>
          </a:prstGeom>
          <a:noFill/>
          <a:ln/>
        </p:spPr>
        <p:txBody>
          <a:bodyPr wrap="square" lIns="0" tIns="0" rIns="0" bIns="0" rtlCol="0" anchor="t"/>
          <a:lstStyle/>
          <a:p>
            <a:pPr algn="l" indent="0" marL="0">
              <a:lnSpc>
                <a:spcPts val="1607"/>
              </a:lnSpc>
              <a:buNone/>
            </a:pPr>
            <a:r>
              <a:rPr lang="en-US" sz="972" dirty="0">
                <a:solidFill>
                  <a:srgbClr val="16303F"/>
                </a:solidFill>
                <a:latin typeface="JetBrains Mono" pitchFamily="34" charset="0"/>
                <a:ea typeface="JetBrains Mono" pitchFamily="34" charset="-122"/>
                <a:cs typeface="JetBrains Mono" pitchFamily="34" charset="-120"/>
              </a:rPr>
              <a:t>appsettings.{Env}.json</a:t>
            </a:r>
            <a:pPr algn="l" indent="0" marL="0">
              <a:lnSpc>
                <a:spcPts val="1607"/>
              </a:lnSpc>
              <a:buNone/>
            </a:pPr>
            <a:r>
              <a:rPr lang="en-US" sz="1056" dirty="0">
                <a:solidFill>
                  <a:srgbClr val="16303F"/>
                </a:solidFill>
                <a:latin typeface="Manrope" pitchFamily="34" charset="0"/>
                <a:ea typeface="Manrope" pitchFamily="34" charset="-122"/>
                <a:cs typeface="Manrope" pitchFamily="34" charset="-120"/>
              </a:rPr>
              <a:t>, or App Configuration</a:t>
            </a:r>
            <a:endParaRPr lang="en-US" sz="972" dirty="0"/>
          </a:p>
        </p:txBody>
      </p:sp>
      <p:sp>
        <p:nvSpPr>
          <p:cNvPr id="18" name="Shape 16"/>
          <p:cNvSpPr/>
          <p:nvPr/>
        </p:nvSpPr>
        <p:spPr>
          <a:xfrm>
            <a:off x="457200" y="1943844"/>
            <a:ext cx="8420100" cy="338584"/>
          </a:xfrm>
          <a:prstGeom prst="rect">
            <a:avLst/>
          </a:prstGeom>
          <a:solidFill>
            <a:srgbClr val="16303F">
              <a:alpha val="3000"/>
            </a:srgbClr>
          </a:solidFill>
          <a:ln/>
        </p:spPr>
      </p:sp>
      <p:sp>
        <p:nvSpPr>
          <p:cNvPr id="19" name="Shape 17"/>
          <p:cNvSpPr/>
          <p:nvPr/>
        </p:nvSpPr>
        <p:spPr>
          <a:xfrm>
            <a:off x="457200" y="2272903"/>
            <a:ext cx="8420100" cy="9525"/>
          </a:xfrm>
          <a:prstGeom prst="rect">
            <a:avLst/>
          </a:prstGeom>
          <a:solidFill>
            <a:srgbClr val="9CA3AF">
              <a:alpha val="20000"/>
            </a:srgbClr>
          </a:solidFill>
          <a:ln/>
        </p:spPr>
      </p:sp>
      <p:sp>
        <p:nvSpPr>
          <p:cNvPr id="20" name="Shape 18"/>
          <p:cNvSpPr/>
          <p:nvPr/>
        </p:nvSpPr>
        <p:spPr>
          <a:xfrm>
            <a:off x="457200" y="2272903"/>
            <a:ext cx="2133302" cy="9525"/>
          </a:xfrm>
          <a:prstGeom prst="rect">
            <a:avLst/>
          </a:prstGeom>
          <a:solidFill>
            <a:srgbClr val="DDD9D2"/>
          </a:solidFill>
          <a:ln/>
        </p:spPr>
      </p:sp>
      <p:sp>
        <p:nvSpPr>
          <p:cNvPr id="21" name="Text 19"/>
          <p:cNvSpPr txBox="1"/>
          <p:nvPr/>
        </p:nvSpPr>
        <p:spPr>
          <a:xfrm>
            <a:off x="563761" y="2022128"/>
            <a:ext cx="559147"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Secret</a:t>
            </a:r>
            <a:endParaRPr lang="en-US" sz="1056" dirty="0"/>
          </a:p>
        </p:txBody>
      </p:sp>
      <p:sp>
        <p:nvSpPr>
          <p:cNvPr id="22" name="Shape 20"/>
          <p:cNvSpPr/>
          <p:nvPr/>
        </p:nvSpPr>
        <p:spPr>
          <a:xfrm>
            <a:off x="2590502" y="2272903"/>
            <a:ext cx="3063180" cy="9525"/>
          </a:xfrm>
          <a:prstGeom prst="rect">
            <a:avLst/>
          </a:prstGeom>
          <a:solidFill>
            <a:srgbClr val="DDD9D2"/>
          </a:solidFill>
          <a:ln/>
        </p:spPr>
      </p:sp>
      <p:sp>
        <p:nvSpPr>
          <p:cNvPr id="23" name="Text 21"/>
          <p:cNvSpPr txBox="1"/>
          <p:nvPr/>
        </p:nvSpPr>
        <p:spPr>
          <a:xfrm>
            <a:off x="2697063" y="2022128"/>
            <a:ext cx="28411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API keys, connection strings with passwords</a:t>
            </a:r>
            <a:endParaRPr lang="en-US" sz="1056" dirty="0"/>
          </a:p>
        </p:txBody>
      </p:sp>
      <p:sp>
        <p:nvSpPr>
          <p:cNvPr id="24" name="Shape 22"/>
          <p:cNvSpPr/>
          <p:nvPr/>
        </p:nvSpPr>
        <p:spPr>
          <a:xfrm>
            <a:off x="5653683" y="2272903"/>
            <a:ext cx="3223617" cy="9525"/>
          </a:xfrm>
          <a:prstGeom prst="rect">
            <a:avLst/>
          </a:prstGeom>
          <a:solidFill>
            <a:srgbClr val="DDD9D2"/>
          </a:solidFill>
          <a:ln/>
        </p:spPr>
      </p:sp>
      <p:sp>
        <p:nvSpPr>
          <p:cNvPr id="25" name="Text 23"/>
          <p:cNvSpPr txBox="1"/>
          <p:nvPr/>
        </p:nvSpPr>
        <p:spPr>
          <a:xfrm>
            <a:off x="5760244" y="2022128"/>
            <a:ext cx="24239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(dev) -&gt; Key Vault (prod)</a:t>
            </a:r>
            <a:endParaRPr lang="en-US" sz="1056" dirty="0"/>
          </a:p>
        </p:txBody>
      </p:sp>
      <p:sp>
        <p:nvSpPr>
          <p:cNvPr id="26" name="Shape 24"/>
          <p:cNvSpPr/>
          <p:nvPr/>
        </p:nvSpPr>
        <p:spPr>
          <a:xfrm>
            <a:off x="457200" y="2611487"/>
            <a:ext cx="8420100" cy="9525"/>
          </a:xfrm>
          <a:prstGeom prst="rect">
            <a:avLst/>
          </a:prstGeom>
          <a:solidFill>
            <a:srgbClr val="9CA3AF">
              <a:alpha val="20000"/>
            </a:srgbClr>
          </a:solidFill>
          <a:ln/>
        </p:spPr>
      </p:sp>
      <p:sp>
        <p:nvSpPr>
          <p:cNvPr id="27" name="Shape 25"/>
          <p:cNvSpPr/>
          <p:nvPr/>
        </p:nvSpPr>
        <p:spPr>
          <a:xfrm>
            <a:off x="457200" y="2611487"/>
            <a:ext cx="2133302" cy="9525"/>
          </a:xfrm>
          <a:prstGeom prst="rect">
            <a:avLst/>
          </a:prstGeom>
          <a:solidFill>
            <a:srgbClr val="DDD9D2"/>
          </a:solidFill>
          <a:ln/>
        </p:spPr>
      </p:sp>
      <p:sp>
        <p:nvSpPr>
          <p:cNvPr id="28" name="Text 26"/>
          <p:cNvSpPr txBox="1"/>
          <p:nvPr/>
        </p:nvSpPr>
        <p:spPr>
          <a:xfrm>
            <a:off x="563761" y="2360712"/>
            <a:ext cx="97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Per-instance</a:t>
            </a:r>
            <a:endParaRPr lang="en-US" sz="1056" dirty="0"/>
          </a:p>
        </p:txBody>
      </p:sp>
      <p:sp>
        <p:nvSpPr>
          <p:cNvPr id="29" name="Shape 27"/>
          <p:cNvSpPr/>
          <p:nvPr/>
        </p:nvSpPr>
        <p:spPr>
          <a:xfrm>
            <a:off x="2590502" y="2611487"/>
            <a:ext cx="3063180" cy="9525"/>
          </a:xfrm>
          <a:prstGeom prst="rect">
            <a:avLst/>
          </a:prstGeom>
          <a:solidFill>
            <a:srgbClr val="DDD9D2"/>
          </a:solidFill>
          <a:ln/>
        </p:spPr>
      </p:sp>
      <p:sp>
        <p:nvSpPr>
          <p:cNvPr id="30" name="Text 28"/>
          <p:cNvSpPr txBox="1"/>
          <p:nvPr/>
        </p:nvSpPr>
        <p:spPr>
          <a:xfrm>
            <a:off x="2697063" y="2360712"/>
            <a:ext cx="278903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name, instance id, port, region</a:t>
            </a:r>
            <a:endParaRPr lang="en-US" sz="1056" dirty="0"/>
          </a:p>
        </p:txBody>
      </p:sp>
      <p:sp>
        <p:nvSpPr>
          <p:cNvPr id="31" name="Shape 29"/>
          <p:cNvSpPr/>
          <p:nvPr/>
        </p:nvSpPr>
        <p:spPr>
          <a:xfrm>
            <a:off x="5653683" y="2611487"/>
            <a:ext cx="3223617" cy="9525"/>
          </a:xfrm>
          <a:prstGeom prst="rect">
            <a:avLst/>
          </a:prstGeom>
          <a:solidFill>
            <a:srgbClr val="DDD9D2"/>
          </a:solidFill>
          <a:ln/>
        </p:spPr>
      </p:sp>
      <p:sp>
        <p:nvSpPr>
          <p:cNvPr id="32" name="Text 30"/>
          <p:cNvSpPr txBox="1"/>
          <p:nvPr/>
        </p:nvSpPr>
        <p:spPr>
          <a:xfrm>
            <a:off x="5760244" y="2360712"/>
            <a:ext cx="270688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environment variables, set by the platform</a:t>
            </a:r>
            <a:endParaRPr lang="en-US" sz="1056" dirty="0"/>
          </a:p>
        </p:txBody>
      </p:sp>
      <p:sp>
        <p:nvSpPr>
          <p:cNvPr id="33" name="Shape 31"/>
          <p:cNvSpPr/>
          <p:nvPr/>
        </p:nvSpPr>
        <p:spPr>
          <a:xfrm>
            <a:off x="457200" y="2785765"/>
            <a:ext cx="38100" cy="533400"/>
          </a:xfrm>
          <a:prstGeom prst="rect">
            <a:avLst/>
          </a:prstGeom>
          <a:solidFill>
            <a:srgbClr val="F4C233"/>
          </a:solidFill>
          <a:ln/>
        </p:spPr>
      </p:sp>
      <p:sp>
        <p:nvSpPr>
          <p:cNvPr id="34" name="Text 32"/>
          <p:cNvSpPr txBox="1"/>
          <p:nvPr/>
        </p:nvSpPr>
        <p:spPr>
          <a:xfrm>
            <a:off x="617190" y="2947690"/>
            <a:ext cx="5297835" cy="209550"/>
          </a:xfrm>
          <a:prstGeom prst="rect">
            <a:avLst/>
          </a:prstGeom>
          <a:noFill/>
          <a:ln/>
        </p:spPr>
        <p:txBody>
          <a:bodyPr wrap="none" lIns="0" tIns="0" rIns="0" bIns="0" rtlCol="0" anchor="t"/>
          <a:lstStyle/>
          <a:p>
            <a:pPr algn="l" indent="0" marL="0">
              <a:buNone/>
            </a:pPr>
            <a:r>
              <a:rPr lang="en-US" sz="1200" b="1" dirty="0">
                <a:solidFill>
                  <a:srgbClr val="16303F"/>
                </a:solidFill>
                <a:latin typeface="Manrope" pitchFamily="34" charset="0"/>
                <a:ea typeface="Manrope" pitchFamily="34" charset="-122"/>
                <a:cs typeface="Manrope" pitchFamily="34" charset="-120"/>
              </a:rPr>
              <a:t>If a value is in the wrong bucket, no amount of provider tuning fixes it.</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6537275"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What I’d use for six common app types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787426" cy="19050"/>
          </a:xfrm>
          <a:prstGeom prst="rect">
            <a:avLst/>
          </a:prstGeom>
          <a:solidFill>
            <a:srgbClr val="16303F"/>
          </a:solidFill>
          <a:ln/>
        </p:spPr>
      </p:sp>
      <p:sp>
        <p:nvSpPr>
          <p:cNvPr id="6" name="Text 4"/>
          <p:cNvSpPr txBox="1"/>
          <p:nvPr/>
        </p:nvSpPr>
        <p:spPr>
          <a:xfrm>
            <a:off x="563761" y="1163092"/>
            <a:ext cx="77881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APP SHAPE</a:t>
            </a:r>
            <a:endParaRPr lang="en-US" sz="816" dirty="0"/>
          </a:p>
        </p:txBody>
      </p:sp>
      <p:sp>
        <p:nvSpPr>
          <p:cNvPr id="7" name="Shape 5"/>
          <p:cNvSpPr/>
          <p:nvPr/>
        </p:nvSpPr>
        <p:spPr>
          <a:xfrm>
            <a:off x="2244626" y="1377404"/>
            <a:ext cx="1919139" cy="19050"/>
          </a:xfrm>
          <a:prstGeom prst="rect">
            <a:avLst/>
          </a:prstGeom>
          <a:solidFill>
            <a:srgbClr val="16303F"/>
          </a:solidFill>
          <a:ln/>
        </p:spPr>
      </p:sp>
      <p:sp>
        <p:nvSpPr>
          <p:cNvPr id="8" name="Text 6"/>
          <p:cNvSpPr txBox="1"/>
          <p:nvPr/>
        </p:nvSpPr>
        <p:spPr>
          <a:xfrm>
            <a:off x="2351187" y="1163092"/>
            <a:ext cx="68609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BASELINE</a:t>
            </a:r>
            <a:endParaRPr lang="en-US" sz="816" dirty="0"/>
          </a:p>
        </p:txBody>
      </p:sp>
      <p:sp>
        <p:nvSpPr>
          <p:cNvPr id="9" name="Shape 7"/>
          <p:cNvSpPr/>
          <p:nvPr/>
        </p:nvSpPr>
        <p:spPr>
          <a:xfrm>
            <a:off x="4163764" y="1377404"/>
            <a:ext cx="1920925" cy="19050"/>
          </a:xfrm>
          <a:prstGeom prst="rect">
            <a:avLst/>
          </a:prstGeom>
          <a:solidFill>
            <a:srgbClr val="16303F"/>
          </a:solidFill>
          <a:ln/>
        </p:spPr>
      </p:sp>
      <p:sp>
        <p:nvSpPr>
          <p:cNvPr id="10" name="Text 8"/>
          <p:cNvSpPr txBox="1"/>
          <p:nvPr/>
        </p:nvSpPr>
        <p:spPr>
          <a:xfrm>
            <a:off x="4270325" y="1163092"/>
            <a:ext cx="65558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SECRETS</a:t>
            </a:r>
            <a:endParaRPr lang="en-US" sz="816" dirty="0"/>
          </a:p>
        </p:txBody>
      </p:sp>
      <p:sp>
        <p:nvSpPr>
          <p:cNvPr id="11" name="Shape 9"/>
          <p:cNvSpPr/>
          <p:nvPr/>
        </p:nvSpPr>
        <p:spPr>
          <a:xfrm>
            <a:off x="6084689" y="1377404"/>
            <a:ext cx="2792611" cy="19050"/>
          </a:xfrm>
          <a:prstGeom prst="rect">
            <a:avLst/>
          </a:prstGeom>
          <a:solidFill>
            <a:srgbClr val="16303F"/>
          </a:solidFill>
          <a:ln/>
        </p:spPr>
      </p:sp>
      <p:sp>
        <p:nvSpPr>
          <p:cNvPr id="12" name="Text 10"/>
          <p:cNvSpPr txBox="1"/>
          <p:nvPr/>
        </p:nvSpPr>
        <p:spPr>
          <a:xfrm>
            <a:off x="6191250" y="1163092"/>
            <a:ext cx="1914227"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CHANGE WITHOUT REDEPLOY?</a:t>
            </a:r>
            <a:endParaRPr lang="en-US" sz="816" dirty="0"/>
          </a:p>
        </p:txBody>
      </p:sp>
      <p:sp>
        <p:nvSpPr>
          <p:cNvPr id="13" name="Shape 11"/>
          <p:cNvSpPr/>
          <p:nvPr/>
        </p:nvSpPr>
        <p:spPr>
          <a:xfrm>
            <a:off x="457200" y="1931343"/>
            <a:ext cx="8420100" cy="9525"/>
          </a:xfrm>
          <a:prstGeom prst="rect">
            <a:avLst/>
          </a:prstGeom>
          <a:solidFill>
            <a:srgbClr val="9CA3AF">
              <a:alpha val="20000"/>
            </a:srgbClr>
          </a:solidFill>
          <a:ln/>
        </p:spPr>
      </p:sp>
      <p:sp>
        <p:nvSpPr>
          <p:cNvPr id="14" name="Shape 12"/>
          <p:cNvSpPr/>
          <p:nvPr/>
        </p:nvSpPr>
        <p:spPr>
          <a:xfrm>
            <a:off x="457200" y="1931343"/>
            <a:ext cx="1787426" cy="9525"/>
          </a:xfrm>
          <a:prstGeom prst="rect">
            <a:avLst/>
          </a:prstGeom>
          <a:solidFill>
            <a:srgbClr val="DDD9D2"/>
          </a:solidFill>
          <a:ln/>
        </p:spPr>
      </p:sp>
      <p:sp>
        <p:nvSpPr>
          <p:cNvPr id="15" name="Text 13"/>
          <p:cNvSpPr txBox="1"/>
          <p:nvPr/>
        </p:nvSpPr>
        <p:spPr>
          <a:xfrm>
            <a:off x="563880" y="1479500"/>
            <a:ext cx="1593116"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ASP.NET Core on App Service</a:t>
            </a:r>
            <a:endParaRPr lang="en-US" sz="1056" dirty="0"/>
          </a:p>
        </p:txBody>
      </p:sp>
      <p:sp>
        <p:nvSpPr>
          <p:cNvPr id="16" name="Shape 14"/>
          <p:cNvSpPr/>
          <p:nvPr/>
        </p:nvSpPr>
        <p:spPr>
          <a:xfrm>
            <a:off x="2244626" y="1931343"/>
            <a:ext cx="1919139" cy="9525"/>
          </a:xfrm>
          <a:prstGeom prst="rect">
            <a:avLst/>
          </a:prstGeom>
          <a:solidFill>
            <a:srgbClr val="DDD9D2"/>
          </a:solidFill>
          <a:ln/>
        </p:spPr>
      </p:sp>
      <p:sp>
        <p:nvSpPr>
          <p:cNvPr id="17" name="Text 15"/>
          <p:cNvSpPr txBox="1"/>
          <p:nvPr/>
        </p:nvSpPr>
        <p:spPr>
          <a:xfrm>
            <a:off x="2351306" y="1479500"/>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App Service settings</a:t>
            </a:r>
            <a:endParaRPr lang="en-US" sz="1056" dirty="0"/>
          </a:p>
        </p:txBody>
      </p:sp>
      <p:sp>
        <p:nvSpPr>
          <p:cNvPr id="18" name="Shape 16"/>
          <p:cNvSpPr/>
          <p:nvPr/>
        </p:nvSpPr>
        <p:spPr>
          <a:xfrm>
            <a:off x="4163764" y="1931343"/>
            <a:ext cx="1920925" cy="9525"/>
          </a:xfrm>
          <a:prstGeom prst="rect">
            <a:avLst/>
          </a:prstGeom>
          <a:solidFill>
            <a:srgbClr val="DDD9D2"/>
          </a:solidFill>
          <a:ln/>
        </p:spPr>
      </p:sp>
      <p:sp>
        <p:nvSpPr>
          <p:cNvPr id="19" name="Text 17"/>
          <p:cNvSpPr txBox="1"/>
          <p:nvPr/>
        </p:nvSpPr>
        <p:spPr>
          <a:xfrm>
            <a:off x="4270325" y="1479500"/>
            <a:ext cx="94744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refs</a:t>
            </a:r>
            <a:endParaRPr lang="en-US" sz="1056" dirty="0"/>
          </a:p>
        </p:txBody>
      </p:sp>
      <p:sp>
        <p:nvSpPr>
          <p:cNvPr id="20" name="Shape 18"/>
          <p:cNvSpPr/>
          <p:nvPr/>
        </p:nvSpPr>
        <p:spPr>
          <a:xfrm>
            <a:off x="6084689" y="1931343"/>
            <a:ext cx="2792611" cy="9525"/>
          </a:xfrm>
          <a:prstGeom prst="rect">
            <a:avLst/>
          </a:prstGeom>
          <a:solidFill>
            <a:srgbClr val="DDD9D2"/>
          </a:solidFill>
          <a:ln/>
        </p:spPr>
      </p:sp>
      <p:sp>
        <p:nvSpPr>
          <p:cNvPr id="21" name="Text 19"/>
          <p:cNvSpPr txBox="1"/>
          <p:nvPr/>
        </p:nvSpPr>
        <p:spPr>
          <a:xfrm>
            <a:off x="6191369" y="1479500"/>
            <a:ext cx="2598301"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App Service settings restart; App Config doesn’t</a:t>
            </a:r>
            <a:endParaRPr lang="en-US" sz="1056" dirty="0"/>
          </a:p>
        </p:txBody>
      </p:sp>
      <p:sp>
        <p:nvSpPr>
          <p:cNvPr id="22" name="Shape 20"/>
          <p:cNvSpPr/>
          <p:nvPr/>
        </p:nvSpPr>
        <p:spPr>
          <a:xfrm>
            <a:off x="457200" y="1940868"/>
            <a:ext cx="8420100" cy="539651"/>
          </a:xfrm>
          <a:prstGeom prst="rect">
            <a:avLst/>
          </a:prstGeom>
          <a:solidFill>
            <a:srgbClr val="16303F">
              <a:alpha val="3000"/>
            </a:srgbClr>
          </a:solidFill>
          <a:ln/>
        </p:spPr>
      </p:sp>
      <p:sp>
        <p:nvSpPr>
          <p:cNvPr id="23" name="Shape 21"/>
          <p:cNvSpPr/>
          <p:nvPr/>
        </p:nvSpPr>
        <p:spPr>
          <a:xfrm>
            <a:off x="457200" y="2470993"/>
            <a:ext cx="8420100" cy="9525"/>
          </a:xfrm>
          <a:prstGeom prst="rect">
            <a:avLst/>
          </a:prstGeom>
          <a:solidFill>
            <a:srgbClr val="9CA3AF">
              <a:alpha val="20000"/>
            </a:srgbClr>
          </a:solidFill>
          <a:ln/>
        </p:spPr>
      </p:sp>
      <p:sp>
        <p:nvSpPr>
          <p:cNvPr id="24" name="Shape 22"/>
          <p:cNvSpPr/>
          <p:nvPr/>
        </p:nvSpPr>
        <p:spPr>
          <a:xfrm>
            <a:off x="457200" y="2470993"/>
            <a:ext cx="1787426" cy="9525"/>
          </a:xfrm>
          <a:prstGeom prst="rect">
            <a:avLst/>
          </a:prstGeom>
          <a:solidFill>
            <a:srgbClr val="DDD9D2"/>
          </a:solidFill>
          <a:ln/>
        </p:spPr>
      </p:sp>
      <p:sp>
        <p:nvSpPr>
          <p:cNvPr id="25" name="Text 23"/>
          <p:cNvSpPr txBox="1"/>
          <p:nvPr/>
        </p:nvSpPr>
        <p:spPr>
          <a:xfrm>
            <a:off x="563761" y="2019151"/>
            <a:ext cx="108361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Container / AKS</a:t>
            </a:r>
            <a:endParaRPr lang="en-US" sz="1056" dirty="0"/>
          </a:p>
        </p:txBody>
      </p:sp>
      <p:sp>
        <p:nvSpPr>
          <p:cNvPr id="26" name="Shape 24"/>
          <p:cNvSpPr/>
          <p:nvPr/>
        </p:nvSpPr>
        <p:spPr>
          <a:xfrm>
            <a:off x="2244626" y="2470993"/>
            <a:ext cx="1919139" cy="9525"/>
          </a:xfrm>
          <a:prstGeom prst="rect">
            <a:avLst/>
          </a:prstGeom>
          <a:solidFill>
            <a:srgbClr val="DDD9D2"/>
          </a:solidFill>
          <a:ln/>
        </p:spPr>
      </p:sp>
      <p:sp>
        <p:nvSpPr>
          <p:cNvPr id="27" name="Text 25"/>
          <p:cNvSpPr txBox="1"/>
          <p:nvPr/>
        </p:nvSpPr>
        <p:spPr>
          <a:xfrm>
            <a:off x="2351306" y="201915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 orchestrator env vars</a:t>
            </a:r>
            <a:endParaRPr lang="en-US" sz="1056" dirty="0"/>
          </a:p>
        </p:txBody>
      </p:sp>
      <p:sp>
        <p:nvSpPr>
          <p:cNvPr id="28" name="Shape 26"/>
          <p:cNvSpPr/>
          <p:nvPr/>
        </p:nvSpPr>
        <p:spPr>
          <a:xfrm>
            <a:off x="4163764" y="2470993"/>
            <a:ext cx="1920925" cy="9525"/>
          </a:xfrm>
          <a:prstGeom prst="rect">
            <a:avLst/>
          </a:prstGeom>
          <a:solidFill>
            <a:srgbClr val="DDD9D2"/>
          </a:solidFill>
          <a:ln/>
        </p:spPr>
      </p:sp>
      <p:sp>
        <p:nvSpPr>
          <p:cNvPr id="29" name="Text 27"/>
          <p:cNvSpPr txBox="1"/>
          <p:nvPr/>
        </p:nvSpPr>
        <p:spPr>
          <a:xfrm>
            <a:off x="4270444" y="2019151"/>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key-per-file, or workload identity</a:t>
            </a:r>
            <a:endParaRPr lang="en-US" sz="1056" dirty="0"/>
          </a:p>
        </p:txBody>
      </p:sp>
      <p:sp>
        <p:nvSpPr>
          <p:cNvPr id="30" name="Shape 28"/>
          <p:cNvSpPr/>
          <p:nvPr/>
        </p:nvSpPr>
        <p:spPr>
          <a:xfrm>
            <a:off x="6084689" y="2470993"/>
            <a:ext cx="2792611" cy="9525"/>
          </a:xfrm>
          <a:prstGeom prst="rect">
            <a:avLst/>
          </a:prstGeom>
          <a:solidFill>
            <a:srgbClr val="DDD9D2"/>
          </a:solidFill>
          <a:ln/>
        </p:spPr>
      </p:sp>
      <p:sp>
        <p:nvSpPr>
          <p:cNvPr id="31" name="Text 29"/>
          <p:cNvSpPr txBox="1"/>
          <p:nvPr/>
        </p:nvSpPr>
        <p:spPr>
          <a:xfrm>
            <a:off x="6191250" y="2019151"/>
            <a:ext cx="194667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the pod, or App Config</a:t>
            </a:r>
            <a:endParaRPr lang="en-US" sz="1056" dirty="0"/>
          </a:p>
        </p:txBody>
      </p:sp>
      <p:sp>
        <p:nvSpPr>
          <p:cNvPr id="32" name="Shape 30"/>
          <p:cNvSpPr/>
          <p:nvPr/>
        </p:nvSpPr>
        <p:spPr>
          <a:xfrm>
            <a:off x="457200" y="2809577"/>
            <a:ext cx="8420100" cy="9525"/>
          </a:xfrm>
          <a:prstGeom prst="rect">
            <a:avLst/>
          </a:prstGeom>
          <a:solidFill>
            <a:srgbClr val="9CA3AF">
              <a:alpha val="20000"/>
            </a:srgbClr>
          </a:solidFill>
          <a:ln/>
        </p:spPr>
      </p:sp>
      <p:sp>
        <p:nvSpPr>
          <p:cNvPr id="33" name="Shape 31"/>
          <p:cNvSpPr/>
          <p:nvPr/>
        </p:nvSpPr>
        <p:spPr>
          <a:xfrm>
            <a:off x="457200" y="2809577"/>
            <a:ext cx="1787426" cy="9525"/>
          </a:xfrm>
          <a:prstGeom prst="rect">
            <a:avLst/>
          </a:prstGeom>
          <a:solidFill>
            <a:srgbClr val="DDD9D2"/>
          </a:solidFill>
          <a:ln/>
        </p:spPr>
      </p:sp>
      <p:sp>
        <p:nvSpPr>
          <p:cNvPr id="34" name="Text 32"/>
          <p:cNvSpPr txBox="1"/>
          <p:nvPr/>
        </p:nvSpPr>
        <p:spPr>
          <a:xfrm>
            <a:off x="563761" y="2558802"/>
            <a:ext cx="133870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Many microservices</a:t>
            </a:r>
            <a:endParaRPr lang="en-US" sz="1056" dirty="0"/>
          </a:p>
        </p:txBody>
      </p:sp>
      <p:sp>
        <p:nvSpPr>
          <p:cNvPr id="35" name="Shape 33"/>
          <p:cNvSpPr/>
          <p:nvPr/>
        </p:nvSpPr>
        <p:spPr>
          <a:xfrm>
            <a:off x="2244626" y="2809577"/>
            <a:ext cx="1919139" cy="9525"/>
          </a:xfrm>
          <a:prstGeom prst="rect">
            <a:avLst/>
          </a:prstGeom>
          <a:solidFill>
            <a:srgbClr val="DDD9D2"/>
          </a:solidFill>
          <a:ln/>
        </p:spPr>
      </p:sp>
      <p:sp>
        <p:nvSpPr>
          <p:cNvPr id="36" name="Text 34"/>
          <p:cNvSpPr txBox="1"/>
          <p:nvPr/>
        </p:nvSpPr>
        <p:spPr>
          <a:xfrm>
            <a:off x="2351187" y="2558802"/>
            <a:ext cx="129644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 + labels</a:t>
            </a:r>
            <a:endParaRPr lang="en-US" sz="1056" dirty="0"/>
          </a:p>
        </p:txBody>
      </p:sp>
      <p:sp>
        <p:nvSpPr>
          <p:cNvPr id="37" name="Shape 35"/>
          <p:cNvSpPr/>
          <p:nvPr/>
        </p:nvSpPr>
        <p:spPr>
          <a:xfrm>
            <a:off x="4163764" y="2809577"/>
            <a:ext cx="1920925" cy="9525"/>
          </a:xfrm>
          <a:prstGeom prst="rect">
            <a:avLst/>
          </a:prstGeom>
          <a:solidFill>
            <a:srgbClr val="DDD9D2"/>
          </a:solidFill>
          <a:ln/>
        </p:spPr>
      </p:sp>
      <p:sp>
        <p:nvSpPr>
          <p:cNvPr id="38" name="Text 36"/>
          <p:cNvSpPr txBox="1"/>
          <p:nvPr/>
        </p:nvSpPr>
        <p:spPr>
          <a:xfrm>
            <a:off x="4270325" y="2558802"/>
            <a:ext cx="137636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Key Vault references</a:t>
            </a:r>
            <a:endParaRPr lang="en-US" sz="1056" dirty="0"/>
          </a:p>
        </p:txBody>
      </p:sp>
      <p:sp>
        <p:nvSpPr>
          <p:cNvPr id="39" name="Shape 37"/>
          <p:cNvSpPr/>
          <p:nvPr/>
        </p:nvSpPr>
        <p:spPr>
          <a:xfrm>
            <a:off x="6084689" y="2809577"/>
            <a:ext cx="2792611" cy="9525"/>
          </a:xfrm>
          <a:prstGeom prst="rect">
            <a:avLst/>
          </a:prstGeom>
          <a:solidFill>
            <a:srgbClr val="DDD9D2"/>
          </a:solidFill>
          <a:ln/>
        </p:spPr>
      </p:sp>
      <p:sp>
        <p:nvSpPr>
          <p:cNvPr id="40" name="Text 38"/>
          <p:cNvSpPr txBox="1"/>
          <p:nvPr/>
        </p:nvSpPr>
        <p:spPr>
          <a:xfrm>
            <a:off x="6191250" y="2558802"/>
            <a:ext cx="156924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 — sentinel + refresh</a:t>
            </a:r>
            <a:endParaRPr lang="en-US" sz="1056" dirty="0"/>
          </a:p>
        </p:txBody>
      </p:sp>
      <p:sp>
        <p:nvSpPr>
          <p:cNvPr id="41" name="Shape 39"/>
          <p:cNvSpPr/>
          <p:nvPr/>
        </p:nvSpPr>
        <p:spPr>
          <a:xfrm>
            <a:off x="457200" y="2819102"/>
            <a:ext cx="8420100" cy="539651"/>
          </a:xfrm>
          <a:prstGeom prst="rect">
            <a:avLst/>
          </a:prstGeom>
          <a:solidFill>
            <a:srgbClr val="16303F">
              <a:alpha val="3000"/>
            </a:srgbClr>
          </a:solidFill>
          <a:ln/>
        </p:spPr>
      </p:sp>
      <p:sp>
        <p:nvSpPr>
          <p:cNvPr id="42" name="Shape 40"/>
          <p:cNvSpPr/>
          <p:nvPr/>
        </p:nvSpPr>
        <p:spPr>
          <a:xfrm>
            <a:off x="457200" y="3349228"/>
            <a:ext cx="8420100" cy="9525"/>
          </a:xfrm>
          <a:prstGeom prst="rect">
            <a:avLst/>
          </a:prstGeom>
          <a:solidFill>
            <a:srgbClr val="9CA3AF">
              <a:alpha val="20000"/>
            </a:srgbClr>
          </a:solidFill>
          <a:ln/>
        </p:spPr>
      </p:sp>
      <p:sp>
        <p:nvSpPr>
          <p:cNvPr id="43" name="Shape 41"/>
          <p:cNvSpPr/>
          <p:nvPr/>
        </p:nvSpPr>
        <p:spPr>
          <a:xfrm>
            <a:off x="457200" y="3349228"/>
            <a:ext cx="1787426" cy="9525"/>
          </a:xfrm>
          <a:prstGeom prst="rect">
            <a:avLst/>
          </a:prstGeom>
          <a:solidFill>
            <a:srgbClr val="DDD9D2"/>
          </a:solidFill>
          <a:ln/>
        </p:spPr>
      </p:sp>
      <p:sp>
        <p:nvSpPr>
          <p:cNvPr id="44" name="Text 42"/>
          <p:cNvSpPr txBox="1"/>
          <p:nvPr/>
        </p:nvSpPr>
        <p:spPr>
          <a:xfrm>
            <a:off x="563761" y="2897386"/>
            <a:ext cx="1395710"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Worker / background</a:t>
            </a:r>
            <a:endParaRPr lang="en-US" sz="1056" dirty="0"/>
          </a:p>
        </p:txBody>
      </p:sp>
      <p:sp>
        <p:nvSpPr>
          <p:cNvPr id="45" name="Shape 43"/>
          <p:cNvSpPr/>
          <p:nvPr/>
        </p:nvSpPr>
        <p:spPr>
          <a:xfrm>
            <a:off x="2244626" y="3349228"/>
            <a:ext cx="1919139" cy="9525"/>
          </a:xfrm>
          <a:prstGeom prst="rect">
            <a:avLst/>
          </a:prstGeom>
          <a:solidFill>
            <a:srgbClr val="DDD9D2"/>
          </a:solidFill>
          <a:ln/>
        </p:spPr>
      </p:sp>
      <p:sp>
        <p:nvSpPr>
          <p:cNvPr id="46" name="Text 44"/>
          <p:cNvSpPr txBox="1"/>
          <p:nvPr/>
        </p:nvSpPr>
        <p:spPr>
          <a:xfrm>
            <a:off x="2351187" y="2897386"/>
            <a:ext cx="108465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env vars</a:t>
            </a:r>
            <a:endParaRPr lang="en-US" sz="1056" dirty="0"/>
          </a:p>
        </p:txBody>
      </p:sp>
      <p:sp>
        <p:nvSpPr>
          <p:cNvPr id="47" name="Shape 45"/>
          <p:cNvSpPr/>
          <p:nvPr/>
        </p:nvSpPr>
        <p:spPr>
          <a:xfrm>
            <a:off x="4163764" y="3349228"/>
            <a:ext cx="1920925" cy="9525"/>
          </a:xfrm>
          <a:prstGeom prst="rect">
            <a:avLst/>
          </a:prstGeom>
          <a:solidFill>
            <a:srgbClr val="DDD9D2"/>
          </a:solidFill>
          <a:ln/>
        </p:spPr>
      </p:sp>
      <p:sp>
        <p:nvSpPr>
          <p:cNvPr id="48" name="Text 46"/>
          <p:cNvSpPr txBox="1"/>
          <p:nvPr/>
        </p:nvSpPr>
        <p:spPr>
          <a:xfrm>
            <a:off x="4270444" y="2897386"/>
            <a:ext cx="1726615"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Key Vault via managed identity</a:t>
            </a:r>
            <a:endParaRPr lang="en-US" sz="1056" dirty="0"/>
          </a:p>
        </p:txBody>
      </p:sp>
      <p:sp>
        <p:nvSpPr>
          <p:cNvPr id="49" name="Shape 47"/>
          <p:cNvSpPr/>
          <p:nvPr/>
        </p:nvSpPr>
        <p:spPr>
          <a:xfrm>
            <a:off x="6084689" y="3349228"/>
            <a:ext cx="2792611" cy="9525"/>
          </a:xfrm>
          <a:prstGeom prst="rect">
            <a:avLst/>
          </a:prstGeom>
          <a:solidFill>
            <a:srgbClr val="DDD9D2"/>
          </a:solidFill>
          <a:ln/>
        </p:spPr>
      </p:sp>
      <p:sp>
        <p:nvSpPr>
          <p:cNvPr id="50" name="Shape 48"/>
          <p:cNvSpPr/>
          <p:nvPr/>
        </p:nvSpPr>
        <p:spPr>
          <a:xfrm>
            <a:off x="6191250" y="2906613"/>
            <a:ext cx="1198959" cy="181570"/>
          </a:xfrm>
          <a:prstGeom prst="roundRect">
            <a:avLst>
              <a:gd name="adj" fmla="val 20984"/>
            </a:avLst>
          </a:prstGeom>
          <a:solidFill>
            <a:srgbClr val="16303F">
              <a:alpha val="7000"/>
            </a:srgbClr>
          </a:solidFill>
          <a:ln/>
        </p:spPr>
      </p:sp>
      <p:sp>
        <p:nvSpPr>
          <p:cNvPr id="51" name="Text 49"/>
          <p:cNvSpPr txBox="1"/>
          <p:nvPr/>
        </p:nvSpPr>
        <p:spPr>
          <a:xfrm>
            <a:off x="6235601" y="2897386"/>
            <a:ext cx="232082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IOptionsMonitor</a:t>
            </a:r>
            <a:pPr algn="l" indent="0" marL="0">
              <a:buNone/>
            </a:pPr>
            <a:r>
              <a:rPr lang="en-US" sz="1056" dirty="0">
                <a:solidFill>
                  <a:srgbClr val="16303F"/>
                </a:solidFill>
                <a:latin typeface="Manrope" pitchFamily="34" charset="0"/>
                <a:ea typeface="Manrope" pitchFamily="34" charset="-122"/>
                <a:cs typeface="Manrope" pitchFamily="34" charset="-120"/>
              </a:rPr>
              <a:t> + explicit refresh</a:t>
            </a:r>
            <a:endParaRPr lang="en-US" sz="972" dirty="0"/>
          </a:p>
        </p:txBody>
      </p:sp>
      <p:sp>
        <p:nvSpPr>
          <p:cNvPr id="52" name="Shape 50"/>
          <p:cNvSpPr/>
          <p:nvPr/>
        </p:nvSpPr>
        <p:spPr>
          <a:xfrm>
            <a:off x="457200" y="3687812"/>
            <a:ext cx="8420100" cy="9525"/>
          </a:xfrm>
          <a:prstGeom prst="rect">
            <a:avLst/>
          </a:prstGeom>
          <a:solidFill>
            <a:srgbClr val="9CA3AF">
              <a:alpha val="20000"/>
            </a:srgbClr>
          </a:solidFill>
          <a:ln/>
        </p:spPr>
      </p:sp>
      <p:sp>
        <p:nvSpPr>
          <p:cNvPr id="53" name="Shape 51"/>
          <p:cNvSpPr/>
          <p:nvPr/>
        </p:nvSpPr>
        <p:spPr>
          <a:xfrm>
            <a:off x="457200" y="3687812"/>
            <a:ext cx="1787426" cy="9525"/>
          </a:xfrm>
          <a:prstGeom prst="rect">
            <a:avLst/>
          </a:prstGeom>
          <a:solidFill>
            <a:srgbClr val="DDD9D2"/>
          </a:solidFill>
          <a:ln/>
        </p:spPr>
      </p:sp>
      <p:sp>
        <p:nvSpPr>
          <p:cNvPr id="54" name="Text 52"/>
          <p:cNvSpPr txBox="1"/>
          <p:nvPr/>
        </p:nvSpPr>
        <p:spPr>
          <a:xfrm>
            <a:off x="563761" y="3437037"/>
            <a:ext cx="93017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Console / CLI</a:t>
            </a:r>
            <a:endParaRPr lang="en-US" sz="1056" dirty="0"/>
          </a:p>
        </p:txBody>
      </p:sp>
      <p:sp>
        <p:nvSpPr>
          <p:cNvPr id="55" name="Shape 53"/>
          <p:cNvSpPr/>
          <p:nvPr/>
        </p:nvSpPr>
        <p:spPr>
          <a:xfrm>
            <a:off x="2244626" y="3687812"/>
            <a:ext cx="1919139" cy="9525"/>
          </a:xfrm>
          <a:prstGeom prst="rect">
            <a:avLst/>
          </a:prstGeom>
          <a:solidFill>
            <a:srgbClr val="DDD9D2"/>
          </a:solidFill>
          <a:ln/>
        </p:spPr>
      </p:sp>
      <p:sp>
        <p:nvSpPr>
          <p:cNvPr id="56" name="Text 54"/>
          <p:cNvSpPr txBox="1"/>
          <p:nvPr/>
        </p:nvSpPr>
        <p:spPr>
          <a:xfrm>
            <a:off x="2351187" y="3437037"/>
            <a:ext cx="1438275"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JSON + command line</a:t>
            </a:r>
            <a:endParaRPr lang="en-US" sz="1056" dirty="0"/>
          </a:p>
        </p:txBody>
      </p:sp>
      <p:sp>
        <p:nvSpPr>
          <p:cNvPr id="57" name="Shape 55"/>
          <p:cNvSpPr/>
          <p:nvPr/>
        </p:nvSpPr>
        <p:spPr>
          <a:xfrm>
            <a:off x="4163764" y="3687812"/>
            <a:ext cx="1920925" cy="9525"/>
          </a:xfrm>
          <a:prstGeom prst="rect">
            <a:avLst/>
          </a:prstGeom>
          <a:solidFill>
            <a:srgbClr val="DDD9D2"/>
          </a:solidFill>
          <a:ln/>
        </p:spPr>
      </p:sp>
      <p:sp>
        <p:nvSpPr>
          <p:cNvPr id="58" name="Text 56"/>
          <p:cNvSpPr txBox="1"/>
          <p:nvPr/>
        </p:nvSpPr>
        <p:spPr>
          <a:xfrm>
            <a:off x="4270325" y="3437037"/>
            <a:ext cx="127843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user secrets in dev</a:t>
            </a:r>
            <a:endParaRPr lang="en-US" sz="1056" dirty="0"/>
          </a:p>
        </p:txBody>
      </p:sp>
      <p:sp>
        <p:nvSpPr>
          <p:cNvPr id="59" name="Shape 57"/>
          <p:cNvSpPr/>
          <p:nvPr/>
        </p:nvSpPr>
        <p:spPr>
          <a:xfrm>
            <a:off x="6084689" y="3687812"/>
            <a:ext cx="2792611" cy="9525"/>
          </a:xfrm>
          <a:prstGeom prst="rect">
            <a:avLst/>
          </a:prstGeom>
          <a:solidFill>
            <a:srgbClr val="DDD9D2"/>
          </a:solidFill>
          <a:ln/>
        </p:spPr>
      </p:sp>
      <p:sp>
        <p:nvSpPr>
          <p:cNvPr id="60" name="Text 58"/>
          <p:cNvSpPr txBox="1"/>
          <p:nvPr/>
        </p:nvSpPr>
        <p:spPr>
          <a:xfrm>
            <a:off x="6191250" y="3437037"/>
            <a:ext cx="162892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 — short-lived process</a:t>
            </a:r>
            <a:endParaRPr lang="en-US" sz="1056" dirty="0"/>
          </a:p>
        </p:txBody>
      </p:sp>
      <p:sp>
        <p:nvSpPr>
          <p:cNvPr id="61" name="Shape 59"/>
          <p:cNvSpPr/>
          <p:nvPr/>
        </p:nvSpPr>
        <p:spPr>
          <a:xfrm>
            <a:off x="457200" y="3697337"/>
            <a:ext cx="8420100" cy="539651"/>
          </a:xfrm>
          <a:prstGeom prst="rect">
            <a:avLst/>
          </a:prstGeom>
          <a:solidFill>
            <a:srgbClr val="16303F">
              <a:alpha val="3000"/>
            </a:srgbClr>
          </a:solidFill>
          <a:ln/>
        </p:spPr>
      </p:sp>
      <p:sp>
        <p:nvSpPr>
          <p:cNvPr id="62" name="Shape 60"/>
          <p:cNvSpPr/>
          <p:nvPr/>
        </p:nvSpPr>
        <p:spPr>
          <a:xfrm>
            <a:off x="457200" y="4227463"/>
            <a:ext cx="8420100" cy="9525"/>
          </a:xfrm>
          <a:prstGeom prst="rect">
            <a:avLst/>
          </a:prstGeom>
          <a:solidFill>
            <a:srgbClr val="9CA3AF">
              <a:alpha val="20000"/>
            </a:srgbClr>
          </a:solidFill>
          <a:ln/>
        </p:spPr>
      </p:sp>
      <p:sp>
        <p:nvSpPr>
          <p:cNvPr id="63" name="Shape 61"/>
          <p:cNvSpPr/>
          <p:nvPr/>
        </p:nvSpPr>
        <p:spPr>
          <a:xfrm>
            <a:off x="457200" y="4227463"/>
            <a:ext cx="1787426" cy="9525"/>
          </a:xfrm>
          <a:prstGeom prst="rect">
            <a:avLst/>
          </a:prstGeom>
          <a:solidFill>
            <a:srgbClr val="DDD9D2"/>
          </a:solidFill>
          <a:ln/>
        </p:spPr>
      </p:sp>
      <p:sp>
        <p:nvSpPr>
          <p:cNvPr id="64" name="Text 62"/>
          <p:cNvSpPr txBox="1"/>
          <p:nvPr/>
        </p:nvSpPr>
        <p:spPr>
          <a:xfrm>
            <a:off x="563761" y="3775621"/>
            <a:ext cx="62954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Desktop</a:t>
            </a:r>
            <a:endParaRPr lang="en-US" sz="1056" dirty="0"/>
          </a:p>
        </p:txBody>
      </p:sp>
      <p:sp>
        <p:nvSpPr>
          <p:cNvPr id="65" name="Shape 63"/>
          <p:cNvSpPr/>
          <p:nvPr/>
        </p:nvSpPr>
        <p:spPr>
          <a:xfrm>
            <a:off x="2244626" y="4227463"/>
            <a:ext cx="1919139" cy="9525"/>
          </a:xfrm>
          <a:prstGeom prst="rect">
            <a:avLst/>
          </a:prstGeom>
          <a:solidFill>
            <a:srgbClr val="DDD9D2"/>
          </a:solidFill>
          <a:ln/>
        </p:spPr>
      </p:sp>
      <p:sp>
        <p:nvSpPr>
          <p:cNvPr id="66" name="Text 64"/>
          <p:cNvSpPr txBox="1"/>
          <p:nvPr/>
        </p:nvSpPr>
        <p:spPr>
          <a:xfrm>
            <a:off x="2351306" y="3775621"/>
            <a:ext cx="1724829" cy="382042"/>
          </a:xfrm>
          <a:prstGeom prst="rect">
            <a:avLst/>
          </a:prstGeom>
          <a:noFill/>
          <a:ln/>
        </p:spPr>
        <p:txBody>
          <a:bodyPr wrap="square" lIns="0" tIns="0" rIns="0" bIns="0" rtlCol="0" anchor="t"/>
          <a:lstStyle/>
          <a:p>
            <a:pPr algn="l" indent="0" marL="0">
              <a:lnSpc>
                <a:spcPts val="1583"/>
              </a:lnSpc>
              <a:buNone/>
            </a:pPr>
            <a:r>
              <a:rPr lang="en-US" sz="1056" dirty="0">
                <a:solidFill>
                  <a:srgbClr val="16303F"/>
                </a:solidFill>
                <a:latin typeface="Manrope" pitchFamily="34" charset="0"/>
                <a:ea typeface="Manrope" pitchFamily="34" charset="-122"/>
                <a:cs typeface="Manrope" pitchFamily="34" charset="-120"/>
              </a:rPr>
              <a:t>JSON next to the EXE + AppData</a:t>
            </a:r>
            <a:endParaRPr lang="en-US" sz="1056" dirty="0"/>
          </a:p>
        </p:txBody>
      </p:sp>
      <p:sp>
        <p:nvSpPr>
          <p:cNvPr id="67" name="Shape 65"/>
          <p:cNvSpPr/>
          <p:nvPr/>
        </p:nvSpPr>
        <p:spPr>
          <a:xfrm>
            <a:off x="4163764" y="4227463"/>
            <a:ext cx="1920925" cy="9525"/>
          </a:xfrm>
          <a:prstGeom prst="rect">
            <a:avLst/>
          </a:prstGeom>
          <a:solidFill>
            <a:srgbClr val="DDD9D2"/>
          </a:solidFill>
          <a:ln/>
        </p:spPr>
      </p:sp>
      <p:sp>
        <p:nvSpPr>
          <p:cNvPr id="68" name="Text 66"/>
          <p:cNvSpPr txBox="1"/>
          <p:nvPr/>
        </p:nvSpPr>
        <p:spPr>
          <a:xfrm>
            <a:off x="4270325" y="3775621"/>
            <a:ext cx="125968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none in the client</a:t>
            </a:r>
            <a:endParaRPr lang="en-US" sz="1056" dirty="0"/>
          </a:p>
        </p:txBody>
      </p:sp>
      <p:sp>
        <p:nvSpPr>
          <p:cNvPr id="69" name="Shape 67"/>
          <p:cNvSpPr/>
          <p:nvPr/>
        </p:nvSpPr>
        <p:spPr>
          <a:xfrm>
            <a:off x="6084689" y="4227463"/>
            <a:ext cx="2792611" cy="9525"/>
          </a:xfrm>
          <a:prstGeom prst="rect">
            <a:avLst/>
          </a:prstGeom>
          <a:solidFill>
            <a:srgbClr val="DDD9D2"/>
          </a:solidFill>
          <a:ln/>
        </p:spPr>
      </p:sp>
      <p:sp>
        <p:nvSpPr>
          <p:cNvPr id="70" name="Text 68"/>
          <p:cNvSpPr txBox="1"/>
          <p:nvPr/>
        </p:nvSpPr>
        <p:spPr>
          <a:xfrm>
            <a:off x="6191250" y="3775621"/>
            <a:ext cx="178072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restart, or call your own API</a:t>
            </a:r>
            <a:endParaRPr lang="en-US" sz="1056"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226159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Don’t do this</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034504" cy="19050"/>
          </a:xfrm>
          <a:prstGeom prst="rect">
            <a:avLst/>
          </a:prstGeom>
          <a:solidFill>
            <a:srgbClr val="16303F"/>
          </a:solidFill>
          <a:ln/>
        </p:spPr>
      </p:sp>
      <p:sp>
        <p:nvSpPr>
          <p:cNvPr id="6" name="Shape 4"/>
          <p:cNvSpPr/>
          <p:nvPr/>
        </p:nvSpPr>
        <p:spPr>
          <a:xfrm>
            <a:off x="1491704" y="1377404"/>
            <a:ext cx="7385596" cy="19050"/>
          </a:xfrm>
          <a:prstGeom prst="rect">
            <a:avLst/>
          </a:prstGeom>
          <a:solidFill>
            <a:srgbClr val="16303F"/>
          </a:solidFill>
          <a:ln/>
        </p:spPr>
      </p:sp>
      <p:sp>
        <p:nvSpPr>
          <p:cNvPr id="7" name="Text 5"/>
          <p:cNvSpPr txBox="1"/>
          <p:nvPr/>
        </p:nvSpPr>
        <p:spPr>
          <a:xfrm>
            <a:off x="1598265" y="1163092"/>
            <a:ext cx="205100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THE ONE THAT COSTS YOU MOST</a:t>
            </a:r>
            <a:endParaRPr lang="en-US" sz="816" dirty="0"/>
          </a:p>
        </p:txBody>
      </p:sp>
      <p:sp>
        <p:nvSpPr>
          <p:cNvPr id="8" name="Shape 6"/>
          <p:cNvSpPr/>
          <p:nvPr/>
        </p:nvSpPr>
        <p:spPr>
          <a:xfrm>
            <a:off x="457200" y="1733252"/>
            <a:ext cx="8420100" cy="9525"/>
          </a:xfrm>
          <a:prstGeom prst="rect">
            <a:avLst/>
          </a:prstGeom>
          <a:solidFill>
            <a:srgbClr val="9CA3AF">
              <a:alpha val="20000"/>
            </a:srgbClr>
          </a:solidFill>
          <a:ln/>
        </p:spPr>
      </p:sp>
      <p:sp>
        <p:nvSpPr>
          <p:cNvPr id="9" name="Shape 7"/>
          <p:cNvSpPr/>
          <p:nvPr/>
        </p:nvSpPr>
        <p:spPr>
          <a:xfrm>
            <a:off x="457200" y="1733252"/>
            <a:ext cx="1034504" cy="9525"/>
          </a:xfrm>
          <a:prstGeom prst="rect">
            <a:avLst/>
          </a:prstGeom>
          <a:solidFill>
            <a:srgbClr val="DDD9D2"/>
          </a:solidFill>
          <a:ln/>
        </p:spPr>
      </p:sp>
      <p:sp>
        <p:nvSpPr>
          <p:cNvPr id="10" name="Text 8"/>
          <p:cNvSpPr txBox="1"/>
          <p:nvPr/>
        </p:nvSpPr>
        <p:spPr>
          <a:xfrm>
            <a:off x="563761" y="1479500"/>
            <a:ext cx="57016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ORDER</a:t>
            </a:r>
            <a:endParaRPr lang="en-US" sz="1056" dirty="0"/>
          </a:p>
        </p:txBody>
      </p:sp>
      <p:sp>
        <p:nvSpPr>
          <p:cNvPr id="11" name="Shape 9"/>
          <p:cNvSpPr/>
          <p:nvPr/>
        </p:nvSpPr>
        <p:spPr>
          <a:xfrm>
            <a:off x="1491704" y="1733252"/>
            <a:ext cx="7385596" cy="9525"/>
          </a:xfrm>
          <a:prstGeom prst="rect">
            <a:avLst/>
          </a:prstGeom>
          <a:solidFill>
            <a:srgbClr val="DDD9D2"/>
          </a:solidFill>
          <a:ln/>
        </p:spPr>
      </p:sp>
      <p:sp>
        <p:nvSpPr>
          <p:cNvPr id="12" name="Shape 10"/>
          <p:cNvSpPr/>
          <p:nvPr/>
        </p:nvSpPr>
        <p:spPr>
          <a:xfrm>
            <a:off x="2879527" y="1488728"/>
            <a:ext cx="2087017" cy="181570"/>
          </a:xfrm>
          <a:prstGeom prst="roundRect">
            <a:avLst>
              <a:gd name="adj" fmla="val 20984"/>
            </a:avLst>
          </a:prstGeom>
          <a:solidFill>
            <a:srgbClr val="16303F">
              <a:alpha val="7000"/>
            </a:srgbClr>
          </a:solidFill>
          <a:ln/>
        </p:spPr>
      </p:sp>
      <p:sp>
        <p:nvSpPr>
          <p:cNvPr id="13" name="Text 11"/>
          <p:cNvSpPr txBox="1"/>
          <p:nvPr/>
        </p:nvSpPr>
        <p:spPr>
          <a:xfrm>
            <a:off x="1598265" y="1479500"/>
            <a:ext cx="494377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assuming an array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pPr algn="l" indent="0" marL="0">
              <a:buNone/>
            </a:pPr>
            <a:r>
              <a:rPr lang="en-US" sz="1056" dirty="0">
                <a:solidFill>
                  <a:srgbClr val="16303F"/>
                </a:solidFill>
                <a:latin typeface="Manrope" pitchFamily="34" charset="0"/>
                <a:ea typeface="Manrope" pitchFamily="34" charset="-122"/>
                <a:cs typeface="Manrope" pitchFamily="34" charset="-120"/>
              </a:rPr>
              <a:t> replaces the base array</a:t>
            </a:r>
            <a:endParaRPr lang="en-US" sz="1056" dirty="0"/>
          </a:p>
        </p:txBody>
      </p:sp>
      <p:sp>
        <p:nvSpPr>
          <p:cNvPr id="14" name="Shape 12"/>
          <p:cNvSpPr/>
          <p:nvPr/>
        </p:nvSpPr>
        <p:spPr>
          <a:xfrm>
            <a:off x="457200" y="1742777"/>
            <a:ext cx="8420100" cy="341561"/>
          </a:xfrm>
          <a:prstGeom prst="rect">
            <a:avLst/>
          </a:prstGeom>
          <a:solidFill>
            <a:srgbClr val="16303F">
              <a:alpha val="3000"/>
            </a:srgbClr>
          </a:solidFill>
          <a:ln/>
        </p:spPr>
      </p:sp>
      <p:sp>
        <p:nvSpPr>
          <p:cNvPr id="15" name="Shape 13"/>
          <p:cNvSpPr/>
          <p:nvPr/>
        </p:nvSpPr>
        <p:spPr>
          <a:xfrm>
            <a:off x="457200" y="2074813"/>
            <a:ext cx="8420100" cy="9525"/>
          </a:xfrm>
          <a:prstGeom prst="rect">
            <a:avLst/>
          </a:prstGeom>
          <a:solidFill>
            <a:srgbClr val="9CA3AF">
              <a:alpha val="20000"/>
            </a:srgbClr>
          </a:solidFill>
          <a:ln/>
        </p:spPr>
      </p:sp>
      <p:sp>
        <p:nvSpPr>
          <p:cNvPr id="16" name="Shape 14"/>
          <p:cNvSpPr/>
          <p:nvPr/>
        </p:nvSpPr>
        <p:spPr>
          <a:xfrm>
            <a:off x="457200" y="2074813"/>
            <a:ext cx="1034504" cy="9525"/>
          </a:xfrm>
          <a:prstGeom prst="rect">
            <a:avLst/>
          </a:prstGeom>
          <a:solidFill>
            <a:srgbClr val="DDD9D2"/>
          </a:solidFill>
          <a:ln/>
        </p:spPr>
      </p:sp>
      <p:sp>
        <p:nvSpPr>
          <p:cNvPr id="17" name="Text 15"/>
          <p:cNvSpPr txBox="1"/>
          <p:nvPr/>
        </p:nvSpPr>
        <p:spPr>
          <a:xfrm>
            <a:off x="563761" y="1821061"/>
            <a:ext cx="560636"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SHAPE</a:t>
            </a:r>
            <a:endParaRPr lang="en-US" sz="1056" dirty="0"/>
          </a:p>
        </p:txBody>
      </p:sp>
      <p:sp>
        <p:nvSpPr>
          <p:cNvPr id="18" name="Shape 16"/>
          <p:cNvSpPr/>
          <p:nvPr/>
        </p:nvSpPr>
        <p:spPr>
          <a:xfrm>
            <a:off x="1491704" y="2074813"/>
            <a:ext cx="7385596" cy="9525"/>
          </a:xfrm>
          <a:prstGeom prst="rect">
            <a:avLst/>
          </a:prstGeom>
          <a:solidFill>
            <a:srgbClr val="DDD9D2"/>
          </a:solidFill>
          <a:ln/>
        </p:spPr>
      </p:sp>
      <p:sp>
        <p:nvSpPr>
          <p:cNvPr id="19" name="Shape 17"/>
          <p:cNvSpPr/>
          <p:nvPr/>
        </p:nvSpPr>
        <p:spPr>
          <a:xfrm>
            <a:off x="1598265" y="1830288"/>
            <a:ext cx="1494979" cy="181570"/>
          </a:xfrm>
          <a:prstGeom prst="roundRect">
            <a:avLst>
              <a:gd name="adj" fmla="val 20984"/>
            </a:avLst>
          </a:prstGeom>
          <a:solidFill>
            <a:srgbClr val="16303F">
              <a:alpha val="7000"/>
            </a:srgbClr>
          </a:solidFill>
          <a:ln/>
        </p:spPr>
      </p:sp>
      <p:sp>
        <p:nvSpPr>
          <p:cNvPr id="20" name="Text 18"/>
          <p:cNvSpPr txBox="1"/>
          <p:nvPr/>
        </p:nvSpPr>
        <p:spPr>
          <a:xfrm>
            <a:off x="1642616" y="1821061"/>
            <a:ext cx="4439096"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config["Some:Key"]!</a:t>
            </a:r>
            <a:pPr algn="l" indent="0" marL="0">
              <a:buNone/>
            </a:pPr>
            <a:r>
              <a:rPr lang="en-US" sz="1056" dirty="0">
                <a:solidFill>
                  <a:srgbClr val="16303F"/>
                </a:solidFill>
                <a:latin typeface="Manrope" pitchFamily="34" charset="0"/>
                <a:ea typeface="Manrope" pitchFamily="34" charset="-122"/>
                <a:cs typeface="Manrope" pitchFamily="34" charset="-120"/>
              </a:rPr>
              <a:t> with a null-forgiving operator and no validation</a:t>
            </a:r>
            <a:endParaRPr lang="en-US" sz="972" dirty="0"/>
          </a:p>
        </p:txBody>
      </p:sp>
      <p:sp>
        <p:nvSpPr>
          <p:cNvPr id="21" name="Shape 19"/>
          <p:cNvSpPr/>
          <p:nvPr/>
        </p:nvSpPr>
        <p:spPr>
          <a:xfrm>
            <a:off x="457200" y="2416373"/>
            <a:ext cx="8420100" cy="9525"/>
          </a:xfrm>
          <a:prstGeom prst="rect">
            <a:avLst/>
          </a:prstGeom>
          <a:solidFill>
            <a:srgbClr val="9CA3AF">
              <a:alpha val="20000"/>
            </a:srgbClr>
          </a:solidFill>
          <a:ln/>
        </p:spPr>
      </p:sp>
      <p:sp>
        <p:nvSpPr>
          <p:cNvPr id="22" name="Shape 20"/>
          <p:cNvSpPr/>
          <p:nvPr/>
        </p:nvSpPr>
        <p:spPr>
          <a:xfrm>
            <a:off x="457200" y="2416373"/>
            <a:ext cx="1034504" cy="9525"/>
          </a:xfrm>
          <a:prstGeom prst="rect">
            <a:avLst/>
          </a:prstGeom>
          <a:solidFill>
            <a:srgbClr val="DDD9D2"/>
          </a:solidFill>
          <a:ln/>
        </p:spPr>
      </p:sp>
      <p:sp>
        <p:nvSpPr>
          <p:cNvPr id="23" name="Text 21"/>
          <p:cNvSpPr txBox="1"/>
          <p:nvPr/>
        </p:nvSpPr>
        <p:spPr>
          <a:xfrm>
            <a:off x="563761" y="2162621"/>
            <a:ext cx="692795"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LIFETIME</a:t>
            </a:r>
            <a:endParaRPr lang="en-US" sz="1056" dirty="0"/>
          </a:p>
        </p:txBody>
      </p:sp>
      <p:sp>
        <p:nvSpPr>
          <p:cNvPr id="24" name="Shape 22"/>
          <p:cNvSpPr/>
          <p:nvPr/>
        </p:nvSpPr>
        <p:spPr>
          <a:xfrm>
            <a:off x="1491704" y="2416373"/>
            <a:ext cx="7385596" cy="9525"/>
          </a:xfrm>
          <a:prstGeom prst="rect">
            <a:avLst/>
          </a:prstGeom>
          <a:solidFill>
            <a:srgbClr val="DDD9D2"/>
          </a:solidFill>
          <a:ln/>
        </p:spPr>
      </p:sp>
      <p:sp>
        <p:nvSpPr>
          <p:cNvPr id="25" name="Shape 23"/>
          <p:cNvSpPr/>
          <p:nvPr/>
        </p:nvSpPr>
        <p:spPr>
          <a:xfrm>
            <a:off x="1598265" y="2171849"/>
            <a:ext cx="1494979" cy="181570"/>
          </a:xfrm>
          <a:prstGeom prst="roundRect">
            <a:avLst>
              <a:gd name="adj" fmla="val 20984"/>
            </a:avLst>
          </a:prstGeom>
          <a:solidFill>
            <a:srgbClr val="16303F">
              <a:alpha val="7000"/>
            </a:srgbClr>
          </a:solidFill>
          <a:ln/>
        </p:spPr>
      </p:sp>
      <p:sp>
        <p:nvSpPr>
          <p:cNvPr id="26" name="Text 24"/>
          <p:cNvSpPr txBox="1"/>
          <p:nvPr/>
        </p:nvSpPr>
        <p:spPr>
          <a:xfrm>
            <a:off x="1642616" y="2162621"/>
            <a:ext cx="307464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IOptionsSnapshot&lt;T&gt;</a:t>
            </a:r>
            <a:pPr algn="l" indent="0" marL="0">
              <a:buNone/>
            </a:pPr>
            <a:r>
              <a:rPr lang="en-US" sz="1056" dirty="0">
                <a:solidFill>
                  <a:srgbClr val="16303F"/>
                </a:solidFill>
                <a:latin typeface="Manrope" pitchFamily="34" charset="0"/>
                <a:ea typeface="Manrope" pitchFamily="34" charset="-122"/>
                <a:cs typeface="Manrope" pitchFamily="34" charset="-120"/>
              </a:rPr>
              <a:t> injected into a singleton</a:t>
            </a:r>
            <a:endParaRPr lang="en-US" sz="972" dirty="0"/>
          </a:p>
        </p:txBody>
      </p:sp>
      <p:sp>
        <p:nvSpPr>
          <p:cNvPr id="27" name="Shape 25"/>
          <p:cNvSpPr/>
          <p:nvPr/>
        </p:nvSpPr>
        <p:spPr>
          <a:xfrm>
            <a:off x="457200" y="2425898"/>
            <a:ext cx="8420100" cy="341561"/>
          </a:xfrm>
          <a:prstGeom prst="rect">
            <a:avLst/>
          </a:prstGeom>
          <a:solidFill>
            <a:srgbClr val="16303F">
              <a:alpha val="3000"/>
            </a:srgbClr>
          </a:solidFill>
          <a:ln/>
        </p:spPr>
      </p:sp>
      <p:sp>
        <p:nvSpPr>
          <p:cNvPr id="28" name="Shape 26"/>
          <p:cNvSpPr/>
          <p:nvPr/>
        </p:nvSpPr>
        <p:spPr>
          <a:xfrm>
            <a:off x="457200" y="2757934"/>
            <a:ext cx="8420100" cy="9525"/>
          </a:xfrm>
          <a:prstGeom prst="rect">
            <a:avLst/>
          </a:prstGeom>
          <a:solidFill>
            <a:srgbClr val="9CA3AF">
              <a:alpha val="20000"/>
            </a:srgbClr>
          </a:solidFill>
          <a:ln/>
        </p:spPr>
      </p:sp>
      <p:sp>
        <p:nvSpPr>
          <p:cNvPr id="29" name="Shape 27"/>
          <p:cNvSpPr/>
          <p:nvPr/>
        </p:nvSpPr>
        <p:spPr>
          <a:xfrm>
            <a:off x="457200" y="2757934"/>
            <a:ext cx="1034504" cy="9525"/>
          </a:xfrm>
          <a:prstGeom prst="rect">
            <a:avLst/>
          </a:prstGeom>
          <a:solidFill>
            <a:srgbClr val="DDD9D2"/>
          </a:solidFill>
          <a:ln/>
        </p:spPr>
      </p:sp>
      <p:sp>
        <p:nvSpPr>
          <p:cNvPr id="30" name="Text 28"/>
          <p:cNvSpPr txBox="1"/>
          <p:nvPr/>
        </p:nvSpPr>
        <p:spPr>
          <a:xfrm>
            <a:off x="563761" y="2504182"/>
            <a:ext cx="551111"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TRUST</a:t>
            </a:r>
            <a:endParaRPr lang="en-US" sz="1056" dirty="0"/>
          </a:p>
        </p:txBody>
      </p:sp>
      <p:sp>
        <p:nvSpPr>
          <p:cNvPr id="31" name="Shape 29"/>
          <p:cNvSpPr/>
          <p:nvPr/>
        </p:nvSpPr>
        <p:spPr>
          <a:xfrm>
            <a:off x="1491704" y="2757934"/>
            <a:ext cx="7385596" cy="9525"/>
          </a:xfrm>
          <a:prstGeom prst="rect">
            <a:avLst/>
          </a:prstGeom>
          <a:solidFill>
            <a:srgbClr val="DDD9D2"/>
          </a:solidFill>
          <a:ln/>
        </p:spPr>
      </p:sp>
      <p:sp>
        <p:nvSpPr>
          <p:cNvPr id="32" name="Shape 30"/>
          <p:cNvSpPr/>
          <p:nvPr/>
        </p:nvSpPr>
        <p:spPr>
          <a:xfrm>
            <a:off x="2929979" y="2513409"/>
            <a:ext cx="1272927" cy="181570"/>
          </a:xfrm>
          <a:prstGeom prst="roundRect">
            <a:avLst>
              <a:gd name="adj" fmla="val 20984"/>
            </a:avLst>
          </a:prstGeom>
          <a:solidFill>
            <a:srgbClr val="16303F">
              <a:alpha val="7000"/>
            </a:srgbClr>
          </a:solidFill>
          <a:ln/>
        </p:spPr>
      </p:sp>
      <p:sp>
        <p:nvSpPr>
          <p:cNvPr id="33" name="Shape 31"/>
          <p:cNvSpPr/>
          <p:nvPr/>
        </p:nvSpPr>
        <p:spPr>
          <a:xfrm>
            <a:off x="4949577" y="2513409"/>
            <a:ext cx="2087017" cy="181570"/>
          </a:xfrm>
          <a:prstGeom prst="roundRect">
            <a:avLst>
              <a:gd name="adj" fmla="val 20984"/>
            </a:avLst>
          </a:prstGeom>
          <a:solidFill>
            <a:srgbClr val="16303F">
              <a:alpha val="7000"/>
            </a:srgbClr>
          </a:solidFill>
          <a:ln/>
        </p:spPr>
      </p:sp>
      <p:sp>
        <p:nvSpPr>
          <p:cNvPr id="34" name="Text 32"/>
          <p:cNvSpPr txBox="1"/>
          <p:nvPr/>
        </p:nvSpPr>
        <p:spPr>
          <a:xfrm>
            <a:off x="1598265" y="2504182"/>
            <a:ext cx="5508278"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secrets committed in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appsettings.json</a:t>
            </a:r>
            <a:pPr algn="l" indent="0" marL="0">
              <a:buNone/>
            </a:pPr>
            <a:r>
              <a:rPr lang="en-US" sz="1056" dirty="0">
                <a:solidFill>
                  <a:srgbClr val="16303F"/>
                </a:solidFill>
                <a:latin typeface="Manrope" pitchFamily="34" charset="0"/>
                <a:ea typeface="Manrope" pitchFamily="34" charset="-122"/>
                <a:cs typeface="Manrope" pitchFamily="34" charset="-120"/>
              </a:rPr>
              <a:t> — or worse, </a:t>
            </a:r>
            <a:pPr algn="l" indent="0" marL="0">
              <a:buNone/>
            </a:pPr>
            <a:r>
              <a:rPr lang="en-US" sz="972" dirty="0">
                <a:solidFill>
                  <a:srgbClr val="16303F"/>
                </a:solidFill>
                <a:latin typeface="JetBrains Mono" pitchFamily="34" charset="0"/>
                <a:ea typeface="JetBrains Mono" pitchFamily="34" charset="-122"/>
                <a:cs typeface="JetBrains Mono" pitchFamily="34" charset="-120"/>
              </a:rPr>
              <a:t>appsettings.Production.json</a:t>
            </a:r>
            <a:endParaRPr lang="en-US" sz="1056"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726296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A desktop app gets installed, not deployed</a:t>
            </a:r>
            <a:endParaRPr lang="en-US" sz="2820" dirty="0"/>
          </a:p>
        </p:txBody>
      </p:sp>
      <p:sp>
        <p:nvSpPr>
          <p:cNvPr id="4" name="Shape 2"/>
          <p:cNvSpPr/>
          <p:nvPr/>
        </p:nvSpPr>
        <p:spPr>
          <a:xfrm>
            <a:off x="457200" y="1386929"/>
            <a:ext cx="8420100" cy="9525"/>
          </a:xfrm>
          <a:prstGeom prst="rect">
            <a:avLst/>
          </a:prstGeom>
          <a:solidFill>
            <a:srgbClr val="9CA3AF">
              <a:alpha val="20000"/>
            </a:srgbClr>
          </a:solidFill>
          <a:ln/>
        </p:spPr>
      </p:sp>
      <p:sp>
        <p:nvSpPr>
          <p:cNvPr id="5" name="Shape 3"/>
          <p:cNvSpPr/>
          <p:nvPr/>
        </p:nvSpPr>
        <p:spPr>
          <a:xfrm>
            <a:off x="457200" y="1377404"/>
            <a:ext cx="1438573" cy="19050"/>
          </a:xfrm>
          <a:prstGeom prst="rect">
            <a:avLst/>
          </a:prstGeom>
          <a:solidFill>
            <a:srgbClr val="16303F"/>
          </a:solidFill>
          <a:ln/>
        </p:spPr>
      </p:sp>
      <p:sp>
        <p:nvSpPr>
          <p:cNvPr id="6" name="Shape 4"/>
          <p:cNvSpPr/>
          <p:nvPr/>
        </p:nvSpPr>
        <p:spPr>
          <a:xfrm>
            <a:off x="1895773" y="1377404"/>
            <a:ext cx="2010966" cy="19050"/>
          </a:xfrm>
          <a:prstGeom prst="rect">
            <a:avLst/>
          </a:prstGeom>
          <a:solidFill>
            <a:srgbClr val="16303F"/>
          </a:solidFill>
          <a:ln/>
        </p:spPr>
      </p:sp>
      <p:sp>
        <p:nvSpPr>
          <p:cNvPr id="7" name="Text 5"/>
          <p:cNvSpPr txBox="1"/>
          <p:nvPr/>
        </p:nvSpPr>
        <p:spPr>
          <a:xfrm>
            <a:off x="2002334" y="1163092"/>
            <a:ext cx="574923"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SERVER</a:t>
            </a:r>
            <a:endParaRPr lang="en-US" sz="816" dirty="0"/>
          </a:p>
        </p:txBody>
      </p:sp>
      <p:sp>
        <p:nvSpPr>
          <p:cNvPr id="8" name="Shape 6"/>
          <p:cNvSpPr/>
          <p:nvPr/>
        </p:nvSpPr>
        <p:spPr>
          <a:xfrm>
            <a:off x="3906738" y="1377404"/>
            <a:ext cx="4970562" cy="19050"/>
          </a:xfrm>
          <a:prstGeom prst="rect">
            <a:avLst/>
          </a:prstGeom>
          <a:solidFill>
            <a:srgbClr val="16303F"/>
          </a:solidFill>
          <a:ln/>
        </p:spPr>
      </p:sp>
      <p:sp>
        <p:nvSpPr>
          <p:cNvPr id="9" name="Text 7"/>
          <p:cNvSpPr txBox="1"/>
          <p:nvPr/>
        </p:nvSpPr>
        <p:spPr>
          <a:xfrm>
            <a:off x="4013299" y="1163092"/>
            <a:ext cx="669280"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DESKTOP</a:t>
            </a:r>
            <a:endParaRPr lang="en-US" sz="816" dirty="0"/>
          </a:p>
        </p:txBody>
      </p:sp>
      <p:sp>
        <p:nvSpPr>
          <p:cNvPr id="10" name="Shape 8"/>
          <p:cNvSpPr/>
          <p:nvPr/>
        </p:nvSpPr>
        <p:spPr>
          <a:xfrm>
            <a:off x="457200" y="1730276"/>
            <a:ext cx="8420100" cy="9525"/>
          </a:xfrm>
          <a:prstGeom prst="rect">
            <a:avLst/>
          </a:prstGeom>
          <a:solidFill>
            <a:srgbClr val="9CA3AF">
              <a:alpha val="20000"/>
            </a:srgbClr>
          </a:solidFill>
          <a:ln/>
        </p:spPr>
      </p:sp>
      <p:sp>
        <p:nvSpPr>
          <p:cNvPr id="11" name="Shape 9"/>
          <p:cNvSpPr/>
          <p:nvPr/>
        </p:nvSpPr>
        <p:spPr>
          <a:xfrm>
            <a:off x="457200" y="1730276"/>
            <a:ext cx="1438573" cy="9525"/>
          </a:xfrm>
          <a:prstGeom prst="rect">
            <a:avLst/>
          </a:prstGeom>
          <a:solidFill>
            <a:srgbClr val="DDD9D2"/>
          </a:solidFill>
          <a:ln/>
        </p:spPr>
      </p:sp>
      <p:sp>
        <p:nvSpPr>
          <p:cNvPr id="12" name="Text 10"/>
          <p:cNvSpPr txBox="1"/>
          <p:nvPr/>
        </p:nvSpPr>
        <p:spPr>
          <a:xfrm>
            <a:off x="563761" y="1479500"/>
            <a:ext cx="69190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Local dev</a:t>
            </a:r>
            <a:endParaRPr lang="en-US" sz="1056" dirty="0"/>
          </a:p>
        </p:txBody>
      </p:sp>
      <p:sp>
        <p:nvSpPr>
          <p:cNvPr id="13" name="Shape 11"/>
          <p:cNvSpPr/>
          <p:nvPr/>
        </p:nvSpPr>
        <p:spPr>
          <a:xfrm>
            <a:off x="1895773" y="1730276"/>
            <a:ext cx="2010966" cy="9525"/>
          </a:xfrm>
          <a:prstGeom prst="rect">
            <a:avLst/>
          </a:prstGeom>
          <a:solidFill>
            <a:srgbClr val="DDD9D2"/>
          </a:solidFill>
          <a:ln/>
        </p:spPr>
      </p:sp>
      <p:sp>
        <p:nvSpPr>
          <p:cNvPr id="14" name="Text 12"/>
          <p:cNvSpPr txBox="1"/>
          <p:nvPr/>
        </p:nvSpPr>
        <p:spPr>
          <a:xfrm>
            <a:off x="2002334"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5" name="Shape 13"/>
          <p:cNvSpPr/>
          <p:nvPr/>
        </p:nvSpPr>
        <p:spPr>
          <a:xfrm>
            <a:off x="3906738" y="1730276"/>
            <a:ext cx="4970562" cy="9525"/>
          </a:xfrm>
          <a:prstGeom prst="rect">
            <a:avLst/>
          </a:prstGeom>
          <a:solidFill>
            <a:srgbClr val="DDD9D2"/>
          </a:solidFill>
          <a:ln/>
        </p:spPr>
      </p:sp>
      <p:sp>
        <p:nvSpPr>
          <p:cNvPr id="16" name="Text 14"/>
          <p:cNvSpPr txBox="1"/>
          <p:nvPr/>
        </p:nvSpPr>
        <p:spPr>
          <a:xfrm>
            <a:off x="4013299" y="1479500"/>
            <a:ext cx="331291"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yes</a:t>
            </a:r>
            <a:endParaRPr lang="en-US" sz="1056" dirty="0"/>
          </a:p>
        </p:txBody>
      </p:sp>
      <p:sp>
        <p:nvSpPr>
          <p:cNvPr id="17" name="Shape 15"/>
          <p:cNvSpPr/>
          <p:nvPr/>
        </p:nvSpPr>
        <p:spPr>
          <a:xfrm>
            <a:off x="457200" y="1739801"/>
            <a:ext cx="8420100" cy="338584"/>
          </a:xfrm>
          <a:prstGeom prst="rect">
            <a:avLst/>
          </a:prstGeom>
          <a:solidFill>
            <a:srgbClr val="16303F">
              <a:alpha val="3000"/>
            </a:srgbClr>
          </a:solidFill>
          <a:ln/>
        </p:spPr>
      </p:sp>
      <p:sp>
        <p:nvSpPr>
          <p:cNvPr id="18" name="Shape 16"/>
          <p:cNvSpPr/>
          <p:nvPr/>
        </p:nvSpPr>
        <p:spPr>
          <a:xfrm>
            <a:off x="457200" y="2068860"/>
            <a:ext cx="8420100" cy="9525"/>
          </a:xfrm>
          <a:prstGeom prst="rect">
            <a:avLst/>
          </a:prstGeom>
          <a:solidFill>
            <a:srgbClr val="9CA3AF">
              <a:alpha val="20000"/>
            </a:srgbClr>
          </a:solidFill>
          <a:ln/>
        </p:spPr>
      </p:sp>
      <p:sp>
        <p:nvSpPr>
          <p:cNvPr id="19" name="Shape 17"/>
          <p:cNvSpPr/>
          <p:nvPr/>
        </p:nvSpPr>
        <p:spPr>
          <a:xfrm>
            <a:off x="457200" y="2068860"/>
            <a:ext cx="1438573" cy="9525"/>
          </a:xfrm>
          <a:prstGeom prst="rect">
            <a:avLst/>
          </a:prstGeom>
          <a:solidFill>
            <a:srgbClr val="DDD9D2"/>
          </a:solidFill>
          <a:ln/>
        </p:spPr>
      </p:sp>
      <p:sp>
        <p:nvSpPr>
          <p:cNvPr id="20" name="Text 18"/>
          <p:cNvSpPr txBox="1"/>
          <p:nvPr/>
        </p:nvSpPr>
        <p:spPr>
          <a:xfrm>
            <a:off x="563761" y="1818084"/>
            <a:ext cx="86186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Deployment</a:t>
            </a:r>
            <a:endParaRPr lang="en-US" sz="1056" dirty="0"/>
          </a:p>
        </p:txBody>
      </p:sp>
      <p:sp>
        <p:nvSpPr>
          <p:cNvPr id="21" name="Shape 19"/>
          <p:cNvSpPr/>
          <p:nvPr/>
        </p:nvSpPr>
        <p:spPr>
          <a:xfrm>
            <a:off x="1895773" y="2068860"/>
            <a:ext cx="2010966" cy="9525"/>
          </a:xfrm>
          <a:prstGeom prst="rect">
            <a:avLst/>
          </a:prstGeom>
          <a:solidFill>
            <a:srgbClr val="DDD9D2"/>
          </a:solidFill>
          <a:ln/>
        </p:spPr>
      </p:sp>
      <p:sp>
        <p:nvSpPr>
          <p:cNvPr id="22" name="Text 20"/>
          <p:cNvSpPr txBox="1"/>
          <p:nvPr/>
        </p:nvSpPr>
        <p:spPr>
          <a:xfrm>
            <a:off x="2002334" y="1818084"/>
            <a:ext cx="62969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 deploy</a:t>
            </a:r>
            <a:endParaRPr lang="en-US" sz="1056" dirty="0"/>
          </a:p>
        </p:txBody>
      </p:sp>
      <p:sp>
        <p:nvSpPr>
          <p:cNvPr id="23" name="Shape 21"/>
          <p:cNvSpPr/>
          <p:nvPr/>
        </p:nvSpPr>
        <p:spPr>
          <a:xfrm>
            <a:off x="3906738" y="2068860"/>
            <a:ext cx="4970562" cy="9525"/>
          </a:xfrm>
          <a:prstGeom prst="rect">
            <a:avLst/>
          </a:prstGeom>
          <a:solidFill>
            <a:srgbClr val="DDD9D2"/>
          </a:solidFill>
          <a:ln/>
        </p:spPr>
      </p:sp>
      <p:sp>
        <p:nvSpPr>
          <p:cNvPr id="24" name="Text 22"/>
          <p:cNvSpPr txBox="1"/>
          <p:nvPr/>
        </p:nvSpPr>
        <p:spPr>
          <a:xfrm>
            <a:off x="4013299" y="1818084"/>
            <a:ext cx="71095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an </a:t>
            </a:r>
            <a:pPr algn="l" indent="0" marL="0">
              <a:buNone/>
            </a:pPr>
            <a:r>
              <a:rPr lang="en-US" sz="1056" b="1" dirty="0">
                <a:solidFill>
                  <a:srgbClr val="16303F"/>
                </a:solidFill>
                <a:latin typeface="Manrope" pitchFamily="34" charset="0"/>
                <a:ea typeface="Manrope" pitchFamily="34" charset="-122"/>
                <a:cs typeface="Manrope" pitchFamily="34" charset="-120"/>
              </a:rPr>
              <a:t>install</a:t>
            </a:r>
            <a:endParaRPr lang="en-US" sz="1056" dirty="0"/>
          </a:p>
        </p:txBody>
      </p:sp>
      <p:sp>
        <p:nvSpPr>
          <p:cNvPr id="25" name="Shape 23"/>
          <p:cNvSpPr/>
          <p:nvPr/>
        </p:nvSpPr>
        <p:spPr>
          <a:xfrm>
            <a:off x="457200" y="2407444"/>
            <a:ext cx="8420100" cy="9525"/>
          </a:xfrm>
          <a:prstGeom prst="rect">
            <a:avLst/>
          </a:prstGeom>
          <a:solidFill>
            <a:srgbClr val="9CA3AF">
              <a:alpha val="20000"/>
            </a:srgbClr>
          </a:solidFill>
          <a:ln/>
        </p:spPr>
      </p:sp>
      <p:sp>
        <p:nvSpPr>
          <p:cNvPr id="26" name="Shape 24"/>
          <p:cNvSpPr/>
          <p:nvPr/>
        </p:nvSpPr>
        <p:spPr>
          <a:xfrm>
            <a:off x="457200" y="2407444"/>
            <a:ext cx="1438573" cy="9525"/>
          </a:xfrm>
          <a:prstGeom prst="rect">
            <a:avLst/>
          </a:prstGeom>
          <a:solidFill>
            <a:srgbClr val="DDD9D2"/>
          </a:solidFill>
          <a:ln/>
        </p:spPr>
      </p:sp>
      <p:sp>
        <p:nvSpPr>
          <p:cNvPr id="27" name="Text 25"/>
          <p:cNvSpPr txBox="1"/>
          <p:nvPr/>
        </p:nvSpPr>
        <p:spPr>
          <a:xfrm>
            <a:off x="563761" y="2156668"/>
            <a:ext cx="556022"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Shared</a:t>
            </a:r>
            <a:endParaRPr lang="en-US" sz="1056" dirty="0"/>
          </a:p>
        </p:txBody>
      </p:sp>
      <p:sp>
        <p:nvSpPr>
          <p:cNvPr id="28" name="Shape 26"/>
          <p:cNvSpPr/>
          <p:nvPr/>
        </p:nvSpPr>
        <p:spPr>
          <a:xfrm>
            <a:off x="1895773" y="2407444"/>
            <a:ext cx="2010966" cy="9525"/>
          </a:xfrm>
          <a:prstGeom prst="rect">
            <a:avLst/>
          </a:prstGeom>
          <a:solidFill>
            <a:srgbClr val="DDD9D2"/>
          </a:solidFill>
          <a:ln/>
        </p:spPr>
      </p:sp>
      <p:sp>
        <p:nvSpPr>
          <p:cNvPr id="29" name="Text 27"/>
          <p:cNvSpPr txBox="1"/>
          <p:nvPr/>
        </p:nvSpPr>
        <p:spPr>
          <a:xfrm>
            <a:off x="2002334" y="2156668"/>
            <a:ext cx="124405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App Configuration</a:t>
            </a:r>
            <a:endParaRPr lang="en-US" sz="1056" dirty="0"/>
          </a:p>
        </p:txBody>
      </p:sp>
      <p:sp>
        <p:nvSpPr>
          <p:cNvPr id="30" name="Shape 28"/>
          <p:cNvSpPr/>
          <p:nvPr/>
        </p:nvSpPr>
        <p:spPr>
          <a:xfrm>
            <a:off x="3906738" y="2407444"/>
            <a:ext cx="4970562" cy="9525"/>
          </a:xfrm>
          <a:prstGeom prst="rect">
            <a:avLst/>
          </a:prstGeom>
          <a:solidFill>
            <a:srgbClr val="DDD9D2"/>
          </a:solidFill>
          <a:ln/>
        </p:spPr>
      </p:sp>
      <p:sp>
        <p:nvSpPr>
          <p:cNvPr id="31" name="Text 29"/>
          <p:cNvSpPr txBox="1"/>
          <p:nvPr/>
        </p:nvSpPr>
        <p:spPr>
          <a:xfrm>
            <a:off x="4013299" y="2156668"/>
            <a:ext cx="322034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no directly trusted shared provider in the client</a:t>
            </a:r>
            <a:endParaRPr lang="en-US" sz="1056" dirty="0"/>
          </a:p>
        </p:txBody>
      </p:sp>
      <p:sp>
        <p:nvSpPr>
          <p:cNvPr id="32" name="Text 30"/>
          <p:cNvSpPr txBox="1"/>
          <p:nvPr/>
        </p:nvSpPr>
        <p:spPr>
          <a:xfrm>
            <a:off x="441900" y="262741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3" name="Shape 31"/>
          <p:cNvSpPr/>
          <p:nvPr/>
        </p:nvSpPr>
        <p:spPr>
          <a:xfrm>
            <a:off x="655141" y="2645122"/>
            <a:ext cx="3138190" cy="202704"/>
          </a:xfrm>
          <a:prstGeom prst="roundRect">
            <a:avLst>
              <a:gd name="adj" fmla="val 18796"/>
            </a:avLst>
          </a:prstGeom>
          <a:solidFill>
            <a:srgbClr val="16303F">
              <a:alpha val="7000"/>
            </a:srgbClr>
          </a:solidFill>
          <a:ln/>
        </p:spPr>
      </p:sp>
      <p:sp>
        <p:nvSpPr>
          <p:cNvPr id="34" name="Text 32"/>
          <p:cNvSpPr txBox="1"/>
          <p:nvPr/>
        </p:nvSpPr>
        <p:spPr>
          <a:xfrm>
            <a:off x="655260" y="2636937"/>
            <a:ext cx="8241090"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SetBasePath(AppContext.BaseDirectory)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the working directory of a double-clicked EXE is not the install directory</a:t>
            </a:r>
            <a:endParaRPr lang="en-US" sz="1080" dirty="0"/>
          </a:p>
        </p:txBody>
      </p:sp>
      <p:sp>
        <p:nvSpPr>
          <p:cNvPr id="35" name="Text 33"/>
          <p:cNvSpPr txBox="1"/>
          <p:nvPr/>
        </p:nvSpPr>
        <p:spPr>
          <a:xfrm>
            <a:off x="441900" y="313030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6" name="Shape 34"/>
          <p:cNvSpPr/>
          <p:nvPr/>
        </p:nvSpPr>
        <p:spPr>
          <a:xfrm>
            <a:off x="655141" y="3148012"/>
            <a:ext cx="1245394" cy="202704"/>
          </a:xfrm>
          <a:prstGeom prst="roundRect">
            <a:avLst>
              <a:gd name="adj" fmla="val 18796"/>
            </a:avLst>
          </a:prstGeom>
          <a:solidFill>
            <a:srgbClr val="16303F">
              <a:alpha val="7000"/>
            </a:srgbClr>
          </a:solidFill>
          <a:ln/>
        </p:spPr>
      </p:sp>
      <p:sp>
        <p:nvSpPr>
          <p:cNvPr id="37" name="Text 35"/>
          <p:cNvSpPr txBox="1"/>
          <p:nvPr/>
        </p:nvSpPr>
        <p:spPr>
          <a:xfrm>
            <a:off x="655260" y="3139827"/>
            <a:ext cx="8321704" cy="438150"/>
          </a:xfrm>
          <a:prstGeom prst="rect">
            <a:avLst/>
          </a:prstGeom>
          <a:noFill/>
          <a:ln/>
        </p:spPr>
        <p:txBody>
          <a:bodyPr wrap="square" lIns="0" tIns="0" rIns="0" bIns="0" rtlCol="0" anchor="t"/>
          <a:lstStyle/>
          <a:p>
            <a:pPr algn="l" indent="0" marL="0">
              <a:lnSpc>
                <a:spcPts val="1800"/>
              </a:lnSpc>
              <a:buNone/>
            </a:pPr>
            <a:r>
              <a:rPr lang="en-US" sz="1080" dirty="0">
                <a:solidFill>
                  <a:srgbClr val="44535A"/>
                </a:solidFill>
                <a:latin typeface="JetBrains Mono" pitchFamily="34" charset="0"/>
                <a:ea typeface="JetBrains Mono" pitchFamily="34" charset="-122"/>
                <a:cs typeface="JetBrains Mono" pitchFamily="34" charset="-120"/>
              </a:rPr>
              <a:t>IConfiguration</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has an indexer setter but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no persistence API</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nothing writes back to the JSON. User preferences are a different problem</a:t>
            </a:r>
            <a:endParaRPr lang="en-US" sz="1080" dirty="0"/>
          </a:p>
        </p:txBody>
      </p:sp>
      <p:sp>
        <p:nvSpPr>
          <p:cNvPr id="38" name="Text 36"/>
          <p:cNvSpPr txBox="1"/>
          <p:nvPr/>
        </p:nvSpPr>
        <p:spPr>
          <a:xfrm>
            <a:off x="441900" y="3633192"/>
            <a:ext cx="297180" cy="228600"/>
          </a:xfrm>
          <a:prstGeom prst="rect">
            <a:avLst/>
          </a:prstGeom>
          <a:noFill/>
          <a:ln/>
        </p:spPr>
        <p:txBody>
          <a:bodyPr wrap="none" lIns="0" tIns="0" rIns="0" bIns="0" rtlCol="0" anchor="ctr"/>
          <a:lstStyle/>
          <a:p>
            <a:pPr algn="l" indent="0" marL="0">
              <a:buNone/>
            </a:pPr>
            <a:r>
              <a:rPr lang="en-US" sz="1200" dirty="0">
                <a:solidFill>
                  <a:srgbClr val="44535A"/>
                </a:solidFill>
                <a:latin typeface="Manrope" pitchFamily="34" charset="0"/>
                <a:ea typeface="Manrope" pitchFamily="34" charset="-122"/>
                <a:cs typeface="Manrope" pitchFamily="34" charset="-120"/>
              </a:rPr>
              <a:t>▪ </a:t>
            </a:r>
            <a:endParaRPr lang="en-US" sz="1200" dirty="0"/>
          </a:p>
        </p:txBody>
      </p:sp>
      <p:sp>
        <p:nvSpPr>
          <p:cNvPr id="39" name="Text 37"/>
          <p:cNvSpPr txBox="1"/>
          <p:nvPr/>
        </p:nvSpPr>
        <p:spPr>
          <a:xfrm>
            <a:off x="655141" y="3642717"/>
            <a:ext cx="5284143" cy="209550"/>
          </a:xfrm>
          <a:prstGeom prst="rect">
            <a:avLst/>
          </a:prstGeom>
          <a:noFill/>
          <a:ln/>
        </p:spPr>
        <p:txBody>
          <a:bodyPr wrap="none" lIns="0" tIns="0" rIns="0" bIns="0" rtlCol="0" anchor="t"/>
          <a:lstStyle/>
          <a:p>
            <a:pPr algn="l" indent="0" marL="0">
              <a:buNone/>
            </a:pPr>
            <a:r>
              <a:rPr lang="en-US" sz="1200" b="1" dirty="0">
                <a:solidFill>
                  <a:srgbClr val="44535A"/>
                </a:solidFill>
                <a:latin typeface="Manrope" pitchFamily="34" charset="0"/>
                <a:ea typeface="Manrope" pitchFamily="34" charset="-122"/>
                <a:cs typeface="Manrope" pitchFamily="34" charset="-120"/>
              </a:rPr>
              <a:t>No cloud secrets in a client binary.</a:t>
            </a:r>
            <a:pPr algn="l" indent="0" marL="0">
              <a:buNone/>
            </a:pPr>
            <a:r>
              <a:rPr lang="en-US" sz="1200" dirty="0">
                <a:solidFill>
                  <a:srgbClr val="44535A"/>
                </a:solidFill>
                <a:latin typeface="Manrope" pitchFamily="34" charset="0"/>
                <a:ea typeface="Manrope" pitchFamily="34" charset="-122"/>
                <a:cs typeface="Manrope" pitchFamily="34" charset="-120"/>
              </a:rPr>
              <a:t> Authenticate the user, call a backend</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358330"/>
            <a:ext cx="1988493"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Questions</a:t>
            </a:r>
            <a:endParaRPr lang="en-US" sz="3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87561" y="1617911"/>
            <a:ext cx="4001988" cy="619125"/>
          </a:xfrm>
          <a:prstGeom prst="rect">
            <a:avLst/>
          </a:prstGeom>
          <a:noFill/>
          <a:ln/>
        </p:spPr>
        <p:txBody>
          <a:bodyPr wrap="none" lIns="0" tIns="0" rIns="0" bIns="0" rtlCol="0" anchor="t"/>
          <a:lstStyle/>
          <a:p>
            <a:pPr algn="l" indent="0" marL="0">
              <a:buNone/>
            </a:pPr>
            <a:r>
              <a:rPr lang="en-US" sz="3600" b="1" spc="-72" kern="0" dirty="0">
                <a:solidFill>
                  <a:srgbClr val="16303F"/>
                </a:solidFill>
                <a:latin typeface="Manrope" pitchFamily="34" charset="0"/>
                <a:ea typeface="Manrope" pitchFamily="34" charset="-122"/>
                <a:cs typeface="Manrope" pitchFamily="34" charset="-120"/>
              </a:rPr>
              <a:t>Let’s keep talking.</a:t>
            </a:r>
            <a:endParaRPr lang="en-US" sz="3600" dirty="0"/>
          </a:p>
        </p:txBody>
      </p:sp>
      <p:sp>
        <p:nvSpPr>
          <p:cNvPr id="4" name="Shape 2"/>
          <p:cNvSpPr/>
          <p:nvPr/>
        </p:nvSpPr>
        <p:spPr>
          <a:xfrm>
            <a:off x="487561" y="2518116"/>
            <a:ext cx="47625" cy="47625"/>
          </a:xfrm>
          <a:prstGeom prst="roundRect">
            <a:avLst>
              <a:gd name="adj" fmla="val 50000"/>
            </a:avLst>
          </a:prstGeom>
          <a:solidFill>
            <a:srgbClr val="F4C233"/>
          </a:solidFill>
          <a:ln/>
        </p:spPr>
      </p:sp>
      <p:sp>
        <p:nvSpPr>
          <p:cNvPr id="5" name="Text 3"/>
          <p:cNvSpPr txBox="1"/>
          <p:nvPr/>
        </p:nvSpPr>
        <p:spPr>
          <a:xfrm>
            <a:off x="632222" y="2428429"/>
            <a:ext cx="1633984"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consultwithgriff.com</a:t>
            </a:r>
            <a:endParaRPr lang="en-US" sz="1260" dirty="0"/>
          </a:p>
        </p:txBody>
      </p:sp>
      <p:sp>
        <p:nvSpPr>
          <p:cNvPr id="6" name="Shape 4"/>
          <p:cNvSpPr/>
          <p:nvPr/>
        </p:nvSpPr>
        <p:spPr>
          <a:xfrm>
            <a:off x="487561" y="2806694"/>
            <a:ext cx="47625" cy="47625"/>
          </a:xfrm>
          <a:prstGeom prst="roundRect">
            <a:avLst>
              <a:gd name="adj" fmla="val 50000"/>
            </a:avLst>
          </a:prstGeom>
          <a:solidFill>
            <a:srgbClr val="F4C233"/>
          </a:solidFill>
          <a:ln/>
        </p:spPr>
      </p:sp>
      <p:sp>
        <p:nvSpPr>
          <p:cNvPr id="7" name="Text 5"/>
          <p:cNvSpPr txBox="1"/>
          <p:nvPr/>
        </p:nvSpPr>
        <p:spPr>
          <a:xfrm>
            <a:off x="632222" y="2717006"/>
            <a:ext cx="3878312"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github.com/1kevgriff/modern-dotnet-configuration</a:t>
            </a:r>
            <a:endParaRPr lang="en-US" sz="1260" dirty="0"/>
          </a:p>
        </p:txBody>
      </p:sp>
      <p:sp>
        <p:nvSpPr>
          <p:cNvPr id="8" name="Shape 6"/>
          <p:cNvSpPr/>
          <p:nvPr/>
        </p:nvSpPr>
        <p:spPr>
          <a:xfrm>
            <a:off x="487561" y="3095271"/>
            <a:ext cx="47625" cy="47625"/>
          </a:xfrm>
          <a:prstGeom prst="roundRect">
            <a:avLst>
              <a:gd name="adj" fmla="val 50000"/>
            </a:avLst>
          </a:prstGeom>
          <a:solidFill>
            <a:srgbClr val="F4C233"/>
          </a:solidFill>
          <a:ln/>
        </p:spPr>
      </p:sp>
      <p:sp>
        <p:nvSpPr>
          <p:cNvPr id="9" name="Text 7"/>
          <p:cNvSpPr txBox="1"/>
          <p:nvPr/>
        </p:nvSpPr>
        <p:spPr>
          <a:xfrm>
            <a:off x="632222" y="3005584"/>
            <a:ext cx="2474416"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X · LinkedIn · GitHub — @1kevgriff</a:t>
            </a:r>
            <a:endParaRPr lang="en-US" sz="1260" dirty="0"/>
          </a:p>
        </p:txBody>
      </p:sp>
      <p:sp>
        <p:nvSpPr>
          <p:cNvPr id="10" name="Shape 8"/>
          <p:cNvSpPr/>
          <p:nvPr/>
        </p:nvSpPr>
        <p:spPr>
          <a:xfrm>
            <a:off x="487561" y="3383849"/>
            <a:ext cx="47625" cy="47625"/>
          </a:xfrm>
          <a:prstGeom prst="roundRect">
            <a:avLst>
              <a:gd name="adj" fmla="val 50000"/>
            </a:avLst>
          </a:prstGeom>
          <a:solidFill>
            <a:srgbClr val="F4C233"/>
          </a:solidFill>
          <a:ln/>
        </p:spPr>
      </p:sp>
      <p:sp>
        <p:nvSpPr>
          <p:cNvPr id="11" name="Text 9"/>
          <p:cNvSpPr txBox="1"/>
          <p:nvPr/>
        </p:nvSpPr>
        <p:spPr>
          <a:xfrm>
            <a:off x="632222" y="3294162"/>
            <a:ext cx="2538710" cy="219075"/>
          </a:xfrm>
          <a:prstGeom prst="rect">
            <a:avLst/>
          </a:prstGeom>
          <a:noFill/>
          <a:ln/>
        </p:spPr>
        <p:txBody>
          <a:bodyPr wrap="none" lIns="0" tIns="0" rIns="0" bIns="0" rtlCol="0" anchor="t"/>
          <a:lstStyle/>
          <a:p>
            <a:pPr algn="l" indent="0" marL="0">
              <a:buNone/>
            </a:pPr>
            <a:r>
              <a:rPr lang="en-US" sz="1260" dirty="0">
                <a:solidFill>
                  <a:srgbClr val="16303F"/>
                </a:solidFill>
                <a:latin typeface="Manrope" pitchFamily="34" charset="0"/>
                <a:ea typeface="Manrope" pitchFamily="34" charset="-122"/>
                <a:cs typeface="Manrope" pitchFamily="34" charset="-120"/>
              </a:rPr>
              <a:t>Bluesky — @consultwithgriff.com</a:t>
            </a:r>
            <a:endParaRPr lang="en-US" sz="1260" dirty="0"/>
          </a:p>
        </p:txBody>
      </p:sp>
      <p:pic>
        <p:nvPicPr>
          <p:cNvPr id="12" name="Image 0" descr="Rendered as an image because of CSS background-image">    </p:cNvPr>
          <p:cNvPicPr>
            <a:picLocks noChangeAspect="1"/>
          </p:cNvPicPr>
          <p:nvPr/>
        </p:nvPicPr>
        <p:blipFill>
          <a:blip r:embed="rId1"/>
          <a:stretch>
            <a:fillRect/>
          </a:stretch>
        </p:blipFill>
        <p:spPr>
          <a:xfrm>
            <a:off x="5673626" y="0"/>
            <a:ext cx="3660874" cy="52578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16303F"/>
          </a:solidFill>
          <a:ln/>
        </p:spPr>
      </p:sp>
      <p:sp>
        <p:nvSpPr>
          <p:cNvPr id="3" name="Text 1"/>
          <p:cNvSpPr txBox="1"/>
          <p:nvPr/>
        </p:nvSpPr>
        <p:spPr>
          <a:xfrm>
            <a:off x="609600" y="2257871"/>
            <a:ext cx="934641" cy="161925"/>
          </a:xfrm>
          <a:prstGeom prst="rect">
            <a:avLst/>
          </a:prstGeom>
          <a:noFill/>
          <a:ln/>
        </p:spPr>
        <p:txBody>
          <a:bodyPr wrap="none" lIns="0" tIns="0" rIns="0" bIns="0" rtlCol="0" anchor="t"/>
          <a:lstStyle/>
          <a:p>
            <a:pPr algn="l" indent="0" marL="0">
              <a:buNone/>
            </a:pPr>
            <a:r>
              <a:rPr lang="en-US" sz="936" b="1" spc="225" kern="0" dirty="0">
                <a:solidFill>
                  <a:srgbClr val="F4C233"/>
                </a:solidFill>
                <a:latin typeface="Manrope" pitchFamily="34" charset="0"/>
                <a:ea typeface="Manrope" pitchFamily="34" charset="-122"/>
                <a:cs typeface="Manrope" pitchFamily="34" charset="-120"/>
              </a:rPr>
              <a:t>APPENDIX</a:t>
            </a:r>
            <a:endParaRPr lang="en-US" sz="936" dirty="0"/>
          </a:p>
        </p:txBody>
      </p:sp>
      <p:sp>
        <p:nvSpPr>
          <p:cNvPr id="4" name="Text 2"/>
          <p:cNvSpPr txBox="1"/>
          <p:nvPr/>
        </p:nvSpPr>
        <p:spPr>
          <a:xfrm>
            <a:off x="609600" y="2516088"/>
            <a:ext cx="4791521" cy="523875"/>
          </a:xfrm>
          <a:prstGeom prst="rect">
            <a:avLst/>
          </a:prstGeom>
          <a:noFill/>
          <a:ln/>
        </p:spPr>
        <p:txBody>
          <a:bodyPr wrap="none" lIns="0" tIns="0" rIns="0" bIns="0" rtlCol="0" anchor="t"/>
          <a:lstStyle/>
          <a:p>
            <a:pPr algn="l" indent="0" marL="0">
              <a:buNone/>
            </a:pPr>
            <a:r>
              <a:rPr lang="en-US" sz="3000" b="1" spc="-60" kern="0" dirty="0">
                <a:solidFill>
                  <a:srgbClr val="F7F6F3"/>
                </a:solidFill>
                <a:latin typeface="Manrope" pitchFamily="34" charset="0"/>
                <a:ea typeface="Manrope" pitchFamily="34" charset="-122"/>
                <a:cs typeface="Manrope" pitchFamily="34" charset="-120"/>
              </a:rPr>
              <a:t>Useful details we skipped.</a:t>
            </a:r>
            <a:endParaRPr lang="en-US" sz="3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480346"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Four became eleven</a:t>
            </a:r>
            <a:endParaRPr lang="en-US" sz="2820" dirty="0"/>
          </a:p>
        </p:txBody>
      </p:sp>
      <p:sp>
        <p:nvSpPr>
          <p:cNvPr id="4" name="Text 2"/>
          <p:cNvSpPr txBox="1"/>
          <p:nvPr/>
        </p:nvSpPr>
        <p:spPr>
          <a:xfrm>
            <a:off x="457200" y="987921"/>
            <a:ext cx="407045" cy="638175"/>
          </a:xfrm>
          <a:prstGeom prst="rect">
            <a:avLst/>
          </a:prstGeom>
          <a:noFill/>
          <a:ln/>
        </p:spPr>
        <p:txBody>
          <a:bodyPr wrap="none" lIns="0" tIns="0" rIns="0" bIns="0" rtlCol="0" anchor="t"/>
          <a:lstStyle/>
          <a:p>
            <a:pPr algn="l" indent="0" marL="0">
              <a:buNone/>
            </a:pPr>
            <a:r>
              <a:rPr lang="en-US" sz="3840" b="1" dirty="0">
                <a:solidFill>
                  <a:srgbClr val="44535A"/>
                </a:solidFill>
                <a:latin typeface="JetBrains Mono" pitchFamily="34" charset="0"/>
                <a:ea typeface="JetBrains Mono" pitchFamily="34" charset="-122"/>
                <a:cs typeface="JetBrains Mono" pitchFamily="34" charset="-120"/>
              </a:rPr>
              <a:t>4</a:t>
            </a:r>
            <a:endParaRPr lang="en-US" sz="3840" dirty="0"/>
          </a:p>
        </p:txBody>
      </p:sp>
      <p:pic>
        <p:nvPicPr>
          <p:cNvPr id="5" name="Image 0" descr="Rendered as an image because of CSS svg">    </p:cNvPr>
          <p:cNvPicPr>
            <a:picLocks noChangeAspect="1"/>
          </p:cNvPicPr>
          <p:nvPr/>
        </p:nvPicPr>
        <p:blipFill>
          <a:blip r:embed="rId1"/>
          <a:stretch>
            <a:fillRect/>
          </a:stretch>
        </p:blipFill>
        <p:spPr>
          <a:xfrm>
            <a:off x="917525" y="1231702"/>
            <a:ext cx="457200" cy="152400"/>
          </a:xfrm>
          <a:prstGeom prst="rect">
            <a:avLst/>
          </a:prstGeom>
        </p:spPr>
      </p:pic>
      <p:sp>
        <p:nvSpPr>
          <p:cNvPr id="6" name="Text 3"/>
          <p:cNvSpPr txBox="1"/>
          <p:nvPr/>
        </p:nvSpPr>
        <p:spPr>
          <a:xfrm>
            <a:off x="1542306" y="987921"/>
            <a:ext cx="699641" cy="638175"/>
          </a:xfrm>
          <a:prstGeom prst="rect">
            <a:avLst/>
          </a:prstGeom>
          <a:noFill/>
          <a:ln/>
        </p:spPr>
        <p:txBody>
          <a:bodyPr wrap="none" lIns="0" tIns="0" rIns="0" bIns="0" rtlCol="0" anchor="t"/>
          <a:lstStyle/>
          <a:p>
            <a:pPr algn="l" indent="0" marL="0">
              <a:buNone/>
            </a:pPr>
            <a:r>
              <a:rPr lang="en-US" sz="3840" b="1" dirty="0">
                <a:solidFill>
                  <a:srgbClr val="F4C233"/>
                </a:solidFill>
                <a:latin typeface="JetBrains Mono" pitchFamily="34" charset="0"/>
                <a:ea typeface="JetBrains Mono" pitchFamily="34" charset="-122"/>
                <a:cs typeface="JetBrains Mono" pitchFamily="34" charset="-120"/>
              </a:rPr>
              <a:t>11</a:t>
            </a:r>
            <a:endParaRPr lang="en-US" sz="3840" dirty="0"/>
          </a:p>
        </p:txBody>
      </p:sp>
      <p:sp>
        <p:nvSpPr>
          <p:cNvPr id="7" name="Shape 4"/>
          <p:cNvSpPr/>
          <p:nvPr/>
        </p:nvSpPr>
        <p:spPr>
          <a:xfrm>
            <a:off x="457200" y="1711821"/>
            <a:ext cx="8420100" cy="1652587"/>
          </a:xfrm>
          <a:prstGeom prst="roundRect">
            <a:avLst>
              <a:gd name="adj" fmla="val 2305"/>
            </a:avLst>
          </a:prstGeom>
          <a:solidFill>
            <a:srgbClr val="011627"/>
          </a:solidFill>
          <a:ln/>
        </p:spPr>
      </p:sp>
      <p:sp>
        <p:nvSpPr>
          <p:cNvPr id="8" name="Text 5"/>
          <p:cNvSpPr txBox="1"/>
          <p:nvPr/>
        </p:nvSpPr>
        <p:spPr>
          <a:xfrm>
            <a:off x="533400" y="1797546"/>
            <a:ext cx="8286750" cy="1476375"/>
          </a:xfrm>
          <a:prstGeom prst="rect">
            <a:avLst/>
          </a:prstGeom>
          <a:noFill/>
          <a:ln/>
        </p:spPr>
        <p:txBody>
          <a:bodyPr wrap="square" lIns="0" tIns="0" rIns="0" bIns="0" rtlCol="0" anchor="t"/>
          <a:lstStyle/>
          <a:p>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9      CUSTOMCONNSTR_   MYSQLCONNSTR_*   SQLCONNSTR_*   SQLAZURECONNSTR_*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.NET 10     + POSTGRESQLCONNSTR_*   DOCDBCONNSTR_        REDISCACHECONNSTR_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SERVICEBUSCONNSTR_    EVENTHUBCONNSTR_     NOTIFICATIONHUBCONNSTR_</a:t>
            </a: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APIHUBCONNSTR_</a:t>
            </a:r>
            <a:br/>
            <a:pPr algn="l" indent="0" marL="0">
              <a:lnSpc>
                <a:spcPts val="1688"/>
              </a:lnSpc>
              <a:buNone/>
            </a:pPr>
            <a:br/>
            <a:pPr algn="l" indent="0" marL="0">
              <a:lnSpc>
                <a:spcPts val="1688"/>
              </a:lnSpc>
              <a:buNone/>
            </a:pPr>
            <a:r>
              <a:rPr lang="en-US" sz="1125" dirty="0">
                <a:solidFill>
                  <a:srgbClr val="D6DEEB"/>
                </a:solidFill>
                <a:latin typeface="JetBrains Mono" pitchFamily="34" charset="0"/>
                <a:ea typeface="JetBrains Mono" pitchFamily="34" charset="-122"/>
                <a:cs typeface="JetBrains Mono" pitchFamily="34" charset="-120"/>
              </a:rPr>
              <a:t>* also sets ConnectionStrings:{KEY}_ProviderName</a:t>
            </a:r>
            <a:endParaRPr lang="en-US" sz="1125"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304800" y="439936"/>
            <a:ext cx="6555581"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Named options and source generators</a:t>
            </a:r>
            <a:endParaRPr lang="en-US" sz="2820" dirty="0"/>
          </a:p>
        </p:txBody>
      </p:sp>
      <p:sp>
        <p:nvSpPr>
          <p:cNvPr id="4" name="Text 2"/>
          <p:cNvSpPr txBox="1"/>
          <p:nvPr/>
        </p:nvSpPr>
        <p:spPr>
          <a:xfrm>
            <a:off x="304800" y="1071711"/>
            <a:ext cx="540841"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NAMED</a:t>
            </a:r>
            <a:endParaRPr lang="en-US" sz="768" dirty="0"/>
          </a:p>
        </p:txBody>
      </p:sp>
      <p:sp>
        <p:nvSpPr>
          <p:cNvPr id="5" name="Shape 3"/>
          <p:cNvSpPr/>
          <p:nvPr/>
        </p:nvSpPr>
        <p:spPr>
          <a:xfrm>
            <a:off x="304800" y="1313855"/>
            <a:ext cx="8724900" cy="1217265"/>
          </a:xfrm>
          <a:prstGeom prst="roundRect">
            <a:avLst>
              <a:gd name="adj" fmla="val 3130"/>
            </a:avLst>
          </a:prstGeom>
          <a:solidFill>
            <a:srgbClr val="011627"/>
          </a:solidFill>
          <a:ln/>
        </p:spPr>
      </p:sp>
      <p:sp>
        <p:nvSpPr>
          <p:cNvPr id="6" name="Text 4"/>
          <p:cNvSpPr txBox="1"/>
          <p:nvPr/>
        </p:nvSpPr>
        <p:spPr>
          <a:xfrm>
            <a:off x="381000" y="1399580"/>
            <a:ext cx="8619696" cy="1032867"/>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Named - same shape, several times</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builder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FAF39F"/>
                </a:solidFill>
                <a:latin typeface="JetBrains Mono" pitchFamily="34" charset="0"/>
                <a:ea typeface="JetBrains Mono" pitchFamily="34" charset="-122"/>
                <a:cs typeface="JetBrains Mono" pitchFamily="34" charset="-120"/>
              </a:rPr>
              <a:t>Services</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Configure</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&lt;EndpointOptions&gt;(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config</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GetSection</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Endpoints:Secondary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br/>
            <a:pPr algn="l" indent="0" marL="0">
              <a:lnSpc>
                <a:spcPts val="1677"/>
              </a:lnSpc>
              <a:buNone/>
            </a:pP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EndpointOptions Primary </a:t>
            </a:r>
            <a:pPr algn="l" indent="0" marL="0">
              <a:lnSpc>
                <a:spcPts val="1677"/>
              </a:lnSpc>
              <a:buNone/>
            </a:pPr>
            <a:r>
              <a:rPr lang="en-US" sz="1118" dirty="0">
                <a:solidFill>
                  <a:srgbClr val="7FDBCA"/>
                </a:solidFill>
                <a:latin typeface="JetBrains Mono" pitchFamily="34" charset="0"/>
                <a:ea typeface="JetBrains Mono" pitchFamily="34" charset="-122"/>
                <a:cs typeface="JetBrains Mono" pitchFamily="34" charset="-120"/>
              </a:rPr>
              <a:t>=&gt;</a:t>
            </a:r>
            <a:pPr algn="l" indent="0" marL="0">
              <a:lnSpc>
                <a:spcPts val="1677"/>
              </a:lnSpc>
              <a:buNone/>
            </a:pPr>
            <a:r>
              <a:rPr lang="en-US" sz="1118" dirty="0">
                <a:solidFill>
                  <a:srgbClr val="B2CCD6"/>
                </a:solidFill>
                <a:latin typeface="JetBrains Mono" pitchFamily="34" charset="0"/>
                <a:ea typeface="JetBrains Mono" pitchFamily="34" charset="-122"/>
                <a:cs typeface="JetBrains Mono" pitchFamily="34" charset="-120"/>
              </a:rPr>
              <a:t> monitor</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82AAFF"/>
                </a:solidFill>
                <a:latin typeface="JetBrains Mono" pitchFamily="34" charset="0"/>
                <a:ea typeface="JetBrains Mono" pitchFamily="34" charset="-122"/>
                <a:cs typeface="JetBrains Mono" pitchFamily="34" charset="-120"/>
              </a:rPr>
              <a:t>Get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ECC48D"/>
                </a:solidFill>
                <a:latin typeface="JetBrains Mono" pitchFamily="34" charset="0"/>
                <a:ea typeface="JetBrains Mono" pitchFamily="34" charset="-122"/>
                <a:cs typeface="JetBrains Mono" pitchFamily="34" charset="-120"/>
              </a:rPr>
              <a:t>primary</a:t>
            </a:r>
            <a:pPr algn="l" indent="0" marL="0">
              <a:lnSpc>
                <a:spcPts val="1677"/>
              </a:lnSpc>
              <a:buNone/>
            </a:pPr>
            <a:r>
              <a:rPr lang="en-US" sz="1118" dirty="0">
                <a:solidFill>
                  <a:srgbClr val="D9F5DD"/>
                </a:solidFill>
                <a:latin typeface="JetBrains Mono" pitchFamily="34" charset="0"/>
                <a:ea typeface="JetBrains Mono" pitchFamily="34" charset="-122"/>
                <a:cs typeface="JetBrains Mono" pitchFamily="34" charset="-120"/>
              </a:rPr>
              <a:t>"</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a:t>
            </a:r>
            <a:endParaRPr lang="en-US" sz="1118" dirty="0"/>
          </a:p>
        </p:txBody>
      </p:sp>
      <p:sp>
        <p:nvSpPr>
          <p:cNvPr id="7" name="Text 5"/>
          <p:cNvSpPr txBox="1"/>
          <p:nvPr/>
        </p:nvSpPr>
        <p:spPr>
          <a:xfrm>
            <a:off x="304800" y="2698700"/>
            <a:ext cx="825698" cy="133350"/>
          </a:xfrm>
          <a:prstGeom prst="rect">
            <a:avLst/>
          </a:prstGeom>
          <a:noFill/>
          <a:ln/>
        </p:spPr>
        <p:txBody>
          <a:bodyPr wrap="none" lIns="0" tIns="0" rIns="0" bIns="0" rtlCol="0" anchor="t"/>
          <a:lstStyle/>
          <a:p>
            <a:pPr algn="l" indent="0" marL="0">
              <a:buNone/>
            </a:pPr>
            <a:r>
              <a:rPr lang="en-US" sz="768" b="1" spc="123" kern="0" dirty="0">
                <a:solidFill>
                  <a:srgbClr val="44535A"/>
                </a:solidFill>
                <a:latin typeface="Manrope" pitchFamily="34" charset="0"/>
                <a:ea typeface="Manrope" pitchFamily="34" charset="-122"/>
                <a:cs typeface="Manrope" pitchFamily="34" charset="-120"/>
              </a:rPr>
              <a:t>GENERATED</a:t>
            </a:r>
            <a:endParaRPr lang="en-US" sz="768" dirty="0"/>
          </a:p>
        </p:txBody>
      </p:sp>
      <p:sp>
        <p:nvSpPr>
          <p:cNvPr id="8" name="Shape 6"/>
          <p:cNvSpPr/>
          <p:nvPr/>
        </p:nvSpPr>
        <p:spPr>
          <a:xfrm>
            <a:off x="304800" y="2940844"/>
            <a:ext cx="8724900" cy="791319"/>
          </a:xfrm>
          <a:prstGeom prst="roundRect">
            <a:avLst>
              <a:gd name="adj" fmla="val 4815"/>
            </a:avLst>
          </a:prstGeom>
          <a:solidFill>
            <a:srgbClr val="011627"/>
          </a:solidFill>
          <a:ln/>
        </p:spPr>
      </p:sp>
      <p:sp>
        <p:nvSpPr>
          <p:cNvPr id="9" name="Text 7"/>
          <p:cNvSpPr txBox="1"/>
          <p:nvPr/>
        </p:nvSpPr>
        <p:spPr>
          <a:xfrm>
            <a:off x="381000" y="3026569"/>
            <a:ext cx="8591550" cy="606921"/>
          </a:xfrm>
          <a:prstGeom prst="rect">
            <a:avLst/>
          </a:prstGeom>
          <a:noFill/>
          <a:ln/>
        </p:spPr>
        <p:txBody>
          <a:bodyPr wrap="square" lIns="0" tIns="0" rIns="0" bIns="0" rtlCol="0" anchor="t"/>
          <a:lstStyle/>
          <a:p>
            <a:pPr algn="l" indent="0" marL="0">
              <a:lnSpc>
                <a:spcPts val="1677"/>
              </a:lnSpc>
              <a:buNone/>
            </a:pPr>
            <a:r>
              <a:rPr lang="en-US" sz="1118" dirty="0">
                <a:solidFill>
                  <a:srgbClr val="637777"/>
                </a:solidFill>
                <a:latin typeface="JetBrains Mono" pitchFamily="34" charset="0"/>
                <a:ea typeface="JetBrains Mono" pitchFamily="34" charset="-122"/>
                <a:cs typeface="JetBrains Mono" pitchFamily="34" charset="-120"/>
              </a:rPr>
              <a:t>// Generated - no reflection at runtime</a:t>
            </a:r>
            <a:b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[OptionsValidator]</a:t>
            </a:r>
            <a:b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public</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sealed</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partial</a:t>
            </a:r>
            <a:pPr algn="l" indent="0" marL="0">
              <a:lnSpc>
                <a:spcPts val="1677"/>
              </a:lnSpc>
              <a:buNone/>
            </a:pPr>
            <a:r>
              <a:rPr lang="en-US" sz="1118" dirty="0">
                <a:solidFill>
                  <a:srgbClr val="C792EA"/>
                </a:solidFill>
                <a:latin typeface="JetBrains Mono" pitchFamily="34" charset="0"/>
                <a:ea typeface="JetBrains Mono" pitchFamily="34" charset="-122"/>
                <a:cs typeface="JetBrains Mono" pitchFamily="34" charset="-120"/>
              </a:rPr>
              <a:t> class</a:t>
            </a:r>
            <a:pPr algn="l" indent="0" marL="0">
              <a:lnSpc>
                <a:spcPts val="1677"/>
              </a:lnSpc>
              <a:buNone/>
            </a:pPr>
            <a:r>
              <a:rPr lang="en-US" sz="1118" dirty="0">
                <a:solidFill>
                  <a:srgbClr val="FFCB8B"/>
                </a:solidFill>
                <a:latin typeface="JetBrains Mono" pitchFamily="34" charset="0"/>
                <a:ea typeface="JetBrains Mono" pitchFamily="34" charset="-122"/>
                <a:cs typeface="JetBrains Mono" pitchFamily="34" charset="-120"/>
              </a:rPr>
              <a:t> ValidateWeatherOptions</a:t>
            </a:r>
            <a:pPr algn="l" indent="0" marL="0">
              <a:lnSpc>
                <a:spcPts val="1677"/>
              </a:lnSpc>
              <a:buNone/>
            </a:pPr>
            <a:r>
              <a:rPr lang="en-US" sz="1118" dirty="0">
                <a:solidFill>
                  <a:srgbClr val="D6DEEB"/>
                </a:solidFill>
                <a:latin typeface="JetBrains Mono" pitchFamily="34" charset="0"/>
                <a:ea typeface="JetBrains Mono" pitchFamily="34" charset="-122"/>
                <a:cs typeface="JetBrains Mono" pitchFamily="34" charset="-120"/>
              </a:rPr>
              <a:t> : IValidateOptions&lt;WeatherOptions&gt;;</a:t>
            </a:r>
            <a:endParaRPr lang="en-US" sz="1118" dirty="0"/>
          </a:p>
        </p:txBody>
      </p:sp>
      <p:sp>
        <p:nvSpPr>
          <p:cNvPr id="10" name="Shape 8"/>
          <p:cNvSpPr/>
          <p:nvPr/>
        </p:nvSpPr>
        <p:spPr>
          <a:xfrm>
            <a:off x="2103834" y="4138464"/>
            <a:ext cx="6594574" cy="202704"/>
          </a:xfrm>
          <a:prstGeom prst="roundRect">
            <a:avLst>
              <a:gd name="adj" fmla="val 18796"/>
            </a:avLst>
          </a:prstGeom>
          <a:solidFill>
            <a:srgbClr val="16303F">
              <a:alpha val="7000"/>
            </a:srgbClr>
          </a:solidFill>
          <a:ln/>
        </p:spPr>
      </p:sp>
      <p:sp>
        <p:nvSpPr>
          <p:cNvPr id="11" name="Text 9"/>
          <p:cNvSpPr txBox="1"/>
          <p:nvPr/>
        </p:nvSpPr>
        <p:spPr>
          <a:xfrm>
            <a:off x="304800" y="4130278"/>
            <a:ext cx="8461325" cy="209550"/>
          </a:xfrm>
          <a:prstGeom prst="rect">
            <a:avLst/>
          </a:prstGeom>
          <a:noFill/>
          <a:ln/>
        </p:spPr>
        <p:txBody>
          <a:bodyPr wrap="none" lIns="0" tIns="0" rIns="0" bIns="0" rtlCol="0" anchor="t"/>
          <a:lstStyle/>
          <a:p>
            <a:pPr algn="l" indent="0" marL="0">
              <a:buNone/>
            </a:pPr>
            <a:r>
              <a:rPr lang="en-US" sz="1200" dirty="0">
                <a:solidFill>
                  <a:srgbClr val="44535A"/>
                </a:solidFill>
                <a:latin typeface="Manrope" pitchFamily="34" charset="0"/>
                <a:ea typeface="Manrope" pitchFamily="34" charset="-122"/>
                <a:cs typeface="Manrope" pitchFamily="34" charset="-120"/>
              </a:rPr>
              <a:t>Plus one line, not a panel: </a:t>
            </a:r>
            <a:pPr algn="l" indent="0" marL="0">
              <a:buNone/>
            </a:pPr>
            <a:r>
              <a:rPr lang="en-US" sz="1080" dirty="0">
                <a:solidFill>
                  <a:srgbClr val="44535A"/>
                </a:solidFill>
                <a:latin typeface="JetBrains Mono" pitchFamily="34" charset="0"/>
                <a:ea typeface="JetBrains Mono" pitchFamily="34" charset="-122"/>
                <a:cs typeface="JetBrains Mono" pitchFamily="34" charset="-120"/>
              </a:rPr>
              <a:t>&lt;EnableConfigurationBindingGenerator&gt;true&lt;/EnableConfigurationBindingGenerator&gt;</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Shape 1"/>
          <p:cNvSpPr/>
          <p:nvPr/>
        </p:nvSpPr>
        <p:spPr>
          <a:xfrm>
            <a:off x="2362646" y="974378"/>
            <a:ext cx="1017836" cy="381000"/>
          </a:xfrm>
          <a:prstGeom prst="roundRect">
            <a:avLst>
              <a:gd name="adj" fmla="val 10000"/>
            </a:avLst>
          </a:prstGeom>
          <a:solidFill>
            <a:srgbClr val="F5F5F5"/>
          </a:solidFill>
          <a:ln/>
        </p:spPr>
      </p:sp>
      <p:sp>
        <p:nvSpPr>
          <p:cNvPr id="4" name="Text 2"/>
          <p:cNvSpPr txBox="1"/>
          <p:nvPr/>
        </p:nvSpPr>
        <p:spPr>
          <a:xfrm>
            <a:off x="628650" y="955328"/>
            <a:ext cx="5104209" cy="390525"/>
          </a:xfrm>
          <a:prstGeom prst="rect">
            <a:avLst/>
          </a:prstGeom>
          <a:noFill/>
          <a:ln/>
        </p:spPr>
        <p:txBody>
          <a:bodyPr wrap="none" lIns="0" tIns="0" rIns="0" bIns="0" rtlCol="0" anchor="t"/>
          <a:lstStyle/>
          <a:p>
            <a:pPr algn="l" indent="0" marL="0">
              <a:buNone/>
            </a:pPr>
            <a:r>
              <a:rPr lang="en-US" sz="2280" b="1" spc="-46" kern="0" dirty="0">
                <a:solidFill>
                  <a:srgbClr val="16303F"/>
                </a:solidFill>
                <a:latin typeface="Manrope" pitchFamily="34" charset="0"/>
                <a:ea typeface="Manrope" pitchFamily="34" charset="-122"/>
                <a:cs typeface="Manrope" pitchFamily="34" charset="-120"/>
              </a:rPr>
              <a:t>A provider is </a:t>
            </a:r>
            <a:pPr algn="l" indent="0" marL="0">
              <a:buNone/>
            </a:pPr>
            <a:r>
              <a:rPr lang="en-US" sz="2052" spc="-46" kern="0" dirty="0">
                <a:solidFill>
                  <a:srgbClr val="16303F"/>
                </a:solidFill>
                <a:latin typeface="JetBrains Mono" pitchFamily="34" charset="0"/>
                <a:ea typeface="JetBrains Mono" pitchFamily="34" charset="-122"/>
                <a:cs typeface="JetBrains Mono" pitchFamily="34" charset="-120"/>
              </a:rPr>
              <a:t>Load()</a:t>
            </a:r>
            <a:pPr algn="l" indent="0" marL="0">
              <a:buNone/>
            </a:pPr>
            <a:r>
              <a:rPr lang="en-US" sz="2280" b="1" spc="-46" kern="0" dirty="0">
                <a:solidFill>
                  <a:srgbClr val="16303F"/>
                </a:solidFill>
                <a:latin typeface="Manrope" pitchFamily="34" charset="0"/>
                <a:ea typeface="Manrope" pitchFamily="34" charset="-122"/>
                <a:cs typeface="Manrope" pitchFamily="34" charset="-120"/>
              </a:rPr>
              <a:t> and a dictionary</a:t>
            </a:r>
            <a:endParaRPr lang="en-US" sz="2280" dirty="0"/>
          </a:p>
        </p:txBody>
      </p:sp>
      <p:sp>
        <p:nvSpPr>
          <p:cNvPr id="5" name="Shape 3"/>
          <p:cNvSpPr/>
          <p:nvPr/>
        </p:nvSpPr>
        <p:spPr>
          <a:xfrm>
            <a:off x="628650" y="1624161"/>
            <a:ext cx="8077200" cy="2480072"/>
          </a:xfrm>
          <a:prstGeom prst="roundRect">
            <a:avLst>
              <a:gd name="adj" fmla="val 1536"/>
            </a:avLst>
          </a:prstGeom>
          <a:solidFill>
            <a:srgbClr val="011627"/>
          </a:solidFill>
          <a:ln/>
        </p:spPr>
      </p:sp>
      <p:sp>
        <p:nvSpPr>
          <p:cNvPr id="6" name="Text 4"/>
          <p:cNvSpPr txBox="1"/>
          <p:nvPr/>
        </p:nvSpPr>
        <p:spPr>
          <a:xfrm>
            <a:off x="704850" y="1709886"/>
            <a:ext cx="7996235" cy="2304455"/>
          </a:xfrm>
          <a:prstGeom prst="rect">
            <a:avLst/>
          </a:prstGeom>
          <a:noFill/>
          <a:ln/>
        </p:spPr>
        <p:txBody>
          <a:bodyPr wrap="square" lIns="0" tIns="0" rIns="0" bIns="0" rtlCol="0" anchor="t"/>
          <a:lstStyle/>
          <a:p>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DotEnvConfigurationSource</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IConfigurationSource</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IConfigurationProvider </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Build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(IConfigurationBuilder builder)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b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new</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DotEnvConfigurationProvider(path);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sealed</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class</a:t>
            </a:r>
            <a:pPr algn="l" indent="0" marL="0">
              <a:lnSpc>
                <a:spcPts val="1833"/>
              </a:lnSpc>
              <a:buNone/>
            </a:pPr>
            <a:r>
              <a:rPr lang="en-US" sz="1223" dirty="0">
                <a:solidFill>
                  <a:srgbClr val="FFCB8B"/>
                </a:solidFill>
                <a:latin typeface="JetBrains Mono" pitchFamily="34" charset="0"/>
                <a:ea typeface="JetBrains Mono" pitchFamily="34" charset="-122"/>
                <a:cs typeface="JetBrains Mono" pitchFamily="34" charset="-120"/>
              </a:rPr>
              <a:t> DotEnvConfigurationProvider</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string</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path) : ConfigurationProvider</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b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public</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override</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 void</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Load</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a:t>
            </a:r>
            <a:pPr algn="l" indent="0" marL="0">
              <a:lnSpc>
                <a:spcPts val="1833"/>
              </a:lnSpc>
              <a:buNone/>
            </a:pPr>
            <a:r>
              <a:rPr lang="en-US" sz="1223" dirty="0">
                <a:solidFill>
                  <a:srgbClr val="7FDBCA"/>
                </a:solidFill>
                <a:latin typeface="JetBrains Mono" pitchFamily="34" charset="0"/>
                <a:ea typeface="JetBrains Mono" pitchFamily="34" charset="-122"/>
                <a:cs typeface="JetBrains Mono" pitchFamily="34" charset="-120"/>
              </a:rPr>
              <a:t>=&gt;</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 Data </a:t>
            </a:r>
            <a:pPr algn="l" indent="0" marL="0">
              <a:lnSpc>
                <a:spcPts val="1833"/>
              </a:lnSpc>
              <a:buNone/>
            </a:pPr>
            <a:r>
              <a:rPr lang="en-US" sz="1223" dirty="0">
                <a:solidFill>
                  <a:srgbClr val="C792EA"/>
                </a:solidFill>
                <a:latin typeface="JetBrains Mono" pitchFamily="34" charset="0"/>
                <a:ea typeface="JetBrains Mono" pitchFamily="34" charset="-122"/>
                <a:cs typeface="JetBrains Mono" pitchFamily="34" charset="-120"/>
              </a:rPr>
              <a:t>=</a:t>
            </a:r>
            <a:pPr algn="l" indent="0" marL="0">
              <a:lnSpc>
                <a:spcPts val="1833"/>
              </a:lnSpc>
              <a:buNone/>
            </a:pPr>
            <a:r>
              <a:rPr lang="en-US" sz="1223" dirty="0">
                <a:solidFill>
                  <a:srgbClr val="82AAFF"/>
                </a:solidFill>
                <a:latin typeface="JetBrains Mono" pitchFamily="34" charset="0"/>
                <a:ea typeface="JetBrains Mono" pitchFamily="34" charset="-122"/>
                <a:cs typeface="JetBrains Mono" pitchFamily="34" charset="-120"/>
              </a:rPr>
              <a:t> ParseDotEnv</a:t>
            </a: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(path);</a:t>
            </a:r>
            <a:br/>
            <a:pPr algn="l" indent="0" marL="0">
              <a:lnSpc>
                <a:spcPts val="1833"/>
              </a:lnSpc>
              <a:buNone/>
            </a:pPr>
            <a:r>
              <a:rPr lang="en-US" sz="1223" dirty="0">
                <a:solidFill>
                  <a:srgbClr val="D6DEEB"/>
                </a:solidFill>
                <a:latin typeface="JetBrains Mono" pitchFamily="34" charset="0"/>
                <a:ea typeface="JetBrains Mono" pitchFamily="34" charset="-122"/>
                <a:cs typeface="JetBrains Mono" pitchFamily="34" charset="-120"/>
              </a:rPr>
              <a:t>}</a:t>
            </a:r>
            <a:endParaRPr lang="en-US" sz="1223"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334500" cy="5257800"/>
          </a:xfrm>
          <a:prstGeom prst="rect">
            <a:avLst/>
          </a:prstGeom>
          <a:solidFill>
            <a:srgbClr val="F7F6F3"/>
          </a:solidFill>
          <a:ln/>
        </p:spPr>
      </p:sp>
      <p:sp>
        <p:nvSpPr>
          <p:cNvPr id="3" name="Text 1"/>
          <p:cNvSpPr txBox="1"/>
          <p:nvPr/>
        </p:nvSpPr>
        <p:spPr>
          <a:xfrm>
            <a:off x="457200" y="439936"/>
            <a:ext cx="3697932" cy="485775"/>
          </a:xfrm>
          <a:prstGeom prst="rect">
            <a:avLst/>
          </a:prstGeom>
          <a:noFill/>
          <a:ln/>
        </p:spPr>
        <p:txBody>
          <a:bodyPr wrap="none" lIns="0" tIns="0" rIns="0" bIns="0" rtlCol="0" anchor="t"/>
          <a:lstStyle/>
          <a:p>
            <a:pPr algn="l" indent="0" marL="0">
              <a:buNone/>
            </a:pPr>
            <a:r>
              <a:rPr lang="en-US" sz="2820" b="1" spc="-56" kern="0" dirty="0">
                <a:solidFill>
                  <a:srgbClr val="16303F"/>
                </a:solidFill>
                <a:latin typeface="Manrope" pitchFamily="34" charset="0"/>
                <a:ea typeface="Manrope" pitchFamily="34" charset="-122"/>
                <a:cs typeface="Manrope" pitchFamily="34" charset="-120"/>
              </a:rPr>
              <a:t>Null is preserved now</a:t>
            </a:r>
            <a:endParaRPr lang="en-US" sz="2820" dirty="0"/>
          </a:p>
        </p:txBody>
      </p:sp>
      <p:sp>
        <p:nvSpPr>
          <p:cNvPr id="4" name="Shape 2"/>
          <p:cNvSpPr/>
          <p:nvPr/>
        </p:nvSpPr>
        <p:spPr>
          <a:xfrm>
            <a:off x="457200" y="1087041"/>
            <a:ext cx="8420100" cy="366712"/>
          </a:xfrm>
          <a:prstGeom prst="roundRect">
            <a:avLst>
              <a:gd name="adj" fmla="val 10390"/>
            </a:avLst>
          </a:prstGeom>
          <a:solidFill>
            <a:srgbClr val="011627"/>
          </a:solidFill>
          <a:ln/>
        </p:spPr>
      </p:sp>
      <p:sp>
        <p:nvSpPr>
          <p:cNvPr id="5" name="Text 3"/>
          <p:cNvSpPr txBox="1"/>
          <p:nvPr/>
        </p:nvSpPr>
        <p:spPr>
          <a:xfrm>
            <a:off x="533400" y="1172766"/>
            <a:ext cx="7400925" cy="190500"/>
          </a:xfrm>
          <a:prstGeom prst="rect">
            <a:avLst/>
          </a:prstGeom>
          <a:noFill/>
          <a:ln/>
        </p:spPr>
        <p:txBody>
          <a:bodyPr wrap="none" lIns="0" tIns="0" rIns="0" bIns="0" rtlCol="0" anchor="t"/>
          <a:lstStyle/>
          <a:p>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"StringProperty"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"IntProperty"</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"Array1"</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FF5874"/>
                </a:solidFill>
                <a:latin typeface="JetBrains Mono" pitchFamily="34" charset="0"/>
                <a:ea typeface="JetBrains Mono" pitchFamily="34" charset="-122"/>
                <a:cs typeface="JetBrains Mono" pitchFamily="34" charset="-120"/>
              </a:rPr>
              <a:t>null</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a:t>
            </a:r>
            <a:pPr algn="l" indent="0" marL="0">
              <a:buNone/>
            </a:pPr>
            <a:r>
              <a:rPr lang="en-US" sz="1125" dirty="0">
                <a:solidFill>
                  <a:srgbClr val="7FDBCA"/>
                </a:solidFill>
                <a:latin typeface="JetBrains Mono" pitchFamily="34" charset="0"/>
                <a:ea typeface="JetBrains Mono" pitchFamily="34" charset="-122"/>
                <a:cs typeface="JetBrains Mono" pitchFamily="34" charset="-120"/>
              </a:rPr>
              <a:t>"Array2"</a:t>
            </a:r>
            <a:pPr algn="l" indent="0" marL="0">
              <a:buNone/>
            </a:pPr>
            <a:r>
              <a:rPr lang="en-US" sz="1125" dirty="0">
                <a:solidFill>
                  <a:srgbClr val="D6DEEB"/>
                </a:solidFill>
                <a:latin typeface="JetBrains Mono" pitchFamily="34" charset="0"/>
                <a:ea typeface="JetBrains Mono" pitchFamily="34" charset="-122"/>
                <a:cs typeface="JetBrains Mono" pitchFamily="34" charset="-120"/>
              </a:rPr>
              <a:t>: [] }</a:t>
            </a:r>
            <a:endParaRPr lang="en-US" sz="1125" dirty="0"/>
          </a:p>
        </p:txBody>
      </p:sp>
      <p:sp>
        <p:nvSpPr>
          <p:cNvPr id="6" name="Shape 4"/>
          <p:cNvSpPr/>
          <p:nvPr/>
        </p:nvSpPr>
        <p:spPr>
          <a:xfrm>
            <a:off x="457200" y="1829842"/>
            <a:ext cx="8420100" cy="9525"/>
          </a:xfrm>
          <a:prstGeom prst="rect">
            <a:avLst/>
          </a:prstGeom>
          <a:solidFill>
            <a:srgbClr val="9CA3AF">
              <a:alpha val="20000"/>
            </a:srgbClr>
          </a:solidFill>
          <a:ln/>
        </p:spPr>
      </p:sp>
      <p:sp>
        <p:nvSpPr>
          <p:cNvPr id="7" name="Shape 5"/>
          <p:cNvSpPr/>
          <p:nvPr/>
        </p:nvSpPr>
        <p:spPr>
          <a:xfrm>
            <a:off x="457200" y="1820317"/>
            <a:ext cx="2825800" cy="19050"/>
          </a:xfrm>
          <a:prstGeom prst="rect">
            <a:avLst/>
          </a:prstGeom>
          <a:solidFill>
            <a:srgbClr val="16303F"/>
          </a:solidFill>
          <a:ln/>
        </p:spPr>
      </p:sp>
      <p:sp>
        <p:nvSpPr>
          <p:cNvPr id="8" name="Text 6"/>
          <p:cNvSpPr txBox="1"/>
          <p:nvPr/>
        </p:nvSpPr>
        <p:spPr>
          <a:xfrm>
            <a:off x="563761" y="1606004"/>
            <a:ext cx="742206"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PROPERTY</a:t>
            </a:r>
            <a:endParaRPr lang="en-US" sz="816" dirty="0"/>
          </a:p>
        </p:txBody>
      </p:sp>
      <p:sp>
        <p:nvSpPr>
          <p:cNvPr id="9" name="Shape 7"/>
          <p:cNvSpPr/>
          <p:nvPr/>
        </p:nvSpPr>
        <p:spPr>
          <a:xfrm>
            <a:off x="3283000" y="1820317"/>
            <a:ext cx="3067199" cy="19050"/>
          </a:xfrm>
          <a:prstGeom prst="rect">
            <a:avLst/>
          </a:prstGeom>
          <a:solidFill>
            <a:srgbClr val="16303F"/>
          </a:solidFill>
          <a:ln/>
        </p:spPr>
      </p:sp>
      <p:sp>
        <p:nvSpPr>
          <p:cNvPr id="10" name="Text 8"/>
          <p:cNvSpPr txBox="1"/>
          <p:nvPr/>
        </p:nvSpPr>
        <p:spPr>
          <a:xfrm>
            <a:off x="3389561" y="1606004"/>
            <a:ext cx="491728"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9</a:t>
            </a:r>
            <a:endParaRPr lang="en-US" sz="816" dirty="0"/>
          </a:p>
        </p:txBody>
      </p:sp>
      <p:sp>
        <p:nvSpPr>
          <p:cNvPr id="11" name="Shape 9"/>
          <p:cNvSpPr/>
          <p:nvPr/>
        </p:nvSpPr>
        <p:spPr>
          <a:xfrm>
            <a:off x="6350198" y="1820317"/>
            <a:ext cx="2527102" cy="19050"/>
          </a:xfrm>
          <a:prstGeom prst="rect">
            <a:avLst/>
          </a:prstGeom>
          <a:solidFill>
            <a:srgbClr val="16303F"/>
          </a:solidFill>
          <a:ln/>
        </p:spPr>
      </p:sp>
      <p:sp>
        <p:nvSpPr>
          <p:cNvPr id="12" name="Text 10"/>
          <p:cNvSpPr txBox="1"/>
          <p:nvPr/>
        </p:nvSpPr>
        <p:spPr>
          <a:xfrm>
            <a:off x="6456759" y="1606004"/>
            <a:ext cx="554534" cy="142875"/>
          </a:xfrm>
          <a:prstGeom prst="rect">
            <a:avLst/>
          </a:prstGeom>
          <a:noFill/>
          <a:ln/>
        </p:spPr>
        <p:txBody>
          <a:bodyPr wrap="none" lIns="0" tIns="0" rIns="0" bIns="0" rtlCol="0" anchor="t"/>
          <a:lstStyle/>
          <a:p>
            <a:pPr algn="l" indent="0" marL="0">
              <a:buNone/>
            </a:pPr>
            <a:r>
              <a:rPr lang="en-US" sz="816" b="1" spc="82" kern="0" dirty="0">
                <a:solidFill>
                  <a:srgbClr val="44535A"/>
                </a:solidFill>
                <a:latin typeface="Manrope" pitchFamily="34" charset="0"/>
                <a:ea typeface="Manrope" pitchFamily="34" charset="-122"/>
                <a:cs typeface="Manrope" pitchFamily="34" charset="-120"/>
              </a:rPr>
              <a:t>.NET 10</a:t>
            </a:r>
            <a:endParaRPr lang="en-US" sz="816" dirty="0"/>
          </a:p>
        </p:txBody>
      </p:sp>
      <p:sp>
        <p:nvSpPr>
          <p:cNvPr id="13" name="Shape 11"/>
          <p:cNvSpPr/>
          <p:nvPr/>
        </p:nvSpPr>
        <p:spPr>
          <a:xfrm>
            <a:off x="457200" y="2176165"/>
            <a:ext cx="8420100" cy="9525"/>
          </a:xfrm>
          <a:prstGeom prst="rect">
            <a:avLst/>
          </a:prstGeom>
          <a:solidFill>
            <a:srgbClr val="9CA3AF">
              <a:alpha val="20000"/>
            </a:srgbClr>
          </a:solidFill>
          <a:ln/>
        </p:spPr>
      </p:sp>
      <p:sp>
        <p:nvSpPr>
          <p:cNvPr id="14" name="Shape 12"/>
          <p:cNvSpPr/>
          <p:nvPr/>
        </p:nvSpPr>
        <p:spPr>
          <a:xfrm>
            <a:off x="457200" y="2176165"/>
            <a:ext cx="2825800" cy="9525"/>
          </a:xfrm>
          <a:prstGeom prst="rect">
            <a:avLst/>
          </a:prstGeom>
          <a:solidFill>
            <a:srgbClr val="DDD9D2"/>
          </a:solidFill>
          <a:ln/>
        </p:spPr>
      </p:sp>
      <p:sp>
        <p:nvSpPr>
          <p:cNvPr id="15" name="Shape 13"/>
          <p:cNvSpPr/>
          <p:nvPr/>
        </p:nvSpPr>
        <p:spPr>
          <a:xfrm>
            <a:off x="563761" y="1931640"/>
            <a:ext cx="606772" cy="181570"/>
          </a:xfrm>
          <a:prstGeom prst="roundRect">
            <a:avLst>
              <a:gd name="adj" fmla="val 20984"/>
            </a:avLst>
          </a:prstGeom>
          <a:solidFill>
            <a:srgbClr val="16303F">
              <a:alpha val="7000"/>
            </a:srgbClr>
          </a:solidFill>
          <a:ln/>
        </p:spPr>
      </p:sp>
      <p:sp>
        <p:nvSpPr>
          <p:cNvPr id="16" name="Text 14"/>
          <p:cNvSpPr txBox="1"/>
          <p:nvPr/>
        </p:nvSpPr>
        <p:spPr>
          <a:xfrm>
            <a:off x="608112" y="1922413"/>
            <a:ext cx="1405830"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string?</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17" name="Shape 15"/>
          <p:cNvSpPr/>
          <p:nvPr/>
        </p:nvSpPr>
        <p:spPr>
          <a:xfrm>
            <a:off x="3283000" y="2176165"/>
            <a:ext cx="3067199" cy="9525"/>
          </a:xfrm>
          <a:prstGeom prst="rect">
            <a:avLst/>
          </a:prstGeom>
          <a:solidFill>
            <a:srgbClr val="DDD9D2"/>
          </a:solidFill>
          <a:ln/>
        </p:spPr>
      </p:sp>
      <p:sp>
        <p:nvSpPr>
          <p:cNvPr id="18" name="Shape 16"/>
          <p:cNvSpPr/>
          <p:nvPr/>
        </p:nvSpPr>
        <p:spPr>
          <a:xfrm>
            <a:off x="3389561" y="1931640"/>
            <a:ext cx="236786" cy="181570"/>
          </a:xfrm>
          <a:prstGeom prst="roundRect">
            <a:avLst>
              <a:gd name="adj" fmla="val 20984"/>
            </a:avLst>
          </a:prstGeom>
          <a:solidFill>
            <a:srgbClr val="16303F">
              <a:alpha val="7000"/>
            </a:srgbClr>
          </a:solidFill>
          <a:ln/>
        </p:spPr>
      </p:sp>
      <p:sp>
        <p:nvSpPr>
          <p:cNvPr id="19" name="Text 17"/>
          <p:cNvSpPr txBox="1"/>
          <p:nvPr/>
        </p:nvSpPr>
        <p:spPr>
          <a:xfrm>
            <a:off x="3433911" y="1922413"/>
            <a:ext cx="1653332"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a:t>
            </a:r>
            <a:pPr algn="l" indent="0" marL="0">
              <a:buNone/>
            </a:pPr>
            <a:r>
              <a:rPr lang="en-US" sz="1056" dirty="0">
                <a:solidFill>
                  <a:srgbClr val="16303F"/>
                </a:solidFill>
                <a:latin typeface="Manrope" pitchFamily="34" charset="0"/>
                <a:ea typeface="Manrope" pitchFamily="34" charset="-122"/>
                <a:cs typeface="Manrope" pitchFamily="34" charset="-120"/>
              </a:rPr>
              <a:t> — already overwritten</a:t>
            </a:r>
            <a:endParaRPr lang="en-US" sz="972" dirty="0"/>
          </a:p>
        </p:txBody>
      </p:sp>
      <p:sp>
        <p:nvSpPr>
          <p:cNvPr id="20" name="Shape 18"/>
          <p:cNvSpPr/>
          <p:nvPr/>
        </p:nvSpPr>
        <p:spPr>
          <a:xfrm>
            <a:off x="6350198" y="2176165"/>
            <a:ext cx="2527102" cy="9525"/>
          </a:xfrm>
          <a:prstGeom prst="rect">
            <a:avLst/>
          </a:prstGeom>
          <a:solidFill>
            <a:srgbClr val="DDD9D2"/>
          </a:solidFill>
          <a:ln/>
        </p:spPr>
      </p:sp>
      <p:sp>
        <p:nvSpPr>
          <p:cNvPr id="21" name="Shape 19"/>
          <p:cNvSpPr/>
          <p:nvPr/>
        </p:nvSpPr>
        <p:spPr>
          <a:xfrm>
            <a:off x="6456759" y="1931640"/>
            <a:ext cx="384870" cy="181570"/>
          </a:xfrm>
          <a:prstGeom prst="roundRect">
            <a:avLst>
              <a:gd name="adj" fmla="val 20984"/>
            </a:avLst>
          </a:prstGeom>
          <a:solidFill>
            <a:srgbClr val="16303F">
              <a:alpha val="7000"/>
            </a:srgbClr>
          </a:solidFill>
          <a:ln/>
        </p:spPr>
      </p:sp>
      <p:sp>
        <p:nvSpPr>
          <p:cNvPr id="22" name="Text 20"/>
          <p:cNvSpPr txBox="1"/>
          <p:nvPr/>
        </p:nvSpPr>
        <p:spPr>
          <a:xfrm>
            <a:off x="6399609" y="1931640"/>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23" name="Shape 21"/>
          <p:cNvSpPr/>
          <p:nvPr/>
        </p:nvSpPr>
        <p:spPr>
          <a:xfrm>
            <a:off x="457200" y="2185690"/>
            <a:ext cx="8420100" cy="341561"/>
          </a:xfrm>
          <a:prstGeom prst="rect">
            <a:avLst/>
          </a:prstGeom>
          <a:solidFill>
            <a:srgbClr val="16303F">
              <a:alpha val="3000"/>
            </a:srgbClr>
          </a:solidFill>
          <a:ln/>
        </p:spPr>
      </p:sp>
      <p:sp>
        <p:nvSpPr>
          <p:cNvPr id="24" name="Shape 22"/>
          <p:cNvSpPr/>
          <p:nvPr/>
        </p:nvSpPr>
        <p:spPr>
          <a:xfrm>
            <a:off x="457200" y="2517725"/>
            <a:ext cx="8420100" cy="9525"/>
          </a:xfrm>
          <a:prstGeom prst="rect">
            <a:avLst/>
          </a:prstGeom>
          <a:solidFill>
            <a:srgbClr val="9CA3AF">
              <a:alpha val="20000"/>
            </a:srgbClr>
          </a:solidFill>
          <a:ln/>
        </p:spPr>
      </p:sp>
      <p:sp>
        <p:nvSpPr>
          <p:cNvPr id="25" name="Shape 23"/>
          <p:cNvSpPr/>
          <p:nvPr/>
        </p:nvSpPr>
        <p:spPr>
          <a:xfrm>
            <a:off x="457200" y="2517725"/>
            <a:ext cx="2825800" cy="9525"/>
          </a:xfrm>
          <a:prstGeom prst="rect">
            <a:avLst/>
          </a:prstGeom>
          <a:solidFill>
            <a:srgbClr val="DDD9D2"/>
          </a:solidFill>
          <a:ln/>
        </p:spPr>
      </p:sp>
      <p:sp>
        <p:nvSpPr>
          <p:cNvPr id="26" name="Shape 24"/>
          <p:cNvSpPr/>
          <p:nvPr/>
        </p:nvSpPr>
        <p:spPr>
          <a:xfrm>
            <a:off x="563761" y="2273201"/>
            <a:ext cx="384870" cy="181570"/>
          </a:xfrm>
          <a:prstGeom prst="roundRect">
            <a:avLst>
              <a:gd name="adj" fmla="val 20984"/>
            </a:avLst>
          </a:prstGeom>
          <a:solidFill>
            <a:srgbClr val="16303F">
              <a:alpha val="7000"/>
            </a:srgbClr>
          </a:solidFill>
          <a:ln/>
        </p:spPr>
      </p:sp>
      <p:sp>
        <p:nvSpPr>
          <p:cNvPr id="27" name="Text 25"/>
          <p:cNvSpPr txBox="1"/>
          <p:nvPr/>
        </p:nvSpPr>
        <p:spPr>
          <a:xfrm>
            <a:off x="608112" y="2263973"/>
            <a:ext cx="1183928" cy="180975"/>
          </a:xfrm>
          <a:prstGeom prst="rect">
            <a:avLst/>
          </a:prstGeom>
          <a:noFill/>
          <a:ln/>
        </p:spPr>
        <p:txBody>
          <a:bodyPr wrap="none" lIns="0" tIns="0" rIns="0" bIns="0" rtlCol="0" anchor="t"/>
          <a:lstStyle/>
          <a:p>
            <a:pPr algn="l" indent="0" marL="0">
              <a:buNone/>
            </a:pPr>
            <a:r>
              <a:rPr lang="en-US" sz="972" dirty="0">
                <a:solidFill>
                  <a:srgbClr val="16303F"/>
                </a:solidFill>
                <a:latin typeface="JetBrains Mono" pitchFamily="34" charset="0"/>
                <a:ea typeface="JetBrains Mono" pitchFamily="34" charset="-122"/>
                <a:cs typeface="JetBrains Mono" pitchFamily="34" charset="-120"/>
              </a:rPr>
              <a:t>int?</a:t>
            </a:r>
            <a:pPr algn="l" indent="0" marL="0">
              <a:buNone/>
            </a:pPr>
            <a:r>
              <a:rPr lang="en-US" sz="1056" dirty="0">
                <a:solidFill>
                  <a:srgbClr val="16303F"/>
                </a:solidFill>
                <a:latin typeface="Manrope" pitchFamily="34" charset="0"/>
                <a:ea typeface="Manrope" pitchFamily="34" charset="-122"/>
                <a:cs typeface="Manrope" pitchFamily="34" charset="-120"/>
              </a:rPr>
              <a:t> (initialized)</a:t>
            </a:r>
            <a:endParaRPr lang="en-US" sz="972" dirty="0"/>
          </a:p>
        </p:txBody>
      </p:sp>
      <p:sp>
        <p:nvSpPr>
          <p:cNvPr id="28" name="Shape 26"/>
          <p:cNvSpPr/>
          <p:nvPr/>
        </p:nvSpPr>
        <p:spPr>
          <a:xfrm>
            <a:off x="3283000" y="2517725"/>
            <a:ext cx="3067199" cy="9525"/>
          </a:xfrm>
          <a:prstGeom prst="rect">
            <a:avLst/>
          </a:prstGeom>
          <a:solidFill>
            <a:srgbClr val="DDD9D2"/>
          </a:solidFill>
          <a:ln/>
        </p:spPr>
      </p:sp>
      <p:sp>
        <p:nvSpPr>
          <p:cNvPr id="29" name="Text 27"/>
          <p:cNvSpPr txBox="1"/>
          <p:nvPr/>
        </p:nvSpPr>
        <p:spPr>
          <a:xfrm>
            <a:off x="3389561" y="2263973"/>
            <a:ext cx="1260723"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kept its initializer</a:t>
            </a:r>
            <a:endParaRPr lang="en-US" sz="1056" dirty="0"/>
          </a:p>
        </p:txBody>
      </p:sp>
      <p:sp>
        <p:nvSpPr>
          <p:cNvPr id="30" name="Shape 28"/>
          <p:cNvSpPr/>
          <p:nvPr/>
        </p:nvSpPr>
        <p:spPr>
          <a:xfrm>
            <a:off x="6350198" y="2517725"/>
            <a:ext cx="2527102" cy="9525"/>
          </a:xfrm>
          <a:prstGeom prst="rect">
            <a:avLst/>
          </a:prstGeom>
          <a:solidFill>
            <a:srgbClr val="DDD9D2"/>
          </a:solidFill>
          <a:ln/>
        </p:spPr>
      </p:sp>
      <p:sp>
        <p:nvSpPr>
          <p:cNvPr id="31" name="Shape 29"/>
          <p:cNvSpPr/>
          <p:nvPr/>
        </p:nvSpPr>
        <p:spPr>
          <a:xfrm>
            <a:off x="6456759" y="2273201"/>
            <a:ext cx="384870" cy="181570"/>
          </a:xfrm>
          <a:prstGeom prst="roundRect">
            <a:avLst>
              <a:gd name="adj" fmla="val 20984"/>
            </a:avLst>
          </a:prstGeom>
          <a:solidFill>
            <a:srgbClr val="16303F">
              <a:alpha val="7000"/>
            </a:srgbClr>
          </a:solidFill>
          <a:ln/>
        </p:spPr>
      </p:sp>
      <p:sp>
        <p:nvSpPr>
          <p:cNvPr id="32" name="Text 30"/>
          <p:cNvSpPr txBox="1"/>
          <p:nvPr/>
        </p:nvSpPr>
        <p:spPr>
          <a:xfrm>
            <a:off x="6399609" y="2273201"/>
            <a:ext cx="499170"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a:t>
            </a:r>
            <a:endParaRPr lang="en-US" sz="972" dirty="0"/>
          </a:p>
        </p:txBody>
      </p:sp>
      <p:sp>
        <p:nvSpPr>
          <p:cNvPr id="33" name="Shape 31"/>
          <p:cNvSpPr/>
          <p:nvPr/>
        </p:nvSpPr>
        <p:spPr>
          <a:xfrm>
            <a:off x="457200" y="2859286"/>
            <a:ext cx="8420100" cy="9525"/>
          </a:xfrm>
          <a:prstGeom prst="rect">
            <a:avLst/>
          </a:prstGeom>
          <a:solidFill>
            <a:srgbClr val="9CA3AF">
              <a:alpha val="20000"/>
            </a:srgbClr>
          </a:solidFill>
          <a:ln/>
        </p:spPr>
      </p:sp>
      <p:sp>
        <p:nvSpPr>
          <p:cNvPr id="34" name="Shape 32"/>
          <p:cNvSpPr/>
          <p:nvPr/>
        </p:nvSpPr>
        <p:spPr>
          <a:xfrm>
            <a:off x="457200" y="2859286"/>
            <a:ext cx="2825800" cy="9525"/>
          </a:xfrm>
          <a:prstGeom prst="rect">
            <a:avLst/>
          </a:prstGeom>
          <a:solidFill>
            <a:srgbClr val="DDD9D2"/>
          </a:solidFill>
          <a:ln/>
        </p:spPr>
      </p:sp>
      <p:sp>
        <p:nvSpPr>
          <p:cNvPr id="35" name="Text 33"/>
          <p:cNvSpPr txBox="1"/>
          <p:nvPr/>
        </p:nvSpPr>
        <p:spPr>
          <a:xfrm>
            <a:off x="563761" y="2605534"/>
            <a:ext cx="155629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non-nullable value type</a:t>
            </a:r>
            <a:endParaRPr lang="en-US" sz="1056" dirty="0"/>
          </a:p>
        </p:txBody>
      </p:sp>
      <p:sp>
        <p:nvSpPr>
          <p:cNvPr id="36" name="Shape 34"/>
          <p:cNvSpPr/>
          <p:nvPr/>
        </p:nvSpPr>
        <p:spPr>
          <a:xfrm>
            <a:off x="3283000" y="2859286"/>
            <a:ext cx="3067199" cy="9525"/>
          </a:xfrm>
          <a:prstGeom prst="rect">
            <a:avLst/>
          </a:prstGeom>
          <a:solidFill>
            <a:srgbClr val="DDD9D2"/>
          </a:solidFill>
          <a:ln/>
        </p:spPr>
      </p:sp>
      <p:sp>
        <p:nvSpPr>
          <p:cNvPr id="37" name="Text 35"/>
          <p:cNvSpPr txBox="1"/>
          <p:nvPr/>
        </p:nvSpPr>
        <p:spPr>
          <a:xfrm>
            <a:off x="3389561" y="2605534"/>
            <a:ext cx="501104" cy="180975"/>
          </a:xfrm>
          <a:prstGeom prst="rect">
            <a:avLst/>
          </a:prstGeom>
          <a:noFill/>
          <a:ln/>
        </p:spPr>
        <p:txBody>
          <a:bodyPr wrap="none" lIns="0" tIns="0" rIns="0" bIns="0" rtlCol="0" anchor="t"/>
          <a:lstStyle/>
          <a:p>
            <a:pPr algn="l" indent="0" marL="0">
              <a:buNone/>
            </a:pPr>
            <a:r>
              <a:rPr lang="en-US" sz="1056" b="1" dirty="0">
                <a:solidFill>
                  <a:srgbClr val="16303F"/>
                </a:solidFill>
                <a:latin typeface="Manrope" pitchFamily="34" charset="0"/>
                <a:ea typeface="Manrope" pitchFamily="34" charset="-122"/>
                <a:cs typeface="Manrope" pitchFamily="34" charset="-120"/>
              </a:rPr>
              <a:t>threw</a:t>
            </a:r>
            <a:endParaRPr lang="en-US" sz="1056" dirty="0"/>
          </a:p>
        </p:txBody>
      </p:sp>
      <p:sp>
        <p:nvSpPr>
          <p:cNvPr id="38" name="Shape 36"/>
          <p:cNvSpPr/>
          <p:nvPr/>
        </p:nvSpPr>
        <p:spPr>
          <a:xfrm>
            <a:off x="6350198" y="2859286"/>
            <a:ext cx="2527102" cy="9525"/>
          </a:xfrm>
          <a:prstGeom prst="rect">
            <a:avLst/>
          </a:prstGeom>
          <a:solidFill>
            <a:srgbClr val="DDD9D2"/>
          </a:solidFill>
          <a:ln/>
        </p:spPr>
      </p:sp>
      <p:sp>
        <p:nvSpPr>
          <p:cNvPr id="39" name="Shape 37"/>
          <p:cNvSpPr/>
          <p:nvPr/>
        </p:nvSpPr>
        <p:spPr>
          <a:xfrm>
            <a:off x="6456759" y="2614761"/>
            <a:ext cx="828824" cy="181570"/>
          </a:xfrm>
          <a:prstGeom prst="roundRect">
            <a:avLst>
              <a:gd name="adj" fmla="val 20984"/>
            </a:avLst>
          </a:prstGeom>
          <a:solidFill>
            <a:srgbClr val="16303F">
              <a:alpha val="7000"/>
            </a:srgbClr>
          </a:solidFill>
          <a:ln/>
        </p:spPr>
      </p:sp>
      <p:sp>
        <p:nvSpPr>
          <p:cNvPr id="40" name="Text 38"/>
          <p:cNvSpPr txBox="1"/>
          <p:nvPr/>
        </p:nvSpPr>
        <p:spPr>
          <a:xfrm>
            <a:off x="6399609" y="2614761"/>
            <a:ext cx="943124"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default(T)</a:t>
            </a:r>
            <a:endParaRPr lang="en-US" sz="972" dirty="0"/>
          </a:p>
        </p:txBody>
      </p:sp>
      <p:sp>
        <p:nvSpPr>
          <p:cNvPr id="41" name="Shape 39"/>
          <p:cNvSpPr/>
          <p:nvPr/>
        </p:nvSpPr>
        <p:spPr>
          <a:xfrm>
            <a:off x="457200" y="2868811"/>
            <a:ext cx="8420100" cy="341561"/>
          </a:xfrm>
          <a:prstGeom prst="rect">
            <a:avLst/>
          </a:prstGeom>
          <a:solidFill>
            <a:srgbClr val="16303F">
              <a:alpha val="3000"/>
            </a:srgbClr>
          </a:solidFill>
          <a:ln/>
        </p:spPr>
      </p:sp>
      <p:sp>
        <p:nvSpPr>
          <p:cNvPr id="42" name="Shape 40"/>
          <p:cNvSpPr/>
          <p:nvPr/>
        </p:nvSpPr>
        <p:spPr>
          <a:xfrm>
            <a:off x="457200" y="3200846"/>
            <a:ext cx="8420100" cy="9525"/>
          </a:xfrm>
          <a:prstGeom prst="rect">
            <a:avLst/>
          </a:prstGeom>
          <a:solidFill>
            <a:srgbClr val="9CA3AF">
              <a:alpha val="20000"/>
            </a:srgbClr>
          </a:solidFill>
          <a:ln/>
        </p:spPr>
      </p:sp>
      <p:sp>
        <p:nvSpPr>
          <p:cNvPr id="43" name="Shape 41"/>
          <p:cNvSpPr/>
          <p:nvPr/>
        </p:nvSpPr>
        <p:spPr>
          <a:xfrm>
            <a:off x="457200" y="3200846"/>
            <a:ext cx="2825800" cy="9525"/>
          </a:xfrm>
          <a:prstGeom prst="rect">
            <a:avLst/>
          </a:prstGeom>
          <a:solidFill>
            <a:srgbClr val="DDD9D2"/>
          </a:solidFill>
          <a:ln/>
        </p:spPr>
      </p:sp>
      <p:sp>
        <p:nvSpPr>
          <p:cNvPr id="44" name="Shape 42"/>
          <p:cNvSpPr/>
          <p:nvPr/>
        </p:nvSpPr>
        <p:spPr>
          <a:xfrm>
            <a:off x="563761" y="2956322"/>
            <a:ext cx="976908" cy="181570"/>
          </a:xfrm>
          <a:prstGeom prst="roundRect">
            <a:avLst>
              <a:gd name="adj" fmla="val 20984"/>
            </a:avLst>
          </a:prstGeom>
          <a:solidFill>
            <a:srgbClr val="16303F">
              <a:alpha val="7000"/>
            </a:srgbClr>
          </a:solidFill>
          <a:ln/>
        </p:spPr>
      </p:sp>
      <p:sp>
        <p:nvSpPr>
          <p:cNvPr id="45" name="Text 43"/>
          <p:cNvSpPr txBox="1"/>
          <p:nvPr/>
        </p:nvSpPr>
        <p:spPr>
          <a:xfrm>
            <a:off x="506611" y="2956322"/>
            <a:ext cx="1091208"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[null, null]</a:t>
            </a:r>
            <a:endParaRPr lang="en-US" sz="972" dirty="0"/>
          </a:p>
        </p:txBody>
      </p:sp>
      <p:sp>
        <p:nvSpPr>
          <p:cNvPr id="46" name="Shape 44"/>
          <p:cNvSpPr/>
          <p:nvPr/>
        </p:nvSpPr>
        <p:spPr>
          <a:xfrm>
            <a:off x="3283000" y="3200846"/>
            <a:ext cx="3067199" cy="9525"/>
          </a:xfrm>
          <a:prstGeom prst="rect">
            <a:avLst/>
          </a:prstGeom>
          <a:solidFill>
            <a:srgbClr val="DDD9D2"/>
          </a:solidFill>
          <a:ln/>
        </p:spPr>
      </p:sp>
      <p:sp>
        <p:nvSpPr>
          <p:cNvPr id="47" name="Text 45"/>
          <p:cNvSpPr txBox="1"/>
          <p:nvPr/>
        </p:nvSpPr>
        <p:spPr>
          <a:xfrm>
            <a:off x="3389561" y="2947095"/>
            <a:ext cx="1226493"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empty strings</a:t>
            </a:r>
            <a:endParaRPr lang="en-US" sz="1056" dirty="0"/>
          </a:p>
        </p:txBody>
      </p:sp>
      <p:sp>
        <p:nvSpPr>
          <p:cNvPr id="48" name="Shape 46"/>
          <p:cNvSpPr/>
          <p:nvPr/>
        </p:nvSpPr>
        <p:spPr>
          <a:xfrm>
            <a:off x="6350198" y="3200846"/>
            <a:ext cx="2527102" cy="9525"/>
          </a:xfrm>
          <a:prstGeom prst="rect">
            <a:avLst/>
          </a:prstGeom>
          <a:solidFill>
            <a:srgbClr val="DDD9D2"/>
          </a:solidFill>
          <a:ln/>
        </p:spPr>
      </p:sp>
      <p:sp>
        <p:nvSpPr>
          <p:cNvPr id="49" name="Text 47"/>
          <p:cNvSpPr txBox="1"/>
          <p:nvPr/>
        </p:nvSpPr>
        <p:spPr>
          <a:xfrm>
            <a:off x="6456759" y="2947095"/>
            <a:ext cx="666899"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two nulls</a:t>
            </a:r>
            <a:endParaRPr lang="en-US" sz="1056" dirty="0"/>
          </a:p>
        </p:txBody>
      </p:sp>
      <p:sp>
        <p:nvSpPr>
          <p:cNvPr id="50" name="Shape 48"/>
          <p:cNvSpPr/>
          <p:nvPr/>
        </p:nvSpPr>
        <p:spPr>
          <a:xfrm>
            <a:off x="457200" y="3542407"/>
            <a:ext cx="8420100" cy="9525"/>
          </a:xfrm>
          <a:prstGeom prst="rect">
            <a:avLst/>
          </a:prstGeom>
          <a:solidFill>
            <a:srgbClr val="9CA3AF">
              <a:alpha val="20000"/>
            </a:srgbClr>
          </a:solidFill>
          <a:ln/>
        </p:spPr>
      </p:sp>
      <p:sp>
        <p:nvSpPr>
          <p:cNvPr id="51" name="Shape 49"/>
          <p:cNvSpPr/>
          <p:nvPr/>
        </p:nvSpPr>
        <p:spPr>
          <a:xfrm>
            <a:off x="457200" y="3542407"/>
            <a:ext cx="2825800" cy="9525"/>
          </a:xfrm>
          <a:prstGeom prst="rect">
            <a:avLst/>
          </a:prstGeom>
          <a:solidFill>
            <a:srgbClr val="DDD9D2"/>
          </a:solidFill>
          <a:ln/>
        </p:spPr>
      </p:sp>
      <p:sp>
        <p:nvSpPr>
          <p:cNvPr id="52" name="Shape 50"/>
          <p:cNvSpPr/>
          <p:nvPr/>
        </p:nvSpPr>
        <p:spPr>
          <a:xfrm>
            <a:off x="563761" y="3297882"/>
            <a:ext cx="236786" cy="181570"/>
          </a:xfrm>
          <a:prstGeom prst="roundRect">
            <a:avLst>
              <a:gd name="adj" fmla="val 20984"/>
            </a:avLst>
          </a:prstGeom>
          <a:solidFill>
            <a:srgbClr val="16303F">
              <a:alpha val="7000"/>
            </a:srgbClr>
          </a:solidFill>
          <a:ln/>
        </p:spPr>
      </p:sp>
      <p:sp>
        <p:nvSpPr>
          <p:cNvPr id="53" name="Text 51"/>
          <p:cNvSpPr txBox="1"/>
          <p:nvPr/>
        </p:nvSpPr>
        <p:spPr>
          <a:xfrm>
            <a:off x="506611" y="3297882"/>
            <a:ext cx="351086" cy="181570"/>
          </a:xfrm>
          <a:prstGeom prst="rect">
            <a:avLst/>
          </a:prstGeom>
          <a:noFill/>
          <a:ln/>
        </p:spPr>
        <p:txBody>
          <a:bodyPr wrap="none" lIns="0" tIns="0" rIns="0" bIns="0" rtlCol="0" anchor="ctr"/>
          <a:lstStyle/>
          <a:p>
            <a:pPr algn="ctr" indent="0" marL="0">
              <a:buNone/>
            </a:pPr>
            <a:r>
              <a:rPr lang="en-US" sz="972" dirty="0">
                <a:solidFill>
                  <a:srgbClr val="16303F"/>
                </a:solidFill>
                <a:latin typeface="JetBrains Mono" pitchFamily="34" charset="0"/>
                <a:ea typeface="JetBrains Mono" pitchFamily="34" charset="-122"/>
                <a:cs typeface="JetBrains Mono" pitchFamily="34" charset="-120"/>
              </a:rPr>
              <a:t>[]</a:t>
            </a:r>
            <a:endParaRPr lang="en-US" sz="972" dirty="0"/>
          </a:p>
        </p:txBody>
      </p:sp>
      <p:sp>
        <p:nvSpPr>
          <p:cNvPr id="54" name="Shape 52"/>
          <p:cNvSpPr/>
          <p:nvPr/>
        </p:nvSpPr>
        <p:spPr>
          <a:xfrm>
            <a:off x="3283000" y="3542407"/>
            <a:ext cx="3067199" cy="9525"/>
          </a:xfrm>
          <a:prstGeom prst="rect">
            <a:avLst/>
          </a:prstGeom>
          <a:solidFill>
            <a:srgbClr val="DDD9D2"/>
          </a:solidFill>
          <a:ln/>
        </p:spPr>
      </p:sp>
      <p:sp>
        <p:nvSpPr>
          <p:cNvPr id="55" name="Text 53"/>
          <p:cNvSpPr txBox="1"/>
          <p:nvPr/>
        </p:nvSpPr>
        <p:spPr>
          <a:xfrm>
            <a:off x="3389561" y="3288655"/>
            <a:ext cx="588466"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ignored</a:t>
            </a:r>
            <a:endParaRPr lang="en-US" sz="1056" dirty="0"/>
          </a:p>
        </p:txBody>
      </p:sp>
      <p:sp>
        <p:nvSpPr>
          <p:cNvPr id="56" name="Shape 54"/>
          <p:cNvSpPr/>
          <p:nvPr/>
        </p:nvSpPr>
        <p:spPr>
          <a:xfrm>
            <a:off x="6350198" y="3542407"/>
            <a:ext cx="2527102" cy="9525"/>
          </a:xfrm>
          <a:prstGeom prst="rect">
            <a:avLst/>
          </a:prstGeom>
          <a:solidFill>
            <a:srgbClr val="DDD9D2"/>
          </a:solidFill>
          <a:ln/>
        </p:spPr>
      </p:sp>
      <p:sp>
        <p:nvSpPr>
          <p:cNvPr id="57" name="Text 55"/>
          <p:cNvSpPr txBox="1"/>
          <p:nvPr/>
        </p:nvSpPr>
        <p:spPr>
          <a:xfrm>
            <a:off x="6456759" y="3288655"/>
            <a:ext cx="1381274" cy="180975"/>
          </a:xfrm>
          <a:prstGeom prst="rect">
            <a:avLst/>
          </a:prstGeom>
          <a:noFill/>
          <a:ln/>
        </p:spPr>
        <p:txBody>
          <a:bodyPr wrap="none" lIns="0" tIns="0" rIns="0" bIns="0" rtlCol="0" anchor="t"/>
          <a:lstStyle/>
          <a:p>
            <a:pPr algn="l" indent="0" marL="0">
              <a:buNone/>
            </a:pPr>
            <a:r>
              <a:rPr lang="en-US" sz="1056" dirty="0">
                <a:solidFill>
                  <a:srgbClr val="16303F"/>
                </a:solidFill>
                <a:latin typeface="Manrope" pitchFamily="34" charset="0"/>
                <a:ea typeface="Manrope" pitchFamily="34" charset="-122"/>
                <a:cs typeface="Manrope" pitchFamily="34" charset="-120"/>
              </a:rPr>
              <a:t>binds as empty array</a:t>
            </a:r>
            <a:endParaRPr lang="en-US" sz="1056" dirty="0"/>
          </a:p>
        </p:txBody>
      </p:sp>
      <p:sp>
        <p:nvSpPr>
          <p:cNvPr id="58" name="Text 56"/>
          <p:cNvSpPr txBox="1"/>
          <p:nvPr/>
        </p:nvSpPr>
        <p:spPr>
          <a:xfrm>
            <a:off x="457200" y="3878610"/>
            <a:ext cx="8439150" cy="438150"/>
          </a:xfrm>
          <a:prstGeom prst="rect">
            <a:avLst/>
          </a:prstGeom>
          <a:noFill/>
          <a:ln/>
        </p:spPr>
        <p:txBody>
          <a:bodyPr wrap="square" lIns="0" tIns="0" rIns="0" bIns="0" rtlCol="0" anchor="t"/>
          <a:lstStyle/>
          <a:p>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All rows are </a:t>
            </a:r>
            <a:pPr algn="l" indent="0" marL="0">
              <a:lnSpc>
                <a:spcPts val="1800"/>
              </a:lnSpc>
              <a:buNone/>
            </a:pPr>
            <a:r>
              <a:rPr lang="en-US" sz="1200" b="1" dirty="0">
                <a:solidFill>
                  <a:srgbClr val="44535A"/>
                </a:solidFill>
                <a:latin typeface="Manrope" pitchFamily="34" charset="0"/>
                <a:ea typeface="Manrope" pitchFamily="34" charset="-122"/>
                <a:cs typeface="Manrope" pitchFamily="34" charset="-120"/>
              </a:rPr>
              <a:t>the JSON provider specifically</a:t>
            </a:r>
            <a:pPr algn="l" indent="0" marL="0">
              <a:lnSpc>
                <a:spcPts val="1800"/>
              </a:lnSpc>
              <a:buNone/>
            </a:pPr>
            <a:r>
              <a:rPr lang="en-US" sz="1200" dirty="0">
                <a:solidFill>
                  <a:srgbClr val="44535A"/>
                </a:solidFill>
                <a:latin typeface="Manrope" pitchFamily="34" charset="0"/>
                <a:ea typeface="Manrope" pitchFamily="34" charset="-122"/>
                <a:cs typeface="Manrope" pitchFamily="34" charset="-120"/>
              </a:rPr>
              <a:t> — providers that already carried real nulls, such as in-memory, did not all behave this way. d06’s own one-liner: </a:t>
            </a:r>
            <a:pPr algn="l" indent="0" marL="0">
              <a:lnSpc>
                <a:spcPts val="1800"/>
              </a:lnSpc>
              <a:buNone/>
            </a:pPr>
            <a:r>
              <a:rPr lang="en-US" sz="1200" i="1" dirty="0">
                <a:solidFill>
                  <a:srgbClr val="44535A"/>
                </a:solidFill>
                <a:latin typeface="Manrope" pitchFamily="34" charset="0"/>
                <a:ea typeface="Manrope" pitchFamily="34" charset="-122"/>
                <a:cs typeface="Manrope" pitchFamily="34" charset="-120"/>
              </a:rPr>
              <a:t>“Retries was 3 on .NET 9 and is null on .NET 10.”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 Modern .NET Configuration
Kevin Griffin - Microsoft MVP - .NET 10 / C# 14
Generated from OUTLINE.md. Regenerate with `npm run generate`.
</dc:subject>
  <dc:creator>Kevin Griffin</dc:creator>
  <cp:lastModifiedBy>Kevin Griffin</cp:lastModifiedBy>
  <cp:revision>1</cp:revision>
  <dcterms:created xsi:type="dcterms:W3CDTF">2026-09-24T23:22:10Z</dcterms:created>
  <dcterms:modified xsi:type="dcterms:W3CDTF">2026-09-24T23:22:10Z</dcterms:modified>
</cp:coreProperties>
</file>