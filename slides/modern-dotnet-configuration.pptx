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 of 2] THE CONTRADICTION
60-min: keep, ~90 seconds for both cold open slides
first THING THE ROOM SEES. No title slide yet. No introduction. Say nothing
for a beat, then read it out flatly:
"The file says one hundred and twenty. The app says ten."
Then STOP TALKING. Count to ten in your head. Let it be uncomfortable.
Don't explain it. Don't say "who can tell me why". Do not take a guess from
the floor. The only line you say is:
"We'll come back to this."
Then advance.
WHY OPEN here: "why externalize configuration" and "how do we load it" are
both expository. Two explanatory beats back to back is a flat first ten
minutes. A small mystery buys attention for the parts that are genuinely just
exposition - and it gets paid off properly at GetDebugView.
This slide and the next are lifted from d01 in the repo. Everything on screen
today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2 of 2] THE DUMP, UNEXPLAINED
60-min: keep
The same dump that comes back later - but with NO gold marker and NO
explanation. They cannot read it yet and that is the point.
Give it five seconds. Say:
"This is the app telling us exactly what happened. By the time we come back to
this slide, you'll be able to read it."
Then advance to the title and introduce yourself.
NOTE THE DEVICE: this image appears twice in the deck. Here it is unmarked and
unexplained. At the payoff slide it is the same dump with a gold marker on the
line that resolves the mystery. Do not mark it here and do not walk it.
If someone shouts out the answer - and occasionally someone does - say "yes,
and in twenty minutes everyone will know why" and move on. Do not let it turn
into a conversation; the whole device depends on the room sitting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Snippet: the d01 output, captured
60-min: keep, 3 min
Black screen. No title slide yet. No setup, no explanation.
DO:
- The file says 120. The app says 10. Both on screen, neither explained.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Don't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Don't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The shared baseline - what everyone gets
  02  My machine - differing without breaking yours
  03  The shared dev server - it left your laptop
  04  Production - ownership, trust, change without a deploy
  05  Where should this value live?
Say that one key - Weather:TimeoutSeconds - crosses all five, so they have
something to follow.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eras, 1 of 3] CONSTANTS AND #if DEBUG
60-min: these three are 20 seconds each - do not linger
Hardcoded values, commented-out blocks, and a pre-commit ritual nobody enjoyed.
Score it against the five reasons from the last slide:
  fails #1 outright - value and logic share a lifecycle
  fails #4 catastrophically - the credential is in the assembly, everywhere it ships
If anyone in the room is old enough, they have shipped the wrong uncommented line.
Say so; it gets a laugh and it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eras, 2 of 3] web.config AND ConfigurationManager
60-min: 20 seconds
XML, static, one string-keyed bag. No reload, no layering, framework-only.
Score it:
  wins #1 and #2
  #3 was impossible - you could not change a value without a new build
The thing to land: the transform ran at BUILD time. That is why "which build is
this?" was a real production question for a decade.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eras, 3 of 3] THE GENERIC HOST
60-min: 20 seconds, then the trade slide
.NET Core 2.1 in 2018. Provider chain, layering, binding, DI, reload - and the
same model for a web app, a worker, a console tool and a WinForms app.
One artifact, many environments. All five reasons, finally.
Then advance: the next slide is the price of all this, and it comes back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nothing else can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journey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as they come up:
  order on Same key. Four winners.    shape on Environment variables
  lifetime on the three interfaces    trust on User secrets
By the anti-patterns slide the audience should be calling them before you do.
that is when this slide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1] THE SHARED BASELINE
60-min: keep, 30 seconds
first BOUNDARY. Everything from here to the end is one application moving:
the baseline everyone shares -&gt; my machine -&gt; a shared dev server -&gt; production.
The baseline is the part everyone agrees on. It is checked in, it is reviewed,
and it travels with the artifact. Nothing here is secret and nothing here is
machine-specific - those come next, and they OVERRIDE this rather than replace it.
The question this act answers:
  "Who owns this value, and what does everyone get by default?"
Weather:TimeoutSeconds is the value to follow. It starts at 30 here and it will
cross every boundary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everything IS A STRING - S2
60-min: keep - it's 20 seconds and it justifies the whole options block
Headline only.
Every int, every bool, every TimeSpan, every Uri you ever read out of
configuration is a BINDER CONVERSION that happened on your behalf. The
dictionary holds strings. Only strings. Always strings.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 THE ARRAY SURPRISE
Snippet: lifted from d03
60-min: first THING TO CUT if you are running long - it is a gasp, not a
load-bearing idea
The reliable audible reaction of the talk. Set it up as a question:
"The base file has three hosts. The Development file has one. How many hosts
does the app see?"
Let them answer ONE. Then show three.
WHY: the environment file merges key by key, and array elements ARE keys.
There is no array in the dictionary - there is Hosts:0, Hosts:1, Hosts:2. The
override only writes Hosts:0. Nothing deletes Hosts:1 and Hosts:2, so they
survive. Point at the right-hand panel and say exactly that.
Call back to the flat dictionary slide. This is that slide's consequence, and
it is the moment people realise the mental model actually predicts behaviour
rather than just describing it.
what TO DO instead - say it, because someone is about to go fix this today:
- Prefer an object keyed by name over a positional array.
- Or replace the whole section deliberately rather than relying on the overlay.
- Anti-pattern #10 is exactly this assumption in appsettings.Production.json.
This is the slide people quote back to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
ON SCREEN: the four sources and what each one yields, so the room can follow
the terminal without squinting. The last row is gold because it is the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(The array consequence is the next slide.)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
ON SCREEN: three panels. Base, the environment overlay, and what the app
actually sees. Gold marks the values the environment file supplied.
THE ROW that TEACHES IT is TimeoutSeconds. The Development file says nothing
about it, so 30 SURVIVES from the base file. That is what "merges key by key"
means, and it is why this is not a file swap.
HOUSEKEEPING - say these, do not slide them:
- EnvironmentName is ARBITRARY. Development / Staging / Production are just the
  framework's well-known values. appsettings.QA-East.json works fine if
  ASPNETCORE_ENVIRONMENT=QA-East. People think the three names are magic.
- Build Action = Content, Copy = PreserveNewest, or the file is not next to the
  DLL at runtime. This bites in published output, never during F5, which is why
  it is always found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Snippet: lifted from d09
60-min: keep - mention .NET 10 file-based apps in one line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Worth its own slide at 90. At 60, one sentence.
Failure mode #4: TRUST. Name it.
ON SCREEN: the repo holds a GUID. Your laptop holds the actual secret, in
plaintext, in a file anyone with your login can read.
Say: "This is not encryption. This is not a vault. The whole
feature is a convention for putting the file somewhere git will never see."
That is not a criticism - it is exactly the right tool for the job it has. But
half the room believes it is encrypted, and the ones who believe that are the
ones who will reach for it in production.
where IT SITS IN THE CHAIN - say it, do not slide it:
Development environment only. Above the JSON files, below environment
variables and the command line. The precedence table already showed the rank;
point back at it rather than repeating it.
Storage paths, for the record - and tell them not to write code against these:
  Windows       %APPDATA%MicrosoftUserSecrets&lt;id&gt;secrets.json
  Linux/macOS   ~/.microsoft/usersecrets/&lt;id&gt;/secrets.json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[S4.4] USER SECRETS - THE COMMANDS
Snippet: lifted from d09
60-min: keep, fast
Five commands and one .NET 10 addition. Do not read them out. Let people
photograph it and say what matters instead.
What matters:
- 'init' writes the UserSecretsId into the .csproj. That id is the only thing
  the repo ever learns about your secrets.
- Values are set by KEY PATH using the colon form - "Weather:ApiKey", not
  nested JSON. The provider flattens it exactly like everything else.
- Bulk load exists: pipe a JSON file into 'dotnet user-secrets set'. Useful
  when onboarding someone. Do not then commit that JSON file.
THE .NET 10 LINE IS THE ONE TO CALL OUT:
'dotnet run app.cs' programs get a stable UserSecretsId derived from a hash of
the FILE PATH. A single-file app with no .csproj anywhere still gets user
secrets, addressed with --file.
That is genuinely new and it lands well - a five-line program reading
configuration properly with no project file. Worth mentioning that moving the
file changes the hash, and therefore changes which secrets it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Snippet: lifted from d07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Show the two side by side: the env var you set, and the launchSettings entry
that quietly beats it. Then the same app with that entry deleted.
Close the stage here:
"That's stage one's signature failure. The fix isn't a better laptop - it's
letting the platform supply the values. That's stage two."
Failure mode #1 (ORDER) and #2 (SHAPE) both live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REVEAL] THE launchSettings TRAP
Snippet: lifted from d07
60-min: keep - this is the whole payoff of the stage
Let them sit on 45 for a second before you explain it.
THE TWO-SIDED FAILURE, and both sides bite:
- Locally it works when it should not. launchSettings quietly wins, so you never
  find out your environment variable was not being read.
- In production it breaks when it should not. launchSettings is not deployed, so
  the value that was silently winning is simply gone.
That is why this is the number one "works on my machine" configuration story. It
is not that the machine is different. It is that a development-only file is in
the chain locally and absent everywhere else.
Close the stage here:
"That is stage one's signature failure. The fix is not a better laptop - it is
letting the platform supply the values. That is stage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This dump is trimmed. The real one has thirteen providers - two Memory ones and
the prefixed env-var providers are host plumbing. If someone counts along, say so
and move on; do not narrate all thirteen.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[layering] PRECEDENCE, SHOWN
Snippets: lifted from d02 and d03
60-min: keep this; the array slide is the first thing to cut if you run long
Do not read the slide aloud. Walk down the four rows, name the source each
time, and let the numbers do the work.
THE LAYERS - JSON, then the environment file, then an env var, then a CLI arg.
Same key, four different winners, one at a time. Call out failure mode #1: ORDER.
This is what makes "last provider wins" concrete instead of abstract.
THE ARRAY SURPRISE is the next slide.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The cold-open dump, now marked
60-min: never cut
This is the show-don't-tell moment of the talk, and it explains the cold open.
GetDebugView() prints every key, its effective value, AND the provider that
supplied it.
The cold-open dump returns, now with the gold marker. Walk it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The cold-open dump, marked this time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Snippet: lifted from d04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Snippet: lifted from d23, or name it and move on
60-min: CUT to a name on the deployment slide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skip the snippet - half the room is on Kubernetes and has been
shelling secrets in through env vars.
RELOAD - GET this RIGHT: the 3-argument overload above does not reload.
AddKeyPerFile(dir, optional) resolves to reloadOnChange: false. You only get
a watcher from the 4-argument overload. And even then, on Kubernetes those
mounts are symlink swaps rather than in-place writes, so the watcher may or
may not fire.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syntax] ONE KEY, FOUR SPELLINGS
60-min: keep - it is 30 seconds and it prevents the most common SHAPE bug
This exists because people keep hitting the same wall from three directions:
bash will not take a colon in a variable name, and Key Vault rejects it in a
secret name. So each store invented its own escape and .NET translates it back.
Say it once, plainly:
"There is one key. Colon is the real delimiter. The rest is spelling."
Failure mode #2, SHAPE, is almost always this: a single underscore instead of a
double, or a colon somewhere that will not take one.
Worth adding out loud: the double underscore is documented as working on ALL
platforms, which is why it is the safe default even on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Snippet: lifted from d18. No Azure dependency now - it is code on a slide.
60-min: one slide covers it; the mechanics were never visual anyway.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Snippets here: d11 binding, d12 ValidateOnStart, d13 the three interfaces.
The three-interfaces before/after pair is the longest beat in the talk.
Don't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Snippet: lifted from d11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Snippet: lifted from d12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Bad config = no start. Show the startup exception naming the offending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[S4.8] IN-MEMORY - THE TESTING PROVIDER
Snippet: lifted from d24
60-min: cut the slide, keep the sentence
Added last, so it beats everything. That is the entire trick.
This is the right answer for WebApplicationFactory integration tests: you get
the real application, the real provider chain, the real binding and validation
- and then you overwrite exactly the handful of keys the test cares about.
Why it beats the alternatives:
- Mocking IConfiguration tests your mock, not your configuration.
- A test appsettings.json is a second file to keep in sync with the first.
- Environment variables in a test runner leak between tests.
Say the ordering point out loud, because it is the whole reason this works:
AddInMemoryCollection is appended, and reads walk the chain in reverse. It
does not matter what appsettings.json says. It does not matter what the
developer has in user secrets. The dictionary wins.
same TRICK FOR FEATURE FLAGS - forward reference to S6.7. A flag is just
configuration, so you set feature_management:feature_flags:0:enabled here and
test both sides of the branch. That is the slide people photograph in the
flags block.
The other use, if anyone asks: in-memory as code DEFAULTS, added first so
everything overrides it. Rarer, but it is how you ship a sane fallback
without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PRODUCTION
60-min: keep, 45 seconds
last BOUNDARY, and the one with consequences. Same artifact as the shared dev
server - genuinely the same bytes. What changed is who supplies the values and
what it costs to get one wrong.
Three things are true here that were not true on your laptop:
  OWNERSHIP  the person who needs to change a value may not be a developer
  TRUST      a leaked value here is an incident, not an inconvenience
  UPTIME     a restart is a change window, not a keystroke
That third one is what the rest of this act is about. Say the line:
"Nothing gets rebuilt to change a value. That is the whole point of the last
 forty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THE LIFETIME QUESTION
60-min: keep - it is 20 seconds and it sets up the best beat in the talk
On a laptop you restart the app without thinking. In production a restart is an
event: dropped connections, a cold cache, a change window, maybe an approval.
So production is the first place the question is worth asking at all:
  "Can this value change without stopping the process?"
That question has exactly three answers in .NET, and they are the three interfaces
on the next slide. Do not list them here - just land the question and advance.
This is also the slide to point back to from What Actually Reloads. The interface
decides whether your code SEES a change; the provider decides whether a change
ever ARRIVES. Both have to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Snippet: lifted from d13. THE LONGEST BEAT IN THE TALK. Don't RUSH IT.
60-min: never cut
  IOptions&lt;T&gt;          Singleton  no re-read     value can't change at runtime
  IOptionsSnapshot&lt;T&gt;  SCOPED     once per scope per-request consistency (web)
  IOptionsMonitor&lt;T&gt;   Singleton  yes + OnChange singletons &amp; background services
before / after PAIR: all three interfaces on one slide, then the same three
after appsettings.json changed underneath the running app.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SETUP - BEFORE THE EDIT
Snippet: lifted from d13
60-min: never cut
All three interfaces, same key, same value. Nothing interesting yet - and that
is the point. Establish the baseline so the reveal has something to move
against.
ASK THE ROOM, and wait for an answer:
"I am about to change appsettings.json to 90 while this is running.
 Which of these three change?"
Most rooms say all three. Some say none. Both are wrong, and being wrong out
loud is what makes the next slide land.
Do not explain lifetimes yet. The table two slides back already told them; this
is the check on whether they believed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REVEAL - AFTER THE EDIT
Snippet: lifted from d13
60-min: never cut. This is the longest beat in the talk.
Three columns, because the honest answer has a middle state:
  IOptions          never moves. Bound once at startup, forever.
  IOptionsSnapshot  moves, but only in a NEW SCOPE - normally the next request.
                    A snapshot already resolved in the current request stays at 30.
  IOptionsMonitor   moves immediately. It is a singleton holding a change token.
THE MIDDLE COLUMN IS THE ONE PEOPLE GET WRONG. "Scoped" does not mean "fresh
whenever you ask" - it means fresh per scope. Within one request it is stable,
which is exactly the property you want for per-request consistency.
THEN NAME THE TWO CLASSIC BUGS while this is up:
- IOptionsSnapshot&lt;T&gt; injected into a singleton. It is scoped: the container
  either throws, or you capture the first scope's value forever.
- _monitor.CurrentValue cached in a constructor field, which quietly turns a
  monitor back into an IOptions&lt;T&gt;. Read CurrentValue at the point of use.
Failure mode #3: LIFETIME. Badge is on the table slide;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only with the 4-arg overload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Snippet: lifted from d20. No Azure dependency now.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It is also ASYNCHRONOUS: the request that TRIGGERS the refresh does not
   block on it and may still serve the OLD values. Later requests see the new
   ones. Say this - people assume the triggering request gets the update.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Update the sentinel last. Each instance then reloads the selected values
   together in one refresh, so no single process sees a half-applied edit.
   Don't say "atomic" - the store is not transactional across keys, and
   instances refresh independently, so they do not all switch at the same
   moment. It answers "half-applied", not "everywhere at once".
5. FAILURE MODE IS GRACEFUL - a failed refresh keeps last known-good and retries.
   STARTUP now retries with backoff, bounded by ConfigureStartupOptions =&gt;
   options.Timeout. If it still cannot load when that budget runs out the
   failure surfaces during startup and normally aborts the process. So
   "a failed connection at startup crashes you" is true but incomplete -
   it retries first.
6. KEY VAULT REFERENCES live in the store as pointers with a distinct content
   type; ConfigureKeyVault dereferences them. Give them their OWN cadence with
   SetSecretRefreshInterval(key, TimeSpan) - a rotated secret is otherwise cached
   forever. MINIMUM is one minute - a shorter interval throws ArgumentOutOfRangeException
   rather than being silently floored. This is the
   App Configuration provider resolving Key Vault REFERENCES, not the
   standalone Key Vault provider, which has its own ReloadInterval.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d28
  72-77  S6.4  filters + the per-call gotcha        d29, d30
  77-80  S6.5  variants                             d31 (optional)
  80-84  S6.6 flag debt + S6.8 counterargument      d32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SHOW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Snippet: lifted from d28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Snippets: lifted from d29 and d30
60-min: KEEP THE GOTCHA even if you cut the filter catalogue.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d29 is the flicker, d30 the stable version. If you only have room for one,
show the flicker and describe the fix - the bug is the memorable half.
CUSTOM FILTERS: implement IFeatureFilter (one method, EvaluateAsync), register
with .AddFeatureFilter&lt;TenantFilter&gt;(). Good example: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THE REVEAL - PER CALL, NOT PER USER
Snippet: lifted from d29
60-min: KEEP THE GOTCHA even if you cut the filter catalogue. Never-cut list.
Ten checks. One user. One process. The percentage row flickers; the targeting
row does not. That contrast is the slide.
Say:
"Microsoft.Percentage does not know who you are. It rolls the dice on every
 call. Fifty percent means half the CALLS, not half the USERS."
WHY IT IS NASTY: it is invisible in a single test run and invisible in code
review. It shows up as a user watching a feature flicker between page loads -
nav bar says new checkout, checkout page says old.
THE FIX, and say it immediately so nobody leaves with only the problem:
targeting with an ITargetingContextAccessor, or variant allocation with a seed.
Either gives a stable per-user assignment. A shared seed keeps that assignment
consistent across flags, which is what you want for a coherent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Snippet: lifted from d31 -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Snippet: lifted from d32,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ONE PEOPLE will actually STEAL. That's d32.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DELETION AND INVENTORY
Snippet: lifted from d32
60-min: keep the first line; the endpoint is optional
The sentence people need to hear:
"Turning a flag off in the portal is not deleting it. The dead branch is still
 there, still compiling, still something the next person has to reason about."
Deleting a flag is a pull request, not a portal click. If that is not on
someone's board, it does not happen.
THE ENDPOINT IS THE THING PEOPLE STEAL. Two caveats, say both:
- Name and a boolean is not enough. The previous slide argued owner and expiry
  are what matter, so the record carries them.
- For a percentage or targeting flag that boolean is this evaluation, for this
  context. Slide 44 just proved it can differ on the very next call. It is an
  inventory of what exists, not a global on/off state.
- Authorize it. An open /flags endpoint hands an attacker your roadmap and your
  operational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THE DECISION
60-min: keep - this is what the room came for
The journey is over. Now it pays out as a decision you can make on Monday.
FOUR QUESTIONS, and they are the whole framework:
  OWNERSHIP    who changes this - a developer, an SRE, a product manager?
  SENSITIVITY  does it hurt if it leaks?
  SCOPE        one app, or many?
  CADENCE      per release, per environment, or while the app is serving traffic?
Say plainly: you do not need stage three. Most apps never do. The next two slides
are a sorting exercise, not a maturity model - nobody is behind for using JSON
files and environment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CHOOSING A STRATEGY - S7.2, S7.3
60-min: keep - this is the one people photograph. Pause on it.
LEAVE this UP LONGER than FEELS COMFORTABLE. Count to five. Let them get the shot.
  ASP.NET Core on App Service   JSON + App Service settings; KV refs
                                App Service settings RESTART the app;
                                App Configuration doesn't
  Container / AKS               JSON baked in + orchestrator env vars;
                                key-per-file mount or KV via workload identity
  Many microservices            App Configuration, labels + per-app key prefix;
                                KV references; sentinel key + refresh
  Worker / background service   JSON + env vars; KV via managed identity;
                                IOptionsMonitor + explicit TryRefreshAsync
  Console / CLI                 JSON + command line + env vars; user secrets in
                                dev; NO hot reload - short-lived process
  Desktop (WinForms/WPF/MAUI)   JSON next to the EXE + per-user AppData;
                                NO SECRETS IN THE CLIENT
SIX RULES OF THUMB (S7.3) - read 1, 2, and 5 aloud at minimum:
  1. One artifact, many environments. A different binary per environment is
     Web.Release.config again.
  2. Commit defaults, never secrets. appsettings.json should be safe to publish.
  3. Reach for cloud configuration when you have a REAL reason: more than one app
     sharing values, or a need to change without a deploy. One app that redeploys
     in five minutes does not need App Configuration.
  4. Prefer restart to hot reload unless someone asked for hot reload.
  5. Validate at startup, always. Cheapest guardrail on every strategy above.
  6. Secrets get a rotation story or they aren't secure.
Rule 2 is on the never-cut list at any talk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ANTI-PATTERNS - S10
60-min: keep, rapid-fire
Read these FAST. Don't explain them - by now the audience has seen every one.
The point is recognition, not instruction. If they're calling out the four
failure modes before you do, this slide is working.
 1. Secrets committed in appsettings.json - or worse, appsettings.Production.json.
 2. IConfiguration injected into business classes instead of bound options.
 3. config["Some:Key"]! with a null-forgiving operator and no validation.
 4. IOptionsSnapshot&lt;T&gt; in a singleton.
 5. IOptionsMonitor&lt;T&gt;.CurrentValue captured in a constructor field.
 6. Building a throwaway ConfigurationBuilder mid-request to "get a fresh value."
 7. Calling WebApplication.CreateBuilder() a second time just to read configuration.
 8. if (env.IsProduction()) branches in code instead of environment-specific
    configuration VALUES.
 9. One Key Vault for every app and environment, separated by secret-name prefixes.
10. Assuming an array in appsettings.Production.json replaces the base array.
    It doesn't. (Callback to the array slide - they'll remember.)
11. Logging GetDebugView() without redaction.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first thing to cut
- but say the one-liner.
Worth naming - name this rather than letting the structure contradict you:
The journey assumes a server. A desktop app has local dev, has "deployment" as an
install, and has no shared stage at all - no orchestrator setting env vars, no
central store it should authenticate to, no instance fleet.
Say: "Everything so far assumed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S4.8 in-memory provider, added last so it beats everything. Same answer for
  feature flags (S6.7).
- "Does IOptionsMonitor work in a console app?"
  Yes, but nothing triggers a refresh for you. That's the S4.6 activity-driven
  point - call TryRefreshAsync yourself.
If the room goes quiet, go to the flag-inventory endpoint (d32).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OFF THE MAIN PATH
60-min: never shown; these exist for Q&amp;A and for the repo
Do not walk these. They are here so the answer exists when someone asks, and so
the PDF is complete for whoever reads it later.
  connection-string prefixes          "we moved to Postgres and the name changed"
  named options + source generators   "how do I bind the same shape twice?"
  a custom provider                   "how would I read config from X?"
  .NET 10 null preservation           "we upgraded and a default came back null"
Each one is technically sound and each one interrupts the laptop -&gt; shared dev -&gt;
production story, which is why they are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Snippet: lifted from d05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d05 SHOWS: set POSTGRESQLCONNSTR_Default, then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OPTIONAL (d17, 90 min only): PublishAot=true surfaces IL2026 / IL3050 warnings
from reflection binding; turn both generators on and they disappear.
Niche. At 60 minutes this is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Snippet: lifted from d25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d06 has the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277243"/>
            <a:ext cx="8077200" cy="2581275"/>
          </a:xfrm>
          <a:prstGeom prst="roundRect">
            <a:avLst>
              <a:gd name="adj" fmla="val 1476"/>
            </a:avLst>
          </a:prstGeom>
          <a:solidFill>
            <a:srgbClr val="011627"/>
          </a:solidFill>
          <a:ln/>
        </p:spPr>
      </p:sp>
      <p:sp>
        <p:nvSpPr>
          <p:cNvPr id="4" name="Text 2"/>
          <p:cNvSpPr txBox="1"/>
          <p:nvPr/>
        </p:nvSpPr>
        <p:spPr>
          <a:xfrm>
            <a:off x="704850" y="1362968"/>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 120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10 seconds.</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98687"/>
            <a:ext cx="8077200" cy="2338388"/>
          </a:xfrm>
          <a:prstGeom prst="roundRect">
            <a:avLst>
              <a:gd name="adj" fmla="val 1629"/>
            </a:avLst>
          </a:prstGeom>
          <a:solidFill>
            <a:srgbClr val="011627"/>
          </a:solidFill>
          <a:ln/>
        </p:spPr>
      </p:sp>
      <p:sp>
        <p:nvSpPr>
          <p:cNvPr id="4" name="Text 2"/>
          <p:cNvSpPr txBox="1"/>
          <p:nvPr/>
        </p:nvSpPr>
        <p:spPr>
          <a:xfrm>
            <a:off x="704850" y="1484412"/>
            <a:ext cx="7943850" cy="2152650"/>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TimeoutSeconds=10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487561" y="1510754"/>
            <a:ext cx="4839444" cy="1122015"/>
          </a:xfrm>
          <a:prstGeom prst="rect">
            <a:avLst/>
          </a:prstGeom>
          <a:noFill/>
          <a:ln/>
        </p:spPr>
        <p:txBody>
          <a:bodyPr wrap="square" lIns="0" tIns="0" rIns="0" bIns="0" rtlCol="0" anchor="t"/>
          <a:lstStyle/>
          <a:p>
            <a:pPr algn="l" indent="0" marL="0">
              <a:lnSpc>
                <a:spcPts val="3960"/>
              </a:lnSpc>
              <a:buNone/>
            </a:pPr>
            <a:r>
              <a:rPr lang="en-US" sz="3600" b="1" spc="-72" kern="0" dirty="0">
                <a:solidFill>
                  <a:srgbClr val="F7F6F3"/>
                </a:solidFill>
                <a:latin typeface="Manrope" pitchFamily="34" charset="0"/>
                <a:ea typeface="Manrope" pitchFamily="34" charset="-122"/>
                <a:cs typeface="Manrope" pitchFamily="34" charset="-120"/>
              </a:rPr>
              <a:t>Modern .NET Configuration</a:t>
            </a:r>
            <a:endParaRPr lang="en-US" sz="3600" dirty="0"/>
          </a:p>
        </p:txBody>
      </p:sp>
      <p:sp>
        <p:nvSpPr>
          <p:cNvPr id="4" name="Shape 2"/>
          <p:cNvSpPr/>
          <p:nvPr/>
        </p:nvSpPr>
        <p:spPr>
          <a:xfrm>
            <a:off x="487561" y="2913850"/>
            <a:ext cx="47625" cy="47625"/>
          </a:xfrm>
          <a:prstGeom prst="roundRect">
            <a:avLst>
              <a:gd name="adj" fmla="val 50000"/>
            </a:avLst>
          </a:prstGeom>
          <a:solidFill>
            <a:srgbClr val="F4C233"/>
          </a:solidFill>
          <a:ln/>
        </p:spPr>
      </p:sp>
      <p:sp>
        <p:nvSpPr>
          <p:cNvPr id="5" name="Text 3"/>
          <p:cNvSpPr txBox="1"/>
          <p:nvPr/>
        </p:nvSpPr>
        <p:spPr>
          <a:xfrm>
            <a:off x="632222" y="2824163"/>
            <a:ext cx="987177"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Kevin Griffin</a:t>
            </a:r>
            <a:endParaRPr lang="en-US" sz="1260" dirty="0"/>
          </a:p>
        </p:txBody>
      </p:sp>
      <p:sp>
        <p:nvSpPr>
          <p:cNvPr id="6" name="Shape 4"/>
          <p:cNvSpPr/>
          <p:nvPr/>
        </p:nvSpPr>
        <p:spPr>
          <a:xfrm>
            <a:off x="487561" y="3202428"/>
            <a:ext cx="47625" cy="47625"/>
          </a:xfrm>
          <a:prstGeom prst="roundRect">
            <a:avLst>
              <a:gd name="adj" fmla="val 50000"/>
            </a:avLst>
          </a:prstGeom>
          <a:solidFill>
            <a:srgbClr val="F4C233"/>
          </a:solidFill>
          <a:ln/>
        </p:spPr>
      </p:sp>
      <p:sp>
        <p:nvSpPr>
          <p:cNvPr id="7" name="Text 5"/>
          <p:cNvSpPr txBox="1"/>
          <p:nvPr/>
        </p:nvSpPr>
        <p:spPr>
          <a:xfrm>
            <a:off x="632222" y="3112740"/>
            <a:ext cx="1183332"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491005"/>
            <a:ext cx="47625" cy="47625"/>
          </a:xfrm>
          <a:prstGeom prst="roundRect">
            <a:avLst>
              <a:gd name="adj" fmla="val 50000"/>
            </a:avLst>
          </a:prstGeom>
          <a:solidFill>
            <a:srgbClr val="F4C233"/>
          </a:solidFill>
          <a:ln/>
        </p:spPr>
      </p:sp>
      <p:sp>
        <p:nvSpPr>
          <p:cNvPr id="9" name="Text 7"/>
          <p:cNvSpPr txBox="1"/>
          <p:nvPr/>
        </p:nvSpPr>
        <p:spPr>
          <a:xfrm>
            <a:off x="632222" y="3401318"/>
            <a:ext cx="1214289"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.NET 10 / C# 14</a:t>
            </a:r>
            <a:endParaRPr lang="en-US" sz="1260" dirty="0"/>
          </a:p>
        </p:txBody>
      </p:sp>
      <p:pic>
        <p:nvPicPr>
          <p:cNvPr id="10"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2775793"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Kevin Griffin</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2913608"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Software consultant — .NET and Azure</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118333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34776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Builds and runs Shows On Sale</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0" y="0"/>
            <a:ext cx="1981200" cy="5257800"/>
          </a:xfrm>
          <a:prstGeom prst="rect">
            <a:avLst/>
          </a:prstGeom>
          <a:solidFill>
            <a:srgbClr val="16303F"/>
          </a:solidFill>
          <a:ln/>
        </p:spPr>
      </p:sp>
      <p:sp>
        <p:nvSpPr>
          <p:cNvPr id="4" name="Text 2"/>
          <p:cNvSpPr txBox="1"/>
          <p:nvPr/>
        </p:nvSpPr>
        <p:spPr>
          <a:xfrm>
            <a:off x="243780" y="4379565"/>
            <a:ext cx="1512689" cy="522982"/>
          </a:xfrm>
          <a:prstGeom prst="rect">
            <a:avLst/>
          </a:prstGeom>
          <a:noFill/>
          <a:ln/>
        </p:spPr>
        <p:txBody>
          <a:bodyPr wrap="square" lIns="0" tIns="0" rIns="0" bIns="0" rtlCol="0" anchor="t"/>
          <a:lstStyle/>
          <a:p>
            <a:pPr algn="l" indent="0" marL="0">
              <a:lnSpc>
                <a:spcPts val="1943"/>
              </a:lnSpc>
              <a:buNone/>
            </a:pPr>
            <a:r>
              <a:rPr lang="en-US" sz="1620" b="1" dirty="0">
                <a:solidFill>
                  <a:srgbClr val="F7F6F3"/>
                </a:solidFill>
                <a:latin typeface="Manrope" pitchFamily="34" charset="0"/>
                <a:ea typeface="Manrope" pitchFamily="34" charset="-122"/>
                <a:cs typeface="Manrope" pitchFamily="34" charset="-120"/>
              </a:rPr>
              <a:t>Following one value</a:t>
            </a:r>
            <a:endParaRPr lang="en-US" sz="1620" dirty="0"/>
          </a:p>
        </p:txBody>
      </p:sp>
      <p:sp>
        <p:nvSpPr>
          <p:cNvPr id="5" name="Text 3"/>
          <p:cNvSpPr txBox="1"/>
          <p:nvPr/>
        </p:nvSpPr>
        <p:spPr>
          <a:xfrm>
            <a:off x="2438400" y="135418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6" name="Text 4"/>
          <p:cNvSpPr txBox="1"/>
          <p:nvPr/>
        </p:nvSpPr>
        <p:spPr>
          <a:xfrm>
            <a:off x="2910780" y="1363712"/>
            <a:ext cx="403696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baseline — what everyone gets</a:t>
            </a:r>
            <a:endParaRPr lang="en-US" sz="1536" dirty="0"/>
          </a:p>
        </p:txBody>
      </p:sp>
      <p:sp>
        <p:nvSpPr>
          <p:cNvPr id="7" name="Text 5"/>
          <p:cNvSpPr txBox="1"/>
          <p:nvPr/>
        </p:nvSpPr>
        <p:spPr>
          <a:xfrm>
            <a:off x="2438400" y="1756470"/>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8" name="Text 6"/>
          <p:cNvSpPr txBox="1"/>
          <p:nvPr/>
        </p:nvSpPr>
        <p:spPr>
          <a:xfrm>
            <a:off x="2910780" y="1765995"/>
            <a:ext cx="4416028"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My machine — differing without breaking yours</a:t>
            </a:r>
            <a:endParaRPr lang="en-US" sz="1536" dirty="0"/>
          </a:p>
        </p:txBody>
      </p:sp>
      <p:sp>
        <p:nvSpPr>
          <p:cNvPr id="9" name="Text 7"/>
          <p:cNvSpPr txBox="1"/>
          <p:nvPr/>
        </p:nvSpPr>
        <p:spPr>
          <a:xfrm>
            <a:off x="2438400" y="2158752"/>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0" name="Text 8"/>
          <p:cNvSpPr txBox="1"/>
          <p:nvPr/>
        </p:nvSpPr>
        <p:spPr>
          <a:xfrm>
            <a:off x="2910780" y="2168277"/>
            <a:ext cx="3972371"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dev server — it left your laptop</a:t>
            </a:r>
            <a:endParaRPr lang="en-US" sz="1536" dirty="0"/>
          </a:p>
        </p:txBody>
      </p:sp>
      <p:sp>
        <p:nvSpPr>
          <p:cNvPr id="11" name="Text 9"/>
          <p:cNvSpPr txBox="1"/>
          <p:nvPr/>
        </p:nvSpPr>
        <p:spPr>
          <a:xfrm>
            <a:off x="2438400" y="2561034"/>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2" name="Text 10"/>
          <p:cNvSpPr txBox="1"/>
          <p:nvPr/>
        </p:nvSpPr>
        <p:spPr>
          <a:xfrm>
            <a:off x="2910780" y="2570559"/>
            <a:ext cx="5670649"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Production — ownership, trust, and change without a deploy</a:t>
            </a:r>
            <a:endParaRPr lang="en-US" sz="1536" dirty="0"/>
          </a:p>
        </p:txBody>
      </p:sp>
      <p:sp>
        <p:nvSpPr>
          <p:cNvPr id="13" name="Text 11"/>
          <p:cNvSpPr txBox="1"/>
          <p:nvPr/>
        </p:nvSpPr>
        <p:spPr>
          <a:xfrm>
            <a:off x="2438400" y="296331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4" name="Text 12"/>
          <p:cNvSpPr txBox="1"/>
          <p:nvPr/>
        </p:nvSpPr>
        <p:spPr>
          <a:xfrm>
            <a:off x="2910780" y="2972842"/>
            <a:ext cx="280124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Where should this value live?</a:t>
            </a:r>
            <a:endParaRPr lang="en-US" sz="1536" dirty="0"/>
          </a:p>
        </p:txBody>
      </p:sp>
      <p:sp>
        <p:nvSpPr>
          <p:cNvPr id="15" name="Shape 13"/>
          <p:cNvSpPr/>
          <p:nvPr/>
        </p:nvSpPr>
        <p:spPr>
          <a:xfrm>
            <a:off x="3453110" y="3650010"/>
            <a:ext cx="1903809" cy="202704"/>
          </a:xfrm>
          <a:prstGeom prst="roundRect">
            <a:avLst>
              <a:gd name="adj" fmla="val 18796"/>
            </a:avLst>
          </a:prstGeom>
          <a:solidFill>
            <a:srgbClr val="16303F">
              <a:alpha val="7000"/>
            </a:srgbClr>
          </a:solidFill>
          <a:ln/>
        </p:spPr>
      </p:sp>
      <p:sp>
        <p:nvSpPr>
          <p:cNvPr id="16" name="Text 14"/>
          <p:cNvSpPr txBox="1"/>
          <p:nvPr/>
        </p:nvSpPr>
        <p:spPr>
          <a:xfrm>
            <a:off x="2438400" y="3641824"/>
            <a:ext cx="4167783"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same key,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Weather:TimeoutSeconds</a:t>
            </a:r>
            <a:pPr algn="l" indent="0" marL="0">
              <a:buNone/>
            </a:pPr>
            <a:r>
              <a:rPr lang="en-US" sz="1200" dirty="0">
                <a:solidFill>
                  <a:srgbClr val="44535A"/>
                </a:solidFill>
                <a:latin typeface="Manrope" pitchFamily="34" charset="0"/>
                <a:ea typeface="Manrope" pitchFamily="34" charset="-122"/>
                <a:cs typeface="Manrope" pitchFamily="34" charset="-120"/>
              </a:rPr>
              <a:t>, crosses all five.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0674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Why externalize configuration at all?</a:t>
            </a:r>
            <a:endParaRPr lang="en-US" sz="2820" dirty="0"/>
          </a:p>
        </p:txBody>
      </p:sp>
      <p:sp>
        <p:nvSpPr>
          <p:cNvPr id="4" name="Shape 2"/>
          <p:cNvSpPr/>
          <p:nvPr/>
        </p:nvSpPr>
        <p:spPr>
          <a:xfrm>
            <a:off x="457200" y="1109811"/>
            <a:ext cx="1580406"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No hard-coding</a:t>
            </a:r>
            <a:endParaRPr lang="en-US" sz="1260" dirty="0"/>
          </a:p>
        </p:txBody>
      </p:sp>
      <p:sp>
        <p:nvSpPr>
          <p:cNvPr id="7" name="Shape 5"/>
          <p:cNvSpPr/>
          <p:nvPr/>
        </p:nvSpPr>
        <p:spPr>
          <a:xfrm>
            <a:off x="2167086" y="1109811"/>
            <a:ext cx="1580406" cy="1249561"/>
          </a:xfrm>
          <a:prstGeom prst="roundRect">
            <a:avLst>
              <a:gd name="adj" fmla="val 7623"/>
            </a:avLst>
          </a:prstGeom>
          <a:solidFill>
            <a:srgbClr val="FFFFFF"/>
          </a:solidFill>
          <a:ln w="9525">
            <a:solidFill>
              <a:srgbClr val="DDD9D2"/>
            </a:solidFill>
            <a:prstDash val="solid"/>
          </a:ln>
        </p:spPr>
      </p:sp>
      <p:sp>
        <p:nvSpPr>
          <p:cNvPr id="8" name="Text 6"/>
          <p:cNvSpPr txBox="1"/>
          <p:nvPr/>
        </p:nvSpPr>
        <p:spPr>
          <a:xfrm>
            <a:off x="2351782"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9" name="Text 7"/>
          <p:cNvSpPr txBox="1"/>
          <p:nvPr/>
        </p:nvSpPr>
        <p:spPr>
          <a:xfrm>
            <a:off x="2351782"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Varies by environment</a:t>
            </a:r>
            <a:endParaRPr lang="en-US" sz="1260" dirty="0"/>
          </a:p>
        </p:txBody>
      </p:sp>
      <p:sp>
        <p:nvSpPr>
          <p:cNvPr id="10" name="Shape 8"/>
          <p:cNvSpPr/>
          <p:nvPr/>
        </p:nvSpPr>
        <p:spPr>
          <a:xfrm>
            <a:off x="3876973" y="1109811"/>
            <a:ext cx="1580406" cy="1249561"/>
          </a:xfrm>
          <a:prstGeom prst="roundRect">
            <a:avLst>
              <a:gd name="adj" fmla="val 7623"/>
            </a:avLst>
          </a:prstGeom>
          <a:solidFill>
            <a:srgbClr val="FFFFFF"/>
          </a:solidFill>
          <a:ln w="9525">
            <a:solidFill>
              <a:srgbClr val="DDD9D2"/>
            </a:solidFill>
            <a:prstDash val="solid"/>
          </a:ln>
        </p:spPr>
      </p:sp>
      <p:sp>
        <p:nvSpPr>
          <p:cNvPr id="11" name="Text 9"/>
          <p:cNvSpPr txBox="1"/>
          <p:nvPr/>
        </p:nvSpPr>
        <p:spPr>
          <a:xfrm>
            <a:off x="4061668"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2" name="Text 10"/>
          <p:cNvSpPr txBox="1"/>
          <p:nvPr/>
        </p:nvSpPr>
        <p:spPr>
          <a:xfrm>
            <a:off x="4061668"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Change it on the fly</a:t>
            </a:r>
            <a:endParaRPr lang="en-US" sz="1260" dirty="0"/>
          </a:p>
        </p:txBody>
      </p:sp>
      <p:sp>
        <p:nvSpPr>
          <p:cNvPr id="13" name="Shape 11"/>
          <p:cNvSpPr/>
          <p:nvPr/>
        </p:nvSpPr>
        <p:spPr>
          <a:xfrm>
            <a:off x="5586859" y="1109811"/>
            <a:ext cx="1580406" cy="1249561"/>
          </a:xfrm>
          <a:prstGeom prst="roundRect">
            <a:avLst>
              <a:gd name="adj" fmla="val 7623"/>
            </a:avLst>
          </a:prstGeom>
          <a:solidFill>
            <a:srgbClr val="16303F"/>
          </a:solidFill>
          <a:ln w="9525">
            <a:solidFill>
              <a:srgbClr val="16303F"/>
            </a:solidFill>
            <a:prstDash val="solid"/>
          </a:ln>
        </p:spPr>
      </p:sp>
      <p:sp>
        <p:nvSpPr>
          <p:cNvPr id="14" name="Text 12"/>
          <p:cNvSpPr txBox="1"/>
          <p:nvPr/>
        </p:nvSpPr>
        <p:spPr>
          <a:xfrm>
            <a:off x="5771555"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04</a:t>
            </a:r>
            <a:endParaRPr lang="en-US" sz="1500" dirty="0"/>
          </a:p>
        </p:txBody>
      </p:sp>
      <p:sp>
        <p:nvSpPr>
          <p:cNvPr id="15" name="Text 13"/>
          <p:cNvSpPr txBox="1"/>
          <p:nvPr/>
        </p:nvSpPr>
        <p:spPr>
          <a:xfrm>
            <a:off x="5771555" y="1549747"/>
            <a:ext cx="529977"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Trust</a:t>
            </a:r>
            <a:endParaRPr lang="en-US" sz="1260" dirty="0"/>
          </a:p>
        </p:txBody>
      </p:sp>
      <p:sp>
        <p:nvSpPr>
          <p:cNvPr id="16" name="Shape 14"/>
          <p:cNvSpPr/>
          <p:nvPr/>
        </p:nvSpPr>
        <p:spPr>
          <a:xfrm>
            <a:off x="7296745" y="1109811"/>
            <a:ext cx="1580555" cy="1249561"/>
          </a:xfrm>
          <a:prstGeom prst="roundRect">
            <a:avLst>
              <a:gd name="adj" fmla="val 7623"/>
            </a:avLst>
          </a:prstGeom>
          <a:solidFill>
            <a:srgbClr val="16303F"/>
          </a:solidFill>
          <a:ln w="9525">
            <a:solidFill>
              <a:srgbClr val="16303F"/>
            </a:solidFill>
            <a:prstDash val="solid"/>
          </a:ln>
        </p:spPr>
      </p:sp>
      <p:sp>
        <p:nvSpPr>
          <p:cNvPr id="17" name="Text 15"/>
          <p:cNvSpPr txBox="1"/>
          <p:nvPr/>
        </p:nvSpPr>
        <p:spPr>
          <a:xfrm>
            <a:off x="7481441"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05</a:t>
            </a:r>
            <a:endParaRPr lang="en-US" sz="1500" dirty="0"/>
          </a:p>
        </p:txBody>
      </p:sp>
      <p:sp>
        <p:nvSpPr>
          <p:cNvPr id="18" name="Text 16"/>
          <p:cNvSpPr txBox="1"/>
          <p:nvPr/>
        </p:nvSpPr>
        <p:spPr>
          <a:xfrm>
            <a:off x="7481441" y="1549747"/>
            <a:ext cx="962174"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Ownership</a:t>
            </a:r>
            <a:endParaRPr lang="en-US" sz="12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29134"/>
            <a:ext cx="570115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2002 — you recompiled to change a value</a:t>
            </a:r>
            <a:endParaRPr lang="en-US" sz="2280" dirty="0"/>
          </a:p>
        </p:txBody>
      </p:sp>
      <p:sp>
        <p:nvSpPr>
          <p:cNvPr id="4" name="Shape 2"/>
          <p:cNvSpPr/>
          <p:nvPr/>
        </p:nvSpPr>
        <p:spPr>
          <a:xfrm>
            <a:off x="628650" y="1597968"/>
            <a:ext cx="8077200" cy="1366837"/>
          </a:xfrm>
          <a:prstGeom prst="roundRect">
            <a:avLst>
              <a:gd name="adj" fmla="val 2787"/>
            </a:avLst>
          </a:prstGeom>
          <a:solidFill>
            <a:srgbClr val="011627"/>
          </a:solidFill>
          <a:ln/>
        </p:spPr>
      </p:sp>
      <p:sp>
        <p:nvSpPr>
          <p:cNvPr id="5" name="Text 3"/>
          <p:cNvSpPr txBox="1"/>
          <p:nvPr/>
        </p:nvSpPr>
        <p:spPr>
          <a:xfrm>
            <a:off x="704850" y="1683693"/>
            <a:ext cx="7943850" cy="1181100"/>
          </a:xfrm>
          <a:prstGeom prst="rect">
            <a:avLst/>
          </a:prstGeom>
          <a:noFill/>
          <a:ln/>
        </p:spPr>
        <p:txBody>
          <a:bodyPr wrap="square" lIns="0" tIns="0" rIns="0" bIns="0" rtlCol="0" anchor="t"/>
          <a:lstStyle/>
          <a:p>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DEBUG</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localhost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else</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sql-prod-01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endif</a:t>
            </a:r>
            <a:endParaRPr lang="en-US" sz="1275" dirty="0"/>
          </a:p>
        </p:txBody>
      </p:sp>
      <p:sp>
        <p:nvSpPr>
          <p:cNvPr id="6" name="Shape 4"/>
          <p:cNvSpPr/>
          <p:nvPr/>
        </p:nvSpPr>
        <p:spPr>
          <a:xfrm>
            <a:off x="628650" y="3254276"/>
            <a:ext cx="38100" cy="914400"/>
          </a:xfrm>
          <a:prstGeom prst="rect">
            <a:avLst/>
          </a:prstGeom>
          <a:solidFill>
            <a:srgbClr val="F4C233"/>
          </a:solidFill>
          <a:ln/>
        </p:spPr>
      </p:sp>
      <p:sp>
        <p:nvSpPr>
          <p:cNvPr id="7" name="Text 5"/>
          <p:cNvSpPr txBox="1"/>
          <p:nvPr/>
        </p:nvSpPr>
        <p:spPr>
          <a:xfrm>
            <a:off x="788640" y="3416201"/>
            <a:ext cx="592544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Change the database, rebuild, retest, redeploy. The failure mode was shipping</a:t>
            </a:r>
            <a:endParaRPr lang="en-US" sz="1200" dirty="0"/>
          </a:p>
        </p:txBody>
      </p:sp>
      <p:sp>
        <p:nvSpPr>
          <p:cNvPr id="8" name="Text 6"/>
          <p:cNvSpPr txBox="1"/>
          <p:nvPr/>
        </p:nvSpPr>
        <p:spPr>
          <a:xfrm>
            <a:off x="788640" y="3797201"/>
            <a:ext cx="271760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with the wrong line uncommented.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867668"/>
            <a:ext cx="6767066"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2005 — the value left the binary, but not the build</a:t>
            </a:r>
            <a:endParaRPr lang="en-US" sz="2280" dirty="0"/>
          </a:p>
        </p:txBody>
      </p:sp>
      <p:sp>
        <p:nvSpPr>
          <p:cNvPr id="4" name="Shape 2"/>
          <p:cNvSpPr/>
          <p:nvPr/>
        </p:nvSpPr>
        <p:spPr>
          <a:xfrm>
            <a:off x="628650" y="1536502"/>
            <a:ext cx="8077200" cy="881063"/>
          </a:xfrm>
          <a:prstGeom prst="roundRect">
            <a:avLst>
              <a:gd name="adj" fmla="val 4324"/>
            </a:avLst>
          </a:prstGeom>
          <a:solidFill>
            <a:srgbClr val="011627"/>
          </a:solidFill>
          <a:ln/>
        </p:spPr>
      </p:sp>
      <p:sp>
        <p:nvSpPr>
          <p:cNvPr id="5" name="Text 3"/>
          <p:cNvSpPr txBox="1"/>
          <p:nvPr/>
        </p:nvSpPr>
        <p:spPr>
          <a:xfrm>
            <a:off x="704850" y="1622227"/>
            <a:ext cx="7943850" cy="695325"/>
          </a:xfrm>
          <a:prstGeom prst="rect">
            <a:avLst/>
          </a:prstGeom>
          <a:noFill/>
          <a:ln/>
        </p:spPr>
        <p:txBody>
          <a:bodyPr wrap="square" lIns="0" tIns="0" rIns="0" bIns="0" rtlCol="0" anchor="t"/>
          <a:lstStyle/>
          <a:p>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&lt;</a:t>
            </a:r>
            <a:pPr algn="l" indent="0" marL="0">
              <a:lnSpc>
                <a:spcPts val="1913"/>
              </a:lnSpc>
              <a:buNone/>
            </a:pPr>
            <a:r>
              <a:rPr lang="en-US" sz="1275" dirty="0">
                <a:solidFill>
                  <a:srgbClr val="CAECE6"/>
                </a:solidFill>
                <a:latin typeface="JetBrains Mono" pitchFamily="34" charset="0"/>
                <a:ea typeface="JetBrains Mono" pitchFamily="34" charset="-122"/>
                <a:cs typeface="JetBrains Mono" pitchFamily="34" charset="-120"/>
              </a:rPr>
              <a:t>appSettings</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&lt;</a:t>
            </a:r>
            <a:pPr algn="l" indent="0" marL="0">
              <a:lnSpc>
                <a:spcPts val="1913"/>
              </a:lnSpc>
              <a:buNone/>
            </a:pPr>
            <a:r>
              <a:rPr lang="en-US" sz="1275" dirty="0">
                <a:solidFill>
                  <a:srgbClr val="CAECE6"/>
                </a:solidFill>
                <a:latin typeface="JetBrains Mono" pitchFamily="34" charset="0"/>
                <a:ea typeface="JetBrains Mono" pitchFamily="34" charset="-122"/>
                <a:cs typeface="JetBrains Mono" pitchFamily="34" charset="-120"/>
              </a:rPr>
              <a:t>add</a:t>
            </a:r>
            <a:pPr algn="l" indent="0" marL="0">
              <a:lnSpc>
                <a:spcPts val="1913"/>
              </a:lnSpc>
              <a:buNone/>
            </a:pPr>
            <a:r>
              <a:rPr lang="en-US" sz="1275" dirty="0">
                <a:solidFill>
                  <a:srgbClr val="C5E478"/>
                </a:solidFill>
                <a:latin typeface="JetBrains Mono" pitchFamily="34" charset="0"/>
                <a:ea typeface="JetBrains Mono" pitchFamily="34" charset="-122"/>
                <a:cs typeface="JetBrains Mono" pitchFamily="34" charset="-120"/>
              </a:rPr>
              <a:t> key</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5E478"/>
                </a:solidFill>
                <a:latin typeface="JetBrains Mono" pitchFamily="34" charset="0"/>
                <a:ea typeface="JetBrains Mono" pitchFamily="34" charset="-122"/>
                <a:cs typeface="JetBrains Mono" pitchFamily="34" charset="-120"/>
              </a:rPr>
              <a:t> value</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sql-prod-01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/&gt;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&lt;/</a:t>
            </a:r>
            <a:pPr algn="l" indent="0" marL="0">
              <a:lnSpc>
                <a:spcPts val="1913"/>
              </a:lnSpc>
              <a:buNone/>
            </a:pPr>
            <a:r>
              <a:rPr lang="en-US" sz="1275" dirty="0">
                <a:solidFill>
                  <a:srgbClr val="CAECE6"/>
                </a:solidFill>
                <a:latin typeface="JetBrains Mono" pitchFamily="34" charset="0"/>
                <a:ea typeface="JetBrains Mono" pitchFamily="34" charset="-122"/>
                <a:cs typeface="JetBrains Mono" pitchFamily="34" charset="-120"/>
              </a:rPr>
              <a:t>appSettings</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endParaRPr lang="en-US" sz="1275" dirty="0"/>
          </a:p>
        </p:txBody>
      </p:sp>
      <p:sp>
        <p:nvSpPr>
          <p:cNvPr id="6" name="Shape 4"/>
          <p:cNvSpPr/>
          <p:nvPr/>
        </p:nvSpPr>
        <p:spPr>
          <a:xfrm>
            <a:off x="628650" y="2630835"/>
            <a:ext cx="8077200" cy="395287"/>
          </a:xfrm>
          <a:prstGeom prst="roundRect">
            <a:avLst>
              <a:gd name="adj" fmla="val 9639"/>
            </a:avLst>
          </a:prstGeom>
          <a:solidFill>
            <a:srgbClr val="011627"/>
          </a:solidFill>
          <a:ln/>
        </p:spPr>
      </p:sp>
      <p:sp>
        <p:nvSpPr>
          <p:cNvPr id="7" name="Text 5"/>
          <p:cNvSpPr txBox="1"/>
          <p:nvPr/>
        </p:nvSpPr>
        <p:spPr>
          <a:xfrm>
            <a:off x="704850" y="2716560"/>
            <a:ext cx="3903613" cy="209550"/>
          </a:xfrm>
          <a:prstGeom prst="rect">
            <a:avLst/>
          </a:prstGeom>
          <a:noFill/>
          <a:ln/>
        </p:spPr>
        <p:txBody>
          <a:bodyPr wrap="none" lIns="0" tIns="0" rIns="0" bIns="0" rtlCol="0" anchor="t"/>
          <a:lstStyle/>
          <a:p>
            <a:pPr algn="l" indent="0" marL="0">
              <a:buNone/>
            </a:pPr>
            <a:r>
              <a:rPr lang="en-US" sz="1275" dirty="0">
                <a:solidFill>
                  <a:srgbClr val="B2CCD6"/>
                </a:solidFill>
                <a:latin typeface="JetBrains Mono" pitchFamily="34" charset="0"/>
                <a:ea typeface="JetBrains Mono" pitchFamily="34" charset="-122"/>
                <a:cs typeface="JetBrains Mono" pitchFamily="34" charset="-120"/>
              </a:rPr>
              <a:t>ConfigurationManager</a:t>
            </a:r>
            <a:pPr algn="l" indent="0" marL="0">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buNone/>
            </a:pPr>
            <a:r>
              <a:rPr lang="en-US" sz="1275" dirty="0">
                <a:solidFill>
                  <a:srgbClr val="FAF39F"/>
                </a:solidFill>
                <a:latin typeface="JetBrains Mono" pitchFamily="34" charset="0"/>
                <a:ea typeface="JetBrains Mono" pitchFamily="34" charset="-122"/>
                <a:cs typeface="JetBrains Mono" pitchFamily="34" charset="-120"/>
              </a:rPr>
              <a:t>AppSettings</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ECC48D"/>
                </a:solidFill>
                <a:latin typeface="JetBrains Mono" pitchFamily="34" charset="0"/>
                <a:ea typeface="JetBrains Mono" pitchFamily="34" charset="-122"/>
                <a:cs typeface="JetBrains Mono" pitchFamily="34" charset="-120"/>
              </a:rPr>
              <a:t>Db</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8" name="Shape 6"/>
          <p:cNvSpPr/>
          <p:nvPr/>
        </p:nvSpPr>
        <p:spPr>
          <a:xfrm>
            <a:off x="628650" y="3315593"/>
            <a:ext cx="38100" cy="914400"/>
          </a:xfrm>
          <a:prstGeom prst="rect">
            <a:avLst/>
          </a:prstGeom>
          <a:solidFill>
            <a:srgbClr val="F4C233"/>
          </a:solidFill>
          <a:ln/>
        </p:spPr>
      </p:sp>
      <p:sp>
        <p:nvSpPr>
          <p:cNvPr id="9" name="Shape 7"/>
          <p:cNvSpPr/>
          <p:nvPr/>
        </p:nvSpPr>
        <p:spPr>
          <a:xfrm>
            <a:off x="5070574" y="3485704"/>
            <a:ext cx="1574602" cy="202704"/>
          </a:xfrm>
          <a:prstGeom prst="roundRect">
            <a:avLst>
              <a:gd name="adj" fmla="val 18796"/>
            </a:avLst>
          </a:prstGeom>
          <a:solidFill>
            <a:srgbClr val="16303F">
              <a:alpha val="7000"/>
            </a:srgbClr>
          </a:solidFill>
          <a:ln/>
        </p:spPr>
      </p:sp>
      <p:sp>
        <p:nvSpPr>
          <p:cNvPr id="10" name="Text 8"/>
          <p:cNvSpPr txBox="1"/>
          <p:nvPr/>
        </p:nvSpPr>
        <p:spPr>
          <a:xfrm>
            <a:off x="788640" y="3477518"/>
            <a:ext cx="592425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Wins on hard-coding and on per-environment values. But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Web.Release.config</a:t>
            </a:r>
            <a:endParaRPr lang="en-US" sz="1200" dirty="0"/>
          </a:p>
        </p:txBody>
      </p:sp>
      <p:sp>
        <p:nvSpPr>
          <p:cNvPr id="11" name="Text 9"/>
          <p:cNvSpPr txBox="1"/>
          <p:nvPr/>
        </p:nvSpPr>
        <p:spPr>
          <a:xfrm>
            <a:off x="788640" y="3858518"/>
            <a:ext cx="562838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transforms ran at </a:t>
            </a:r>
            <a:pPr algn="l" indent="0" marL="0">
              <a:buNone/>
            </a:pPr>
            <a:r>
              <a:rPr lang="en-US" sz="1200" b="1" dirty="0">
                <a:solidFill>
                  <a:srgbClr val="16303F"/>
                </a:solidFill>
                <a:latin typeface="Manrope" pitchFamily="34" charset="0"/>
                <a:ea typeface="Manrope" pitchFamily="34" charset="-122"/>
                <a:cs typeface="Manrope" pitchFamily="34" charset="-120"/>
              </a:rPr>
              <a:t>build</a:t>
            </a:r>
            <a:pPr algn="l" indent="0" marL="0">
              <a:buNone/>
            </a:pPr>
            <a:r>
              <a:rPr lang="en-US" sz="1200" b="1" dirty="0">
                <a:solidFill>
                  <a:srgbClr val="16303F"/>
                </a:solidFill>
                <a:latin typeface="Manrope" pitchFamily="34" charset="0"/>
                <a:ea typeface="Manrope" pitchFamily="34" charset="-122"/>
                <a:cs typeface="Manrope" pitchFamily="34" charset="-120"/>
              </a:rPr>
              <a:t> time, so you shipped one artifact per environment.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414909"/>
            <a:ext cx="5568851"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2018 — one artifact, many environments</a:t>
            </a:r>
            <a:endParaRPr lang="en-US" sz="2280" dirty="0"/>
          </a:p>
        </p:txBody>
      </p:sp>
      <p:sp>
        <p:nvSpPr>
          <p:cNvPr id="4" name="Shape 2"/>
          <p:cNvSpPr/>
          <p:nvPr/>
        </p:nvSpPr>
        <p:spPr>
          <a:xfrm>
            <a:off x="628650" y="2083743"/>
            <a:ext cx="8077200" cy="395287"/>
          </a:xfrm>
          <a:prstGeom prst="roundRect">
            <a:avLst>
              <a:gd name="adj" fmla="val 9639"/>
            </a:avLst>
          </a:prstGeom>
          <a:solidFill>
            <a:srgbClr val="011627"/>
          </a:solidFill>
          <a:ln/>
        </p:spPr>
      </p:sp>
      <p:sp>
        <p:nvSpPr>
          <p:cNvPr id="5" name="Text 3"/>
          <p:cNvSpPr txBox="1"/>
          <p:nvPr/>
        </p:nvSpPr>
        <p:spPr>
          <a:xfrm>
            <a:off x="704850" y="2169468"/>
            <a:ext cx="5264051" cy="209550"/>
          </a:xfrm>
          <a:prstGeom prst="rect">
            <a:avLst/>
          </a:prstGeom>
          <a:noFill/>
          <a:ln/>
        </p:spPr>
        <p:txBody>
          <a:bodyPr wrap="none" lIns="0" tIns="0" rIns="0" bIns="0" rtlCol="0" anchor="t"/>
          <a:lstStyle/>
          <a:p>
            <a:pPr algn="l" indent="0" marL="0">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buNone/>
            </a:pPr>
            <a:r>
              <a:rPr lang="en-US" sz="1275" dirty="0">
                <a:solidFill>
                  <a:srgbClr val="82AAFF"/>
                </a:solidFill>
                <a:latin typeface="JetBrains Mono" pitchFamily="34" charset="0"/>
                <a:ea typeface="JetBrains Mono" pitchFamily="34" charset="-122"/>
                <a:cs typeface="JetBrains Mono" pitchFamily="34" charset="-120"/>
              </a:rPr>
              <a:t>GetConnectionString</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ECC48D"/>
                </a:solidFill>
                <a:latin typeface="JetBrains Mono" pitchFamily="34" charset="0"/>
                <a:ea typeface="JetBrains Mono" pitchFamily="34" charset="-122"/>
                <a:cs typeface="JetBrains Mono" pitchFamily="34" charset="-120"/>
              </a:rPr>
              <a:t>Default</a:t>
            </a:r>
            <a:pPr algn="l" indent="0" marL="0">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6" name="Shape 4"/>
          <p:cNvSpPr/>
          <p:nvPr/>
        </p:nvSpPr>
        <p:spPr>
          <a:xfrm>
            <a:off x="628650" y="2768501"/>
            <a:ext cx="38100" cy="914400"/>
          </a:xfrm>
          <a:prstGeom prst="rect">
            <a:avLst/>
          </a:prstGeom>
          <a:solidFill>
            <a:srgbClr val="F4C233"/>
          </a:solidFill>
          <a:ln/>
        </p:spPr>
      </p:sp>
      <p:sp>
        <p:nvSpPr>
          <p:cNvPr id="7" name="Text 5"/>
          <p:cNvSpPr txBox="1"/>
          <p:nvPr/>
        </p:nvSpPr>
        <p:spPr>
          <a:xfrm>
            <a:off x="788640" y="2930426"/>
            <a:ext cx="5751016"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A provider chain, layering, binding, DI and reload — and the same model for a</a:t>
            </a:r>
            <a:endParaRPr lang="en-US" sz="1200" dirty="0"/>
          </a:p>
        </p:txBody>
      </p:sp>
      <p:sp>
        <p:nvSpPr>
          <p:cNvPr id="8" name="Text 6"/>
          <p:cNvSpPr txBox="1"/>
          <p:nvPr/>
        </p:nvSpPr>
        <p:spPr>
          <a:xfrm>
            <a:off x="788640" y="3311426"/>
            <a:ext cx="5733306"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web app, a worker, a console tool and a desktop app. All five reasons, finally.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164259"/>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We traded a build-time decision for a runtime one.</a:t>
            </a:r>
            <a:endParaRPr lang="en-US" sz="25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two environments need different answers, it’s configuration.</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behaviour must change without shipping, it’s a flag.</a:t>
            </a:r>
            <a:endParaRPr lang="en-US" sz="25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1786830"/>
            <a:ext cx="7506146"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One application. Four places it has to run.</a:t>
            </a:r>
            <a:endParaRPr lang="en-US" sz="3000" dirty="0"/>
          </a:p>
        </p:txBody>
      </p:sp>
      <p:sp>
        <p:nvSpPr>
          <p:cNvPr id="4" name="Text 2"/>
          <p:cNvSpPr txBox="1"/>
          <p:nvPr/>
        </p:nvSpPr>
        <p:spPr>
          <a:xfrm>
            <a:off x="609600" y="2432596"/>
            <a:ext cx="5330130" cy="209550"/>
          </a:xfrm>
          <a:prstGeom prst="rect">
            <a:avLst/>
          </a:prstGeom>
          <a:noFill/>
          <a:ln/>
        </p:spPr>
        <p:txBody>
          <a:bodyPr wrap="none" lIns="0" tIns="0" rIns="0" bIns="0" rtlCol="0" anchor="t"/>
          <a:lstStyle/>
          <a:p>
            <a:pPr algn="l" indent="0" marL="0">
              <a:buNone/>
            </a:pPr>
            <a:r>
              <a:rPr lang="en-US" sz="1200" b="1" dirty="0">
                <a:solidFill>
                  <a:srgbClr val="F7F6F3"/>
                </a:solidFill>
                <a:latin typeface="Manrope" pitchFamily="34" charset="0"/>
                <a:ea typeface="Manrope" pitchFamily="34" charset="-122"/>
                <a:cs typeface="Manrope" pitchFamily="34" charset="-120"/>
              </a:rPr>
              <a:t>the team’s baseline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my machine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a shared dev server</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production</a:t>
            </a:r>
            <a:endParaRPr lang="en-US" sz="1200" dirty="0"/>
          </a:p>
        </p:txBody>
      </p:sp>
      <p:sp>
        <p:nvSpPr>
          <p:cNvPr id="5" name="Text 3"/>
          <p:cNvSpPr txBox="1"/>
          <p:nvPr/>
        </p:nvSpPr>
        <p:spPr>
          <a:xfrm>
            <a:off x="609600" y="2813596"/>
            <a:ext cx="7943850" cy="438150"/>
          </a:xfrm>
          <a:prstGeom prst="rect">
            <a:avLst/>
          </a:prstGeom>
          <a:noFill/>
          <a:ln/>
        </p:spPr>
        <p:txBody>
          <a:bodyPr wrap="square" lIns="0" tIns="0" rIns="0" bIns="0" rtlCol="0" anchor="t"/>
          <a:lstStyle/>
          <a:p>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Each boundary changes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who supplies the value</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and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what it costs to get it wrong</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The application does not change — only the answer to “where did this come from?” does.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51864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When config breaks, I check four things first</a:t>
            </a:r>
            <a:endParaRPr lang="en-US" sz="2820" dirty="0"/>
          </a:p>
        </p:txBody>
      </p:sp>
      <p:sp>
        <p:nvSpPr>
          <p:cNvPr id="4" name="Shape 2"/>
          <p:cNvSpPr/>
          <p:nvPr/>
        </p:nvSpPr>
        <p:spPr>
          <a:xfrm>
            <a:off x="457200" y="1109811"/>
            <a:ext cx="4145310"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657820"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ORDER</a:t>
            </a:r>
            <a:endParaRPr lang="en-US" sz="1260" dirty="0"/>
          </a:p>
        </p:txBody>
      </p:sp>
      <p:sp>
        <p:nvSpPr>
          <p:cNvPr id="7" name="Text 5"/>
          <p:cNvSpPr txBox="1"/>
          <p:nvPr/>
        </p:nvSpPr>
        <p:spPr>
          <a:xfrm>
            <a:off x="641896" y="1832372"/>
            <a:ext cx="2411164"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provider you forgot about is winning.</a:t>
            </a:r>
            <a:endParaRPr lang="en-US" sz="1032" dirty="0"/>
          </a:p>
        </p:txBody>
      </p:sp>
      <p:sp>
        <p:nvSpPr>
          <p:cNvPr id="8" name="Shape 6"/>
          <p:cNvSpPr/>
          <p:nvPr/>
        </p:nvSpPr>
        <p:spPr>
          <a:xfrm>
            <a:off x="4731990" y="1109811"/>
            <a:ext cx="4145310" cy="1249561"/>
          </a:xfrm>
          <a:prstGeom prst="roundRect">
            <a:avLst>
              <a:gd name="adj" fmla="val 7623"/>
            </a:avLst>
          </a:prstGeom>
          <a:solidFill>
            <a:srgbClr val="FFFFFF"/>
          </a:solidFill>
          <a:ln w="9525">
            <a:solidFill>
              <a:srgbClr val="DDD9D2"/>
            </a:solidFill>
            <a:prstDash val="solid"/>
          </a:ln>
        </p:spPr>
      </p:sp>
      <p:sp>
        <p:nvSpPr>
          <p:cNvPr id="9" name="Text 7"/>
          <p:cNvSpPr txBox="1"/>
          <p:nvPr/>
        </p:nvSpPr>
        <p:spPr>
          <a:xfrm>
            <a:off x="491668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10" name="Text 8"/>
          <p:cNvSpPr txBox="1"/>
          <p:nvPr/>
        </p:nvSpPr>
        <p:spPr>
          <a:xfrm>
            <a:off x="4916686" y="1549747"/>
            <a:ext cx="64665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SHAPE</a:t>
            </a:r>
            <a:endParaRPr lang="en-US" sz="1260" dirty="0"/>
          </a:p>
        </p:txBody>
      </p:sp>
      <p:sp>
        <p:nvSpPr>
          <p:cNvPr id="11" name="Text 9"/>
          <p:cNvSpPr txBox="1"/>
          <p:nvPr/>
        </p:nvSpPr>
        <p:spPr>
          <a:xfrm>
            <a:off x="4916686" y="1832372"/>
            <a:ext cx="3740348"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The key you set doesn't produce the key the binder looks for.</a:t>
            </a:r>
            <a:endParaRPr lang="en-US" sz="1032" dirty="0"/>
          </a:p>
        </p:txBody>
      </p:sp>
      <p:sp>
        <p:nvSpPr>
          <p:cNvPr id="12" name="Shape 10"/>
          <p:cNvSpPr/>
          <p:nvPr/>
        </p:nvSpPr>
        <p:spPr>
          <a:xfrm>
            <a:off x="457200" y="2488853"/>
            <a:ext cx="4145310" cy="1302693"/>
          </a:xfrm>
          <a:prstGeom prst="roundRect">
            <a:avLst>
              <a:gd name="adj" fmla="val 7312"/>
            </a:avLst>
          </a:prstGeom>
          <a:solidFill>
            <a:srgbClr val="FFFFFF"/>
          </a:solidFill>
          <a:ln w="9525">
            <a:solidFill>
              <a:srgbClr val="DDD9D2"/>
            </a:solidFill>
            <a:prstDash val="solid"/>
          </a:ln>
        </p:spPr>
      </p:sp>
      <p:sp>
        <p:nvSpPr>
          <p:cNvPr id="13" name="Text 11"/>
          <p:cNvSpPr txBox="1"/>
          <p:nvPr/>
        </p:nvSpPr>
        <p:spPr>
          <a:xfrm>
            <a:off x="64189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4" name="Text 12"/>
          <p:cNvSpPr txBox="1"/>
          <p:nvPr/>
        </p:nvSpPr>
        <p:spPr>
          <a:xfrm>
            <a:off x="641896" y="2928789"/>
            <a:ext cx="80411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LIFETIME</a:t>
            </a:r>
            <a:endParaRPr lang="en-US" sz="1260" dirty="0"/>
          </a:p>
        </p:txBody>
      </p:sp>
      <p:sp>
        <p:nvSpPr>
          <p:cNvPr id="15" name="Text 13"/>
          <p:cNvSpPr txBox="1"/>
          <p:nvPr/>
        </p:nvSpPr>
        <p:spPr>
          <a:xfrm>
            <a:off x="641896" y="3211413"/>
            <a:ext cx="3794968" cy="371029"/>
          </a:xfrm>
          <a:prstGeom prst="rect">
            <a:avLst/>
          </a:prstGeom>
          <a:noFill/>
          <a:ln/>
        </p:spPr>
        <p:txBody>
          <a:bodyPr wrap="square" lIns="0" tIns="0" rIns="0" bIns="0" rtlCol="0" anchor="t"/>
          <a:lstStyle/>
          <a:p>
            <a:pPr algn="l" indent="0" marL="0">
              <a:lnSpc>
                <a:spcPts val="1496"/>
              </a:lnSpc>
              <a:buNone/>
            </a:pPr>
            <a:r>
              <a:rPr lang="en-US" sz="1032" dirty="0">
                <a:solidFill>
                  <a:srgbClr val="44535A"/>
                </a:solidFill>
                <a:latin typeface="Manrope" pitchFamily="34" charset="0"/>
                <a:ea typeface="Manrope" pitchFamily="34" charset="-122"/>
                <a:cs typeface="Manrope" pitchFamily="34" charset="-120"/>
              </a:rPr>
              <a:t>You cached a value that was supposed to change — or vice versa.</a:t>
            </a:r>
            <a:endParaRPr lang="en-US" sz="1032" dirty="0"/>
          </a:p>
        </p:txBody>
      </p:sp>
      <p:sp>
        <p:nvSpPr>
          <p:cNvPr id="16" name="Shape 14"/>
          <p:cNvSpPr/>
          <p:nvPr/>
        </p:nvSpPr>
        <p:spPr>
          <a:xfrm>
            <a:off x="4731990" y="2488853"/>
            <a:ext cx="4145310" cy="1302693"/>
          </a:xfrm>
          <a:prstGeom prst="roundRect">
            <a:avLst>
              <a:gd name="adj" fmla="val 7312"/>
            </a:avLst>
          </a:prstGeom>
          <a:solidFill>
            <a:srgbClr val="FFFFFF"/>
          </a:solidFill>
          <a:ln w="9525">
            <a:solidFill>
              <a:srgbClr val="DDD9D2"/>
            </a:solidFill>
            <a:prstDash val="solid"/>
          </a:ln>
        </p:spPr>
      </p:sp>
      <p:sp>
        <p:nvSpPr>
          <p:cNvPr id="17" name="Text 15"/>
          <p:cNvSpPr txBox="1"/>
          <p:nvPr/>
        </p:nvSpPr>
        <p:spPr>
          <a:xfrm>
            <a:off x="491668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04</a:t>
            </a:r>
            <a:endParaRPr lang="en-US" sz="1500" dirty="0"/>
          </a:p>
        </p:txBody>
      </p:sp>
      <p:sp>
        <p:nvSpPr>
          <p:cNvPr id="18" name="Text 16"/>
          <p:cNvSpPr txBox="1"/>
          <p:nvPr/>
        </p:nvSpPr>
        <p:spPr>
          <a:xfrm>
            <a:off x="4916686" y="2928789"/>
            <a:ext cx="63519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TRUST</a:t>
            </a:r>
            <a:endParaRPr lang="en-US" sz="1260" dirty="0"/>
          </a:p>
        </p:txBody>
      </p:sp>
      <p:sp>
        <p:nvSpPr>
          <p:cNvPr id="19" name="Text 17"/>
          <p:cNvSpPr txBox="1"/>
          <p:nvPr/>
        </p:nvSpPr>
        <p:spPr>
          <a:xfrm>
            <a:off x="4916686" y="3211413"/>
            <a:ext cx="3034010"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secret is sitting in a file that ships with the app.</a:t>
            </a:r>
            <a:endParaRPr lang="en-US" sz="1032"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Shape 1"/>
          <p:cNvSpPr/>
          <p:nvPr/>
        </p:nvSpPr>
        <p:spPr>
          <a:xfrm>
            <a:off x="609600" y="2183160"/>
            <a:ext cx="3284339" cy="495300"/>
          </a:xfrm>
          <a:prstGeom prst="roundRect">
            <a:avLst>
              <a:gd name="adj" fmla="val 7692"/>
            </a:avLst>
          </a:prstGeom>
          <a:solidFill>
            <a:srgbClr val="F7F6F3">
              <a:alpha val="16000"/>
            </a:srgbClr>
          </a:solidFill>
          <a:ln/>
        </p:spPr>
      </p:sp>
      <p:sp>
        <p:nvSpPr>
          <p:cNvPr id="4" name="Text 2"/>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appsettings.json</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is a team decision, and it ships with the app.</a:t>
            </a: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379109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It’s one flat dictionary</a:t>
            </a:r>
            <a:endParaRPr lang="en-US" sz="2820" dirty="0"/>
          </a:p>
        </p:txBody>
      </p:sp>
      <p:sp>
        <p:nvSpPr>
          <p:cNvPr id="4" name="Text 2"/>
          <p:cNvSpPr txBox="1"/>
          <p:nvPr/>
        </p:nvSpPr>
        <p:spPr>
          <a:xfrm>
            <a:off x="304800" y="1071711"/>
            <a:ext cx="1630412"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THREE WAYS TO SPELL IT</a:t>
            </a:r>
            <a:endParaRPr lang="en-US" sz="768" dirty="0"/>
          </a:p>
        </p:txBody>
      </p:sp>
      <p:sp>
        <p:nvSpPr>
          <p:cNvPr id="5" name="Shape 3"/>
          <p:cNvSpPr/>
          <p:nvPr/>
        </p:nvSpPr>
        <p:spPr>
          <a:xfrm>
            <a:off x="304800" y="1313855"/>
            <a:ext cx="8724900" cy="1223962"/>
          </a:xfrm>
          <a:prstGeom prst="roundRect">
            <a:avLst>
              <a:gd name="adj" fmla="val 3113"/>
            </a:avLst>
          </a:prstGeom>
          <a:solidFill>
            <a:srgbClr val="011627"/>
          </a:solidFill>
          <a:ln/>
        </p:spPr>
      </p:sp>
      <p:sp>
        <p:nvSpPr>
          <p:cNvPr id="6" name="Text 4"/>
          <p:cNvSpPr txBox="1"/>
          <p:nvPr/>
        </p:nvSpPr>
        <p:spPr>
          <a:xfrm>
            <a:off x="381000" y="1399580"/>
            <a:ext cx="8591550" cy="104775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appsettings.json   "Weather": { "TimeoutSeconds": 30 }</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environment        Weather__TimeoutSeconds=10</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command line       --Weather:TimeoutSeconds=5</a:t>
            </a:r>
            <a:endParaRPr lang="en-US" sz="1125" dirty="0"/>
          </a:p>
        </p:txBody>
      </p:sp>
      <p:sp>
        <p:nvSpPr>
          <p:cNvPr id="7" name="Text 5"/>
          <p:cNvSpPr txBox="1"/>
          <p:nvPr/>
        </p:nvSpPr>
        <p:spPr>
          <a:xfrm>
            <a:off x="304800" y="2705398"/>
            <a:ext cx="1734294"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ONE KEY, ONE DICTIONARY</a:t>
            </a:r>
            <a:endParaRPr lang="en-US" sz="768" dirty="0"/>
          </a:p>
        </p:txBody>
      </p:sp>
      <p:sp>
        <p:nvSpPr>
          <p:cNvPr id="8" name="Shape 6"/>
          <p:cNvSpPr/>
          <p:nvPr/>
        </p:nvSpPr>
        <p:spPr>
          <a:xfrm>
            <a:off x="304800" y="2947541"/>
            <a:ext cx="8724900" cy="1223962"/>
          </a:xfrm>
          <a:prstGeom prst="roundRect">
            <a:avLst>
              <a:gd name="adj" fmla="val 3113"/>
            </a:avLst>
          </a:prstGeom>
          <a:solidFill>
            <a:srgbClr val="011627"/>
          </a:solidFill>
          <a:ln/>
        </p:spPr>
      </p:sp>
      <p:sp>
        <p:nvSpPr>
          <p:cNvPr id="9" name="Text 7"/>
          <p:cNvSpPr txBox="1"/>
          <p:nvPr/>
        </p:nvSpPr>
        <p:spPr>
          <a:xfrm>
            <a:off x="381000" y="3033266"/>
            <a:ext cx="8591550" cy="104775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Weather:TimeoutSeconds   "30"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Weather:TimeoutSeconds   "10"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Weather:TimeoutSeconds   "5"</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same key, three providers - last one wins</a:t>
            </a:r>
            <a:endParaRPr lang="en-US" sz="1125" dirty="0"/>
          </a:p>
        </p:txBody>
      </p:sp>
      <p:sp>
        <p:nvSpPr>
          <p:cNvPr id="10" name="Shape 8"/>
          <p:cNvSpPr/>
          <p:nvPr/>
        </p:nvSpPr>
        <p:spPr>
          <a:xfrm>
            <a:off x="1321891" y="4577804"/>
            <a:ext cx="257770" cy="202704"/>
          </a:xfrm>
          <a:prstGeom prst="roundRect">
            <a:avLst>
              <a:gd name="adj" fmla="val 18796"/>
            </a:avLst>
          </a:prstGeom>
          <a:solidFill>
            <a:srgbClr val="16303F">
              <a:alpha val="7000"/>
            </a:srgbClr>
          </a:solidFill>
          <a:ln/>
        </p:spPr>
      </p:sp>
      <p:sp>
        <p:nvSpPr>
          <p:cNvPr id="11" name="Shape 9"/>
          <p:cNvSpPr/>
          <p:nvPr/>
        </p:nvSpPr>
        <p:spPr>
          <a:xfrm>
            <a:off x="1905595" y="4577804"/>
            <a:ext cx="257770" cy="202704"/>
          </a:xfrm>
          <a:prstGeom prst="roundRect">
            <a:avLst>
              <a:gd name="adj" fmla="val 18796"/>
            </a:avLst>
          </a:prstGeom>
          <a:solidFill>
            <a:srgbClr val="16303F">
              <a:alpha val="7000"/>
            </a:srgbClr>
          </a:solidFill>
          <a:ln/>
        </p:spPr>
      </p:sp>
      <p:sp>
        <p:nvSpPr>
          <p:cNvPr id="12" name="Shape 10"/>
          <p:cNvSpPr/>
          <p:nvPr/>
        </p:nvSpPr>
        <p:spPr>
          <a:xfrm>
            <a:off x="4613672" y="4577804"/>
            <a:ext cx="175468" cy="202704"/>
          </a:xfrm>
          <a:prstGeom prst="roundRect">
            <a:avLst>
              <a:gd name="adj" fmla="val 21713"/>
            </a:avLst>
          </a:prstGeom>
          <a:solidFill>
            <a:srgbClr val="16303F">
              <a:alpha val="7000"/>
            </a:srgbClr>
          </a:solidFill>
          <a:ln/>
        </p:spPr>
      </p:sp>
      <p:sp>
        <p:nvSpPr>
          <p:cNvPr id="13" name="Text 11"/>
          <p:cNvSpPr txBox="1"/>
          <p:nvPr/>
        </p:nvSpPr>
        <p:spPr>
          <a:xfrm>
            <a:off x="304800" y="4569619"/>
            <a:ext cx="6494711"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JSON nesting,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__</a:t>
            </a:r>
            <a:pPr algn="l" indent="0" marL="0">
              <a:buNone/>
            </a:pPr>
            <a:r>
              <a:rPr lang="en-US" sz="1200" dirty="0">
                <a:solidFill>
                  <a:srgbClr val="44535A"/>
                </a:solidFill>
                <a:latin typeface="Manrope" pitchFamily="34" charset="0"/>
                <a:ea typeface="Manrope" pitchFamily="34" charset="-122"/>
                <a:cs typeface="Manrope" pitchFamily="34" charset="-120"/>
              </a:rPr>
              <a:t> and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buNone/>
            </a:pPr>
            <a:r>
              <a:rPr lang="en-US" sz="1200" dirty="0">
                <a:solidFill>
                  <a:srgbClr val="44535A"/>
                </a:solidFill>
                <a:latin typeface="Manrope" pitchFamily="34" charset="0"/>
                <a:ea typeface="Manrope" pitchFamily="34" charset="-122"/>
                <a:cs typeface="Manrope" pitchFamily="34" charset="-120"/>
              </a:rPr>
              <a:t> are just spellings. They all become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buNone/>
            </a:pPr>
            <a:r>
              <a:rPr lang="en-US" sz="1200" dirty="0">
                <a:solidFill>
                  <a:srgbClr val="44535A"/>
                </a:solidFill>
                <a:latin typeface="Manrope" pitchFamily="34" charset="0"/>
                <a:ea typeface="Manrope" pitchFamily="34" charset="-122"/>
                <a:cs typeface="Manrope" pitchFamily="34" charset="-120"/>
              </a:rPr>
              <a:t>, and every value is a string.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359372"/>
            <a:ext cx="4317355" cy="438150"/>
          </a:xfrm>
          <a:prstGeom prst="rect">
            <a:avLst/>
          </a:prstGeom>
          <a:noFill/>
          <a:ln/>
        </p:spPr>
        <p:txBody>
          <a:bodyPr wrap="none" lIns="0" tIns="0" rIns="0" bIns="0" rtlCol="0" anchor="t"/>
          <a:lstStyle/>
          <a:p>
            <a:pPr algn="l" indent="0" marL="0">
              <a:buNone/>
            </a:pPr>
            <a:r>
              <a:rPr lang="en-US" sz="2520" b="1" spc="-50" kern="0" dirty="0">
                <a:solidFill>
                  <a:srgbClr val="16303F"/>
                </a:solidFill>
                <a:latin typeface="Manrope" pitchFamily="34" charset="0"/>
                <a:ea typeface="Manrope" pitchFamily="34" charset="-122"/>
                <a:cs typeface="Manrope" pitchFamily="34" charset="-120"/>
              </a:rPr>
              <a:t>Every scalar is text — or null.</a:t>
            </a:r>
            <a:endParaRPr lang="en-US" sz="25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87380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Arrays overlay. They don’t replace.</a:t>
            </a:r>
            <a:endParaRPr lang="en-US" sz="2820" dirty="0"/>
          </a:p>
        </p:txBody>
      </p:sp>
      <p:sp>
        <p:nvSpPr>
          <p:cNvPr id="4" name="Text 2"/>
          <p:cNvSpPr txBox="1"/>
          <p:nvPr/>
        </p:nvSpPr>
        <p:spPr>
          <a:xfrm>
            <a:off x="304800" y="1071711"/>
            <a:ext cx="2300436"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THE TWO FILES, AND WHAT YOU GET</a:t>
            </a:r>
            <a:endParaRPr lang="en-US" sz="768" dirty="0"/>
          </a:p>
        </p:txBody>
      </p:sp>
      <p:sp>
        <p:nvSpPr>
          <p:cNvPr id="5" name="Shape 3"/>
          <p:cNvSpPr/>
          <p:nvPr/>
        </p:nvSpPr>
        <p:spPr>
          <a:xfrm>
            <a:off x="304800" y="1313855"/>
            <a:ext cx="8724900" cy="1009650"/>
          </a:xfrm>
          <a:prstGeom prst="roundRect">
            <a:avLst>
              <a:gd name="adj" fmla="val 3774"/>
            </a:avLst>
          </a:prstGeom>
          <a:solidFill>
            <a:srgbClr val="011627"/>
          </a:solidFill>
          <a:ln/>
        </p:spPr>
      </p:sp>
      <p:sp>
        <p:nvSpPr>
          <p:cNvPr id="6" name="Text 4"/>
          <p:cNvSpPr txBox="1"/>
          <p:nvPr/>
        </p:nvSpPr>
        <p:spPr>
          <a:xfrm>
            <a:off x="381000" y="1399580"/>
            <a:ext cx="8591550" cy="833437"/>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appsettings.json               a, b, c</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appsettings.Development.json   x</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WHAT YOUR APP BINDS            x, b, c</a:t>
            </a:r>
            <a:endParaRPr lang="en-US" sz="1125" dirty="0"/>
          </a:p>
        </p:txBody>
      </p:sp>
      <p:sp>
        <p:nvSpPr>
          <p:cNvPr id="7" name="Text 5"/>
          <p:cNvSpPr txBox="1"/>
          <p:nvPr/>
        </p:nvSpPr>
        <p:spPr>
          <a:xfrm>
            <a:off x="304800" y="2491085"/>
            <a:ext cx="2376636"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BECAUSE ARRAY ELEMENTS ARE KEYS</a:t>
            </a:r>
            <a:endParaRPr lang="en-US" sz="768" dirty="0"/>
          </a:p>
        </p:txBody>
      </p:sp>
      <p:sp>
        <p:nvSpPr>
          <p:cNvPr id="8" name="Shape 6"/>
          <p:cNvSpPr/>
          <p:nvPr/>
        </p:nvSpPr>
        <p:spPr>
          <a:xfrm>
            <a:off x="304800" y="2733229"/>
            <a:ext cx="8724900" cy="795338"/>
          </a:xfrm>
          <a:prstGeom prst="roundRect">
            <a:avLst>
              <a:gd name="adj" fmla="val 4790"/>
            </a:avLst>
          </a:prstGeom>
          <a:solidFill>
            <a:srgbClr val="011627"/>
          </a:solidFill>
          <a:ln/>
        </p:spPr>
      </p:sp>
      <p:sp>
        <p:nvSpPr>
          <p:cNvPr id="9" name="Text 7"/>
          <p:cNvSpPr txBox="1"/>
          <p:nvPr/>
        </p:nvSpPr>
        <p:spPr>
          <a:xfrm>
            <a:off x="381000" y="2818954"/>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Weather:AllowedOrigins:0  = https://x.example.com   Development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Weather:AllowedOrigins:1  = https://b.example.com   base, survived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Weather:AllowedOrigins:2  = https://c.example.com   base, survived</a:t>
            </a:r>
            <a:endParaRPr lang="en-US" sz="1125" dirty="0"/>
          </a:p>
        </p:txBody>
      </p:sp>
      <p:sp>
        <p:nvSpPr>
          <p:cNvPr id="10" name="Text 8"/>
          <p:cNvSpPr txBox="1"/>
          <p:nvPr/>
        </p:nvSpPr>
        <p:spPr>
          <a:xfrm>
            <a:off x="304800" y="3926681"/>
            <a:ext cx="5825579"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Only index 0 was overlaid. Precedence then runs per key, exactly as it always does.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Your machine can differ from mine — without changing the repo.</a:t>
            </a:r>
            <a:endParaRPr lang="en-US" sz="3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95086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environment file merges. Key by key.</a:t>
            </a:r>
            <a:endParaRPr lang="en-US" sz="2820" dirty="0"/>
          </a:p>
        </p:txBody>
      </p:sp>
      <p:sp>
        <p:nvSpPr>
          <p:cNvPr id="4" name="Text 2"/>
          <p:cNvSpPr txBox="1"/>
          <p:nvPr/>
        </p:nvSpPr>
        <p:spPr>
          <a:xfrm>
            <a:off x="304800" y="1071711"/>
            <a:ext cx="133230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APPSETTINGS.JSON</a:t>
            </a:r>
            <a:endParaRPr lang="en-US" sz="768" dirty="0"/>
          </a:p>
        </p:txBody>
      </p:sp>
      <p:sp>
        <p:nvSpPr>
          <p:cNvPr id="5" name="Shape 3"/>
          <p:cNvSpPr/>
          <p:nvPr/>
        </p:nvSpPr>
        <p:spPr>
          <a:xfrm>
            <a:off x="304800" y="1313855"/>
            <a:ext cx="2821930" cy="1009650"/>
          </a:xfrm>
          <a:prstGeom prst="roundRect">
            <a:avLst>
              <a:gd name="adj" fmla="val 3774"/>
            </a:avLst>
          </a:prstGeom>
          <a:solidFill>
            <a:srgbClr val="011627"/>
          </a:solidFill>
          <a:ln/>
        </p:spPr>
      </p:sp>
      <p:sp>
        <p:nvSpPr>
          <p:cNvPr id="6" name="Text 4"/>
          <p:cNvSpPr txBox="1"/>
          <p:nvPr/>
        </p:nvSpPr>
        <p:spPr>
          <a:xfrm>
            <a:off x="381000" y="1409105"/>
            <a:ext cx="2688580" cy="8191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https://api.example.com</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"TimeoutSeconds"</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F78C6C"/>
                </a:solidFill>
                <a:latin typeface="JetBrains Mono" pitchFamily="34" charset="0"/>
                <a:ea typeface="JetBrains Mono" pitchFamily="34" charset="-122"/>
                <a:cs typeface="JetBrains Mono" pitchFamily="34" charset="-120"/>
              </a:rPr>
              <a:t>30</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"ApiKey"</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placeholder-...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7" name="Text 5"/>
          <p:cNvSpPr txBox="1"/>
          <p:nvPr/>
        </p:nvSpPr>
        <p:spPr>
          <a:xfrm>
            <a:off x="3256211" y="1071711"/>
            <a:ext cx="224923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APPSETTINGS.DEVELOPMENT.JSON</a:t>
            </a:r>
            <a:endParaRPr lang="en-US" sz="768" dirty="0"/>
          </a:p>
        </p:txBody>
      </p:sp>
      <p:sp>
        <p:nvSpPr>
          <p:cNvPr id="8" name="Shape 6"/>
          <p:cNvSpPr/>
          <p:nvPr/>
        </p:nvSpPr>
        <p:spPr>
          <a:xfrm>
            <a:off x="3256211" y="1313855"/>
            <a:ext cx="2821930" cy="666750"/>
          </a:xfrm>
          <a:prstGeom prst="roundRect">
            <a:avLst>
              <a:gd name="adj" fmla="val 5714"/>
            </a:avLst>
          </a:prstGeom>
          <a:solidFill>
            <a:srgbClr val="011627"/>
          </a:solidFill>
          <a:ln/>
        </p:spPr>
      </p:sp>
      <p:sp>
        <p:nvSpPr>
          <p:cNvPr id="9" name="Text 7"/>
          <p:cNvSpPr txBox="1"/>
          <p:nvPr/>
        </p:nvSpPr>
        <p:spPr>
          <a:xfrm>
            <a:off x="3332411" y="1409105"/>
            <a:ext cx="2688580" cy="4762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https://localhost:7104</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10" name="Text 8"/>
          <p:cNvSpPr txBox="1"/>
          <p:nvPr/>
        </p:nvSpPr>
        <p:spPr>
          <a:xfrm>
            <a:off x="6207621" y="1071711"/>
            <a:ext cx="1351657"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WHAT THE APP SEES</a:t>
            </a:r>
            <a:endParaRPr lang="en-US" sz="768" dirty="0"/>
          </a:p>
        </p:txBody>
      </p:sp>
      <p:sp>
        <p:nvSpPr>
          <p:cNvPr id="11" name="Shape 9"/>
          <p:cNvSpPr/>
          <p:nvPr/>
        </p:nvSpPr>
        <p:spPr>
          <a:xfrm>
            <a:off x="6207621" y="1313855"/>
            <a:ext cx="2822079" cy="666750"/>
          </a:xfrm>
          <a:prstGeom prst="roundRect">
            <a:avLst>
              <a:gd name="adj" fmla="val 5714"/>
            </a:avLst>
          </a:prstGeom>
          <a:solidFill>
            <a:srgbClr val="011627"/>
          </a:solidFill>
          <a:ln/>
        </p:spPr>
      </p:sp>
      <p:sp>
        <p:nvSpPr>
          <p:cNvPr id="12" name="Text 10"/>
          <p:cNvSpPr txBox="1"/>
          <p:nvPr/>
        </p:nvSpPr>
        <p:spPr>
          <a:xfrm>
            <a:off x="6283821" y="1409105"/>
            <a:ext cx="2688729" cy="476250"/>
          </a:xfrm>
          <a:prstGeom prst="rect">
            <a:avLst/>
          </a:prstGeom>
          <a:noFill/>
          <a:ln/>
        </p:spPr>
        <p:txBody>
          <a:bodyPr wrap="square" lIns="0" tIns="0" rIns="0" bIns="0" rtlCol="0" anchor="t"/>
          <a:lstStyle/>
          <a:p>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ApiBaseUrl       https://localhost:7104</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TimeoutSeconds   30           &lt;- survived</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ApiKey           placeholder  &lt;- survived</a:t>
            </a:r>
            <a:endParaRPr lang="en-US" sz="795" dirty="0"/>
          </a:p>
        </p:txBody>
      </p:sp>
      <p:sp>
        <p:nvSpPr>
          <p:cNvPr id="13" name="Text 11"/>
          <p:cNvSpPr txBox="1"/>
          <p:nvPr/>
        </p:nvSpPr>
        <p:spPr>
          <a:xfrm>
            <a:off x="304800" y="2721620"/>
            <a:ext cx="577527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surviving rows are the whole point. It merges key by key — it does not replace.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63108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Not encrypted. Not a vault.</a:t>
            </a:r>
            <a:endParaRPr lang="en-US" sz="2820" dirty="0"/>
          </a:p>
        </p:txBody>
      </p:sp>
      <p:sp>
        <p:nvSpPr>
          <p:cNvPr id="4" name="Text 2"/>
          <p:cNvSpPr txBox="1"/>
          <p:nvPr/>
        </p:nvSpPr>
        <p:spPr>
          <a:xfrm>
            <a:off x="304800" y="1071711"/>
            <a:ext cx="87391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IN THE REPO</a:t>
            </a:r>
            <a:endParaRPr lang="en-US" sz="768" dirty="0"/>
          </a:p>
        </p:txBody>
      </p:sp>
      <p:sp>
        <p:nvSpPr>
          <p:cNvPr id="5" name="Shape 3"/>
          <p:cNvSpPr/>
          <p:nvPr/>
        </p:nvSpPr>
        <p:spPr>
          <a:xfrm>
            <a:off x="304800" y="1313855"/>
            <a:ext cx="8724900" cy="366712"/>
          </a:xfrm>
          <a:prstGeom prst="roundRect">
            <a:avLst>
              <a:gd name="adj" fmla="val 10390"/>
            </a:avLst>
          </a:prstGeom>
          <a:solidFill>
            <a:srgbClr val="011627"/>
          </a:solidFill>
          <a:ln/>
        </p:spPr>
      </p:sp>
      <p:sp>
        <p:nvSpPr>
          <p:cNvPr id="6" name="Text 4"/>
          <p:cNvSpPr txBox="1"/>
          <p:nvPr/>
        </p:nvSpPr>
        <p:spPr>
          <a:xfrm>
            <a:off x="381000" y="1399580"/>
            <a:ext cx="5857875" cy="190500"/>
          </a:xfrm>
          <a:prstGeom prst="rect">
            <a:avLst/>
          </a:prstGeom>
          <a:noFill/>
          <a:ln/>
        </p:spPr>
        <p:txBody>
          <a:bodyPr wrap="none" lIns="0" tIns="0" rIns="0" bIns="0" rtlCol="0" anchor="t"/>
          <a:lstStyle/>
          <a:p>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d09a1b2c-3d4e-5f60-7182-93a4b5c6d7e8</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endParaRPr lang="en-US" sz="1125" dirty="0"/>
          </a:p>
        </p:txBody>
      </p:sp>
      <p:sp>
        <p:nvSpPr>
          <p:cNvPr id="7" name="Text 5"/>
          <p:cNvSpPr txBox="1"/>
          <p:nvPr/>
        </p:nvSpPr>
        <p:spPr>
          <a:xfrm>
            <a:off x="304800" y="1787128"/>
            <a:ext cx="1483519" cy="161925"/>
          </a:xfrm>
          <a:prstGeom prst="rect">
            <a:avLst/>
          </a:prstGeom>
          <a:noFill/>
          <a:ln/>
        </p:spPr>
        <p:txBody>
          <a:bodyPr wrap="none" lIns="0" tIns="0" rIns="0" bIns="0" rtlCol="0" anchor="t"/>
          <a:lstStyle/>
          <a:p>
            <a:pPr algn="l" indent="0" marL="0">
              <a:buNone/>
            </a:pPr>
            <a:r>
              <a:rPr lang="en-US" sz="888" i="1" dirty="0">
                <a:solidFill>
                  <a:srgbClr val="44535A"/>
                </a:solidFill>
                <a:latin typeface="Manrope" pitchFamily="34" charset="0"/>
                <a:ea typeface="Manrope" pitchFamily="34" charset="-122"/>
                <a:cs typeface="Manrope" pitchFamily="34" charset="-120"/>
              </a:rPr>
              <a:t>a pointer, and nothing else</a:t>
            </a:r>
            <a:endParaRPr lang="en-US" sz="888" dirty="0"/>
          </a:p>
        </p:txBody>
      </p:sp>
      <p:sp>
        <p:nvSpPr>
          <p:cNvPr id="8" name="Text 6"/>
          <p:cNvSpPr txBox="1"/>
          <p:nvPr/>
        </p:nvSpPr>
        <p:spPr>
          <a:xfrm>
            <a:off x="304800" y="2085826"/>
            <a:ext cx="1250603"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ON YOUR MACHINE</a:t>
            </a:r>
            <a:endParaRPr lang="en-US" sz="768" dirty="0"/>
          </a:p>
        </p:txBody>
      </p:sp>
      <p:sp>
        <p:nvSpPr>
          <p:cNvPr id="9" name="Shape 7"/>
          <p:cNvSpPr/>
          <p:nvPr/>
        </p:nvSpPr>
        <p:spPr>
          <a:xfrm>
            <a:off x="304800" y="2327970"/>
            <a:ext cx="8724900" cy="795338"/>
          </a:xfrm>
          <a:prstGeom prst="roundRect">
            <a:avLst>
              <a:gd name="adj" fmla="val 4790"/>
            </a:avLst>
          </a:prstGeom>
          <a:solidFill>
            <a:srgbClr val="011627"/>
          </a:solidFill>
          <a:ln/>
        </p:spPr>
      </p:sp>
      <p:sp>
        <p:nvSpPr>
          <p:cNvPr id="10" name="Text 8"/>
          <p:cNvSpPr txBox="1"/>
          <p:nvPr/>
        </p:nvSpPr>
        <p:spPr>
          <a:xfrm>
            <a:off x="381000" y="2413695"/>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%APPDATA%\Microsoft\UserSecrets\d09a1b2c-...\secrets.json</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"Weather:ApiKey": "dev-key-12345" }</a:t>
            </a:r>
            <a:endParaRPr lang="en-US" sz="1125" dirty="0"/>
          </a:p>
        </p:txBody>
      </p:sp>
      <p:sp>
        <p:nvSpPr>
          <p:cNvPr id="11" name="Text 9"/>
          <p:cNvSpPr txBox="1"/>
          <p:nvPr/>
        </p:nvSpPr>
        <p:spPr>
          <a:xfrm>
            <a:off x="304800" y="3229868"/>
            <a:ext cx="1834902" cy="161925"/>
          </a:xfrm>
          <a:prstGeom prst="rect">
            <a:avLst/>
          </a:prstGeom>
          <a:noFill/>
          <a:ln/>
        </p:spPr>
        <p:txBody>
          <a:bodyPr wrap="none" lIns="0" tIns="0" rIns="0" bIns="0" rtlCol="0" anchor="t"/>
          <a:lstStyle/>
          <a:p>
            <a:pPr algn="l" indent="0" marL="0">
              <a:buNone/>
            </a:pPr>
            <a:r>
              <a:rPr lang="en-US" sz="888" b="1" dirty="0">
                <a:solidFill>
                  <a:srgbClr val="16303F"/>
                </a:solidFill>
                <a:latin typeface="Manrope" pitchFamily="34" charset="0"/>
                <a:ea typeface="Manrope" pitchFamily="34" charset="-122"/>
                <a:cs typeface="Manrope" pitchFamily="34" charset="-120"/>
              </a:rPr>
              <a:t>plaintext, on disk, unencrypted</a:t>
            </a:r>
            <a:endParaRPr lang="en-US" sz="888"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47614"/>
            <a:ext cx="4694337"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User secrets live outside the repo</a:t>
            </a:r>
            <a:endParaRPr lang="en-US" sz="2280" dirty="0"/>
          </a:p>
        </p:txBody>
      </p:sp>
      <p:sp>
        <p:nvSpPr>
          <p:cNvPr id="4" name="Shape 2"/>
          <p:cNvSpPr/>
          <p:nvPr/>
        </p:nvSpPr>
        <p:spPr>
          <a:xfrm>
            <a:off x="628650" y="1816447"/>
            <a:ext cx="8077200" cy="2095500"/>
          </a:xfrm>
          <a:prstGeom prst="roundRect">
            <a:avLst>
              <a:gd name="adj" fmla="val 1818"/>
            </a:avLst>
          </a:prstGeom>
          <a:solidFill>
            <a:srgbClr val="011627"/>
          </a:solidFill>
          <a:ln/>
        </p:spPr>
      </p:sp>
      <p:sp>
        <p:nvSpPr>
          <p:cNvPr id="5" name="Text 3"/>
          <p:cNvSpPr txBox="1"/>
          <p:nvPr/>
        </p:nvSpPr>
        <p:spPr>
          <a:xfrm>
            <a:off x="704850" y="1902172"/>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init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dev-key-12345</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list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remove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clear</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.NET 10 - file-based apps, no .csproj anywhere</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--file</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app.cs</a:t>
            </a:r>
            <a:endParaRPr lang="en-US" sz="12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2359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launchSettings trap</a:t>
            </a:r>
            <a:endParaRPr lang="en-US" sz="2820" dirty="0"/>
          </a:p>
        </p:txBody>
      </p:sp>
      <p:sp>
        <p:nvSpPr>
          <p:cNvPr id="4" name="Shape 2"/>
          <p:cNvSpPr/>
          <p:nvPr/>
        </p:nvSpPr>
        <p:spPr>
          <a:xfrm>
            <a:off x="457200" y="1163241"/>
            <a:ext cx="38100" cy="533400"/>
          </a:xfrm>
          <a:prstGeom prst="rect">
            <a:avLst/>
          </a:prstGeom>
          <a:solidFill>
            <a:srgbClr val="F4C233"/>
          </a:solidFill>
          <a:ln/>
        </p:spPr>
      </p:sp>
      <p:sp>
        <p:nvSpPr>
          <p:cNvPr id="5" name="Text 3"/>
          <p:cNvSpPr txBox="1"/>
          <p:nvPr/>
        </p:nvSpPr>
        <p:spPr>
          <a:xfrm>
            <a:off x="617190" y="1325166"/>
            <a:ext cx="1372791"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Which one wins?</a:t>
            </a:r>
            <a:endParaRPr lang="en-US" sz="1200" dirty="0"/>
          </a:p>
        </p:txBody>
      </p:sp>
      <p:sp>
        <p:nvSpPr>
          <p:cNvPr id="6" name="Shape 4"/>
          <p:cNvSpPr/>
          <p:nvPr/>
        </p:nvSpPr>
        <p:spPr>
          <a:xfrm>
            <a:off x="457200" y="2034629"/>
            <a:ext cx="8420100" cy="9525"/>
          </a:xfrm>
          <a:prstGeom prst="rect">
            <a:avLst/>
          </a:prstGeom>
          <a:solidFill>
            <a:srgbClr val="9CA3AF">
              <a:alpha val="20000"/>
            </a:srgbClr>
          </a:solidFill>
          <a:ln/>
        </p:spPr>
      </p:sp>
      <p:sp>
        <p:nvSpPr>
          <p:cNvPr id="7" name="Shape 5"/>
          <p:cNvSpPr/>
          <p:nvPr/>
        </p:nvSpPr>
        <p:spPr>
          <a:xfrm>
            <a:off x="457200" y="2025104"/>
            <a:ext cx="3220938" cy="19050"/>
          </a:xfrm>
          <a:prstGeom prst="rect">
            <a:avLst/>
          </a:prstGeom>
          <a:solidFill>
            <a:srgbClr val="16303F"/>
          </a:solidFill>
          <a:ln/>
        </p:spPr>
      </p:sp>
      <p:sp>
        <p:nvSpPr>
          <p:cNvPr id="8" name="Text 6"/>
          <p:cNvSpPr txBox="1"/>
          <p:nvPr/>
        </p:nvSpPr>
        <p:spPr>
          <a:xfrm>
            <a:off x="563761" y="1810792"/>
            <a:ext cx="230043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YOU SET AN ENVIRONMENT VARIABLE</a:t>
            </a:r>
            <a:endParaRPr lang="en-US" sz="816" dirty="0"/>
          </a:p>
        </p:txBody>
      </p:sp>
      <p:sp>
        <p:nvSpPr>
          <p:cNvPr id="9" name="Shape 7"/>
          <p:cNvSpPr/>
          <p:nvPr/>
        </p:nvSpPr>
        <p:spPr>
          <a:xfrm>
            <a:off x="3678138" y="2025104"/>
            <a:ext cx="5199162" cy="19050"/>
          </a:xfrm>
          <a:prstGeom prst="rect">
            <a:avLst/>
          </a:prstGeom>
          <a:solidFill>
            <a:srgbClr val="16303F"/>
          </a:solidFill>
          <a:ln/>
        </p:spPr>
      </p:sp>
      <p:sp>
        <p:nvSpPr>
          <p:cNvPr id="10" name="Text 8"/>
          <p:cNvSpPr txBox="1"/>
          <p:nvPr/>
        </p:nvSpPr>
        <p:spPr>
          <a:xfrm>
            <a:off x="3784699" y="1810792"/>
            <a:ext cx="1777901"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PROJECT HAS THIS FILE</a:t>
            </a:r>
            <a:endParaRPr lang="en-US" sz="816" dirty="0"/>
          </a:p>
        </p:txBody>
      </p:sp>
      <p:sp>
        <p:nvSpPr>
          <p:cNvPr id="11" name="Shape 9"/>
          <p:cNvSpPr/>
          <p:nvPr/>
        </p:nvSpPr>
        <p:spPr>
          <a:xfrm>
            <a:off x="457200" y="2380952"/>
            <a:ext cx="8420100" cy="9525"/>
          </a:xfrm>
          <a:prstGeom prst="rect">
            <a:avLst/>
          </a:prstGeom>
          <a:solidFill>
            <a:srgbClr val="9CA3AF">
              <a:alpha val="20000"/>
            </a:srgbClr>
          </a:solidFill>
          <a:ln/>
        </p:spPr>
      </p:sp>
      <p:sp>
        <p:nvSpPr>
          <p:cNvPr id="12" name="Shape 10"/>
          <p:cNvSpPr/>
          <p:nvPr/>
        </p:nvSpPr>
        <p:spPr>
          <a:xfrm>
            <a:off x="457200" y="2380952"/>
            <a:ext cx="3220938" cy="9525"/>
          </a:xfrm>
          <a:prstGeom prst="rect">
            <a:avLst/>
          </a:prstGeom>
          <a:solidFill>
            <a:srgbClr val="DDD9D2"/>
          </a:solidFill>
          <a:ln/>
        </p:spPr>
      </p:sp>
      <p:sp>
        <p:nvSpPr>
          <p:cNvPr id="13" name="Shape 11"/>
          <p:cNvSpPr/>
          <p:nvPr/>
        </p:nvSpPr>
        <p:spPr>
          <a:xfrm>
            <a:off x="563761" y="2136428"/>
            <a:ext cx="2679055" cy="181570"/>
          </a:xfrm>
          <a:prstGeom prst="roundRect">
            <a:avLst>
              <a:gd name="adj" fmla="val 20984"/>
            </a:avLst>
          </a:prstGeom>
          <a:solidFill>
            <a:srgbClr val="16303F">
              <a:alpha val="7000"/>
            </a:srgbClr>
          </a:solidFill>
          <a:ln/>
        </p:spPr>
      </p:sp>
      <p:sp>
        <p:nvSpPr>
          <p:cNvPr id="14" name="Text 12"/>
          <p:cNvSpPr txBox="1"/>
          <p:nvPr/>
        </p:nvSpPr>
        <p:spPr>
          <a:xfrm>
            <a:off x="506611" y="2136428"/>
            <a:ext cx="279335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$env:Weather__TimeoutSeconds = "10"</a:t>
            </a:r>
            <a:endParaRPr lang="en-US" sz="972" dirty="0"/>
          </a:p>
        </p:txBody>
      </p:sp>
      <p:sp>
        <p:nvSpPr>
          <p:cNvPr id="15" name="Shape 13"/>
          <p:cNvSpPr/>
          <p:nvPr/>
        </p:nvSpPr>
        <p:spPr>
          <a:xfrm>
            <a:off x="3678138" y="2380952"/>
            <a:ext cx="5199162" cy="9525"/>
          </a:xfrm>
          <a:prstGeom prst="rect">
            <a:avLst/>
          </a:prstGeom>
          <a:solidFill>
            <a:srgbClr val="DDD9D2"/>
          </a:solidFill>
          <a:ln/>
        </p:spPr>
      </p:sp>
      <p:sp>
        <p:nvSpPr>
          <p:cNvPr id="16" name="Shape 14"/>
          <p:cNvSpPr/>
          <p:nvPr/>
        </p:nvSpPr>
        <p:spPr>
          <a:xfrm>
            <a:off x="3784699" y="2136428"/>
            <a:ext cx="2309068" cy="181570"/>
          </a:xfrm>
          <a:prstGeom prst="roundRect">
            <a:avLst>
              <a:gd name="adj" fmla="val 20984"/>
            </a:avLst>
          </a:prstGeom>
          <a:solidFill>
            <a:srgbClr val="16303F">
              <a:alpha val="7000"/>
            </a:srgbClr>
          </a:solidFill>
          <a:ln/>
        </p:spPr>
      </p:sp>
      <p:sp>
        <p:nvSpPr>
          <p:cNvPr id="17" name="Text 15"/>
          <p:cNvSpPr txBox="1"/>
          <p:nvPr/>
        </p:nvSpPr>
        <p:spPr>
          <a:xfrm>
            <a:off x="3727549" y="2136428"/>
            <a:ext cx="242336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Properties/launchSettings.json</a:t>
            </a:r>
            <a:endParaRPr lang="en-US" sz="972" dirty="0"/>
          </a:p>
        </p:txBody>
      </p:sp>
      <p:sp>
        <p:nvSpPr>
          <p:cNvPr id="18" name="Shape 16"/>
          <p:cNvSpPr/>
          <p:nvPr/>
        </p:nvSpPr>
        <p:spPr>
          <a:xfrm>
            <a:off x="457200" y="2390477"/>
            <a:ext cx="8420100" cy="341561"/>
          </a:xfrm>
          <a:prstGeom prst="rect">
            <a:avLst/>
          </a:prstGeom>
          <a:solidFill>
            <a:srgbClr val="16303F">
              <a:alpha val="3000"/>
            </a:srgbClr>
          </a:solidFill>
          <a:ln/>
        </p:spPr>
      </p:sp>
      <p:sp>
        <p:nvSpPr>
          <p:cNvPr id="19" name="Shape 17"/>
          <p:cNvSpPr/>
          <p:nvPr/>
        </p:nvSpPr>
        <p:spPr>
          <a:xfrm>
            <a:off x="457200" y="2722513"/>
            <a:ext cx="8420100" cy="9525"/>
          </a:xfrm>
          <a:prstGeom prst="rect">
            <a:avLst/>
          </a:prstGeom>
          <a:solidFill>
            <a:srgbClr val="9CA3AF">
              <a:alpha val="20000"/>
            </a:srgbClr>
          </a:solidFill>
          <a:ln/>
        </p:spPr>
      </p:sp>
      <p:sp>
        <p:nvSpPr>
          <p:cNvPr id="20" name="Shape 18"/>
          <p:cNvSpPr/>
          <p:nvPr/>
        </p:nvSpPr>
        <p:spPr>
          <a:xfrm>
            <a:off x="457200" y="2722513"/>
            <a:ext cx="3220938" cy="9525"/>
          </a:xfrm>
          <a:prstGeom prst="rect">
            <a:avLst/>
          </a:prstGeom>
          <a:solidFill>
            <a:srgbClr val="DDD9D2"/>
          </a:solidFill>
          <a:ln/>
        </p:spPr>
      </p:sp>
      <p:sp>
        <p:nvSpPr>
          <p:cNvPr id="21" name="Shape 19"/>
          <p:cNvSpPr/>
          <p:nvPr/>
        </p:nvSpPr>
        <p:spPr>
          <a:xfrm>
            <a:off x="880021" y="2477988"/>
            <a:ext cx="828824" cy="181570"/>
          </a:xfrm>
          <a:prstGeom prst="roundRect">
            <a:avLst>
              <a:gd name="adj" fmla="val 20984"/>
            </a:avLst>
          </a:prstGeom>
          <a:solidFill>
            <a:srgbClr val="16303F">
              <a:alpha val="7000"/>
            </a:srgbClr>
          </a:solidFill>
          <a:ln/>
        </p:spPr>
      </p:sp>
      <p:sp>
        <p:nvSpPr>
          <p:cNvPr id="22" name="Text 20"/>
          <p:cNvSpPr txBox="1"/>
          <p:nvPr/>
        </p:nvSpPr>
        <p:spPr>
          <a:xfrm>
            <a:off x="563761" y="2468761"/>
            <a:ext cx="121503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then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dotnet run</a:t>
            </a:r>
            <a:endParaRPr lang="en-US" sz="1056" dirty="0"/>
          </a:p>
        </p:txBody>
      </p:sp>
      <p:sp>
        <p:nvSpPr>
          <p:cNvPr id="23" name="Shape 21"/>
          <p:cNvSpPr/>
          <p:nvPr/>
        </p:nvSpPr>
        <p:spPr>
          <a:xfrm>
            <a:off x="3678138" y="2722513"/>
            <a:ext cx="5199162" cy="9525"/>
          </a:xfrm>
          <a:prstGeom prst="rect">
            <a:avLst/>
          </a:prstGeom>
          <a:solidFill>
            <a:srgbClr val="DDD9D2"/>
          </a:solidFill>
          <a:ln/>
        </p:spPr>
      </p:sp>
      <p:sp>
        <p:nvSpPr>
          <p:cNvPr id="24" name="Shape 22"/>
          <p:cNvSpPr/>
          <p:nvPr/>
        </p:nvSpPr>
        <p:spPr>
          <a:xfrm>
            <a:off x="3784699" y="2477988"/>
            <a:ext cx="4455319" cy="181570"/>
          </a:xfrm>
          <a:prstGeom prst="roundRect">
            <a:avLst>
              <a:gd name="adj" fmla="val 20984"/>
            </a:avLst>
          </a:prstGeom>
          <a:solidFill>
            <a:srgbClr val="16303F">
              <a:alpha val="7000"/>
            </a:srgbClr>
          </a:solidFill>
          <a:ln/>
        </p:spPr>
      </p:sp>
      <p:sp>
        <p:nvSpPr>
          <p:cNvPr id="25" name="Text 23"/>
          <p:cNvSpPr txBox="1"/>
          <p:nvPr/>
        </p:nvSpPr>
        <p:spPr>
          <a:xfrm>
            <a:off x="3727549" y="2477988"/>
            <a:ext cx="456961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"environmentVariables": { "Weather__TimeoutSeconds": "45" }</a:t>
            </a:r>
            <a:endParaRPr lang="en-US" sz="972" dirty="0"/>
          </a:p>
        </p:txBody>
      </p:sp>
      <p:sp>
        <p:nvSpPr>
          <p:cNvPr id="26" name="Shape 24"/>
          <p:cNvSpPr/>
          <p:nvPr/>
        </p:nvSpPr>
        <p:spPr>
          <a:xfrm>
            <a:off x="457200" y="2896791"/>
            <a:ext cx="38100" cy="533400"/>
          </a:xfrm>
          <a:prstGeom prst="rect">
            <a:avLst/>
          </a:prstGeom>
          <a:solidFill>
            <a:srgbClr val="F4C233"/>
          </a:solidFill>
          <a:ln/>
        </p:spPr>
      </p:sp>
      <p:sp>
        <p:nvSpPr>
          <p:cNvPr id="27" name="Text 25"/>
          <p:cNvSpPr txBox="1"/>
          <p:nvPr/>
        </p:nvSpPr>
        <p:spPr>
          <a:xfrm>
            <a:off x="617190" y="3058716"/>
            <a:ext cx="1518196"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“Which one wins?”</a:t>
            </a:r>
            <a:endParaRPr lang="en-US" sz="1200" dirty="0"/>
          </a:p>
        </p:txBody>
      </p:sp>
      <p:sp>
        <p:nvSpPr>
          <p:cNvPr id="28" name="Shape 26"/>
          <p:cNvSpPr/>
          <p:nvPr/>
        </p:nvSpPr>
        <p:spPr>
          <a:xfrm>
            <a:off x="8463260" y="228600"/>
            <a:ext cx="581769" cy="228451"/>
          </a:xfrm>
          <a:prstGeom prst="roundRect">
            <a:avLst>
              <a:gd name="adj" fmla="val 16678"/>
            </a:avLst>
          </a:prstGeom>
          <a:solidFill>
            <a:srgbClr val="16303F"/>
          </a:solidFill>
          <a:ln/>
        </p:spPr>
      </p:sp>
      <p:sp>
        <p:nvSpPr>
          <p:cNvPr id="29" name="Text 27"/>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49722"/>
            <a:ext cx="8077200" cy="638175"/>
          </a:xfrm>
          <a:prstGeom prst="roundRect">
            <a:avLst>
              <a:gd name="adj" fmla="val 5970"/>
            </a:avLst>
          </a:prstGeom>
          <a:solidFill>
            <a:srgbClr val="011627"/>
          </a:solidFill>
          <a:ln/>
        </p:spPr>
      </p:sp>
      <p:sp>
        <p:nvSpPr>
          <p:cNvPr id="4" name="Text 2"/>
          <p:cNvSpPr txBox="1"/>
          <p:nvPr/>
        </p:nvSpPr>
        <p:spPr>
          <a:xfrm>
            <a:off x="704850" y="1435447"/>
            <a:ext cx="7943850" cy="452437"/>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45 seconds.</a:t>
            </a:r>
            <a:endParaRPr lang="en-US" sz="1275" dirty="0"/>
          </a:p>
        </p:txBody>
      </p:sp>
      <p:sp>
        <p:nvSpPr>
          <p:cNvPr id="5" name="Shape 3"/>
          <p:cNvSpPr/>
          <p:nvPr/>
        </p:nvSpPr>
        <p:spPr>
          <a:xfrm>
            <a:off x="628650" y="2277368"/>
            <a:ext cx="38100" cy="533400"/>
          </a:xfrm>
          <a:prstGeom prst="rect">
            <a:avLst/>
          </a:prstGeom>
          <a:solidFill>
            <a:srgbClr val="F4C233"/>
          </a:solidFill>
          <a:ln/>
        </p:spPr>
      </p:sp>
      <p:sp>
        <p:nvSpPr>
          <p:cNvPr id="6" name="Shape 4"/>
          <p:cNvSpPr/>
          <p:nvPr/>
        </p:nvSpPr>
        <p:spPr>
          <a:xfrm>
            <a:off x="788640" y="2447479"/>
            <a:ext cx="1656904" cy="202704"/>
          </a:xfrm>
          <a:prstGeom prst="roundRect">
            <a:avLst>
              <a:gd name="adj" fmla="val 18796"/>
            </a:avLst>
          </a:prstGeom>
          <a:solidFill>
            <a:srgbClr val="16303F">
              <a:alpha val="7000"/>
            </a:srgbClr>
          </a:solidFill>
          <a:ln/>
        </p:spPr>
      </p:sp>
      <p:sp>
        <p:nvSpPr>
          <p:cNvPr id="7" name="Text 5"/>
          <p:cNvSpPr txBox="1"/>
          <p:nvPr/>
        </p:nvSpPr>
        <p:spPr>
          <a:xfrm>
            <a:off x="835223" y="2439293"/>
            <a:ext cx="5160020"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launchSettings.json</a:t>
            </a:r>
            <a:pPr algn="l" indent="0" marL="0">
              <a:buNone/>
            </a:pPr>
            <a:r>
              <a:rPr lang="en-US" sz="1200" b="1" dirty="0">
                <a:solidFill>
                  <a:srgbClr val="16303F"/>
                </a:solidFill>
                <a:latin typeface="Manrope" pitchFamily="34" charset="0"/>
                <a:ea typeface="Manrope" pitchFamily="34" charset="-122"/>
                <a:cs typeface="Manrope" pitchFamily="34" charset="-120"/>
              </a:rPr>
              <a:t> is a development-only file that never deploys.</a:t>
            </a:r>
            <a:endParaRPr lang="en-US" sz="1080" dirty="0"/>
          </a:p>
        </p:txBody>
      </p:sp>
      <p:sp>
        <p:nvSpPr>
          <p:cNvPr id="8" name="Text 6"/>
          <p:cNvSpPr txBox="1"/>
          <p:nvPr/>
        </p:nvSpPr>
        <p:spPr>
          <a:xfrm>
            <a:off x="628650" y="3224064"/>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So the value you carefully set is beaten locally by a file that will not exist in production — where your environment variable is the only thing left.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466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Default provider order</a:t>
            </a:r>
            <a:endParaRPr lang="en-US" sz="2820" dirty="0"/>
          </a:p>
        </p:txBody>
      </p:sp>
      <p:sp>
        <p:nvSpPr>
          <p:cNvPr id="4" name="Shape 2"/>
          <p:cNvSpPr/>
          <p:nvPr/>
        </p:nvSpPr>
        <p:spPr>
          <a:xfrm>
            <a:off x="457200" y="1163241"/>
            <a:ext cx="38100" cy="533400"/>
          </a:xfrm>
          <a:prstGeom prst="rect">
            <a:avLst/>
          </a:prstGeom>
          <a:solidFill>
            <a:srgbClr val="F4C233"/>
          </a:solidFill>
          <a:ln/>
        </p:spPr>
      </p:sp>
      <p:sp>
        <p:nvSpPr>
          <p:cNvPr id="5" name="Text 3"/>
          <p:cNvSpPr txBox="1"/>
          <p:nvPr/>
        </p:nvSpPr>
        <p:spPr>
          <a:xfrm>
            <a:off x="617190" y="1325166"/>
            <a:ext cx="375642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HIGHEST PRECEDENCE FIRST — row 1 beats row 8.</a:t>
            </a:r>
            <a:endParaRPr lang="en-US" sz="1200" dirty="0"/>
          </a:p>
        </p:txBody>
      </p:sp>
      <p:sp>
        <p:nvSpPr>
          <p:cNvPr id="6" name="Shape 4"/>
          <p:cNvSpPr/>
          <p:nvPr/>
        </p:nvSpPr>
        <p:spPr>
          <a:xfrm>
            <a:off x="457200" y="1989088"/>
            <a:ext cx="8420100" cy="9525"/>
          </a:xfrm>
          <a:prstGeom prst="rect">
            <a:avLst/>
          </a:prstGeom>
          <a:solidFill>
            <a:srgbClr val="9CA3AF">
              <a:alpha val="20000"/>
            </a:srgbClr>
          </a:solidFill>
          <a:ln/>
        </p:spPr>
      </p:sp>
      <p:sp>
        <p:nvSpPr>
          <p:cNvPr id="7" name="Shape 5"/>
          <p:cNvSpPr/>
          <p:nvPr/>
        </p:nvSpPr>
        <p:spPr>
          <a:xfrm>
            <a:off x="457200" y="1979563"/>
            <a:ext cx="461665" cy="19050"/>
          </a:xfrm>
          <a:prstGeom prst="rect">
            <a:avLst/>
          </a:prstGeom>
          <a:solidFill>
            <a:srgbClr val="16303F"/>
          </a:solidFill>
          <a:ln/>
        </p:spPr>
      </p:sp>
      <p:sp>
        <p:nvSpPr>
          <p:cNvPr id="8" name="Shape 6"/>
          <p:cNvSpPr/>
          <p:nvPr/>
        </p:nvSpPr>
        <p:spPr>
          <a:xfrm>
            <a:off x="918865" y="1979563"/>
            <a:ext cx="5486400" cy="19050"/>
          </a:xfrm>
          <a:prstGeom prst="rect">
            <a:avLst/>
          </a:prstGeom>
          <a:solidFill>
            <a:srgbClr val="16303F"/>
          </a:solidFill>
          <a:ln/>
        </p:spPr>
      </p:sp>
      <p:sp>
        <p:nvSpPr>
          <p:cNvPr id="9" name="Text 7"/>
          <p:cNvSpPr txBox="1"/>
          <p:nvPr/>
        </p:nvSpPr>
        <p:spPr>
          <a:xfrm>
            <a:off x="1025426" y="17880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10" name="Shape 8"/>
          <p:cNvSpPr/>
          <p:nvPr/>
        </p:nvSpPr>
        <p:spPr>
          <a:xfrm>
            <a:off x="6405265" y="1979563"/>
            <a:ext cx="2472035" cy="19050"/>
          </a:xfrm>
          <a:prstGeom prst="rect">
            <a:avLst/>
          </a:prstGeom>
          <a:solidFill>
            <a:srgbClr val="16303F"/>
          </a:solidFill>
          <a:ln/>
        </p:spPr>
      </p:sp>
      <p:sp>
        <p:nvSpPr>
          <p:cNvPr id="11" name="Shape 9"/>
          <p:cNvSpPr/>
          <p:nvPr/>
        </p:nvSpPr>
        <p:spPr>
          <a:xfrm>
            <a:off x="457200" y="2280493"/>
            <a:ext cx="8420100" cy="9525"/>
          </a:xfrm>
          <a:prstGeom prst="rect">
            <a:avLst/>
          </a:prstGeom>
          <a:solidFill>
            <a:srgbClr val="9CA3AF">
              <a:alpha val="20000"/>
            </a:srgbClr>
          </a:solidFill>
          <a:ln/>
        </p:spPr>
      </p:sp>
      <p:sp>
        <p:nvSpPr>
          <p:cNvPr id="12" name="Shape 10"/>
          <p:cNvSpPr/>
          <p:nvPr/>
        </p:nvSpPr>
        <p:spPr>
          <a:xfrm>
            <a:off x="457200" y="2280493"/>
            <a:ext cx="461665" cy="9525"/>
          </a:xfrm>
          <a:prstGeom prst="rect">
            <a:avLst/>
          </a:prstGeom>
          <a:solidFill>
            <a:srgbClr val="DDD9D2"/>
          </a:solidFill>
          <a:ln/>
        </p:spPr>
      </p:sp>
      <p:sp>
        <p:nvSpPr>
          <p:cNvPr id="13" name="Text 11"/>
          <p:cNvSpPr txBox="1"/>
          <p:nvPr/>
        </p:nvSpPr>
        <p:spPr>
          <a:xfrm>
            <a:off x="563761" y="2060228"/>
            <a:ext cx="16430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1</a:t>
            </a:r>
            <a:endParaRPr lang="en-US" sz="1008" dirty="0"/>
          </a:p>
        </p:txBody>
      </p:sp>
      <p:sp>
        <p:nvSpPr>
          <p:cNvPr id="14" name="Shape 12"/>
          <p:cNvSpPr/>
          <p:nvPr/>
        </p:nvSpPr>
        <p:spPr>
          <a:xfrm>
            <a:off x="918865" y="2280493"/>
            <a:ext cx="5486400" cy="9525"/>
          </a:xfrm>
          <a:prstGeom prst="rect">
            <a:avLst/>
          </a:prstGeom>
          <a:solidFill>
            <a:srgbClr val="DDD9D2"/>
          </a:solidFill>
          <a:ln/>
        </p:spPr>
      </p:sp>
      <p:sp>
        <p:nvSpPr>
          <p:cNvPr id="15" name="Text 13"/>
          <p:cNvSpPr txBox="1"/>
          <p:nvPr/>
        </p:nvSpPr>
        <p:spPr>
          <a:xfrm>
            <a:off x="1025426" y="2060228"/>
            <a:ext cx="17935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Host / chained configuration</a:t>
            </a:r>
            <a:endParaRPr lang="en-US" sz="1008" dirty="0"/>
          </a:p>
        </p:txBody>
      </p:sp>
      <p:sp>
        <p:nvSpPr>
          <p:cNvPr id="16" name="Shape 14"/>
          <p:cNvSpPr/>
          <p:nvPr/>
        </p:nvSpPr>
        <p:spPr>
          <a:xfrm>
            <a:off x="6405265" y="2280493"/>
            <a:ext cx="2472035" cy="9525"/>
          </a:xfrm>
          <a:prstGeom prst="rect">
            <a:avLst/>
          </a:prstGeom>
          <a:solidFill>
            <a:srgbClr val="DDD9D2"/>
          </a:solidFill>
          <a:ln/>
        </p:spPr>
      </p:sp>
      <p:sp>
        <p:nvSpPr>
          <p:cNvPr id="17" name="Text 15"/>
          <p:cNvSpPr txBox="1"/>
          <p:nvPr/>
        </p:nvSpPr>
        <p:spPr>
          <a:xfrm>
            <a:off x="6511826" y="2060228"/>
            <a:ext cx="14061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added LAST, so it wins</a:t>
            </a:r>
            <a:endParaRPr lang="en-US" sz="1008" dirty="0"/>
          </a:p>
        </p:txBody>
      </p:sp>
      <p:sp>
        <p:nvSpPr>
          <p:cNvPr id="18" name="Shape 16"/>
          <p:cNvSpPr/>
          <p:nvPr/>
        </p:nvSpPr>
        <p:spPr>
          <a:xfrm>
            <a:off x="457200" y="2290018"/>
            <a:ext cx="8420100" cy="286643"/>
          </a:xfrm>
          <a:prstGeom prst="rect">
            <a:avLst/>
          </a:prstGeom>
          <a:solidFill>
            <a:srgbClr val="16303F">
              <a:alpha val="3000"/>
            </a:srgbClr>
          </a:solidFill>
          <a:ln/>
        </p:spPr>
      </p:sp>
      <p:sp>
        <p:nvSpPr>
          <p:cNvPr id="19" name="Shape 17"/>
          <p:cNvSpPr/>
          <p:nvPr/>
        </p:nvSpPr>
        <p:spPr>
          <a:xfrm>
            <a:off x="457200" y="2567136"/>
            <a:ext cx="8420100" cy="9525"/>
          </a:xfrm>
          <a:prstGeom prst="rect">
            <a:avLst/>
          </a:prstGeom>
          <a:solidFill>
            <a:srgbClr val="9CA3AF">
              <a:alpha val="20000"/>
            </a:srgbClr>
          </a:solidFill>
          <a:ln/>
        </p:spPr>
      </p:sp>
      <p:sp>
        <p:nvSpPr>
          <p:cNvPr id="20" name="Shape 18"/>
          <p:cNvSpPr/>
          <p:nvPr/>
        </p:nvSpPr>
        <p:spPr>
          <a:xfrm>
            <a:off x="457200" y="2567136"/>
            <a:ext cx="461665" cy="9525"/>
          </a:xfrm>
          <a:prstGeom prst="rect">
            <a:avLst/>
          </a:prstGeom>
          <a:solidFill>
            <a:srgbClr val="DDD9D2"/>
          </a:solidFill>
          <a:ln/>
        </p:spPr>
      </p:sp>
      <p:sp>
        <p:nvSpPr>
          <p:cNvPr id="21" name="Text 19"/>
          <p:cNvSpPr txBox="1"/>
          <p:nvPr/>
        </p:nvSpPr>
        <p:spPr>
          <a:xfrm>
            <a:off x="563761" y="2346871"/>
            <a:ext cx="18737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2</a:t>
            </a:r>
            <a:endParaRPr lang="en-US" sz="1008" dirty="0"/>
          </a:p>
        </p:txBody>
      </p:sp>
      <p:sp>
        <p:nvSpPr>
          <p:cNvPr id="22" name="Shape 20"/>
          <p:cNvSpPr/>
          <p:nvPr/>
        </p:nvSpPr>
        <p:spPr>
          <a:xfrm>
            <a:off x="918865" y="2567136"/>
            <a:ext cx="5486400" cy="9525"/>
          </a:xfrm>
          <a:prstGeom prst="rect">
            <a:avLst/>
          </a:prstGeom>
          <a:solidFill>
            <a:srgbClr val="DDD9D2"/>
          </a:solidFill>
          <a:ln/>
        </p:spPr>
      </p:sp>
      <p:sp>
        <p:nvSpPr>
          <p:cNvPr id="23" name="Text 21"/>
          <p:cNvSpPr txBox="1"/>
          <p:nvPr/>
        </p:nvSpPr>
        <p:spPr>
          <a:xfrm>
            <a:off x="1025426" y="2346871"/>
            <a:ext cx="165303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Command-line arguments</a:t>
            </a:r>
            <a:endParaRPr lang="en-US" sz="1008" dirty="0"/>
          </a:p>
        </p:txBody>
      </p:sp>
      <p:sp>
        <p:nvSpPr>
          <p:cNvPr id="24" name="Shape 22"/>
          <p:cNvSpPr/>
          <p:nvPr/>
        </p:nvSpPr>
        <p:spPr>
          <a:xfrm>
            <a:off x="6405265" y="2567136"/>
            <a:ext cx="2472035" cy="9525"/>
          </a:xfrm>
          <a:prstGeom prst="rect">
            <a:avLst/>
          </a:prstGeom>
          <a:solidFill>
            <a:srgbClr val="DDD9D2"/>
          </a:solidFill>
          <a:ln/>
        </p:spPr>
      </p:sp>
      <p:sp>
        <p:nvSpPr>
          <p:cNvPr id="25" name="Text 23"/>
          <p:cNvSpPr txBox="1"/>
          <p:nvPr/>
        </p:nvSpPr>
        <p:spPr>
          <a:xfrm>
            <a:off x="6511826" y="2346871"/>
            <a:ext cx="146744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the provider runs twice</a:t>
            </a:r>
            <a:endParaRPr lang="en-US" sz="1008" dirty="0"/>
          </a:p>
        </p:txBody>
      </p:sp>
      <p:sp>
        <p:nvSpPr>
          <p:cNvPr id="26" name="Shape 24"/>
          <p:cNvSpPr/>
          <p:nvPr/>
        </p:nvSpPr>
        <p:spPr>
          <a:xfrm>
            <a:off x="457200" y="2853779"/>
            <a:ext cx="8420100" cy="9525"/>
          </a:xfrm>
          <a:prstGeom prst="rect">
            <a:avLst/>
          </a:prstGeom>
          <a:solidFill>
            <a:srgbClr val="9CA3AF">
              <a:alpha val="20000"/>
            </a:srgbClr>
          </a:solidFill>
          <a:ln/>
        </p:spPr>
      </p:sp>
      <p:sp>
        <p:nvSpPr>
          <p:cNvPr id="27" name="Shape 25"/>
          <p:cNvSpPr/>
          <p:nvPr/>
        </p:nvSpPr>
        <p:spPr>
          <a:xfrm>
            <a:off x="457200" y="2853779"/>
            <a:ext cx="461665" cy="9525"/>
          </a:xfrm>
          <a:prstGeom prst="rect">
            <a:avLst/>
          </a:prstGeom>
          <a:solidFill>
            <a:srgbClr val="DDD9D2"/>
          </a:solidFill>
          <a:ln/>
        </p:spPr>
      </p:sp>
      <p:sp>
        <p:nvSpPr>
          <p:cNvPr id="28" name="Text 26"/>
          <p:cNvSpPr txBox="1"/>
          <p:nvPr/>
        </p:nvSpPr>
        <p:spPr>
          <a:xfrm>
            <a:off x="563761" y="2633514"/>
            <a:ext cx="18514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3</a:t>
            </a:r>
            <a:endParaRPr lang="en-US" sz="1008" dirty="0"/>
          </a:p>
        </p:txBody>
      </p:sp>
      <p:sp>
        <p:nvSpPr>
          <p:cNvPr id="29" name="Shape 27"/>
          <p:cNvSpPr/>
          <p:nvPr/>
        </p:nvSpPr>
        <p:spPr>
          <a:xfrm>
            <a:off x="918865" y="2853779"/>
            <a:ext cx="5486400" cy="9525"/>
          </a:xfrm>
          <a:prstGeom prst="rect">
            <a:avLst/>
          </a:prstGeom>
          <a:solidFill>
            <a:srgbClr val="DDD9D2"/>
          </a:solidFill>
          <a:ln/>
        </p:spPr>
      </p:sp>
      <p:sp>
        <p:nvSpPr>
          <p:cNvPr id="30" name="Text 28"/>
          <p:cNvSpPr txBox="1"/>
          <p:nvPr/>
        </p:nvSpPr>
        <p:spPr>
          <a:xfrm>
            <a:off x="1025426" y="2633514"/>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6405265" y="2853779"/>
            <a:ext cx="2472035" cy="9525"/>
          </a:xfrm>
          <a:prstGeom prst="rect">
            <a:avLst/>
          </a:prstGeom>
          <a:solidFill>
            <a:srgbClr val="DDD9D2"/>
          </a:solidFill>
          <a:ln/>
        </p:spPr>
      </p:sp>
      <p:sp>
        <p:nvSpPr>
          <p:cNvPr id="32" name="Text 30"/>
          <p:cNvSpPr txBox="1"/>
          <p:nvPr/>
        </p:nvSpPr>
        <p:spPr>
          <a:xfrm>
            <a:off x="6511826" y="2633514"/>
            <a:ext cx="75470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unprefixed</a:t>
            </a:r>
            <a:endParaRPr lang="en-US" sz="1008" dirty="0"/>
          </a:p>
        </p:txBody>
      </p:sp>
      <p:sp>
        <p:nvSpPr>
          <p:cNvPr id="33" name="Shape 31"/>
          <p:cNvSpPr/>
          <p:nvPr/>
        </p:nvSpPr>
        <p:spPr>
          <a:xfrm>
            <a:off x="457200" y="2863304"/>
            <a:ext cx="8420100" cy="286643"/>
          </a:xfrm>
          <a:prstGeom prst="rect">
            <a:avLst/>
          </a:prstGeom>
          <a:solidFill>
            <a:srgbClr val="16303F">
              <a:alpha val="3000"/>
            </a:srgbClr>
          </a:solidFill>
          <a:ln/>
        </p:spPr>
      </p:sp>
      <p:sp>
        <p:nvSpPr>
          <p:cNvPr id="34" name="Shape 32"/>
          <p:cNvSpPr/>
          <p:nvPr/>
        </p:nvSpPr>
        <p:spPr>
          <a:xfrm>
            <a:off x="457200" y="3140422"/>
            <a:ext cx="8420100" cy="9525"/>
          </a:xfrm>
          <a:prstGeom prst="rect">
            <a:avLst/>
          </a:prstGeom>
          <a:solidFill>
            <a:srgbClr val="9CA3AF">
              <a:alpha val="20000"/>
            </a:srgbClr>
          </a:solidFill>
          <a:ln/>
        </p:spPr>
      </p:sp>
      <p:sp>
        <p:nvSpPr>
          <p:cNvPr id="35" name="Shape 33"/>
          <p:cNvSpPr/>
          <p:nvPr/>
        </p:nvSpPr>
        <p:spPr>
          <a:xfrm>
            <a:off x="457200" y="3140422"/>
            <a:ext cx="461665" cy="9525"/>
          </a:xfrm>
          <a:prstGeom prst="rect">
            <a:avLst/>
          </a:prstGeom>
          <a:solidFill>
            <a:srgbClr val="DDD9D2"/>
          </a:solidFill>
          <a:ln/>
        </p:spPr>
      </p:sp>
      <p:sp>
        <p:nvSpPr>
          <p:cNvPr id="36" name="Text 34"/>
          <p:cNvSpPr txBox="1"/>
          <p:nvPr/>
        </p:nvSpPr>
        <p:spPr>
          <a:xfrm>
            <a:off x="563761" y="2920157"/>
            <a:ext cx="18990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4</a:t>
            </a:r>
            <a:endParaRPr lang="en-US" sz="1008" dirty="0"/>
          </a:p>
        </p:txBody>
      </p:sp>
      <p:sp>
        <p:nvSpPr>
          <p:cNvPr id="37" name="Shape 35"/>
          <p:cNvSpPr/>
          <p:nvPr/>
        </p:nvSpPr>
        <p:spPr>
          <a:xfrm>
            <a:off x="918865" y="3140422"/>
            <a:ext cx="5486400" cy="9525"/>
          </a:xfrm>
          <a:prstGeom prst="rect">
            <a:avLst/>
          </a:prstGeom>
          <a:solidFill>
            <a:srgbClr val="DDD9D2"/>
          </a:solidFill>
          <a:ln/>
        </p:spPr>
      </p:sp>
      <p:sp>
        <p:nvSpPr>
          <p:cNvPr id="38" name="Text 36"/>
          <p:cNvSpPr txBox="1"/>
          <p:nvPr/>
        </p:nvSpPr>
        <p:spPr>
          <a:xfrm>
            <a:off x="1025426" y="2920157"/>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39" name="Shape 37"/>
          <p:cNvSpPr/>
          <p:nvPr/>
        </p:nvSpPr>
        <p:spPr>
          <a:xfrm>
            <a:off x="6405265" y="3140422"/>
            <a:ext cx="2472035" cy="9525"/>
          </a:xfrm>
          <a:prstGeom prst="rect">
            <a:avLst/>
          </a:prstGeom>
          <a:solidFill>
            <a:srgbClr val="DDD9D2"/>
          </a:solidFill>
          <a:ln/>
        </p:spPr>
      </p:sp>
      <p:sp>
        <p:nvSpPr>
          <p:cNvPr id="40" name="Text 38"/>
          <p:cNvSpPr txBox="1"/>
          <p:nvPr/>
        </p:nvSpPr>
        <p:spPr>
          <a:xfrm>
            <a:off x="6511826" y="2920157"/>
            <a:ext cx="11744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Development only</a:t>
            </a:r>
            <a:endParaRPr lang="en-US" sz="1008" dirty="0"/>
          </a:p>
        </p:txBody>
      </p:sp>
      <p:sp>
        <p:nvSpPr>
          <p:cNvPr id="41" name="Shape 39"/>
          <p:cNvSpPr/>
          <p:nvPr/>
        </p:nvSpPr>
        <p:spPr>
          <a:xfrm>
            <a:off x="457200" y="3430637"/>
            <a:ext cx="8420100" cy="9525"/>
          </a:xfrm>
          <a:prstGeom prst="rect">
            <a:avLst/>
          </a:prstGeom>
          <a:solidFill>
            <a:srgbClr val="9CA3AF">
              <a:alpha val="20000"/>
            </a:srgbClr>
          </a:solidFill>
          <a:ln/>
        </p:spPr>
      </p:sp>
      <p:sp>
        <p:nvSpPr>
          <p:cNvPr id="42" name="Shape 40"/>
          <p:cNvSpPr/>
          <p:nvPr/>
        </p:nvSpPr>
        <p:spPr>
          <a:xfrm>
            <a:off x="457200" y="3430637"/>
            <a:ext cx="461665" cy="9525"/>
          </a:xfrm>
          <a:prstGeom prst="rect">
            <a:avLst/>
          </a:prstGeom>
          <a:solidFill>
            <a:srgbClr val="DDD9D2"/>
          </a:solidFill>
          <a:ln/>
        </p:spPr>
      </p:sp>
      <p:sp>
        <p:nvSpPr>
          <p:cNvPr id="43" name="Text 41"/>
          <p:cNvSpPr txBox="1"/>
          <p:nvPr/>
        </p:nvSpPr>
        <p:spPr>
          <a:xfrm>
            <a:off x="563761" y="3206800"/>
            <a:ext cx="18826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5</a:t>
            </a:r>
            <a:endParaRPr lang="en-US" sz="1008" dirty="0"/>
          </a:p>
        </p:txBody>
      </p:sp>
      <p:sp>
        <p:nvSpPr>
          <p:cNvPr id="44" name="Shape 42"/>
          <p:cNvSpPr/>
          <p:nvPr/>
        </p:nvSpPr>
        <p:spPr>
          <a:xfrm>
            <a:off x="918865" y="3430637"/>
            <a:ext cx="5486400" cy="9525"/>
          </a:xfrm>
          <a:prstGeom prst="rect">
            <a:avLst/>
          </a:prstGeom>
          <a:solidFill>
            <a:srgbClr val="DDD9D2"/>
          </a:solidFill>
          <a:ln/>
        </p:spPr>
      </p:sp>
      <p:sp>
        <p:nvSpPr>
          <p:cNvPr id="45" name="Shape 43"/>
          <p:cNvSpPr/>
          <p:nvPr/>
        </p:nvSpPr>
        <p:spPr>
          <a:xfrm>
            <a:off x="1025426" y="3206948"/>
            <a:ext cx="3263354" cy="180677"/>
          </a:xfrm>
          <a:prstGeom prst="roundRect">
            <a:avLst>
              <a:gd name="adj" fmla="val 21087"/>
            </a:avLst>
          </a:prstGeom>
          <a:solidFill>
            <a:srgbClr val="16303F">
              <a:alpha val="7000"/>
            </a:srgbClr>
          </a:solidFill>
          <a:ln/>
        </p:spPr>
      </p:sp>
      <p:sp>
        <p:nvSpPr>
          <p:cNvPr id="46" name="Text 44"/>
          <p:cNvSpPr txBox="1"/>
          <p:nvPr/>
        </p:nvSpPr>
        <p:spPr>
          <a:xfrm>
            <a:off x="968276" y="3206948"/>
            <a:ext cx="3377654"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927" dirty="0"/>
          </a:p>
        </p:txBody>
      </p:sp>
      <p:sp>
        <p:nvSpPr>
          <p:cNvPr id="47" name="Shape 45"/>
          <p:cNvSpPr/>
          <p:nvPr/>
        </p:nvSpPr>
        <p:spPr>
          <a:xfrm>
            <a:off x="6405265" y="3430637"/>
            <a:ext cx="2472035" cy="9525"/>
          </a:xfrm>
          <a:prstGeom prst="rect">
            <a:avLst/>
          </a:prstGeom>
          <a:solidFill>
            <a:srgbClr val="DDD9D2"/>
          </a:solidFill>
          <a:ln/>
        </p:spPr>
      </p:sp>
      <p:sp>
        <p:nvSpPr>
          <p:cNvPr id="48" name="Shape 46"/>
          <p:cNvSpPr/>
          <p:nvPr/>
        </p:nvSpPr>
        <p:spPr>
          <a:xfrm>
            <a:off x="457200" y="3440162"/>
            <a:ext cx="8420100" cy="290215"/>
          </a:xfrm>
          <a:prstGeom prst="rect">
            <a:avLst/>
          </a:prstGeom>
          <a:solidFill>
            <a:srgbClr val="16303F">
              <a:alpha val="3000"/>
            </a:srgbClr>
          </a:solidFill>
          <a:ln/>
        </p:spPr>
      </p:sp>
      <p:sp>
        <p:nvSpPr>
          <p:cNvPr id="49" name="Shape 47"/>
          <p:cNvSpPr/>
          <p:nvPr/>
        </p:nvSpPr>
        <p:spPr>
          <a:xfrm>
            <a:off x="457200" y="3720852"/>
            <a:ext cx="8420100" cy="9525"/>
          </a:xfrm>
          <a:prstGeom prst="rect">
            <a:avLst/>
          </a:prstGeom>
          <a:solidFill>
            <a:srgbClr val="9CA3AF">
              <a:alpha val="20000"/>
            </a:srgbClr>
          </a:solidFill>
          <a:ln/>
        </p:spPr>
      </p:sp>
      <p:sp>
        <p:nvSpPr>
          <p:cNvPr id="50" name="Shape 48"/>
          <p:cNvSpPr/>
          <p:nvPr/>
        </p:nvSpPr>
        <p:spPr>
          <a:xfrm>
            <a:off x="457200" y="3720852"/>
            <a:ext cx="461665" cy="9525"/>
          </a:xfrm>
          <a:prstGeom prst="rect">
            <a:avLst/>
          </a:prstGeom>
          <a:solidFill>
            <a:srgbClr val="DDD9D2"/>
          </a:solidFill>
          <a:ln/>
        </p:spPr>
      </p:sp>
      <p:sp>
        <p:nvSpPr>
          <p:cNvPr id="51" name="Text 49"/>
          <p:cNvSpPr txBox="1"/>
          <p:nvPr/>
        </p:nvSpPr>
        <p:spPr>
          <a:xfrm>
            <a:off x="563761" y="3497014"/>
            <a:ext cx="19377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6</a:t>
            </a:r>
            <a:endParaRPr lang="en-US" sz="1008" dirty="0"/>
          </a:p>
        </p:txBody>
      </p:sp>
      <p:sp>
        <p:nvSpPr>
          <p:cNvPr id="52" name="Shape 50"/>
          <p:cNvSpPr/>
          <p:nvPr/>
        </p:nvSpPr>
        <p:spPr>
          <a:xfrm>
            <a:off x="918865" y="3720852"/>
            <a:ext cx="5486400" cy="9525"/>
          </a:xfrm>
          <a:prstGeom prst="rect">
            <a:avLst/>
          </a:prstGeom>
          <a:solidFill>
            <a:srgbClr val="DDD9D2"/>
          </a:solidFill>
          <a:ln/>
        </p:spPr>
      </p:sp>
      <p:sp>
        <p:nvSpPr>
          <p:cNvPr id="53" name="Shape 51"/>
          <p:cNvSpPr/>
          <p:nvPr/>
        </p:nvSpPr>
        <p:spPr>
          <a:xfrm>
            <a:off x="1025426" y="3497163"/>
            <a:ext cx="2274391" cy="180677"/>
          </a:xfrm>
          <a:prstGeom prst="roundRect">
            <a:avLst>
              <a:gd name="adj" fmla="val 21087"/>
            </a:avLst>
          </a:prstGeom>
          <a:solidFill>
            <a:srgbClr val="16303F">
              <a:alpha val="7000"/>
            </a:srgbClr>
          </a:solidFill>
          <a:ln/>
        </p:spPr>
      </p:sp>
      <p:sp>
        <p:nvSpPr>
          <p:cNvPr id="54" name="Text 52"/>
          <p:cNvSpPr txBox="1"/>
          <p:nvPr/>
        </p:nvSpPr>
        <p:spPr>
          <a:xfrm>
            <a:off x="968276" y="3497163"/>
            <a:ext cx="238869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{ApplicationName}.settings.json</a:t>
            </a:r>
            <a:endParaRPr lang="en-US" sz="927" dirty="0"/>
          </a:p>
        </p:txBody>
      </p:sp>
      <p:sp>
        <p:nvSpPr>
          <p:cNvPr id="55" name="Shape 53"/>
          <p:cNvSpPr/>
          <p:nvPr/>
        </p:nvSpPr>
        <p:spPr>
          <a:xfrm>
            <a:off x="6405265" y="3720852"/>
            <a:ext cx="2472035" cy="9525"/>
          </a:xfrm>
          <a:prstGeom prst="rect">
            <a:avLst/>
          </a:prstGeom>
          <a:solidFill>
            <a:srgbClr val="DDD9D2"/>
          </a:solidFill>
          <a:ln/>
        </p:spPr>
      </p:sp>
      <p:sp>
        <p:nvSpPr>
          <p:cNvPr id="56" name="Shape 54"/>
          <p:cNvSpPr/>
          <p:nvPr/>
        </p:nvSpPr>
        <p:spPr>
          <a:xfrm>
            <a:off x="457200" y="4011067"/>
            <a:ext cx="8420100" cy="9525"/>
          </a:xfrm>
          <a:prstGeom prst="rect">
            <a:avLst/>
          </a:prstGeom>
          <a:solidFill>
            <a:srgbClr val="9CA3AF">
              <a:alpha val="20000"/>
            </a:srgbClr>
          </a:solidFill>
          <a:ln/>
        </p:spPr>
      </p:sp>
      <p:sp>
        <p:nvSpPr>
          <p:cNvPr id="57" name="Shape 55"/>
          <p:cNvSpPr/>
          <p:nvPr/>
        </p:nvSpPr>
        <p:spPr>
          <a:xfrm>
            <a:off x="457200" y="4011067"/>
            <a:ext cx="461665" cy="9525"/>
          </a:xfrm>
          <a:prstGeom prst="rect">
            <a:avLst/>
          </a:prstGeom>
          <a:solidFill>
            <a:srgbClr val="DDD9D2"/>
          </a:solidFill>
          <a:ln/>
        </p:spPr>
      </p:sp>
      <p:sp>
        <p:nvSpPr>
          <p:cNvPr id="58" name="Text 56"/>
          <p:cNvSpPr txBox="1"/>
          <p:nvPr/>
        </p:nvSpPr>
        <p:spPr>
          <a:xfrm>
            <a:off x="563761" y="3787229"/>
            <a:ext cx="17859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7</a:t>
            </a:r>
            <a:endParaRPr lang="en-US" sz="1008" dirty="0"/>
          </a:p>
        </p:txBody>
      </p:sp>
      <p:sp>
        <p:nvSpPr>
          <p:cNvPr id="59" name="Shape 57"/>
          <p:cNvSpPr/>
          <p:nvPr/>
        </p:nvSpPr>
        <p:spPr>
          <a:xfrm>
            <a:off x="918865" y="4011067"/>
            <a:ext cx="5486400" cy="9525"/>
          </a:xfrm>
          <a:prstGeom prst="rect">
            <a:avLst/>
          </a:prstGeom>
          <a:solidFill>
            <a:srgbClr val="DDD9D2"/>
          </a:solidFill>
          <a:ln/>
        </p:spPr>
      </p:sp>
      <p:sp>
        <p:nvSpPr>
          <p:cNvPr id="60" name="Shape 58"/>
          <p:cNvSpPr/>
          <p:nvPr/>
        </p:nvSpPr>
        <p:spPr>
          <a:xfrm>
            <a:off x="1025426" y="3787378"/>
            <a:ext cx="2203698" cy="180677"/>
          </a:xfrm>
          <a:prstGeom prst="roundRect">
            <a:avLst>
              <a:gd name="adj" fmla="val 21087"/>
            </a:avLst>
          </a:prstGeom>
          <a:solidFill>
            <a:srgbClr val="16303F">
              <a:alpha val="7000"/>
            </a:srgbClr>
          </a:solidFill>
          <a:ln/>
        </p:spPr>
      </p:sp>
      <p:sp>
        <p:nvSpPr>
          <p:cNvPr id="61" name="Text 59"/>
          <p:cNvSpPr txBox="1"/>
          <p:nvPr/>
        </p:nvSpPr>
        <p:spPr>
          <a:xfrm>
            <a:off x="968276" y="3787378"/>
            <a:ext cx="2317998"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appsettings.{Environment}.json</a:t>
            </a:r>
            <a:endParaRPr lang="en-US" sz="927" dirty="0"/>
          </a:p>
        </p:txBody>
      </p:sp>
      <p:sp>
        <p:nvSpPr>
          <p:cNvPr id="62" name="Shape 60"/>
          <p:cNvSpPr/>
          <p:nvPr/>
        </p:nvSpPr>
        <p:spPr>
          <a:xfrm>
            <a:off x="6405265" y="4011067"/>
            <a:ext cx="2472035" cy="9525"/>
          </a:xfrm>
          <a:prstGeom prst="rect">
            <a:avLst/>
          </a:prstGeom>
          <a:solidFill>
            <a:srgbClr val="DDD9D2"/>
          </a:solidFill>
          <a:ln/>
        </p:spPr>
      </p:sp>
      <p:sp>
        <p:nvSpPr>
          <p:cNvPr id="63" name="Shape 61"/>
          <p:cNvSpPr/>
          <p:nvPr/>
        </p:nvSpPr>
        <p:spPr>
          <a:xfrm>
            <a:off x="457200" y="4020592"/>
            <a:ext cx="8420100" cy="290215"/>
          </a:xfrm>
          <a:prstGeom prst="rect">
            <a:avLst/>
          </a:prstGeom>
          <a:solidFill>
            <a:srgbClr val="16303F">
              <a:alpha val="3000"/>
            </a:srgbClr>
          </a:solidFill>
          <a:ln/>
        </p:spPr>
      </p:sp>
      <p:sp>
        <p:nvSpPr>
          <p:cNvPr id="64" name="Shape 62"/>
          <p:cNvSpPr/>
          <p:nvPr/>
        </p:nvSpPr>
        <p:spPr>
          <a:xfrm>
            <a:off x="457200" y="4301282"/>
            <a:ext cx="8420100" cy="9525"/>
          </a:xfrm>
          <a:prstGeom prst="rect">
            <a:avLst/>
          </a:prstGeom>
          <a:solidFill>
            <a:srgbClr val="9CA3AF">
              <a:alpha val="20000"/>
            </a:srgbClr>
          </a:solidFill>
          <a:ln/>
        </p:spPr>
      </p:sp>
      <p:sp>
        <p:nvSpPr>
          <p:cNvPr id="65" name="Shape 63"/>
          <p:cNvSpPr/>
          <p:nvPr/>
        </p:nvSpPr>
        <p:spPr>
          <a:xfrm>
            <a:off x="457200" y="4301282"/>
            <a:ext cx="461665" cy="9525"/>
          </a:xfrm>
          <a:prstGeom prst="rect">
            <a:avLst/>
          </a:prstGeom>
          <a:solidFill>
            <a:srgbClr val="DDD9D2"/>
          </a:solidFill>
          <a:ln/>
        </p:spPr>
      </p:sp>
      <p:sp>
        <p:nvSpPr>
          <p:cNvPr id="66" name="Text 64"/>
          <p:cNvSpPr txBox="1"/>
          <p:nvPr/>
        </p:nvSpPr>
        <p:spPr>
          <a:xfrm>
            <a:off x="563761" y="4077444"/>
            <a:ext cx="18871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8</a:t>
            </a:r>
            <a:endParaRPr lang="en-US" sz="1008" dirty="0"/>
          </a:p>
        </p:txBody>
      </p:sp>
      <p:sp>
        <p:nvSpPr>
          <p:cNvPr id="67" name="Shape 65"/>
          <p:cNvSpPr/>
          <p:nvPr/>
        </p:nvSpPr>
        <p:spPr>
          <a:xfrm>
            <a:off x="918865" y="4301282"/>
            <a:ext cx="5486400" cy="9525"/>
          </a:xfrm>
          <a:prstGeom prst="rect">
            <a:avLst/>
          </a:prstGeom>
          <a:solidFill>
            <a:srgbClr val="DDD9D2"/>
          </a:solidFill>
          <a:ln/>
        </p:spPr>
      </p:sp>
      <p:sp>
        <p:nvSpPr>
          <p:cNvPr id="68" name="Shape 66"/>
          <p:cNvSpPr/>
          <p:nvPr/>
        </p:nvSpPr>
        <p:spPr>
          <a:xfrm>
            <a:off x="1025426" y="4077593"/>
            <a:ext cx="1214735" cy="180677"/>
          </a:xfrm>
          <a:prstGeom prst="roundRect">
            <a:avLst>
              <a:gd name="adj" fmla="val 21087"/>
            </a:avLst>
          </a:prstGeom>
          <a:solidFill>
            <a:srgbClr val="16303F">
              <a:alpha val="7000"/>
            </a:srgbClr>
          </a:solidFill>
          <a:ln/>
        </p:spPr>
      </p:sp>
      <p:sp>
        <p:nvSpPr>
          <p:cNvPr id="69" name="Text 67"/>
          <p:cNvSpPr txBox="1"/>
          <p:nvPr/>
        </p:nvSpPr>
        <p:spPr>
          <a:xfrm>
            <a:off x="968276" y="4077593"/>
            <a:ext cx="1329035"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70" name="Shape 68"/>
          <p:cNvSpPr/>
          <p:nvPr/>
        </p:nvSpPr>
        <p:spPr>
          <a:xfrm>
            <a:off x="6405265" y="4301282"/>
            <a:ext cx="2472035" cy="9525"/>
          </a:xfrm>
          <a:prstGeom prst="rect">
            <a:avLst/>
          </a:prstGeom>
          <a:solidFill>
            <a:srgbClr val="DDD9D2"/>
          </a:solidFill>
          <a:ln/>
        </p:spPr>
      </p:sp>
      <p:sp>
        <p:nvSpPr>
          <p:cNvPr id="71" name="Text 69"/>
          <p:cNvSpPr txBox="1"/>
          <p:nvPr/>
        </p:nvSpPr>
        <p:spPr>
          <a:xfrm>
            <a:off x="457200" y="4637484"/>
            <a:ext cx="624899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Rows 5 and 6 are the ones almost nobody knows exist — and they apply to web apps too.</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321915"/>
            <a:ext cx="597425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host reads configuration in two passes</a:t>
            </a:r>
            <a:endParaRPr lang="en-US" sz="2280" dirty="0"/>
          </a:p>
        </p:txBody>
      </p:sp>
      <p:sp>
        <p:nvSpPr>
          <p:cNvPr id="4" name="Shape 2"/>
          <p:cNvSpPr/>
          <p:nvPr/>
        </p:nvSpPr>
        <p:spPr>
          <a:xfrm>
            <a:off x="628650" y="990749"/>
            <a:ext cx="8077200" cy="2581275"/>
          </a:xfrm>
          <a:prstGeom prst="roundRect">
            <a:avLst>
              <a:gd name="adj" fmla="val 1476"/>
            </a:avLst>
          </a:prstGeom>
          <a:solidFill>
            <a:srgbClr val="011627"/>
          </a:solidFill>
          <a:ln/>
        </p:spPr>
      </p:sp>
      <p:sp>
        <p:nvSpPr>
          <p:cNvPr id="5" name="Text 3"/>
          <p:cNvSpPr txBox="1"/>
          <p:nvPr/>
        </p:nvSpPr>
        <p:spPr>
          <a:xfrm>
            <a:off x="704850" y="1076474"/>
            <a:ext cx="7946898" cy="2395538"/>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 --environment Staging</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PASS 1   decide WHICH files to load</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CommandLineConfigurationProvider        &lt;-- reads --environment Staging</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PASS 2   load them, then let the same argument win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appsettings.json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appsettings.Staging.json     &lt;-- chosen by pass 1</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CommandLineConfigurationProvider        &lt;-- wins the final read</a:t>
            </a:r>
            <a:endParaRPr lang="en-US" sz="1275" dirty="0"/>
          </a:p>
        </p:txBody>
      </p:sp>
      <p:sp>
        <p:nvSpPr>
          <p:cNvPr id="6" name="Shape 4"/>
          <p:cNvSpPr/>
          <p:nvPr/>
        </p:nvSpPr>
        <p:spPr>
          <a:xfrm>
            <a:off x="628650" y="3861495"/>
            <a:ext cx="38100" cy="914400"/>
          </a:xfrm>
          <a:prstGeom prst="rect">
            <a:avLst/>
          </a:prstGeom>
          <a:solidFill>
            <a:srgbClr val="F4C233"/>
          </a:solidFill>
          <a:ln/>
        </p:spPr>
      </p:sp>
      <p:sp>
        <p:nvSpPr>
          <p:cNvPr id="7" name="Shape 5"/>
          <p:cNvSpPr/>
          <p:nvPr/>
        </p:nvSpPr>
        <p:spPr>
          <a:xfrm>
            <a:off x="788640" y="4031605"/>
            <a:ext cx="1903809" cy="202704"/>
          </a:xfrm>
          <a:prstGeom prst="roundRect">
            <a:avLst>
              <a:gd name="adj" fmla="val 18796"/>
            </a:avLst>
          </a:prstGeom>
          <a:solidFill>
            <a:srgbClr val="16303F">
              <a:alpha val="7000"/>
            </a:srgbClr>
          </a:solidFill>
          <a:ln/>
        </p:spPr>
      </p:sp>
      <p:sp>
        <p:nvSpPr>
          <p:cNvPr id="8" name="Text 6"/>
          <p:cNvSpPr txBox="1"/>
          <p:nvPr/>
        </p:nvSpPr>
        <p:spPr>
          <a:xfrm>
            <a:off x="835223" y="4023420"/>
            <a:ext cx="5792093"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ASPNETCORE_ENVIRONMENT</a:t>
            </a:r>
            <a:pPr algn="l" indent="0" marL="0">
              <a:buNone/>
            </a:pPr>
            <a:r>
              <a:rPr lang="en-US" sz="1200" b="1" dirty="0">
                <a:solidFill>
                  <a:srgbClr val="16303F"/>
                </a:solidFill>
                <a:latin typeface="Manrope" pitchFamily="34" charset="0"/>
                <a:ea typeface="Manrope" pitchFamily="34" charset="-122"/>
                <a:cs typeface="Manrope" pitchFamily="34" charset="-120"/>
              </a:rPr>
              <a:t> is not just another setting. It is the input that picks</a:t>
            </a:r>
            <a:endParaRPr lang="en-US" sz="1080" dirty="0"/>
          </a:p>
        </p:txBody>
      </p:sp>
      <p:sp>
        <p:nvSpPr>
          <p:cNvPr id="9" name="Text 7"/>
          <p:cNvSpPr txBox="1"/>
          <p:nvPr/>
        </p:nvSpPr>
        <p:spPr>
          <a:xfrm>
            <a:off x="788640" y="4404420"/>
            <a:ext cx="182582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the rest of your inputs.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55156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Add a source, and the answer changes</a:t>
            </a:r>
            <a:endParaRPr lang="en-US" sz="2820" dirty="0"/>
          </a:p>
        </p:txBody>
      </p:sp>
      <p:sp>
        <p:nvSpPr>
          <p:cNvPr id="4" name="Shape 2"/>
          <p:cNvSpPr/>
          <p:nvPr/>
        </p:nvSpPr>
        <p:spPr>
          <a:xfrm>
            <a:off x="457200" y="1390501"/>
            <a:ext cx="8420100" cy="9525"/>
          </a:xfrm>
          <a:prstGeom prst="rect">
            <a:avLst/>
          </a:prstGeom>
          <a:solidFill>
            <a:srgbClr val="9CA3AF">
              <a:alpha val="20000"/>
            </a:srgbClr>
          </a:solidFill>
          <a:ln/>
        </p:spPr>
      </p:sp>
      <p:sp>
        <p:nvSpPr>
          <p:cNvPr id="5" name="Shape 3"/>
          <p:cNvSpPr/>
          <p:nvPr/>
        </p:nvSpPr>
        <p:spPr>
          <a:xfrm>
            <a:off x="457200" y="1380976"/>
            <a:ext cx="4166890" cy="19050"/>
          </a:xfrm>
          <a:prstGeom prst="rect">
            <a:avLst/>
          </a:prstGeom>
          <a:solidFill>
            <a:srgbClr val="16303F"/>
          </a:solidFill>
          <a:ln/>
        </p:spPr>
      </p:sp>
      <p:sp>
        <p:nvSpPr>
          <p:cNvPr id="6" name="Text 4"/>
          <p:cNvSpPr txBox="1"/>
          <p:nvPr/>
        </p:nvSpPr>
        <p:spPr>
          <a:xfrm>
            <a:off x="563761" y="1164878"/>
            <a:ext cx="119687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ADD THIS SOURCE</a:t>
            </a:r>
            <a:endParaRPr lang="en-US" sz="816" dirty="0"/>
          </a:p>
        </p:txBody>
      </p:sp>
      <p:sp>
        <p:nvSpPr>
          <p:cNvPr id="7" name="Shape 5"/>
          <p:cNvSpPr/>
          <p:nvPr/>
        </p:nvSpPr>
        <p:spPr>
          <a:xfrm>
            <a:off x="4624090" y="1380976"/>
            <a:ext cx="4253210" cy="19050"/>
          </a:xfrm>
          <a:prstGeom prst="rect">
            <a:avLst/>
          </a:prstGeom>
          <a:solidFill>
            <a:srgbClr val="16303F"/>
          </a:solidFill>
          <a:ln/>
        </p:spPr>
      </p:sp>
      <p:sp>
        <p:nvSpPr>
          <p:cNvPr id="8" name="Shape 6"/>
          <p:cNvSpPr/>
          <p:nvPr/>
        </p:nvSpPr>
        <p:spPr>
          <a:xfrm>
            <a:off x="4730651" y="1163092"/>
            <a:ext cx="1573262" cy="161925"/>
          </a:xfrm>
          <a:prstGeom prst="roundRect">
            <a:avLst>
              <a:gd name="adj" fmla="val 23529"/>
            </a:avLst>
          </a:prstGeom>
          <a:solidFill>
            <a:srgbClr val="F5F5F5"/>
          </a:solidFill>
          <a:ln/>
        </p:spPr>
      </p:sp>
      <p:sp>
        <p:nvSpPr>
          <p:cNvPr id="9" name="Text 7"/>
          <p:cNvSpPr txBox="1"/>
          <p:nvPr/>
        </p:nvSpPr>
        <p:spPr>
          <a:xfrm>
            <a:off x="4787801" y="1163092"/>
            <a:ext cx="2373511" cy="142875"/>
          </a:xfrm>
          <a:prstGeom prst="rect">
            <a:avLst/>
          </a:prstGeom>
          <a:noFill/>
          <a:ln/>
        </p:spPr>
        <p:txBody>
          <a:bodyPr wrap="none" lIns="0" tIns="0" rIns="0" bIns="0" rtlCol="0" anchor="t"/>
          <a:lstStyle/>
          <a:p>
            <a:pPr algn="l" indent="0" marL="0">
              <a:buNone/>
            </a:pPr>
            <a:r>
              <a:rPr lang="en-US" sz="734" spc="82" kern="0" dirty="0">
                <a:solidFill>
                  <a:srgbClr val="44535A"/>
                </a:solidFill>
                <a:latin typeface="JetBrains Mono" pitchFamily="34" charset="0"/>
                <a:ea typeface="JetBrains Mono" pitchFamily="34" charset="-122"/>
                <a:cs typeface="JetBrains Mono" pitchFamily="34" charset="-120"/>
              </a:rPr>
              <a:t>WEATHER:TIMEOUTSECONDS</a:t>
            </a:r>
            <a:pPr algn="l" indent="0" marL="0">
              <a:buNone/>
            </a:pPr>
            <a:r>
              <a:rPr lang="en-US" sz="816" b="1" spc="82" kern="0" dirty="0">
                <a:solidFill>
                  <a:srgbClr val="44535A"/>
                </a:solidFill>
                <a:latin typeface="Manrope" pitchFamily="34" charset="0"/>
                <a:ea typeface="Manrope" pitchFamily="34" charset="-122"/>
                <a:cs typeface="Manrope" pitchFamily="34" charset="-120"/>
              </a:rPr>
              <a:t> NOW READS</a:t>
            </a:r>
            <a:endParaRPr lang="en-US" sz="734" dirty="0"/>
          </a:p>
        </p:txBody>
      </p:sp>
      <p:sp>
        <p:nvSpPr>
          <p:cNvPr id="10" name="Shape 8"/>
          <p:cNvSpPr/>
          <p:nvPr/>
        </p:nvSpPr>
        <p:spPr>
          <a:xfrm>
            <a:off x="457200" y="1736824"/>
            <a:ext cx="8420100" cy="9525"/>
          </a:xfrm>
          <a:prstGeom prst="rect">
            <a:avLst/>
          </a:prstGeom>
          <a:solidFill>
            <a:srgbClr val="9CA3AF">
              <a:alpha val="20000"/>
            </a:srgbClr>
          </a:solidFill>
          <a:ln/>
        </p:spPr>
      </p:sp>
      <p:sp>
        <p:nvSpPr>
          <p:cNvPr id="11" name="Shape 9"/>
          <p:cNvSpPr/>
          <p:nvPr/>
        </p:nvSpPr>
        <p:spPr>
          <a:xfrm>
            <a:off x="457200" y="1736824"/>
            <a:ext cx="4166890" cy="9525"/>
          </a:xfrm>
          <a:prstGeom prst="rect">
            <a:avLst/>
          </a:prstGeom>
          <a:solidFill>
            <a:srgbClr val="DDD9D2"/>
          </a:solidFill>
          <a:ln/>
        </p:spPr>
      </p:sp>
      <p:sp>
        <p:nvSpPr>
          <p:cNvPr id="12" name="Shape 10"/>
          <p:cNvSpPr/>
          <p:nvPr/>
        </p:nvSpPr>
        <p:spPr>
          <a:xfrm>
            <a:off x="563761" y="1492300"/>
            <a:ext cx="1272927" cy="181570"/>
          </a:xfrm>
          <a:prstGeom prst="roundRect">
            <a:avLst>
              <a:gd name="adj" fmla="val 20984"/>
            </a:avLst>
          </a:prstGeom>
          <a:solidFill>
            <a:srgbClr val="16303F">
              <a:alpha val="7000"/>
            </a:srgbClr>
          </a:solidFill>
          <a:ln/>
        </p:spPr>
      </p:sp>
      <p:sp>
        <p:nvSpPr>
          <p:cNvPr id="13" name="Text 11"/>
          <p:cNvSpPr txBox="1"/>
          <p:nvPr/>
        </p:nvSpPr>
        <p:spPr>
          <a:xfrm>
            <a:off x="506611" y="1492300"/>
            <a:ext cx="1387227"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endParaRPr lang="en-US" sz="972" dirty="0"/>
          </a:p>
        </p:txBody>
      </p:sp>
      <p:sp>
        <p:nvSpPr>
          <p:cNvPr id="14" name="Shape 12"/>
          <p:cNvSpPr/>
          <p:nvPr/>
        </p:nvSpPr>
        <p:spPr>
          <a:xfrm>
            <a:off x="4624090" y="1736824"/>
            <a:ext cx="4253210" cy="9525"/>
          </a:xfrm>
          <a:prstGeom prst="rect">
            <a:avLst/>
          </a:prstGeom>
          <a:solidFill>
            <a:srgbClr val="DDD9D2"/>
          </a:solidFill>
          <a:ln/>
        </p:spPr>
      </p:sp>
      <p:sp>
        <p:nvSpPr>
          <p:cNvPr id="15" name="Text 13"/>
          <p:cNvSpPr txBox="1"/>
          <p:nvPr/>
        </p:nvSpPr>
        <p:spPr>
          <a:xfrm>
            <a:off x="4730651" y="1483072"/>
            <a:ext cx="27042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30</a:t>
            </a:r>
            <a:endParaRPr lang="en-US" sz="1056" dirty="0"/>
          </a:p>
        </p:txBody>
      </p:sp>
      <p:sp>
        <p:nvSpPr>
          <p:cNvPr id="16" name="Shape 14"/>
          <p:cNvSpPr/>
          <p:nvPr/>
        </p:nvSpPr>
        <p:spPr>
          <a:xfrm>
            <a:off x="457200" y="1746349"/>
            <a:ext cx="8420100" cy="341561"/>
          </a:xfrm>
          <a:prstGeom prst="rect">
            <a:avLst/>
          </a:prstGeom>
          <a:solidFill>
            <a:srgbClr val="16303F">
              <a:alpha val="3000"/>
            </a:srgbClr>
          </a:solidFill>
          <a:ln/>
        </p:spPr>
      </p:sp>
      <p:sp>
        <p:nvSpPr>
          <p:cNvPr id="17" name="Shape 15"/>
          <p:cNvSpPr/>
          <p:nvPr/>
        </p:nvSpPr>
        <p:spPr>
          <a:xfrm>
            <a:off x="457200" y="2078385"/>
            <a:ext cx="8420100" cy="9525"/>
          </a:xfrm>
          <a:prstGeom prst="rect">
            <a:avLst/>
          </a:prstGeom>
          <a:solidFill>
            <a:srgbClr val="9CA3AF">
              <a:alpha val="20000"/>
            </a:srgbClr>
          </a:solidFill>
          <a:ln/>
        </p:spPr>
      </p:sp>
      <p:sp>
        <p:nvSpPr>
          <p:cNvPr id="18" name="Shape 16"/>
          <p:cNvSpPr/>
          <p:nvPr/>
        </p:nvSpPr>
        <p:spPr>
          <a:xfrm>
            <a:off x="457200" y="2078385"/>
            <a:ext cx="4166890" cy="9525"/>
          </a:xfrm>
          <a:prstGeom prst="rect">
            <a:avLst/>
          </a:prstGeom>
          <a:solidFill>
            <a:srgbClr val="DDD9D2"/>
          </a:solidFill>
          <a:ln/>
        </p:spPr>
      </p:sp>
      <p:sp>
        <p:nvSpPr>
          <p:cNvPr id="19" name="Text 17"/>
          <p:cNvSpPr txBox="1"/>
          <p:nvPr/>
        </p:nvSpPr>
        <p:spPr>
          <a:xfrm>
            <a:off x="563761" y="1824633"/>
            <a:ext cx="21848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 </a:t>
            </a:r>
            <a:endParaRPr lang="en-US" sz="1056" dirty="0"/>
          </a:p>
        </p:txBody>
      </p:sp>
      <p:sp>
        <p:nvSpPr>
          <p:cNvPr id="20" name="Shape 18"/>
          <p:cNvSpPr/>
          <p:nvPr/>
        </p:nvSpPr>
        <p:spPr>
          <a:xfrm>
            <a:off x="667941" y="1833860"/>
            <a:ext cx="2160984" cy="181570"/>
          </a:xfrm>
          <a:prstGeom prst="roundRect">
            <a:avLst>
              <a:gd name="adj" fmla="val 20984"/>
            </a:avLst>
          </a:prstGeom>
          <a:solidFill>
            <a:srgbClr val="16303F">
              <a:alpha val="7000"/>
            </a:srgbClr>
          </a:solidFill>
          <a:ln/>
        </p:spPr>
      </p:sp>
      <p:sp>
        <p:nvSpPr>
          <p:cNvPr id="21" name="Text 19"/>
          <p:cNvSpPr txBox="1"/>
          <p:nvPr/>
        </p:nvSpPr>
        <p:spPr>
          <a:xfrm>
            <a:off x="610791" y="1833860"/>
            <a:ext cx="227528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appsettings.Development.json</a:t>
            </a:r>
            <a:endParaRPr lang="en-US" sz="972" dirty="0"/>
          </a:p>
        </p:txBody>
      </p:sp>
      <p:sp>
        <p:nvSpPr>
          <p:cNvPr id="22" name="Shape 20"/>
          <p:cNvSpPr/>
          <p:nvPr/>
        </p:nvSpPr>
        <p:spPr>
          <a:xfrm>
            <a:off x="4624090" y="2078385"/>
            <a:ext cx="4253210" cy="9525"/>
          </a:xfrm>
          <a:prstGeom prst="rect">
            <a:avLst/>
          </a:prstGeom>
          <a:solidFill>
            <a:srgbClr val="DDD9D2"/>
          </a:solidFill>
          <a:ln/>
        </p:spPr>
      </p:sp>
      <p:sp>
        <p:nvSpPr>
          <p:cNvPr id="23" name="Text 21"/>
          <p:cNvSpPr txBox="1"/>
          <p:nvPr/>
        </p:nvSpPr>
        <p:spPr>
          <a:xfrm>
            <a:off x="4730651" y="1824633"/>
            <a:ext cx="3248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120</a:t>
            </a:r>
            <a:endParaRPr lang="en-US" sz="1056" dirty="0"/>
          </a:p>
        </p:txBody>
      </p:sp>
      <p:sp>
        <p:nvSpPr>
          <p:cNvPr id="24" name="Shape 22"/>
          <p:cNvSpPr/>
          <p:nvPr/>
        </p:nvSpPr>
        <p:spPr>
          <a:xfrm>
            <a:off x="457200" y="2419945"/>
            <a:ext cx="8420100" cy="9525"/>
          </a:xfrm>
          <a:prstGeom prst="rect">
            <a:avLst/>
          </a:prstGeom>
          <a:solidFill>
            <a:srgbClr val="9CA3AF">
              <a:alpha val="20000"/>
            </a:srgbClr>
          </a:solidFill>
          <a:ln/>
        </p:spPr>
      </p:sp>
      <p:sp>
        <p:nvSpPr>
          <p:cNvPr id="25" name="Shape 23"/>
          <p:cNvSpPr/>
          <p:nvPr/>
        </p:nvSpPr>
        <p:spPr>
          <a:xfrm>
            <a:off x="457200" y="2419945"/>
            <a:ext cx="4166890" cy="9525"/>
          </a:xfrm>
          <a:prstGeom prst="rect">
            <a:avLst/>
          </a:prstGeom>
          <a:solidFill>
            <a:srgbClr val="DDD9D2"/>
          </a:solidFill>
          <a:ln/>
        </p:spPr>
      </p:sp>
      <p:sp>
        <p:nvSpPr>
          <p:cNvPr id="26" name="Text 24"/>
          <p:cNvSpPr txBox="1"/>
          <p:nvPr/>
        </p:nvSpPr>
        <p:spPr>
          <a:xfrm>
            <a:off x="563761" y="2166193"/>
            <a:ext cx="21848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 </a:t>
            </a:r>
            <a:endParaRPr lang="en-US" sz="1056" dirty="0"/>
          </a:p>
        </p:txBody>
      </p:sp>
      <p:sp>
        <p:nvSpPr>
          <p:cNvPr id="27" name="Shape 25"/>
          <p:cNvSpPr/>
          <p:nvPr/>
        </p:nvSpPr>
        <p:spPr>
          <a:xfrm>
            <a:off x="667941" y="2175421"/>
            <a:ext cx="1790998" cy="181570"/>
          </a:xfrm>
          <a:prstGeom prst="roundRect">
            <a:avLst>
              <a:gd name="adj" fmla="val 20984"/>
            </a:avLst>
          </a:prstGeom>
          <a:solidFill>
            <a:srgbClr val="16303F">
              <a:alpha val="7000"/>
            </a:srgbClr>
          </a:solidFill>
          <a:ln/>
        </p:spPr>
      </p:sp>
      <p:sp>
        <p:nvSpPr>
          <p:cNvPr id="28" name="Text 26"/>
          <p:cNvSpPr txBox="1"/>
          <p:nvPr/>
        </p:nvSpPr>
        <p:spPr>
          <a:xfrm>
            <a:off x="610791" y="2175421"/>
            <a:ext cx="190529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Weather__TimeoutSeconds</a:t>
            </a:r>
            <a:endParaRPr lang="en-US" sz="972" dirty="0"/>
          </a:p>
        </p:txBody>
      </p:sp>
      <p:sp>
        <p:nvSpPr>
          <p:cNvPr id="29" name="Shape 27"/>
          <p:cNvSpPr/>
          <p:nvPr/>
        </p:nvSpPr>
        <p:spPr>
          <a:xfrm>
            <a:off x="4624090" y="2419945"/>
            <a:ext cx="4253210" cy="9525"/>
          </a:xfrm>
          <a:prstGeom prst="rect">
            <a:avLst/>
          </a:prstGeom>
          <a:solidFill>
            <a:srgbClr val="DDD9D2"/>
          </a:solidFill>
          <a:ln/>
        </p:spPr>
      </p:sp>
      <p:sp>
        <p:nvSpPr>
          <p:cNvPr id="30" name="Text 28"/>
          <p:cNvSpPr txBox="1"/>
          <p:nvPr/>
        </p:nvSpPr>
        <p:spPr>
          <a:xfrm>
            <a:off x="4730651" y="2166193"/>
            <a:ext cx="248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10</a:t>
            </a:r>
            <a:endParaRPr lang="en-US" sz="1056" dirty="0"/>
          </a:p>
        </p:txBody>
      </p:sp>
      <p:sp>
        <p:nvSpPr>
          <p:cNvPr id="31" name="Shape 29"/>
          <p:cNvSpPr/>
          <p:nvPr/>
        </p:nvSpPr>
        <p:spPr>
          <a:xfrm>
            <a:off x="457200" y="2429470"/>
            <a:ext cx="8420100" cy="388888"/>
          </a:xfrm>
          <a:prstGeom prst="rect">
            <a:avLst/>
          </a:prstGeom>
          <a:solidFill>
            <a:srgbClr val="16303F"/>
          </a:solidFill>
          <a:ln/>
        </p:spPr>
      </p:sp>
      <p:sp>
        <p:nvSpPr>
          <p:cNvPr id="32" name="Shape 30"/>
          <p:cNvSpPr/>
          <p:nvPr/>
        </p:nvSpPr>
        <p:spPr>
          <a:xfrm>
            <a:off x="457200" y="2808833"/>
            <a:ext cx="8420100" cy="9525"/>
          </a:xfrm>
          <a:prstGeom prst="rect">
            <a:avLst/>
          </a:prstGeom>
          <a:solidFill>
            <a:srgbClr val="9CA3AF">
              <a:alpha val="20000"/>
            </a:srgbClr>
          </a:solidFill>
          <a:ln/>
        </p:spPr>
      </p:sp>
      <p:sp>
        <p:nvSpPr>
          <p:cNvPr id="33" name="Shape 31"/>
          <p:cNvSpPr/>
          <p:nvPr/>
        </p:nvSpPr>
        <p:spPr>
          <a:xfrm>
            <a:off x="457200" y="2808833"/>
            <a:ext cx="4166890" cy="9525"/>
          </a:xfrm>
          <a:prstGeom prst="rect">
            <a:avLst/>
          </a:prstGeom>
          <a:solidFill>
            <a:srgbClr val="16303F"/>
          </a:solidFill>
          <a:ln/>
        </p:spPr>
      </p:sp>
      <p:sp>
        <p:nvSpPr>
          <p:cNvPr id="34" name="Shape 32"/>
          <p:cNvSpPr/>
          <p:nvPr/>
        </p:nvSpPr>
        <p:spPr>
          <a:xfrm>
            <a:off x="667941" y="2516981"/>
            <a:ext cx="1864965" cy="181570"/>
          </a:xfrm>
          <a:prstGeom prst="roundRect">
            <a:avLst>
              <a:gd name="adj" fmla="val 20984"/>
            </a:avLst>
          </a:prstGeom>
          <a:solidFill>
            <a:srgbClr val="F7F6F3">
              <a:alpha val="14000"/>
            </a:srgbClr>
          </a:solidFill>
          <a:ln/>
        </p:spPr>
      </p:sp>
      <p:sp>
        <p:nvSpPr>
          <p:cNvPr id="35" name="Text 33"/>
          <p:cNvSpPr txBox="1"/>
          <p:nvPr/>
        </p:nvSpPr>
        <p:spPr>
          <a:xfrm>
            <a:off x="563761" y="2507754"/>
            <a:ext cx="2039094" cy="180975"/>
          </a:xfrm>
          <a:prstGeom prst="rect">
            <a:avLst/>
          </a:prstGeom>
          <a:noFill/>
          <a:ln/>
        </p:spPr>
        <p:txBody>
          <a:bodyPr wrap="none" lIns="0" tIns="0" rIns="0" bIns="0" rtlCol="0" anchor="t"/>
          <a:lstStyle/>
          <a:p>
            <a:pPr algn="l" indent="0" marL="0">
              <a:buNone/>
            </a:pPr>
            <a:r>
              <a:rPr lang="en-US" sz="1056" dirty="0">
                <a:solidFill>
                  <a:srgbClr val="F7F6F3"/>
                </a:solidFill>
                <a:latin typeface="Manrope" pitchFamily="34" charset="0"/>
                <a:ea typeface="Manrope" pitchFamily="34" charset="-122"/>
                <a:cs typeface="Manrope" pitchFamily="34" charset="-120"/>
              </a:rPr>
              <a:t>+ </a:t>
            </a:r>
            <a:pPr algn="l" indent="0" marL="0">
              <a:buNone/>
            </a:pPr>
            <a:r>
              <a:rPr lang="en-US" sz="972" dirty="0">
                <a:solidFill>
                  <a:srgbClr val="F7F6F3"/>
                </a:solidFill>
                <a:latin typeface="JetBrains Mono" pitchFamily="34" charset="0"/>
                <a:ea typeface="JetBrains Mono" pitchFamily="34" charset="-122"/>
                <a:cs typeface="JetBrains Mono" pitchFamily="34" charset="-120"/>
              </a:rPr>
              <a:t>--Weather:TimeoutSeconds</a:t>
            </a:r>
            <a:endParaRPr lang="en-US" sz="1056" dirty="0"/>
          </a:p>
        </p:txBody>
      </p:sp>
      <p:sp>
        <p:nvSpPr>
          <p:cNvPr id="36" name="Shape 34"/>
          <p:cNvSpPr/>
          <p:nvPr/>
        </p:nvSpPr>
        <p:spPr>
          <a:xfrm>
            <a:off x="4624090" y="2808833"/>
            <a:ext cx="4253210" cy="9525"/>
          </a:xfrm>
          <a:prstGeom prst="rect">
            <a:avLst/>
          </a:prstGeom>
          <a:solidFill>
            <a:srgbClr val="16303F"/>
          </a:solidFill>
          <a:ln/>
        </p:spPr>
      </p:sp>
      <p:sp>
        <p:nvSpPr>
          <p:cNvPr id="37" name="Text 35"/>
          <p:cNvSpPr txBox="1"/>
          <p:nvPr/>
        </p:nvSpPr>
        <p:spPr>
          <a:xfrm>
            <a:off x="4730651" y="2507754"/>
            <a:ext cx="213122" cy="228600"/>
          </a:xfrm>
          <a:prstGeom prst="rect">
            <a:avLst/>
          </a:prstGeom>
          <a:noFill/>
          <a:ln/>
        </p:spPr>
        <p:txBody>
          <a:bodyPr wrap="none" lIns="0" tIns="0" rIns="0" bIns="0" rtlCol="0" anchor="t"/>
          <a:lstStyle/>
          <a:p>
            <a:pPr algn="l" indent="0" marL="0">
              <a:buNone/>
            </a:pPr>
            <a:r>
              <a:rPr lang="en-US" sz="1320" b="1" dirty="0">
                <a:solidFill>
                  <a:srgbClr val="F4C233"/>
                </a:solidFill>
                <a:latin typeface="Manrope" pitchFamily="34" charset="0"/>
                <a:ea typeface="Manrope" pitchFamily="34" charset="-122"/>
                <a:cs typeface="Manrope" pitchFamily="34" charset="-120"/>
              </a:rPr>
              <a:t>5</a:t>
            </a:r>
            <a:endParaRPr lang="en-US" sz="1320" dirty="0"/>
          </a:p>
        </p:txBody>
      </p:sp>
      <p:sp>
        <p:nvSpPr>
          <p:cNvPr id="38" name="Text 36"/>
          <p:cNvSpPr txBox="1"/>
          <p:nvPr/>
        </p:nvSpPr>
        <p:spPr>
          <a:xfrm>
            <a:off x="457200" y="3145036"/>
            <a:ext cx="1028998"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last one wins</a:t>
            </a:r>
            <a:endParaRPr lang="en-US" sz="1200" dirty="0"/>
          </a:p>
        </p:txBody>
      </p:sp>
      <p:sp>
        <p:nvSpPr>
          <p:cNvPr id="39" name="Shape 37"/>
          <p:cNvSpPr/>
          <p:nvPr/>
        </p:nvSpPr>
        <p:spPr>
          <a:xfrm>
            <a:off x="8463260" y="228600"/>
            <a:ext cx="581769" cy="228451"/>
          </a:xfrm>
          <a:prstGeom prst="roundRect">
            <a:avLst>
              <a:gd name="adj" fmla="val 16678"/>
            </a:avLst>
          </a:prstGeom>
          <a:solidFill>
            <a:srgbClr val="16303F"/>
          </a:solidFill>
          <a:ln/>
        </p:spPr>
      </p:sp>
      <p:sp>
        <p:nvSpPr>
          <p:cNvPr id="40" name="Text 38"/>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564803"/>
            <a:ext cx="361771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Prove which provider won</a:t>
            </a:r>
            <a:endParaRPr lang="en-US" sz="2280" dirty="0"/>
          </a:p>
        </p:txBody>
      </p:sp>
      <p:sp>
        <p:nvSpPr>
          <p:cNvPr id="4" name="Shape 2"/>
          <p:cNvSpPr/>
          <p:nvPr/>
        </p:nvSpPr>
        <p:spPr>
          <a:xfrm>
            <a:off x="628650" y="1233636"/>
            <a:ext cx="8077200" cy="2095500"/>
          </a:xfrm>
          <a:prstGeom prst="roundRect">
            <a:avLst>
              <a:gd name="adj" fmla="val 1818"/>
            </a:avLst>
          </a:prstGeom>
          <a:solidFill>
            <a:srgbClr val="011627"/>
          </a:solidFill>
          <a:ln/>
        </p:spPr>
      </p:sp>
      <p:sp>
        <p:nvSpPr>
          <p:cNvPr id="5" name="Text 3"/>
          <p:cNvSpPr txBox="1"/>
          <p:nvPr/>
        </p:nvSpPr>
        <p:spPr>
          <a:xfrm>
            <a:off x="704850" y="1319361"/>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((IConfigurationRoot)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GetDebugView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(ctx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secret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password</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Logger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LogInformation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\n</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{Dump}</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a:t>
            </a:r>
            <a:endParaRPr lang="en-US" sz="1275" dirty="0"/>
          </a:p>
        </p:txBody>
      </p:sp>
      <p:sp>
        <p:nvSpPr>
          <p:cNvPr id="6" name="Shape 4"/>
          <p:cNvSpPr/>
          <p:nvPr/>
        </p:nvSpPr>
        <p:spPr>
          <a:xfrm>
            <a:off x="628650" y="3618607"/>
            <a:ext cx="38100" cy="914400"/>
          </a:xfrm>
          <a:prstGeom prst="rect">
            <a:avLst/>
          </a:prstGeom>
          <a:solidFill>
            <a:srgbClr val="F4C233"/>
          </a:solidFill>
          <a:ln/>
        </p:spPr>
      </p:sp>
      <p:sp>
        <p:nvSpPr>
          <p:cNvPr id="7" name="Text 5"/>
          <p:cNvSpPr txBox="1"/>
          <p:nvPr/>
        </p:nvSpPr>
        <p:spPr>
          <a:xfrm>
            <a:off x="788640" y="3780532"/>
            <a:ext cx="6048821"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That filter is a denylist, so it misses tokens, connection strings and certificates.</a:t>
            </a:r>
            <a:endParaRPr lang="en-US" sz="1200" dirty="0"/>
          </a:p>
        </p:txBody>
      </p:sp>
      <p:sp>
        <p:nvSpPr>
          <p:cNvPr id="8" name="Shape 6"/>
          <p:cNvSpPr/>
          <p:nvPr/>
        </p:nvSpPr>
        <p:spPr>
          <a:xfrm>
            <a:off x="1542901" y="4169718"/>
            <a:ext cx="1327696" cy="202704"/>
          </a:xfrm>
          <a:prstGeom prst="roundRect">
            <a:avLst>
              <a:gd name="adj" fmla="val 18796"/>
            </a:avLst>
          </a:prstGeom>
          <a:solidFill>
            <a:srgbClr val="16303F">
              <a:alpha val="7000"/>
            </a:srgbClr>
          </a:solidFill>
          <a:ln/>
        </p:spPr>
      </p:sp>
      <p:sp>
        <p:nvSpPr>
          <p:cNvPr id="9" name="Text 7"/>
          <p:cNvSpPr txBox="1"/>
          <p:nvPr/>
        </p:nvSpPr>
        <p:spPr>
          <a:xfrm>
            <a:off x="788640" y="4161532"/>
            <a:ext cx="6528048"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Gate it on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IsDevelopment()</a:t>
            </a:r>
            <a:pPr algn="l" indent="0" marL="0">
              <a:buNone/>
            </a:pPr>
            <a:r>
              <a:rPr lang="en-US" sz="1200" b="1" dirty="0">
                <a:solidFill>
                  <a:srgbClr val="16303F"/>
                </a:solidFill>
                <a:latin typeface="Manrope" pitchFamily="34" charset="0"/>
                <a:ea typeface="Manrope" pitchFamily="34" charset="-122"/>
                <a:cs typeface="Manrope" pitchFamily="34" charset="-120"/>
              </a:rPr>
              <a:t>, and prefer inspecting the handful of keys you care about.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783282"/>
            <a:ext cx="3740795"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provider is why 10 won</a:t>
            </a:r>
            <a:endParaRPr lang="en-US" sz="2280" dirty="0"/>
          </a:p>
        </p:txBody>
      </p:sp>
      <p:sp>
        <p:nvSpPr>
          <p:cNvPr id="4" name="Shape 2"/>
          <p:cNvSpPr/>
          <p:nvPr/>
        </p:nvSpPr>
        <p:spPr>
          <a:xfrm>
            <a:off x="628650" y="1452116"/>
            <a:ext cx="8077200" cy="2824163"/>
          </a:xfrm>
          <a:prstGeom prst="roundRect">
            <a:avLst>
              <a:gd name="adj" fmla="val 1349"/>
            </a:avLst>
          </a:prstGeom>
          <a:solidFill>
            <a:srgbClr val="011627"/>
          </a:solidFill>
          <a:ln/>
        </p:spPr>
      </p:sp>
      <p:sp>
        <p:nvSpPr>
          <p:cNvPr id="5" name="Shape 3"/>
          <p:cNvSpPr/>
          <p:nvPr/>
        </p:nvSpPr>
        <p:spPr>
          <a:xfrm>
            <a:off x="704850" y="2742754"/>
            <a:ext cx="7924800" cy="242888"/>
          </a:xfrm>
          <a:prstGeom prst="rect">
            <a:avLst/>
          </a:prstGeom>
          <a:solidFill>
            <a:srgbClr val="F4C233">
              <a:alpha val="16000"/>
            </a:srgbClr>
          </a:solidFill>
          <a:ln/>
        </p:spPr>
      </p:sp>
      <p:sp>
        <p:nvSpPr>
          <p:cNvPr id="6" name="Shape 4"/>
          <p:cNvSpPr/>
          <p:nvPr/>
        </p:nvSpPr>
        <p:spPr>
          <a:xfrm>
            <a:off x="704850" y="3228529"/>
            <a:ext cx="7924800" cy="242888"/>
          </a:xfrm>
          <a:prstGeom prst="rect">
            <a:avLst/>
          </a:prstGeom>
          <a:solidFill>
            <a:srgbClr val="F4C233">
              <a:alpha val="16000"/>
            </a:srgbClr>
          </a:solidFill>
          <a:ln/>
        </p:spPr>
      </p:sp>
      <p:sp>
        <p:nvSpPr>
          <p:cNvPr id="7" name="Text 5"/>
          <p:cNvSpPr txBox="1"/>
          <p:nvPr/>
        </p:nvSpPr>
        <p:spPr>
          <a:xfrm>
            <a:off x="704850" y="2752279"/>
            <a:ext cx="1960364"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TimeoutSeconds=10</a:t>
            </a:r>
            <a:endParaRPr lang="en-US" sz="1275" dirty="0"/>
          </a:p>
        </p:txBody>
      </p:sp>
      <p:sp>
        <p:nvSpPr>
          <p:cNvPr id="8" name="Text 6"/>
          <p:cNvSpPr txBox="1"/>
          <p:nvPr/>
        </p:nvSpPr>
        <p:spPr>
          <a:xfrm>
            <a:off x="704850" y="3238054"/>
            <a:ext cx="5749379"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endParaRPr lang="en-US" sz="1275" dirty="0"/>
          </a:p>
        </p:txBody>
      </p:sp>
      <p:sp>
        <p:nvSpPr>
          <p:cNvPr id="9" name="Text 7"/>
          <p:cNvSpPr txBox="1"/>
          <p:nvPr/>
        </p:nvSpPr>
        <p:spPr>
          <a:xfrm>
            <a:off x="704850" y="1537841"/>
            <a:ext cx="7943850" cy="2638425"/>
          </a:xfrm>
          <a:prstGeom prst="rect">
            <a:avLst/>
          </a:prstGeom>
          <a:noFill/>
          <a:ln/>
        </p:spPr>
        <p:txBody>
          <a:bodyPr wrap="square" lIns="0" tIns="0" rIns="0" bIns="0" rtlCol="0" anchor="t"/>
          <a:lstStyle/>
          <a:p>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Shape 1"/>
          <p:cNvSpPr/>
          <p:nvPr/>
        </p:nvSpPr>
        <p:spPr>
          <a:xfrm>
            <a:off x="3866108" y="2183160"/>
            <a:ext cx="2888010" cy="495300"/>
          </a:xfrm>
          <a:prstGeom prst="roundRect">
            <a:avLst>
              <a:gd name="adj" fmla="val 7692"/>
            </a:avLst>
          </a:prstGeom>
          <a:solidFill>
            <a:srgbClr val="F7F6F3">
              <a:alpha val="16000"/>
            </a:srgbClr>
          </a:solidFill>
          <a:ln/>
        </p:spPr>
      </p:sp>
      <p:sp>
        <p:nvSpPr>
          <p:cNvPr id="4" name="Text 2"/>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It left your laptop.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launchSettings</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and user secrets are gone.</a:t>
            </a:r>
            <a:endParaRPr lang="en-US" sz="3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9100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Environment variables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281190" cy="19050"/>
          </a:xfrm>
          <a:prstGeom prst="rect">
            <a:avLst/>
          </a:prstGeom>
          <a:solidFill>
            <a:srgbClr val="16303F"/>
          </a:solidFill>
          <a:ln/>
        </p:spPr>
      </p:sp>
      <p:sp>
        <p:nvSpPr>
          <p:cNvPr id="6" name="Text 4"/>
          <p:cNvSpPr txBox="1"/>
          <p:nvPr/>
        </p:nvSpPr>
        <p:spPr>
          <a:xfrm>
            <a:off x="563761" y="1163092"/>
            <a:ext cx="123884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EXPORT</a:t>
            </a:r>
            <a:endParaRPr lang="en-US" sz="816" dirty="0"/>
          </a:p>
        </p:txBody>
      </p:sp>
      <p:sp>
        <p:nvSpPr>
          <p:cNvPr id="7" name="Shape 5"/>
          <p:cNvSpPr/>
          <p:nvPr/>
        </p:nvSpPr>
        <p:spPr>
          <a:xfrm>
            <a:off x="4738390" y="1377404"/>
            <a:ext cx="4138910" cy="19050"/>
          </a:xfrm>
          <a:prstGeom prst="rect">
            <a:avLst/>
          </a:prstGeom>
          <a:solidFill>
            <a:srgbClr val="16303F"/>
          </a:solidFill>
          <a:ln/>
        </p:spPr>
      </p:sp>
      <p:sp>
        <p:nvSpPr>
          <p:cNvPr id="8" name="Text 6"/>
          <p:cNvSpPr txBox="1"/>
          <p:nvPr/>
        </p:nvSpPr>
        <p:spPr>
          <a:xfrm>
            <a:off x="4844951" y="1163092"/>
            <a:ext cx="13457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KEY IT BECOMES</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281190" cy="9525"/>
          </a:xfrm>
          <a:prstGeom prst="rect">
            <a:avLst/>
          </a:prstGeom>
          <a:solidFill>
            <a:srgbClr val="DDD9D2"/>
          </a:solidFill>
          <a:ln/>
        </p:spPr>
      </p:sp>
      <p:sp>
        <p:nvSpPr>
          <p:cNvPr id="11" name="Shape 9"/>
          <p:cNvSpPr/>
          <p:nvPr/>
        </p:nvSpPr>
        <p:spPr>
          <a:xfrm>
            <a:off x="563761" y="1488728"/>
            <a:ext cx="1494979" cy="181570"/>
          </a:xfrm>
          <a:prstGeom prst="roundRect">
            <a:avLst>
              <a:gd name="adj" fmla="val 20984"/>
            </a:avLst>
          </a:prstGeom>
          <a:solidFill>
            <a:srgbClr val="16303F">
              <a:alpha val="7000"/>
            </a:srgbClr>
          </a:solidFill>
          <a:ln/>
        </p:spPr>
      </p:sp>
      <p:sp>
        <p:nvSpPr>
          <p:cNvPr id="12" name="Text 10"/>
          <p:cNvSpPr txBox="1"/>
          <p:nvPr/>
        </p:nvSpPr>
        <p:spPr>
          <a:xfrm>
            <a:off x="506611" y="148872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Weather__ApiBaseUrl</a:t>
            </a:r>
            <a:endParaRPr lang="en-US" sz="972" dirty="0"/>
          </a:p>
        </p:txBody>
      </p:sp>
      <p:sp>
        <p:nvSpPr>
          <p:cNvPr id="13" name="Shape 11"/>
          <p:cNvSpPr/>
          <p:nvPr/>
        </p:nvSpPr>
        <p:spPr>
          <a:xfrm>
            <a:off x="4738390" y="1733252"/>
            <a:ext cx="4138910" cy="9525"/>
          </a:xfrm>
          <a:prstGeom prst="rect">
            <a:avLst/>
          </a:prstGeom>
          <a:solidFill>
            <a:srgbClr val="DDD9D2"/>
          </a:solidFill>
          <a:ln/>
        </p:spPr>
      </p:sp>
      <p:sp>
        <p:nvSpPr>
          <p:cNvPr id="14" name="Shape 12"/>
          <p:cNvSpPr/>
          <p:nvPr/>
        </p:nvSpPr>
        <p:spPr>
          <a:xfrm>
            <a:off x="4844951" y="1488728"/>
            <a:ext cx="1421011" cy="181570"/>
          </a:xfrm>
          <a:prstGeom prst="roundRect">
            <a:avLst>
              <a:gd name="adj" fmla="val 20984"/>
            </a:avLst>
          </a:prstGeom>
          <a:solidFill>
            <a:srgbClr val="16303F">
              <a:alpha val="7000"/>
            </a:srgbClr>
          </a:solidFill>
          <a:ln/>
        </p:spPr>
      </p:sp>
      <p:sp>
        <p:nvSpPr>
          <p:cNvPr id="15" name="Text 13"/>
          <p:cNvSpPr txBox="1"/>
          <p:nvPr/>
        </p:nvSpPr>
        <p:spPr>
          <a:xfrm>
            <a:off x="4787801" y="1488728"/>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Weather:ApiBaseUrl</a:t>
            </a:r>
            <a:endParaRPr lang="en-US" sz="972" dirty="0"/>
          </a:p>
        </p:txBody>
      </p:sp>
      <p:sp>
        <p:nvSpPr>
          <p:cNvPr id="16" name="Shape 14"/>
          <p:cNvSpPr/>
          <p:nvPr/>
        </p:nvSpPr>
        <p:spPr>
          <a:xfrm>
            <a:off x="457200" y="1742777"/>
            <a:ext cx="8420100" cy="341561"/>
          </a:xfrm>
          <a:prstGeom prst="rect">
            <a:avLst/>
          </a:prstGeom>
          <a:solidFill>
            <a:srgbClr val="16303F">
              <a:alpha val="3000"/>
            </a:srgbClr>
          </a:solidFill>
          <a:ln/>
        </p:spPr>
      </p:sp>
      <p:sp>
        <p:nvSpPr>
          <p:cNvPr id="17" name="Shape 15"/>
          <p:cNvSpPr/>
          <p:nvPr/>
        </p:nvSpPr>
        <p:spPr>
          <a:xfrm>
            <a:off x="457200" y="2074813"/>
            <a:ext cx="8420100" cy="9525"/>
          </a:xfrm>
          <a:prstGeom prst="rect">
            <a:avLst/>
          </a:prstGeom>
          <a:solidFill>
            <a:srgbClr val="9CA3AF">
              <a:alpha val="20000"/>
            </a:srgbClr>
          </a:solidFill>
          <a:ln/>
        </p:spPr>
      </p:sp>
      <p:sp>
        <p:nvSpPr>
          <p:cNvPr id="18" name="Shape 16"/>
          <p:cNvSpPr/>
          <p:nvPr/>
        </p:nvSpPr>
        <p:spPr>
          <a:xfrm>
            <a:off x="457200" y="2074813"/>
            <a:ext cx="4281190" cy="9525"/>
          </a:xfrm>
          <a:prstGeom prst="rect">
            <a:avLst/>
          </a:prstGeom>
          <a:solidFill>
            <a:srgbClr val="DDD9D2"/>
          </a:solidFill>
          <a:ln/>
        </p:spPr>
      </p:sp>
      <p:sp>
        <p:nvSpPr>
          <p:cNvPr id="19" name="Shape 17"/>
          <p:cNvSpPr/>
          <p:nvPr/>
        </p:nvSpPr>
        <p:spPr>
          <a:xfrm>
            <a:off x="563761" y="1830288"/>
            <a:ext cx="2013049" cy="181570"/>
          </a:xfrm>
          <a:prstGeom prst="roundRect">
            <a:avLst>
              <a:gd name="adj" fmla="val 20984"/>
            </a:avLst>
          </a:prstGeom>
          <a:solidFill>
            <a:srgbClr val="16303F">
              <a:alpha val="7000"/>
            </a:srgbClr>
          </a:solidFill>
          <a:ln/>
        </p:spPr>
      </p:sp>
      <p:sp>
        <p:nvSpPr>
          <p:cNvPr id="20" name="Text 18"/>
          <p:cNvSpPr txBox="1"/>
          <p:nvPr/>
        </p:nvSpPr>
        <p:spPr>
          <a:xfrm>
            <a:off x="506611" y="1830288"/>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Weather__AllowedOrigins__0</a:t>
            </a:r>
            <a:endParaRPr lang="en-US" sz="972" dirty="0"/>
          </a:p>
        </p:txBody>
      </p:sp>
      <p:sp>
        <p:nvSpPr>
          <p:cNvPr id="21" name="Shape 19"/>
          <p:cNvSpPr/>
          <p:nvPr/>
        </p:nvSpPr>
        <p:spPr>
          <a:xfrm>
            <a:off x="4738390" y="2074813"/>
            <a:ext cx="4138910" cy="9525"/>
          </a:xfrm>
          <a:prstGeom prst="rect">
            <a:avLst/>
          </a:prstGeom>
          <a:solidFill>
            <a:srgbClr val="DDD9D2"/>
          </a:solidFill>
          <a:ln/>
        </p:spPr>
      </p:sp>
      <p:sp>
        <p:nvSpPr>
          <p:cNvPr id="22" name="Shape 20"/>
          <p:cNvSpPr/>
          <p:nvPr/>
        </p:nvSpPr>
        <p:spPr>
          <a:xfrm>
            <a:off x="4844951" y="1830288"/>
            <a:ext cx="1864965" cy="181570"/>
          </a:xfrm>
          <a:prstGeom prst="roundRect">
            <a:avLst>
              <a:gd name="adj" fmla="val 20984"/>
            </a:avLst>
          </a:prstGeom>
          <a:solidFill>
            <a:srgbClr val="16303F">
              <a:alpha val="7000"/>
            </a:srgbClr>
          </a:solidFill>
          <a:ln/>
        </p:spPr>
      </p:sp>
      <p:sp>
        <p:nvSpPr>
          <p:cNvPr id="23" name="Text 21"/>
          <p:cNvSpPr txBox="1"/>
          <p:nvPr/>
        </p:nvSpPr>
        <p:spPr>
          <a:xfrm>
            <a:off x="4787801" y="1830288"/>
            <a:ext cx="197926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Weather:AllowedOrigins:0</a:t>
            </a:r>
            <a:endParaRPr lang="en-US" sz="972" dirty="0"/>
          </a:p>
        </p:txBody>
      </p:sp>
      <p:sp>
        <p:nvSpPr>
          <p:cNvPr id="24" name="Shape 22"/>
          <p:cNvSpPr/>
          <p:nvPr/>
        </p:nvSpPr>
        <p:spPr>
          <a:xfrm>
            <a:off x="457200" y="2416373"/>
            <a:ext cx="8420100" cy="9525"/>
          </a:xfrm>
          <a:prstGeom prst="rect">
            <a:avLst/>
          </a:prstGeom>
          <a:solidFill>
            <a:srgbClr val="9CA3AF">
              <a:alpha val="20000"/>
            </a:srgbClr>
          </a:solidFill>
          <a:ln/>
        </p:spPr>
      </p:sp>
      <p:sp>
        <p:nvSpPr>
          <p:cNvPr id="25" name="Shape 23"/>
          <p:cNvSpPr/>
          <p:nvPr/>
        </p:nvSpPr>
        <p:spPr>
          <a:xfrm>
            <a:off x="457200" y="2416373"/>
            <a:ext cx="4281190" cy="9525"/>
          </a:xfrm>
          <a:prstGeom prst="rect">
            <a:avLst/>
          </a:prstGeom>
          <a:solidFill>
            <a:srgbClr val="DDD9D2"/>
          </a:solidFill>
          <a:ln/>
        </p:spPr>
      </p:sp>
      <p:sp>
        <p:nvSpPr>
          <p:cNvPr id="26" name="Shape 24"/>
          <p:cNvSpPr/>
          <p:nvPr/>
        </p:nvSpPr>
        <p:spPr>
          <a:xfrm>
            <a:off x="563761" y="2171849"/>
            <a:ext cx="2013049" cy="181570"/>
          </a:xfrm>
          <a:prstGeom prst="roundRect">
            <a:avLst>
              <a:gd name="adj" fmla="val 20984"/>
            </a:avLst>
          </a:prstGeom>
          <a:solidFill>
            <a:srgbClr val="16303F">
              <a:alpha val="7000"/>
            </a:srgbClr>
          </a:solidFill>
          <a:ln/>
        </p:spPr>
      </p:sp>
      <p:sp>
        <p:nvSpPr>
          <p:cNvPr id="27" name="Text 25"/>
          <p:cNvSpPr txBox="1"/>
          <p:nvPr/>
        </p:nvSpPr>
        <p:spPr>
          <a:xfrm>
            <a:off x="506611" y="2171849"/>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ConnectionStrings__Default</a:t>
            </a:r>
            <a:endParaRPr lang="en-US" sz="972" dirty="0"/>
          </a:p>
        </p:txBody>
      </p:sp>
      <p:sp>
        <p:nvSpPr>
          <p:cNvPr id="28" name="Shape 26"/>
          <p:cNvSpPr/>
          <p:nvPr/>
        </p:nvSpPr>
        <p:spPr>
          <a:xfrm>
            <a:off x="4738390" y="2416373"/>
            <a:ext cx="4138910" cy="9525"/>
          </a:xfrm>
          <a:prstGeom prst="rect">
            <a:avLst/>
          </a:prstGeom>
          <a:solidFill>
            <a:srgbClr val="DDD9D2"/>
          </a:solidFill>
          <a:ln/>
        </p:spPr>
      </p:sp>
      <p:sp>
        <p:nvSpPr>
          <p:cNvPr id="29" name="Shape 27"/>
          <p:cNvSpPr/>
          <p:nvPr/>
        </p:nvSpPr>
        <p:spPr>
          <a:xfrm>
            <a:off x="4844951" y="2171849"/>
            <a:ext cx="1938933" cy="181570"/>
          </a:xfrm>
          <a:prstGeom prst="roundRect">
            <a:avLst>
              <a:gd name="adj" fmla="val 20984"/>
            </a:avLst>
          </a:prstGeom>
          <a:solidFill>
            <a:srgbClr val="16303F">
              <a:alpha val="7000"/>
            </a:srgbClr>
          </a:solidFill>
          <a:ln/>
        </p:spPr>
      </p:sp>
      <p:sp>
        <p:nvSpPr>
          <p:cNvPr id="30" name="Text 28"/>
          <p:cNvSpPr txBox="1"/>
          <p:nvPr/>
        </p:nvSpPr>
        <p:spPr>
          <a:xfrm>
            <a:off x="4787801" y="2171849"/>
            <a:ext cx="205323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ConnectionStrings:Default</a:t>
            </a:r>
            <a:endParaRPr lang="en-US" sz="972" dirty="0"/>
          </a:p>
        </p:txBody>
      </p:sp>
      <p:sp>
        <p:nvSpPr>
          <p:cNvPr id="31" name="Shape 29"/>
          <p:cNvSpPr/>
          <p:nvPr/>
        </p:nvSpPr>
        <p:spPr>
          <a:xfrm>
            <a:off x="457200" y="2590651"/>
            <a:ext cx="38100" cy="533400"/>
          </a:xfrm>
          <a:prstGeom prst="rect">
            <a:avLst/>
          </a:prstGeom>
          <a:solidFill>
            <a:srgbClr val="F4C233"/>
          </a:solidFill>
          <a:ln/>
        </p:spPr>
      </p:sp>
      <p:sp>
        <p:nvSpPr>
          <p:cNvPr id="32" name="Shape 30"/>
          <p:cNvSpPr/>
          <p:nvPr/>
        </p:nvSpPr>
        <p:spPr>
          <a:xfrm>
            <a:off x="617190" y="2760762"/>
            <a:ext cx="175468" cy="202704"/>
          </a:xfrm>
          <a:prstGeom prst="roundRect">
            <a:avLst>
              <a:gd name="adj" fmla="val 21713"/>
            </a:avLst>
          </a:prstGeom>
          <a:solidFill>
            <a:srgbClr val="16303F">
              <a:alpha val="7000"/>
            </a:srgbClr>
          </a:solidFill>
          <a:ln/>
        </p:spPr>
      </p:sp>
      <p:sp>
        <p:nvSpPr>
          <p:cNvPr id="33" name="Shape 31"/>
          <p:cNvSpPr/>
          <p:nvPr/>
        </p:nvSpPr>
        <p:spPr>
          <a:xfrm>
            <a:off x="4453235" y="2760762"/>
            <a:ext cx="257770" cy="202704"/>
          </a:xfrm>
          <a:prstGeom prst="roundRect">
            <a:avLst>
              <a:gd name="adj" fmla="val 18796"/>
            </a:avLst>
          </a:prstGeom>
          <a:solidFill>
            <a:srgbClr val="16303F">
              <a:alpha val="7000"/>
            </a:srgbClr>
          </a:solidFill>
          <a:ln/>
        </p:spPr>
      </p:sp>
      <p:sp>
        <p:nvSpPr>
          <p:cNvPr id="34" name="Text 32"/>
          <p:cNvSpPr txBox="1"/>
          <p:nvPr/>
        </p:nvSpPr>
        <p:spPr>
          <a:xfrm>
            <a:off x="663773" y="2752576"/>
            <a:ext cx="4369296"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not portable in an environment variable name.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__</a:t>
            </a:r>
            <a:pPr algn="l" indent="0" marL="0">
              <a:buNone/>
            </a:pPr>
            <a:r>
              <a:rPr lang="en-US" sz="1200" b="1" dirty="0">
                <a:solidFill>
                  <a:srgbClr val="16303F"/>
                </a:solidFill>
                <a:latin typeface="Manrope" pitchFamily="34" charset="0"/>
                <a:ea typeface="Manrope" pitchFamily="34" charset="-122"/>
                <a:cs typeface="Manrope" pitchFamily="34" charset="-120"/>
              </a:rPr>
              <a:t> is.</a:t>
            </a:r>
            <a:endParaRPr lang="en-US" sz="1080" dirty="0"/>
          </a:p>
        </p:txBody>
      </p:sp>
      <p:sp>
        <p:nvSpPr>
          <p:cNvPr id="35" name="Shape 33"/>
          <p:cNvSpPr/>
          <p:nvPr/>
        </p:nvSpPr>
        <p:spPr>
          <a:xfrm>
            <a:off x="8469660" y="228600"/>
            <a:ext cx="575370" cy="228451"/>
          </a:xfrm>
          <a:prstGeom prst="roundRect">
            <a:avLst>
              <a:gd name="adj" fmla="val 16678"/>
            </a:avLst>
          </a:prstGeom>
          <a:solidFill>
            <a:srgbClr val="16303F"/>
          </a:solidFill>
          <a:ln/>
        </p:spPr>
      </p:sp>
      <p:sp>
        <p:nvSpPr>
          <p:cNvPr id="36" name="Text 34"/>
          <p:cNvSpPr txBox="1"/>
          <p:nvPr/>
        </p:nvSpPr>
        <p:spPr>
          <a:xfrm>
            <a:off x="8564017" y="274290"/>
            <a:ext cx="5009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SHAPE</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13300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Key-per-file</a:t>
            </a:r>
            <a:endParaRPr lang="en-US" sz="2820" dirty="0"/>
          </a:p>
        </p:txBody>
      </p:sp>
      <p:sp>
        <p:nvSpPr>
          <p:cNvPr id="4" name="Shape 2"/>
          <p:cNvSpPr/>
          <p:nvPr/>
        </p:nvSpPr>
        <p:spPr>
          <a:xfrm>
            <a:off x="457200" y="1087041"/>
            <a:ext cx="8420100" cy="795338"/>
          </a:xfrm>
          <a:prstGeom prst="roundRect">
            <a:avLst>
              <a:gd name="adj" fmla="val 4790"/>
            </a:avLst>
          </a:prstGeom>
          <a:solidFill>
            <a:srgbClr val="011627"/>
          </a:solidFill>
          <a:ln/>
        </p:spPr>
      </p:sp>
      <p:sp>
        <p:nvSpPr>
          <p:cNvPr id="5" name="Text 3"/>
          <p:cNvSpPr txBox="1"/>
          <p:nvPr/>
        </p:nvSpPr>
        <p:spPr>
          <a:xfrm>
            <a:off x="533400" y="117276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/run/secrets/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Weather__ApiKey            -&gt;   Weather:ApiKey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ConnectionStrings__Default -&gt;   ConnectionStrings:Default</a:t>
            </a:r>
            <a:endParaRPr lang="en-US" sz="1125" dirty="0"/>
          </a:p>
        </p:txBody>
      </p:sp>
      <p:sp>
        <p:nvSpPr>
          <p:cNvPr id="6" name="Shape 4"/>
          <p:cNvSpPr/>
          <p:nvPr/>
        </p:nvSpPr>
        <p:spPr>
          <a:xfrm>
            <a:off x="457200" y="1958578"/>
            <a:ext cx="8420100" cy="581025"/>
          </a:xfrm>
          <a:prstGeom prst="roundRect">
            <a:avLst>
              <a:gd name="adj" fmla="val 6557"/>
            </a:avLst>
          </a:prstGeom>
          <a:solidFill>
            <a:srgbClr val="011627"/>
          </a:solidFill>
          <a:ln/>
        </p:spPr>
      </p:sp>
      <p:sp>
        <p:nvSpPr>
          <p:cNvPr id="7" name="Text 5"/>
          <p:cNvSpPr txBox="1"/>
          <p:nvPr/>
        </p:nvSpPr>
        <p:spPr>
          <a:xfrm>
            <a:off x="533400" y="2044303"/>
            <a:ext cx="8286750" cy="404813"/>
          </a:xfrm>
          <a:prstGeom prst="rect">
            <a:avLst/>
          </a:prstGeom>
          <a:noFill/>
          <a:ln/>
        </p:spPr>
        <p:txBody>
          <a:bodyPr wrap="square" lIns="0" tIns="0" rIns="0" bIns="0" rtlCol="0" anchor="t"/>
          <a:lstStyle/>
          <a:p>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 NOT reload</a:t>
            </a:r>
            <a:b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reloadOnChange: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a:t>
            </a:r>
            <a:endParaRPr lang="en-US" sz="1125" dirty="0"/>
          </a:p>
        </p:txBody>
      </p:sp>
      <p:sp>
        <p:nvSpPr>
          <p:cNvPr id="8" name="Text 6"/>
          <p:cNvSpPr txBox="1"/>
          <p:nvPr/>
        </p:nvSpPr>
        <p:spPr>
          <a:xfrm>
            <a:off x="457200" y="2853928"/>
            <a:ext cx="851722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path must be absolute. On Kubernetes the mounts are symlink swaps, so even the reloading overload may not fire — treat restart as the contract.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05926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One key. Four ways to write it.</a:t>
            </a:r>
            <a:endParaRPr lang="en-US" sz="2820" dirty="0"/>
          </a:p>
        </p:txBody>
      </p:sp>
      <p:sp>
        <p:nvSpPr>
          <p:cNvPr id="4" name="Shape 2"/>
          <p:cNvSpPr/>
          <p:nvPr/>
        </p:nvSpPr>
        <p:spPr>
          <a:xfrm>
            <a:off x="457200" y="1163241"/>
            <a:ext cx="38100" cy="914400"/>
          </a:xfrm>
          <a:prstGeom prst="rect">
            <a:avLst/>
          </a:prstGeom>
          <a:solidFill>
            <a:srgbClr val="F4C233"/>
          </a:solidFill>
          <a:ln/>
        </p:spPr>
      </p:sp>
      <p:sp>
        <p:nvSpPr>
          <p:cNvPr id="5" name="Shape 3"/>
          <p:cNvSpPr/>
          <p:nvPr/>
        </p:nvSpPr>
        <p:spPr>
          <a:xfrm>
            <a:off x="617190" y="1333351"/>
            <a:ext cx="175468" cy="202704"/>
          </a:xfrm>
          <a:prstGeom prst="roundRect">
            <a:avLst>
              <a:gd name="adj" fmla="val 21713"/>
            </a:avLst>
          </a:prstGeom>
          <a:solidFill>
            <a:srgbClr val="16303F">
              <a:alpha val="7000"/>
            </a:srgbClr>
          </a:solidFill>
          <a:ln/>
        </p:spPr>
      </p:sp>
      <p:sp>
        <p:nvSpPr>
          <p:cNvPr id="6" name="Text 4"/>
          <p:cNvSpPr txBox="1"/>
          <p:nvPr/>
        </p:nvSpPr>
        <p:spPr>
          <a:xfrm>
            <a:off x="663773" y="1325166"/>
            <a:ext cx="5906542"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not portable in an environment variable name, and Key Vault forbids it in a</a:t>
            </a:r>
            <a:endParaRPr lang="en-US" sz="1080" dirty="0"/>
          </a:p>
        </p:txBody>
      </p:sp>
      <p:sp>
        <p:nvSpPr>
          <p:cNvPr id="7" name="Shape 5"/>
          <p:cNvSpPr/>
          <p:nvPr/>
        </p:nvSpPr>
        <p:spPr>
          <a:xfrm>
            <a:off x="2134195" y="1714351"/>
            <a:ext cx="257770" cy="202704"/>
          </a:xfrm>
          <a:prstGeom prst="roundRect">
            <a:avLst>
              <a:gd name="adj" fmla="val 18796"/>
            </a:avLst>
          </a:prstGeom>
          <a:solidFill>
            <a:srgbClr val="16303F">
              <a:alpha val="7000"/>
            </a:srgbClr>
          </a:solidFill>
          <a:ln/>
        </p:spPr>
      </p:sp>
      <p:sp>
        <p:nvSpPr>
          <p:cNvPr id="8" name="Shape 6"/>
          <p:cNvSpPr/>
          <p:nvPr/>
        </p:nvSpPr>
        <p:spPr>
          <a:xfrm>
            <a:off x="2732484" y="1714351"/>
            <a:ext cx="257770" cy="202704"/>
          </a:xfrm>
          <a:prstGeom prst="roundRect">
            <a:avLst>
              <a:gd name="adj" fmla="val 18796"/>
            </a:avLst>
          </a:prstGeom>
          <a:solidFill>
            <a:srgbClr val="16303F">
              <a:alpha val="7000"/>
            </a:srgbClr>
          </a:solidFill>
          <a:ln/>
        </p:spPr>
      </p:sp>
      <p:sp>
        <p:nvSpPr>
          <p:cNvPr id="9" name="Text 7"/>
          <p:cNvSpPr txBox="1"/>
          <p:nvPr/>
        </p:nvSpPr>
        <p:spPr>
          <a:xfrm>
            <a:off x="617190" y="1706166"/>
            <a:ext cx="4610844"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secret name. Hence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__</a:t>
            </a:r>
            <a:pPr algn="l" indent="0" marL="0">
              <a:buNone/>
            </a:pPr>
            <a:r>
              <a:rPr lang="en-US" sz="1200" b="1" dirty="0">
                <a:solidFill>
                  <a:srgbClr val="16303F"/>
                </a:solidFill>
                <a:latin typeface="Manrope" pitchFamily="34" charset="0"/>
                <a:ea typeface="Manrope" pitchFamily="34" charset="-122"/>
                <a:cs typeface="Manrope" pitchFamily="34" charset="-120"/>
              </a:rPr>
              <a:t> and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Both are translated for you.</a:t>
            </a:r>
            <a:endParaRPr lang="en-US" sz="1200" dirty="0"/>
          </a:p>
        </p:txBody>
      </p:sp>
      <p:sp>
        <p:nvSpPr>
          <p:cNvPr id="10" name="Shape 8"/>
          <p:cNvSpPr/>
          <p:nvPr/>
        </p:nvSpPr>
        <p:spPr>
          <a:xfrm>
            <a:off x="457200" y="2415629"/>
            <a:ext cx="8420100" cy="9525"/>
          </a:xfrm>
          <a:prstGeom prst="rect">
            <a:avLst/>
          </a:prstGeom>
          <a:solidFill>
            <a:srgbClr val="9CA3AF">
              <a:alpha val="20000"/>
            </a:srgbClr>
          </a:solidFill>
          <a:ln/>
        </p:spPr>
      </p:sp>
      <p:sp>
        <p:nvSpPr>
          <p:cNvPr id="11" name="Shape 9"/>
          <p:cNvSpPr/>
          <p:nvPr/>
        </p:nvSpPr>
        <p:spPr>
          <a:xfrm>
            <a:off x="457200" y="2406104"/>
            <a:ext cx="2162919" cy="19050"/>
          </a:xfrm>
          <a:prstGeom prst="rect">
            <a:avLst/>
          </a:prstGeom>
          <a:solidFill>
            <a:srgbClr val="16303F"/>
          </a:solidFill>
          <a:ln/>
        </p:spPr>
      </p:sp>
      <p:sp>
        <p:nvSpPr>
          <p:cNvPr id="12" name="Text 10"/>
          <p:cNvSpPr txBox="1"/>
          <p:nvPr/>
        </p:nvSpPr>
        <p:spPr>
          <a:xfrm>
            <a:off x="563761" y="2191792"/>
            <a:ext cx="53652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a:t>
            </a:r>
            <a:endParaRPr lang="en-US" sz="816" dirty="0"/>
          </a:p>
        </p:txBody>
      </p:sp>
      <p:sp>
        <p:nvSpPr>
          <p:cNvPr id="13" name="Shape 11"/>
          <p:cNvSpPr/>
          <p:nvPr/>
        </p:nvSpPr>
        <p:spPr>
          <a:xfrm>
            <a:off x="2620119" y="2406104"/>
            <a:ext cx="4182814" cy="19050"/>
          </a:xfrm>
          <a:prstGeom prst="rect">
            <a:avLst/>
          </a:prstGeom>
          <a:solidFill>
            <a:srgbClr val="16303F"/>
          </a:solidFill>
          <a:ln/>
        </p:spPr>
      </p:sp>
      <p:sp>
        <p:nvSpPr>
          <p:cNvPr id="14" name="Text 12"/>
          <p:cNvSpPr txBox="1"/>
          <p:nvPr/>
        </p:nvSpPr>
        <p:spPr>
          <a:xfrm>
            <a:off x="2726680" y="2191792"/>
            <a:ext cx="123214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HOW YOU WRITE IT</a:t>
            </a:r>
            <a:endParaRPr lang="en-US" sz="816" dirty="0"/>
          </a:p>
        </p:txBody>
      </p:sp>
      <p:sp>
        <p:nvSpPr>
          <p:cNvPr id="15" name="Shape 13"/>
          <p:cNvSpPr/>
          <p:nvPr/>
        </p:nvSpPr>
        <p:spPr>
          <a:xfrm>
            <a:off x="6802934" y="2406104"/>
            <a:ext cx="2074366" cy="19050"/>
          </a:xfrm>
          <a:prstGeom prst="rect">
            <a:avLst/>
          </a:prstGeom>
          <a:solidFill>
            <a:srgbClr val="16303F"/>
          </a:solidFill>
          <a:ln/>
        </p:spPr>
      </p:sp>
      <p:sp>
        <p:nvSpPr>
          <p:cNvPr id="16" name="Text 14"/>
          <p:cNvSpPr txBox="1"/>
          <p:nvPr/>
        </p:nvSpPr>
        <p:spPr>
          <a:xfrm>
            <a:off x="6909495" y="2191792"/>
            <a:ext cx="13457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KEY IT BECOMES</a:t>
            </a:r>
            <a:endParaRPr lang="en-US" sz="816" dirty="0"/>
          </a:p>
        </p:txBody>
      </p:sp>
      <p:sp>
        <p:nvSpPr>
          <p:cNvPr id="17" name="Shape 15"/>
          <p:cNvSpPr/>
          <p:nvPr/>
        </p:nvSpPr>
        <p:spPr>
          <a:xfrm>
            <a:off x="457200" y="2761952"/>
            <a:ext cx="8420100" cy="9525"/>
          </a:xfrm>
          <a:prstGeom prst="rect">
            <a:avLst/>
          </a:prstGeom>
          <a:solidFill>
            <a:srgbClr val="9CA3AF">
              <a:alpha val="20000"/>
            </a:srgbClr>
          </a:solidFill>
          <a:ln/>
        </p:spPr>
      </p:sp>
      <p:sp>
        <p:nvSpPr>
          <p:cNvPr id="18" name="Shape 16"/>
          <p:cNvSpPr/>
          <p:nvPr/>
        </p:nvSpPr>
        <p:spPr>
          <a:xfrm>
            <a:off x="457200" y="2761952"/>
            <a:ext cx="2162919" cy="9525"/>
          </a:xfrm>
          <a:prstGeom prst="rect">
            <a:avLst/>
          </a:prstGeom>
          <a:solidFill>
            <a:srgbClr val="DDD9D2"/>
          </a:solidFill>
          <a:ln/>
        </p:spPr>
      </p:sp>
      <p:sp>
        <p:nvSpPr>
          <p:cNvPr id="19" name="Shape 17"/>
          <p:cNvSpPr/>
          <p:nvPr/>
        </p:nvSpPr>
        <p:spPr>
          <a:xfrm>
            <a:off x="563761" y="2517428"/>
            <a:ext cx="1272927" cy="181570"/>
          </a:xfrm>
          <a:prstGeom prst="roundRect">
            <a:avLst>
              <a:gd name="adj" fmla="val 20984"/>
            </a:avLst>
          </a:prstGeom>
          <a:solidFill>
            <a:srgbClr val="16303F">
              <a:alpha val="7000"/>
            </a:srgbClr>
          </a:solidFill>
          <a:ln/>
        </p:spPr>
      </p:sp>
      <p:sp>
        <p:nvSpPr>
          <p:cNvPr id="20" name="Text 18"/>
          <p:cNvSpPr txBox="1"/>
          <p:nvPr/>
        </p:nvSpPr>
        <p:spPr>
          <a:xfrm>
            <a:off x="506611" y="2517428"/>
            <a:ext cx="1387227"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endParaRPr lang="en-US" sz="972" dirty="0"/>
          </a:p>
        </p:txBody>
      </p:sp>
      <p:sp>
        <p:nvSpPr>
          <p:cNvPr id="21" name="Shape 19"/>
          <p:cNvSpPr/>
          <p:nvPr/>
        </p:nvSpPr>
        <p:spPr>
          <a:xfrm>
            <a:off x="2620119" y="2761952"/>
            <a:ext cx="4182814" cy="9525"/>
          </a:xfrm>
          <a:prstGeom prst="rect">
            <a:avLst/>
          </a:prstGeom>
          <a:solidFill>
            <a:srgbClr val="DDD9D2"/>
          </a:solidFill>
          <a:ln/>
        </p:spPr>
      </p:sp>
      <p:sp>
        <p:nvSpPr>
          <p:cNvPr id="22" name="Shape 20"/>
          <p:cNvSpPr/>
          <p:nvPr/>
        </p:nvSpPr>
        <p:spPr>
          <a:xfrm>
            <a:off x="3265736" y="2517428"/>
            <a:ext cx="2160984" cy="181570"/>
          </a:xfrm>
          <a:prstGeom prst="roundRect">
            <a:avLst>
              <a:gd name="adj" fmla="val 20984"/>
            </a:avLst>
          </a:prstGeom>
          <a:solidFill>
            <a:srgbClr val="16303F">
              <a:alpha val="7000"/>
            </a:srgbClr>
          </a:solidFill>
          <a:ln/>
        </p:spPr>
      </p:sp>
      <p:sp>
        <p:nvSpPr>
          <p:cNvPr id="23" name="Text 21"/>
          <p:cNvSpPr txBox="1"/>
          <p:nvPr/>
        </p:nvSpPr>
        <p:spPr>
          <a:xfrm>
            <a:off x="2726680" y="2508200"/>
            <a:ext cx="276998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nesting: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"Weather": { "ApiKey": ... }</a:t>
            </a:r>
            <a:endParaRPr lang="en-US" sz="1056" dirty="0"/>
          </a:p>
        </p:txBody>
      </p:sp>
      <p:sp>
        <p:nvSpPr>
          <p:cNvPr id="24" name="Shape 22"/>
          <p:cNvSpPr/>
          <p:nvPr/>
        </p:nvSpPr>
        <p:spPr>
          <a:xfrm>
            <a:off x="6802934" y="2761952"/>
            <a:ext cx="2074366" cy="9525"/>
          </a:xfrm>
          <a:prstGeom prst="rect">
            <a:avLst/>
          </a:prstGeom>
          <a:solidFill>
            <a:srgbClr val="DDD9D2"/>
          </a:solidFill>
          <a:ln/>
        </p:spPr>
      </p:sp>
      <p:sp>
        <p:nvSpPr>
          <p:cNvPr id="25" name="Shape 23"/>
          <p:cNvSpPr/>
          <p:nvPr/>
        </p:nvSpPr>
        <p:spPr>
          <a:xfrm>
            <a:off x="6909495" y="2517428"/>
            <a:ext cx="1124843" cy="181570"/>
          </a:xfrm>
          <a:prstGeom prst="roundRect">
            <a:avLst>
              <a:gd name="adj" fmla="val 20984"/>
            </a:avLst>
          </a:prstGeom>
          <a:solidFill>
            <a:srgbClr val="16303F">
              <a:alpha val="7000"/>
            </a:srgbClr>
          </a:solidFill>
          <a:ln/>
        </p:spPr>
      </p:sp>
      <p:sp>
        <p:nvSpPr>
          <p:cNvPr id="26" name="Text 24"/>
          <p:cNvSpPr txBox="1"/>
          <p:nvPr/>
        </p:nvSpPr>
        <p:spPr>
          <a:xfrm>
            <a:off x="6852345" y="251742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27" name="Shape 25"/>
          <p:cNvSpPr/>
          <p:nvPr/>
        </p:nvSpPr>
        <p:spPr>
          <a:xfrm>
            <a:off x="457200" y="2771477"/>
            <a:ext cx="8420100" cy="341561"/>
          </a:xfrm>
          <a:prstGeom prst="rect">
            <a:avLst/>
          </a:prstGeom>
          <a:solidFill>
            <a:srgbClr val="16303F">
              <a:alpha val="3000"/>
            </a:srgbClr>
          </a:solidFill>
          <a:ln/>
        </p:spPr>
      </p:sp>
      <p:sp>
        <p:nvSpPr>
          <p:cNvPr id="28" name="Shape 26"/>
          <p:cNvSpPr/>
          <p:nvPr/>
        </p:nvSpPr>
        <p:spPr>
          <a:xfrm>
            <a:off x="457200" y="3103513"/>
            <a:ext cx="8420100" cy="9525"/>
          </a:xfrm>
          <a:prstGeom prst="rect">
            <a:avLst/>
          </a:prstGeom>
          <a:solidFill>
            <a:srgbClr val="9CA3AF">
              <a:alpha val="20000"/>
            </a:srgbClr>
          </a:solidFill>
          <a:ln/>
        </p:spPr>
      </p:sp>
      <p:sp>
        <p:nvSpPr>
          <p:cNvPr id="29" name="Shape 27"/>
          <p:cNvSpPr/>
          <p:nvPr/>
        </p:nvSpPr>
        <p:spPr>
          <a:xfrm>
            <a:off x="457200" y="3103513"/>
            <a:ext cx="2162919" cy="9525"/>
          </a:xfrm>
          <a:prstGeom prst="rect">
            <a:avLst/>
          </a:prstGeom>
          <a:solidFill>
            <a:srgbClr val="DDD9D2"/>
          </a:solidFill>
          <a:ln/>
        </p:spPr>
      </p:sp>
      <p:sp>
        <p:nvSpPr>
          <p:cNvPr id="30" name="Text 28"/>
          <p:cNvSpPr txBox="1"/>
          <p:nvPr/>
        </p:nvSpPr>
        <p:spPr>
          <a:xfrm>
            <a:off x="563761" y="2849761"/>
            <a:ext cx="99729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Command line</a:t>
            </a:r>
            <a:endParaRPr lang="en-US" sz="1056" dirty="0"/>
          </a:p>
        </p:txBody>
      </p:sp>
      <p:sp>
        <p:nvSpPr>
          <p:cNvPr id="31" name="Shape 29"/>
          <p:cNvSpPr/>
          <p:nvPr/>
        </p:nvSpPr>
        <p:spPr>
          <a:xfrm>
            <a:off x="2620119" y="3103513"/>
            <a:ext cx="4182814" cy="9525"/>
          </a:xfrm>
          <a:prstGeom prst="rect">
            <a:avLst/>
          </a:prstGeom>
          <a:solidFill>
            <a:srgbClr val="DDD9D2"/>
          </a:solidFill>
          <a:ln/>
        </p:spPr>
      </p:sp>
      <p:sp>
        <p:nvSpPr>
          <p:cNvPr id="32" name="Shape 30"/>
          <p:cNvSpPr/>
          <p:nvPr/>
        </p:nvSpPr>
        <p:spPr>
          <a:xfrm>
            <a:off x="2726680" y="2858988"/>
            <a:ext cx="1421011" cy="181570"/>
          </a:xfrm>
          <a:prstGeom prst="roundRect">
            <a:avLst>
              <a:gd name="adj" fmla="val 20984"/>
            </a:avLst>
          </a:prstGeom>
          <a:solidFill>
            <a:srgbClr val="16303F">
              <a:alpha val="7000"/>
            </a:srgbClr>
          </a:solidFill>
          <a:ln/>
        </p:spPr>
      </p:sp>
      <p:sp>
        <p:nvSpPr>
          <p:cNvPr id="33" name="Text 31"/>
          <p:cNvSpPr txBox="1"/>
          <p:nvPr/>
        </p:nvSpPr>
        <p:spPr>
          <a:xfrm>
            <a:off x="2669530" y="2858988"/>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--Weather:ApiKey=x</a:t>
            </a:r>
            <a:endParaRPr lang="en-US" sz="972" dirty="0"/>
          </a:p>
        </p:txBody>
      </p:sp>
      <p:sp>
        <p:nvSpPr>
          <p:cNvPr id="34" name="Shape 32"/>
          <p:cNvSpPr/>
          <p:nvPr/>
        </p:nvSpPr>
        <p:spPr>
          <a:xfrm>
            <a:off x="6802934" y="3103513"/>
            <a:ext cx="2074366" cy="9525"/>
          </a:xfrm>
          <a:prstGeom prst="rect">
            <a:avLst/>
          </a:prstGeom>
          <a:solidFill>
            <a:srgbClr val="DDD9D2"/>
          </a:solidFill>
          <a:ln/>
        </p:spPr>
      </p:sp>
      <p:sp>
        <p:nvSpPr>
          <p:cNvPr id="35" name="Shape 33"/>
          <p:cNvSpPr/>
          <p:nvPr/>
        </p:nvSpPr>
        <p:spPr>
          <a:xfrm>
            <a:off x="6909495" y="2858988"/>
            <a:ext cx="1124843" cy="181570"/>
          </a:xfrm>
          <a:prstGeom prst="roundRect">
            <a:avLst>
              <a:gd name="adj" fmla="val 20984"/>
            </a:avLst>
          </a:prstGeom>
          <a:solidFill>
            <a:srgbClr val="16303F">
              <a:alpha val="7000"/>
            </a:srgbClr>
          </a:solidFill>
          <a:ln/>
        </p:spPr>
      </p:sp>
      <p:sp>
        <p:nvSpPr>
          <p:cNvPr id="36" name="Text 34"/>
          <p:cNvSpPr txBox="1"/>
          <p:nvPr/>
        </p:nvSpPr>
        <p:spPr>
          <a:xfrm>
            <a:off x="6852345" y="285898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37" name="Shape 35"/>
          <p:cNvSpPr/>
          <p:nvPr/>
        </p:nvSpPr>
        <p:spPr>
          <a:xfrm>
            <a:off x="457200" y="3445073"/>
            <a:ext cx="8420100" cy="9525"/>
          </a:xfrm>
          <a:prstGeom prst="rect">
            <a:avLst/>
          </a:prstGeom>
          <a:solidFill>
            <a:srgbClr val="9CA3AF">
              <a:alpha val="20000"/>
            </a:srgbClr>
          </a:solidFill>
          <a:ln/>
        </p:spPr>
      </p:sp>
      <p:sp>
        <p:nvSpPr>
          <p:cNvPr id="38" name="Shape 36"/>
          <p:cNvSpPr/>
          <p:nvPr/>
        </p:nvSpPr>
        <p:spPr>
          <a:xfrm>
            <a:off x="457200" y="3445073"/>
            <a:ext cx="2162919" cy="9525"/>
          </a:xfrm>
          <a:prstGeom prst="rect">
            <a:avLst/>
          </a:prstGeom>
          <a:solidFill>
            <a:srgbClr val="DDD9D2"/>
          </a:solidFill>
          <a:ln/>
        </p:spPr>
      </p:sp>
      <p:sp>
        <p:nvSpPr>
          <p:cNvPr id="39" name="Text 37"/>
          <p:cNvSpPr txBox="1"/>
          <p:nvPr/>
        </p:nvSpPr>
        <p:spPr>
          <a:xfrm>
            <a:off x="563761" y="3191321"/>
            <a:ext cx="140761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a:t>
            </a:r>
            <a:endParaRPr lang="en-US" sz="1056" dirty="0"/>
          </a:p>
        </p:txBody>
      </p:sp>
      <p:sp>
        <p:nvSpPr>
          <p:cNvPr id="40" name="Shape 38"/>
          <p:cNvSpPr/>
          <p:nvPr/>
        </p:nvSpPr>
        <p:spPr>
          <a:xfrm>
            <a:off x="2620119" y="3445073"/>
            <a:ext cx="4182814" cy="9525"/>
          </a:xfrm>
          <a:prstGeom prst="rect">
            <a:avLst/>
          </a:prstGeom>
          <a:solidFill>
            <a:srgbClr val="DDD9D2"/>
          </a:solidFill>
          <a:ln/>
        </p:spPr>
      </p:sp>
      <p:sp>
        <p:nvSpPr>
          <p:cNvPr id="41" name="Shape 39"/>
          <p:cNvSpPr/>
          <p:nvPr/>
        </p:nvSpPr>
        <p:spPr>
          <a:xfrm>
            <a:off x="2726680" y="3200549"/>
            <a:ext cx="1346895" cy="181570"/>
          </a:xfrm>
          <a:prstGeom prst="roundRect">
            <a:avLst>
              <a:gd name="adj" fmla="val 20984"/>
            </a:avLst>
          </a:prstGeom>
          <a:solidFill>
            <a:srgbClr val="16303F">
              <a:alpha val="7000"/>
            </a:srgbClr>
          </a:solidFill>
          <a:ln/>
        </p:spPr>
      </p:sp>
      <p:sp>
        <p:nvSpPr>
          <p:cNvPr id="42" name="Text 40"/>
          <p:cNvSpPr txBox="1"/>
          <p:nvPr/>
        </p:nvSpPr>
        <p:spPr>
          <a:xfrm>
            <a:off x="2669530" y="3200549"/>
            <a:ext cx="146119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Weather__ApiKey=x</a:t>
            </a:r>
            <a:endParaRPr lang="en-US" sz="972" dirty="0"/>
          </a:p>
        </p:txBody>
      </p:sp>
      <p:sp>
        <p:nvSpPr>
          <p:cNvPr id="43" name="Shape 41"/>
          <p:cNvSpPr/>
          <p:nvPr/>
        </p:nvSpPr>
        <p:spPr>
          <a:xfrm>
            <a:off x="6802934" y="3445073"/>
            <a:ext cx="2074366" cy="9525"/>
          </a:xfrm>
          <a:prstGeom prst="rect">
            <a:avLst/>
          </a:prstGeom>
          <a:solidFill>
            <a:srgbClr val="DDD9D2"/>
          </a:solidFill>
          <a:ln/>
        </p:spPr>
      </p:sp>
      <p:sp>
        <p:nvSpPr>
          <p:cNvPr id="44" name="Shape 42"/>
          <p:cNvSpPr/>
          <p:nvPr/>
        </p:nvSpPr>
        <p:spPr>
          <a:xfrm>
            <a:off x="6909495" y="3200549"/>
            <a:ext cx="1124843" cy="181570"/>
          </a:xfrm>
          <a:prstGeom prst="roundRect">
            <a:avLst>
              <a:gd name="adj" fmla="val 20984"/>
            </a:avLst>
          </a:prstGeom>
          <a:solidFill>
            <a:srgbClr val="16303F">
              <a:alpha val="7000"/>
            </a:srgbClr>
          </a:solidFill>
          <a:ln/>
        </p:spPr>
      </p:sp>
      <p:sp>
        <p:nvSpPr>
          <p:cNvPr id="45" name="Text 43"/>
          <p:cNvSpPr txBox="1"/>
          <p:nvPr/>
        </p:nvSpPr>
        <p:spPr>
          <a:xfrm>
            <a:off x="6852345" y="3200549"/>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46" name="Shape 44"/>
          <p:cNvSpPr/>
          <p:nvPr/>
        </p:nvSpPr>
        <p:spPr>
          <a:xfrm>
            <a:off x="457200" y="3454598"/>
            <a:ext cx="8420100" cy="341561"/>
          </a:xfrm>
          <a:prstGeom prst="rect">
            <a:avLst/>
          </a:prstGeom>
          <a:solidFill>
            <a:srgbClr val="16303F">
              <a:alpha val="3000"/>
            </a:srgbClr>
          </a:solidFill>
          <a:ln/>
        </p:spPr>
      </p:sp>
      <p:sp>
        <p:nvSpPr>
          <p:cNvPr id="47" name="Shape 45"/>
          <p:cNvSpPr/>
          <p:nvPr/>
        </p:nvSpPr>
        <p:spPr>
          <a:xfrm>
            <a:off x="457200" y="3786634"/>
            <a:ext cx="8420100" cy="9525"/>
          </a:xfrm>
          <a:prstGeom prst="rect">
            <a:avLst/>
          </a:prstGeom>
          <a:solidFill>
            <a:srgbClr val="9CA3AF">
              <a:alpha val="20000"/>
            </a:srgbClr>
          </a:solidFill>
          <a:ln/>
        </p:spPr>
      </p:sp>
      <p:sp>
        <p:nvSpPr>
          <p:cNvPr id="48" name="Shape 46"/>
          <p:cNvSpPr/>
          <p:nvPr/>
        </p:nvSpPr>
        <p:spPr>
          <a:xfrm>
            <a:off x="457200" y="3786634"/>
            <a:ext cx="2162919" cy="9525"/>
          </a:xfrm>
          <a:prstGeom prst="rect">
            <a:avLst/>
          </a:prstGeom>
          <a:solidFill>
            <a:srgbClr val="DDD9D2"/>
          </a:solidFill>
          <a:ln/>
        </p:spPr>
      </p:sp>
      <p:sp>
        <p:nvSpPr>
          <p:cNvPr id="49" name="Text 47"/>
          <p:cNvSpPr txBox="1"/>
          <p:nvPr/>
        </p:nvSpPr>
        <p:spPr>
          <a:xfrm>
            <a:off x="563761" y="3532882"/>
            <a:ext cx="106516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Azure Key Vault</a:t>
            </a:r>
            <a:endParaRPr lang="en-US" sz="1056" dirty="0"/>
          </a:p>
        </p:txBody>
      </p:sp>
      <p:sp>
        <p:nvSpPr>
          <p:cNvPr id="50" name="Shape 48"/>
          <p:cNvSpPr/>
          <p:nvPr/>
        </p:nvSpPr>
        <p:spPr>
          <a:xfrm>
            <a:off x="2620119" y="3786634"/>
            <a:ext cx="4182814" cy="9525"/>
          </a:xfrm>
          <a:prstGeom prst="rect">
            <a:avLst/>
          </a:prstGeom>
          <a:solidFill>
            <a:srgbClr val="DDD9D2"/>
          </a:solidFill>
          <a:ln/>
        </p:spPr>
      </p:sp>
      <p:sp>
        <p:nvSpPr>
          <p:cNvPr id="51" name="Shape 49"/>
          <p:cNvSpPr/>
          <p:nvPr/>
        </p:nvSpPr>
        <p:spPr>
          <a:xfrm>
            <a:off x="2726680" y="3542109"/>
            <a:ext cx="1198959" cy="181570"/>
          </a:xfrm>
          <a:prstGeom prst="roundRect">
            <a:avLst>
              <a:gd name="adj" fmla="val 20984"/>
            </a:avLst>
          </a:prstGeom>
          <a:solidFill>
            <a:srgbClr val="16303F">
              <a:alpha val="7000"/>
            </a:srgbClr>
          </a:solidFill>
          <a:ln/>
        </p:spPr>
      </p:sp>
      <p:sp>
        <p:nvSpPr>
          <p:cNvPr id="52" name="Text 50"/>
          <p:cNvSpPr txBox="1"/>
          <p:nvPr/>
        </p:nvSpPr>
        <p:spPr>
          <a:xfrm>
            <a:off x="2669530" y="3542109"/>
            <a:ext cx="131325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53" name="Shape 51"/>
          <p:cNvSpPr/>
          <p:nvPr/>
        </p:nvSpPr>
        <p:spPr>
          <a:xfrm>
            <a:off x="6802934" y="3786634"/>
            <a:ext cx="2074366" cy="9525"/>
          </a:xfrm>
          <a:prstGeom prst="rect">
            <a:avLst/>
          </a:prstGeom>
          <a:solidFill>
            <a:srgbClr val="DDD9D2"/>
          </a:solidFill>
          <a:ln/>
        </p:spPr>
      </p:sp>
      <p:sp>
        <p:nvSpPr>
          <p:cNvPr id="54" name="Shape 52"/>
          <p:cNvSpPr/>
          <p:nvPr/>
        </p:nvSpPr>
        <p:spPr>
          <a:xfrm>
            <a:off x="6909495" y="3542109"/>
            <a:ext cx="1124843" cy="181570"/>
          </a:xfrm>
          <a:prstGeom prst="roundRect">
            <a:avLst>
              <a:gd name="adj" fmla="val 20984"/>
            </a:avLst>
          </a:prstGeom>
          <a:solidFill>
            <a:srgbClr val="16303F">
              <a:alpha val="7000"/>
            </a:srgbClr>
          </a:solidFill>
          <a:ln/>
        </p:spPr>
      </p:sp>
      <p:sp>
        <p:nvSpPr>
          <p:cNvPr id="55" name="Text 53"/>
          <p:cNvSpPr txBox="1"/>
          <p:nvPr/>
        </p:nvSpPr>
        <p:spPr>
          <a:xfrm>
            <a:off x="6852345" y="3542109"/>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56" name="Shape 54"/>
          <p:cNvSpPr/>
          <p:nvPr/>
        </p:nvSpPr>
        <p:spPr>
          <a:xfrm>
            <a:off x="457200" y="4131022"/>
            <a:ext cx="175468" cy="202704"/>
          </a:xfrm>
          <a:prstGeom prst="roundRect">
            <a:avLst>
              <a:gd name="adj" fmla="val 21713"/>
            </a:avLst>
          </a:prstGeom>
          <a:solidFill>
            <a:srgbClr val="16303F">
              <a:alpha val="7000"/>
            </a:srgbClr>
          </a:solidFill>
          <a:ln/>
        </p:spPr>
      </p:sp>
      <p:sp>
        <p:nvSpPr>
          <p:cNvPr id="57" name="Text 55"/>
          <p:cNvSpPr txBox="1"/>
          <p:nvPr/>
        </p:nvSpPr>
        <p:spPr>
          <a:xfrm>
            <a:off x="503783" y="4122837"/>
            <a:ext cx="5630466" cy="209550"/>
          </a:xfrm>
          <a:prstGeom prst="rect">
            <a:avLst/>
          </a:prstGeom>
          <a:noFill/>
          <a:ln/>
        </p:spPr>
        <p:txBody>
          <a:bodyPr wrap="none" lIns="0" tIns="0" rIns="0" bIns="0" rtlCol="0" anchor="t"/>
          <a:lstStyle/>
          <a:p>
            <a:pPr algn="l" indent="0" marL="0">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buNone/>
            </a:pPr>
            <a:r>
              <a:rPr lang="en-US" sz="1200" dirty="0">
                <a:solidFill>
                  <a:srgbClr val="44535A"/>
                </a:solidFill>
                <a:latin typeface="Manrope" pitchFamily="34" charset="0"/>
                <a:ea typeface="Manrope" pitchFamily="34" charset="-122"/>
                <a:cs typeface="Manrope" pitchFamily="34" charset="-120"/>
              </a:rPr>
              <a:t> is the delimiter. Everything else is a workaround for a store that cannot use it.</a:t>
            </a:r>
            <a:endParaRPr lang="en-US" sz="10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73665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Key Vault</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044107" cy="19050"/>
          </a:xfrm>
          <a:prstGeom prst="rect">
            <a:avLst/>
          </a:prstGeom>
          <a:solidFill>
            <a:srgbClr val="16303F"/>
          </a:solidFill>
          <a:ln/>
        </p:spPr>
      </p:sp>
      <p:sp>
        <p:nvSpPr>
          <p:cNvPr id="6" name="Text 4"/>
          <p:cNvSpPr txBox="1"/>
          <p:nvPr/>
        </p:nvSpPr>
        <p:spPr>
          <a:xfrm>
            <a:off x="563761" y="1163092"/>
            <a:ext cx="138945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 IN THE VAULT</a:t>
            </a:r>
            <a:endParaRPr lang="en-US" sz="816" dirty="0"/>
          </a:p>
        </p:txBody>
      </p:sp>
      <p:sp>
        <p:nvSpPr>
          <p:cNvPr id="7" name="Shape 5"/>
          <p:cNvSpPr/>
          <p:nvPr/>
        </p:nvSpPr>
        <p:spPr>
          <a:xfrm>
            <a:off x="4501307" y="1377404"/>
            <a:ext cx="4375993" cy="19050"/>
          </a:xfrm>
          <a:prstGeom prst="rect">
            <a:avLst/>
          </a:prstGeom>
          <a:solidFill>
            <a:srgbClr val="16303F"/>
          </a:solidFill>
          <a:ln/>
        </p:spPr>
      </p:sp>
      <p:sp>
        <p:nvSpPr>
          <p:cNvPr id="8" name="Text 6"/>
          <p:cNvSpPr txBox="1"/>
          <p:nvPr/>
        </p:nvSpPr>
        <p:spPr>
          <a:xfrm>
            <a:off x="4607868" y="1163092"/>
            <a:ext cx="15114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KEY IN CONFIGURATION</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044107" cy="9525"/>
          </a:xfrm>
          <a:prstGeom prst="rect">
            <a:avLst/>
          </a:prstGeom>
          <a:solidFill>
            <a:srgbClr val="DDD9D2"/>
          </a:solidFill>
          <a:ln/>
        </p:spPr>
      </p:sp>
      <p:sp>
        <p:nvSpPr>
          <p:cNvPr id="11" name="Shape 9"/>
          <p:cNvSpPr/>
          <p:nvPr/>
        </p:nvSpPr>
        <p:spPr>
          <a:xfrm>
            <a:off x="563761" y="1488728"/>
            <a:ext cx="1198959" cy="181570"/>
          </a:xfrm>
          <a:prstGeom prst="roundRect">
            <a:avLst>
              <a:gd name="adj" fmla="val 20984"/>
            </a:avLst>
          </a:prstGeom>
          <a:solidFill>
            <a:srgbClr val="16303F">
              <a:alpha val="7000"/>
            </a:srgbClr>
          </a:solidFill>
          <a:ln/>
        </p:spPr>
      </p:sp>
      <p:sp>
        <p:nvSpPr>
          <p:cNvPr id="12" name="Text 10"/>
          <p:cNvSpPr txBox="1"/>
          <p:nvPr/>
        </p:nvSpPr>
        <p:spPr>
          <a:xfrm>
            <a:off x="506611" y="1488728"/>
            <a:ext cx="131325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3" name="Shape 11"/>
          <p:cNvSpPr/>
          <p:nvPr/>
        </p:nvSpPr>
        <p:spPr>
          <a:xfrm>
            <a:off x="4501307" y="1733252"/>
            <a:ext cx="4375993" cy="9525"/>
          </a:xfrm>
          <a:prstGeom prst="rect">
            <a:avLst/>
          </a:prstGeom>
          <a:solidFill>
            <a:srgbClr val="DDD9D2"/>
          </a:solidFill>
          <a:ln/>
        </p:spPr>
      </p:sp>
      <p:sp>
        <p:nvSpPr>
          <p:cNvPr id="14" name="Shape 12"/>
          <p:cNvSpPr/>
          <p:nvPr/>
        </p:nvSpPr>
        <p:spPr>
          <a:xfrm>
            <a:off x="4607868" y="1488728"/>
            <a:ext cx="1124843" cy="181570"/>
          </a:xfrm>
          <a:prstGeom prst="roundRect">
            <a:avLst>
              <a:gd name="adj" fmla="val 20984"/>
            </a:avLst>
          </a:prstGeom>
          <a:solidFill>
            <a:srgbClr val="16303F">
              <a:alpha val="7000"/>
            </a:srgbClr>
          </a:solidFill>
          <a:ln/>
        </p:spPr>
      </p:sp>
      <p:sp>
        <p:nvSpPr>
          <p:cNvPr id="15" name="Text 13"/>
          <p:cNvSpPr txBox="1"/>
          <p:nvPr/>
        </p:nvSpPr>
        <p:spPr>
          <a:xfrm>
            <a:off x="4550718" y="148872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6" name="Shape 14"/>
          <p:cNvSpPr/>
          <p:nvPr/>
        </p:nvSpPr>
        <p:spPr>
          <a:xfrm>
            <a:off x="457200" y="1831330"/>
            <a:ext cx="8420100" cy="795338"/>
          </a:xfrm>
          <a:prstGeom prst="roundRect">
            <a:avLst>
              <a:gd name="adj" fmla="val 4790"/>
            </a:avLst>
          </a:prstGeom>
          <a:solidFill>
            <a:srgbClr val="011627"/>
          </a:solidFill>
          <a:ln/>
        </p:spPr>
      </p:sp>
      <p:sp>
        <p:nvSpPr>
          <p:cNvPr id="17" name="Text 15"/>
          <p:cNvSpPr txBox="1"/>
          <p:nvPr/>
        </p:nvSpPr>
        <p:spPr>
          <a:xfrm>
            <a:off x="533400" y="1917055"/>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AddAzureKeyVault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Uri(</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https://</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vaultName</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.vault.azure.net/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DefaultAzureCredential());</a:t>
            </a:r>
            <a:endParaRPr lang="en-US" sz="1125" dirty="0"/>
          </a:p>
        </p:txBody>
      </p:sp>
      <p:sp>
        <p:nvSpPr>
          <p:cNvPr id="18" name="Shape 16"/>
          <p:cNvSpPr/>
          <p:nvPr/>
        </p:nvSpPr>
        <p:spPr>
          <a:xfrm>
            <a:off x="457200" y="2949178"/>
            <a:ext cx="257770" cy="202704"/>
          </a:xfrm>
          <a:prstGeom prst="roundRect">
            <a:avLst>
              <a:gd name="adj" fmla="val 18796"/>
            </a:avLst>
          </a:prstGeom>
          <a:solidFill>
            <a:srgbClr val="16303F">
              <a:alpha val="7000"/>
            </a:srgbClr>
          </a:solidFill>
          <a:ln/>
        </p:spPr>
      </p:sp>
      <p:sp>
        <p:nvSpPr>
          <p:cNvPr id="19" name="Shape 17"/>
          <p:cNvSpPr/>
          <p:nvPr/>
        </p:nvSpPr>
        <p:spPr>
          <a:xfrm>
            <a:off x="1425327" y="2949178"/>
            <a:ext cx="175468" cy="202704"/>
          </a:xfrm>
          <a:prstGeom prst="roundRect">
            <a:avLst>
              <a:gd name="adj" fmla="val 21713"/>
            </a:avLst>
          </a:prstGeom>
          <a:solidFill>
            <a:srgbClr val="16303F">
              <a:alpha val="7000"/>
            </a:srgbClr>
          </a:solidFill>
          <a:ln/>
        </p:spPr>
      </p:sp>
      <p:sp>
        <p:nvSpPr>
          <p:cNvPr id="20" name="Shape 18"/>
          <p:cNvSpPr/>
          <p:nvPr/>
        </p:nvSpPr>
        <p:spPr>
          <a:xfrm>
            <a:off x="6792813" y="2949178"/>
            <a:ext cx="1245394" cy="202704"/>
          </a:xfrm>
          <a:prstGeom prst="roundRect">
            <a:avLst>
              <a:gd name="adj" fmla="val 18796"/>
            </a:avLst>
          </a:prstGeom>
          <a:solidFill>
            <a:srgbClr val="16303F">
              <a:alpha val="7000"/>
            </a:srgbClr>
          </a:solidFill>
          <a:ln/>
        </p:spPr>
      </p:sp>
      <p:sp>
        <p:nvSpPr>
          <p:cNvPr id="21" name="Text 19"/>
          <p:cNvSpPr txBox="1"/>
          <p:nvPr/>
        </p:nvSpPr>
        <p:spPr>
          <a:xfrm>
            <a:off x="457200" y="2940993"/>
            <a:ext cx="8539695"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becomes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because Key Vault forbids a colon in a secret name. No reload by default —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ReloadInterval</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is null until you set it.</a:t>
            </a:r>
            <a:endParaRPr lang="en-US" sz="10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Stop passing configuration around as strings. Give it a type.</a:t>
            </a:r>
            <a:endParaRPr lang="en-US" sz="3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06610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Stop injecting IConfiguration</a:t>
            </a:r>
            <a:endParaRPr lang="en-US" sz="2820" dirty="0"/>
          </a:p>
        </p:txBody>
      </p:sp>
      <p:sp>
        <p:nvSpPr>
          <p:cNvPr id="4" name="Text 2"/>
          <p:cNvSpPr txBox="1"/>
          <p:nvPr/>
        </p:nvSpPr>
        <p:spPr>
          <a:xfrm>
            <a:off x="304800" y="1071711"/>
            <a:ext cx="49306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DON'T</a:t>
            </a:r>
            <a:endParaRPr lang="en-US" sz="768" dirty="0"/>
          </a:p>
        </p:txBody>
      </p:sp>
      <p:sp>
        <p:nvSpPr>
          <p:cNvPr id="5" name="Shape 3"/>
          <p:cNvSpPr/>
          <p:nvPr/>
        </p:nvSpPr>
        <p:spPr>
          <a:xfrm>
            <a:off x="304800" y="1313855"/>
            <a:ext cx="8724900" cy="1381720"/>
          </a:xfrm>
          <a:prstGeom prst="roundRect">
            <a:avLst>
              <a:gd name="adj" fmla="val 2757"/>
            </a:avLst>
          </a:prstGeom>
          <a:solidFill>
            <a:srgbClr val="011627"/>
          </a:solidFill>
          <a:ln/>
        </p:spPr>
      </p:sp>
      <p:sp>
        <p:nvSpPr>
          <p:cNvPr id="6" name="Text 4"/>
          <p:cNvSpPr txBox="1"/>
          <p:nvPr/>
        </p:nvSpPr>
        <p:spPr>
          <a:xfrm>
            <a:off x="381000" y="1390055"/>
            <a:ext cx="8591550" cy="1215628"/>
          </a:xfrm>
          <a:prstGeom prst="rect">
            <a:avLst/>
          </a:prstGeom>
          <a:noFill/>
          <a:ln/>
        </p:spPr>
        <p:txBody>
          <a:bodyPr wrap="square" lIns="0" tIns="0" rIns="0" bIns="0" rtlCol="0" anchor="t"/>
          <a:lstStyle/>
          <a:p>
            <a:pPr algn="l" indent="0" marL="0">
              <a:lnSpc>
                <a:spcPts val="1383"/>
              </a:lnSpc>
              <a:buNone/>
            </a:pPr>
            <a:r>
              <a:rPr lang="en-US" sz="923" dirty="0">
                <a:solidFill>
                  <a:srgbClr val="637777"/>
                </a:solidFill>
                <a:latin typeface="JetBrains Mono" pitchFamily="34" charset="0"/>
                <a:ea typeface="JetBrains Mono" pitchFamily="34" charset="-122"/>
                <a:cs typeface="JetBrains Mono" pitchFamily="34" charset="-120"/>
              </a:rPr>
              <a:t>// DON'T - over-broad dependency, stringly typed, unvalidated, re-parsed</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sealed</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class</a:t>
            </a:r>
            <a:pPr algn="l" indent="0" marL="0">
              <a:lnSpc>
                <a:spcPts val="1383"/>
              </a:lnSpc>
              <a:buNone/>
            </a:pPr>
            <a:r>
              <a:rPr lang="en-US" sz="923" dirty="0">
                <a:solidFill>
                  <a:srgbClr val="FFCB8B"/>
                </a:solidFill>
                <a:latin typeface="JetBrains Mono" pitchFamily="34" charset="0"/>
                <a:ea typeface="JetBrains Mono" pitchFamily="34" charset="-122"/>
                <a:cs typeface="JetBrains Mono" pitchFamily="34" charset="-120"/>
              </a:rPr>
              <a:t> WeatherClient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(IConfiguration config)</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Task&lt;Forecast&gt; </a:t>
            </a: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GetAsync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a:t>
            </a:r>
            <a:pPr algn="l" indent="0" marL="0">
              <a:lnSpc>
                <a:spcPts val="1383"/>
              </a:lnSpc>
              <a:buNone/>
            </a:pPr>
            <a:r>
              <a:rPr lang="en-US" sz="923" dirty="0">
                <a:solidFill>
                  <a:srgbClr val="7FDBCA"/>
                </a:solidFill>
                <a:latin typeface="JetBrains Mono" pitchFamily="34" charset="0"/>
                <a:ea typeface="JetBrains Mono" pitchFamily="34" charset="-122"/>
                <a:cs typeface="JetBrains Mono" pitchFamily="34" charset="-120"/>
              </a:rPr>
              <a:t>=&gt;</a:t>
            </a:r>
            <a:b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CallAsync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config</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int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Parse</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config</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endParaRPr lang="en-US" sz="923" dirty="0"/>
          </a:p>
        </p:txBody>
      </p:sp>
      <p:sp>
        <p:nvSpPr>
          <p:cNvPr id="7" name="Text 5"/>
          <p:cNvSpPr txBox="1"/>
          <p:nvPr/>
        </p:nvSpPr>
        <p:spPr>
          <a:xfrm>
            <a:off x="304800" y="2863155"/>
            <a:ext cx="288727"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a:t>
            </a:r>
            <a:endParaRPr lang="en-US" sz="768" dirty="0"/>
          </a:p>
        </p:txBody>
      </p:sp>
      <p:sp>
        <p:nvSpPr>
          <p:cNvPr id="8" name="Shape 6"/>
          <p:cNvSpPr/>
          <p:nvPr/>
        </p:nvSpPr>
        <p:spPr>
          <a:xfrm>
            <a:off x="304800" y="3105299"/>
            <a:ext cx="8724900" cy="1030486"/>
          </a:xfrm>
          <a:prstGeom prst="roundRect">
            <a:avLst>
              <a:gd name="adj" fmla="val 3697"/>
            </a:avLst>
          </a:prstGeom>
          <a:solidFill>
            <a:srgbClr val="011627"/>
          </a:solidFill>
          <a:ln/>
        </p:spPr>
      </p:sp>
      <p:sp>
        <p:nvSpPr>
          <p:cNvPr id="9" name="Text 7"/>
          <p:cNvSpPr txBox="1"/>
          <p:nvPr/>
        </p:nvSpPr>
        <p:spPr>
          <a:xfrm>
            <a:off x="381000" y="3181499"/>
            <a:ext cx="8591550" cy="864394"/>
          </a:xfrm>
          <a:prstGeom prst="rect">
            <a:avLst/>
          </a:prstGeom>
          <a:noFill/>
          <a:ln/>
        </p:spPr>
        <p:txBody>
          <a:bodyPr wrap="square" lIns="0" tIns="0" rIns="0" bIns="0" rtlCol="0" anchor="t"/>
          <a:lstStyle/>
          <a:p>
            <a:pPr algn="l" indent="0" marL="0">
              <a:lnSpc>
                <a:spcPts val="1383"/>
              </a:lnSpc>
              <a:buNone/>
            </a:pPr>
            <a:r>
              <a:rPr lang="en-US" sz="923" dirty="0">
                <a:solidFill>
                  <a:srgbClr val="637777"/>
                </a:solidFill>
                <a:latin typeface="JetBrains Mono" pitchFamily="34" charset="0"/>
                <a:ea typeface="JetBrains Mono" pitchFamily="34" charset="-122"/>
                <a:cs typeface="JetBrains Mono" pitchFamily="34" charset="-120"/>
              </a:rPr>
              <a:t>// DO - the class declares exactly what it needs</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sealed</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class</a:t>
            </a:r>
            <a:pPr algn="l" indent="0" marL="0">
              <a:lnSpc>
                <a:spcPts val="1383"/>
              </a:lnSpc>
              <a:buNone/>
            </a:pPr>
            <a:r>
              <a:rPr lang="en-US" sz="923" dirty="0">
                <a:solidFill>
                  <a:srgbClr val="FFCB8B"/>
                </a:solidFill>
                <a:latin typeface="JetBrains Mono" pitchFamily="34" charset="0"/>
                <a:ea typeface="JetBrains Mono" pitchFamily="34" charset="-122"/>
                <a:cs typeface="JetBrains Mono" pitchFamily="34" charset="-120"/>
              </a:rPr>
              <a:t> WeatherClient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(IOptions&lt;WeatherOptions&gt; options)</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private</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readonly</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WeatherOptions _options </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B2CCD6"/>
                </a:solidFill>
                <a:latin typeface="JetBrains Mono" pitchFamily="34" charset="0"/>
                <a:ea typeface="JetBrains Mono" pitchFamily="34" charset="-122"/>
                <a:cs typeface="JetBrains Mono" pitchFamily="34" charset="-120"/>
              </a:rPr>
              <a:t> options</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Value</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endParaRPr lang="en-US" sz="923" dirty="0"/>
          </a:p>
        </p:txBody>
      </p:sp>
      <p:sp>
        <p:nvSpPr>
          <p:cNvPr id="10" name="Shape 8"/>
          <p:cNvSpPr/>
          <p:nvPr/>
        </p:nvSpPr>
        <p:spPr>
          <a:xfrm>
            <a:off x="304800" y="4371975"/>
            <a:ext cx="38100" cy="533400"/>
          </a:xfrm>
          <a:prstGeom prst="rect">
            <a:avLst/>
          </a:prstGeom>
          <a:solidFill>
            <a:srgbClr val="F4C233"/>
          </a:solidFill>
          <a:ln/>
        </p:spPr>
      </p:sp>
      <p:sp>
        <p:nvSpPr>
          <p:cNvPr id="11" name="Shape 9"/>
          <p:cNvSpPr/>
          <p:nvPr/>
        </p:nvSpPr>
        <p:spPr>
          <a:xfrm>
            <a:off x="841772" y="4542086"/>
            <a:ext cx="175468" cy="202704"/>
          </a:xfrm>
          <a:prstGeom prst="roundRect">
            <a:avLst>
              <a:gd name="adj" fmla="val 21713"/>
            </a:avLst>
          </a:prstGeom>
          <a:solidFill>
            <a:srgbClr val="16303F">
              <a:alpha val="7000"/>
            </a:srgbClr>
          </a:solidFill>
          <a:ln/>
        </p:spPr>
      </p:sp>
      <p:sp>
        <p:nvSpPr>
          <p:cNvPr id="12" name="Text 10"/>
          <p:cNvSpPr txBox="1"/>
          <p:nvPr/>
        </p:nvSpPr>
        <p:spPr>
          <a:xfrm>
            <a:off x="464790" y="4533900"/>
            <a:ext cx="2886670"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That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anti-pattern #3 on its own.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540395"/>
            <a:ext cx="494109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Define the contract, then enforce it</a:t>
            </a:r>
            <a:endParaRPr lang="en-US" sz="2280" dirty="0"/>
          </a:p>
        </p:txBody>
      </p:sp>
      <p:sp>
        <p:nvSpPr>
          <p:cNvPr id="4" name="Shape 2"/>
          <p:cNvSpPr/>
          <p:nvPr/>
        </p:nvSpPr>
        <p:spPr>
          <a:xfrm>
            <a:off x="628650" y="1209229"/>
            <a:ext cx="8077200" cy="3309938"/>
          </a:xfrm>
          <a:prstGeom prst="roundRect">
            <a:avLst>
              <a:gd name="adj" fmla="val 1151"/>
            </a:avLst>
          </a:prstGeom>
          <a:solidFill>
            <a:srgbClr val="011627"/>
          </a:solidFill>
          <a:ln/>
        </p:spPr>
      </p:sp>
      <p:sp>
        <p:nvSpPr>
          <p:cNvPr id="5" name="Text 3"/>
          <p:cNvSpPr txBox="1"/>
          <p:nvPr/>
        </p:nvSpPr>
        <p:spPr>
          <a:xfrm>
            <a:off x="704850" y="1294954"/>
            <a:ext cx="7943850" cy="3124200"/>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WeatherOptions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SectionName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Url]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ApiBaseUrl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[Range(</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300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int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TimeoutSeconds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 30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MinLength(</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8</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ApiKey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GetSection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WeatherOptions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SectionName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09225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An invalid environment fails before traffic</a:t>
            </a:r>
            <a:endParaRPr lang="en-US" sz="2820" dirty="0"/>
          </a:p>
        </p:txBody>
      </p:sp>
      <p:sp>
        <p:nvSpPr>
          <p:cNvPr id="4" name="Shape 2"/>
          <p:cNvSpPr/>
          <p:nvPr/>
        </p:nvSpPr>
        <p:spPr>
          <a:xfrm>
            <a:off x="457200" y="1087041"/>
            <a:ext cx="8420100" cy="1009650"/>
          </a:xfrm>
          <a:prstGeom prst="roundRect">
            <a:avLst>
              <a:gd name="adj" fmla="val 3774"/>
            </a:avLst>
          </a:prstGeom>
          <a:solidFill>
            <a:srgbClr val="011627"/>
          </a:solidFill>
          <a:ln/>
        </p:spPr>
      </p:sp>
      <p:sp>
        <p:nvSpPr>
          <p:cNvPr id="5" name="Text 3"/>
          <p:cNvSpPr txBox="1"/>
          <p:nvPr/>
        </p:nvSpPr>
        <p:spPr>
          <a:xfrm>
            <a:off x="533400" y="1172766"/>
            <a:ext cx="8286750" cy="833437"/>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Services</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Bind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GetSection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2172891"/>
            <a:ext cx="8420100" cy="795338"/>
          </a:xfrm>
          <a:prstGeom prst="roundRect">
            <a:avLst>
              <a:gd name="adj" fmla="val 4790"/>
            </a:avLst>
          </a:prstGeom>
          <a:solidFill>
            <a:srgbClr val="011627"/>
          </a:solidFill>
          <a:ln/>
        </p:spPr>
      </p:sp>
      <p:sp>
        <p:nvSpPr>
          <p:cNvPr id="7" name="Text 5"/>
          <p:cNvSpPr txBox="1"/>
          <p:nvPr/>
        </p:nvSpPr>
        <p:spPr>
          <a:xfrm>
            <a:off x="533400" y="225861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Unhandled exception. Microsoft.Extensions.Options.OptionsValidationException:</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DataAnnotation validation failed for 'WeatherOptions' members: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'TimeoutSeconds' with the error: 'The field TimeoutSeconds must be between 1 and 300.'</a:t>
            </a:r>
            <a:endParaRPr lang="en-US" sz="1125" dirty="0"/>
          </a:p>
        </p:txBody>
      </p:sp>
      <p:sp>
        <p:nvSpPr>
          <p:cNvPr id="8" name="Shape 6"/>
          <p:cNvSpPr/>
          <p:nvPr/>
        </p:nvSpPr>
        <p:spPr>
          <a:xfrm>
            <a:off x="6414046" y="3290739"/>
            <a:ext cx="1327696" cy="202704"/>
          </a:xfrm>
          <a:prstGeom prst="roundRect">
            <a:avLst>
              <a:gd name="adj" fmla="val 18796"/>
            </a:avLst>
          </a:prstGeom>
          <a:solidFill>
            <a:srgbClr val="16303F">
              <a:alpha val="7000"/>
            </a:srgbClr>
          </a:solidFill>
          <a:ln/>
        </p:spPr>
      </p:sp>
      <p:sp>
        <p:nvSpPr>
          <p:cNvPr id="9" name="Shape 7"/>
          <p:cNvSpPr/>
          <p:nvPr/>
        </p:nvSpPr>
        <p:spPr>
          <a:xfrm>
            <a:off x="772567" y="3519339"/>
            <a:ext cx="586978" cy="202704"/>
          </a:xfrm>
          <a:prstGeom prst="roundRect">
            <a:avLst>
              <a:gd name="adj" fmla="val 18796"/>
            </a:avLst>
          </a:prstGeom>
          <a:solidFill>
            <a:srgbClr val="16303F">
              <a:alpha val="7000"/>
            </a:srgbClr>
          </a:solidFill>
          <a:ln/>
        </p:spPr>
      </p:sp>
      <p:sp>
        <p:nvSpPr>
          <p:cNvPr id="10" name="Text 8"/>
          <p:cNvSpPr txBox="1"/>
          <p:nvPr/>
        </p:nvSpPr>
        <p:spPr>
          <a:xfrm>
            <a:off x="457200" y="3282553"/>
            <a:ext cx="845073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point is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where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this happened: at startup, before the process took traffic. Without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ValidateOnStart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it happens on first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.Value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access — in production, on the first request that reaches that code path.</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04726"/>
            <a:ext cx="5179070"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Tests must satisfy the same contract</a:t>
            </a:r>
            <a:endParaRPr lang="en-US" sz="2280" dirty="0"/>
          </a:p>
        </p:txBody>
      </p:sp>
      <p:sp>
        <p:nvSpPr>
          <p:cNvPr id="4" name="Shape 2"/>
          <p:cNvSpPr/>
          <p:nvPr/>
        </p:nvSpPr>
        <p:spPr>
          <a:xfrm>
            <a:off x="628650" y="1573560"/>
            <a:ext cx="8077200" cy="2581275"/>
          </a:xfrm>
          <a:prstGeom prst="roundRect">
            <a:avLst>
              <a:gd name="adj" fmla="val 1476"/>
            </a:avLst>
          </a:prstGeom>
          <a:solidFill>
            <a:srgbClr val="011627"/>
          </a:solidFill>
          <a:ln/>
        </p:spPr>
      </p:sp>
      <p:sp>
        <p:nvSpPr>
          <p:cNvPr id="5" name="Text 3"/>
          <p:cNvSpPr txBox="1"/>
          <p:nvPr/>
        </p:nvSpPr>
        <p:spPr>
          <a:xfrm>
            <a:off x="704850" y="1659285"/>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ApiFactory</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WebApplicationFactory&lt;Program&gt;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protected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override</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void</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ConfigureWebHost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(IWebHostBuilder builder)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ConfigureAppConfiguration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(config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AddInMemoryCollection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Dictionary&lt;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http://localhost/stub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Production supplies the values. Nothing gets rebuilt to change one.</a:t>
            </a:r>
            <a:endParaRPr lang="en-US" sz="3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450181"/>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Production adds a question the other environments never asked:</a:t>
            </a:r>
            <a:endParaRPr lang="en-US" sz="2520" dirty="0"/>
          </a:p>
        </p:txBody>
      </p:sp>
      <p:sp>
        <p:nvSpPr>
          <p:cNvPr id="4" name="Text 2"/>
          <p:cNvSpPr txBox="1"/>
          <p:nvPr/>
        </p:nvSpPr>
        <p:spPr>
          <a:xfrm>
            <a:off x="685800" y="2322314"/>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can this value change while the process is running?</a:t>
            </a:r>
            <a:endParaRPr lang="en-US" sz="2520" dirty="0"/>
          </a:p>
        </p:txBody>
      </p:sp>
      <p:sp>
        <p:nvSpPr>
          <p:cNvPr id="5" name="Text 3"/>
          <p:cNvSpPr txBox="1"/>
          <p:nvPr/>
        </p:nvSpPr>
        <p:spPr>
          <a:xfrm>
            <a:off x="685800" y="3308747"/>
            <a:ext cx="7046848" cy="458986"/>
          </a:xfrm>
          <a:prstGeom prst="rect">
            <a:avLst/>
          </a:prstGeom>
          <a:noFill/>
          <a:ln/>
        </p:spPr>
        <p:txBody>
          <a:bodyPr wrap="square" lIns="0" tIns="0" rIns="0" bIns="0" rtlCol="0" anchor="t"/>
          <a:lstStyle/>
          <a:p>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Binding and validation answered </a:t>
            </a:r>
            <a:pPr algn="l" indent="0" marL="0">
              <a:lnSpc>
                <a:spcPts val="1889"/>
              </a:lnSpc>
              <a:buNone/>
            </a:pPr>
            <a:r>
              <a:rPr lang="en-US" sz="1260" i="1" dirty="0">
                <a:solidFill>
                  <a:srgbClr val="44535A"/>
                </a:solidFill>
                <a:latin typeface="Manrope" pitchFamily="34" charset="0"/>
                <a:ea typeface="Manrope" pitchFamily="34" charset="-122"/>
                <a:cs typeface="Manrope" pitchFamily="34" charset="-120"/>
              </a:rPr>
              <a:t>is it there, and is it valid</a:t>
            </a:r>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 Lifetime answers </a:t>
            </a:r>
            <a:pPr algn="l" indent="0" marL="0">
              <a:lnSpc>
                <a:spcPts val="1889"/>
              </a:lnSpc>
              <a:buNone/>
            </a:pPr>
            <a:r>
              <a:rPr lang="en-US" sz="1260" i="1" dirty="0">
                <a:solidFill>
                  <a:srgbClr val="44535A"/>
                </a:solidFill>
                <a:latin typeface="Manrope" pitchFamily="34" charset="0"/>
                <a:ea typeface="Manrope" pitchFamily="34" charset="-122"/>
                <a:cs typeface="Manrope" pitchFamily="34" charset="-120"/>
              </a:rPr>
              <a:t>and does it still hold five minutes from now</a:t>
            </a:r>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a:t>
            </a:r>
            <a:endParaRPr lang="en-US" sz="12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80544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IOptions, IOptionsSnapshot, IOptionsMonitor</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10234" cy="19050"/>
          </a:xfrm>
          <a:prstGeom prst="rect">
            <a:avLst/>
          </a:prstGeom>
          <a:solidFill>
            <a:srgbClr val="16303F"/>
          </a:solidFill>
          <a:ln/>
        </p:spPr>
      </p:sp>
      <p:sp>
        <p:nvSpPr>
          <p:cNvPr id="6" name="Shape 4"/>
          <p:cNvSpPr/>
          <p:nvPr/>
        </p:nvSpPr>
        <p:spPr>
          <a:xfrm>
            <a:off x="2567434" y="1377404"/>
            <a:ext cx="995511" cy="19050"/>
          </a:xfrm>
          <a:prstGeom prst="rect">
            <a:avLst/>
          </a:prstGeom>
          <a:solidFill>
            <a:srgbClr val="16303F"/>
          </a:solidFill>
          <a:ln/>
        </p:spPr>
      </p:sp>
      <p:sp>
        <p:nvSpPr>
          <p:cNvPr id="7" name="Text 5"/>
          <p:cNvSpPr txBox="1"/>
          <p:nvPr/>
        </p:nvSpPr>
        <p:spPr>
          <a:xfrm>
            <a:off x="2673995" y="1163092"/>
            <a:ext cx="64427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LIFETIME</a:t>
            </a:r>
            <a:endParaRPr lang="en-US" sz="816" dirty="0"/>
          </a:p>
        </p:txBody>
      </p:sp>
      <p:sp>
        <p:nvSpPr>
          <p:cNvPr id="8" name="Shape 6"/>
          <p:cNvSpPr/>
          <p:nvPr/>
        </p:nvSpPr>
        <p:spPr>
          <a:xfrm>
            <a:off x="3562945" y="1377404"/>
            <a:ext cx="2192238" cy="19050"/>
          </a:xfrm>
          <a:prstGeom prst="rect">
            <a:avLst/>
          </a:prstGeom>
          <a:solidFill>
            <a:srgbClr val="16303F"/>
          </a:solidFill>
          <a:ln/>
        </p:spPr>
      </p:sp>
      <p:sp>
        <p:nvSpPr>
          <p:cNvPr id="9" name="Text 7"/>
          <p:cNvSpPr txBox="1"/>
          <p:nvPr/>
        </p:nvSpPr>
        <p:spPr>
          <a:xfrm>
            <a:off x="3669506" y="1163092"/>
            <a:ext cx="1271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RE-READS CONFIG?</a:t>
            </a:r>
            <a:endParaRPr lang="en-US" sz="816" dirty="0"/>
          </a:p>
        </p:txBody>
      </p:sp>
      <p:sp>
        <p:nvSpPr>
          <p:cNvPr id="10" name="Shape 8"/>
          <p:cNvSpPr/>
          <p:nvPr/>
        </p:nvSpPr>
        <p:spPr>
          <a:xfrm>
            <a:off x="5755184" y="1377404"/>
            <a:ext cx="3122116" cy="19050"/>
          </a:xfrm>
          <a:prstGeom prst="rect">
            <a:avLst/>
          </a:prstGeom>
          <a:solidFill>
            <a:srgbClr val="16303F"/>
          </a:solidFill>
          <a:ln/>
        </p:spPr>
      </p:sp>
      <p:sp>
        <p:nvSpPr>
          <p:cNvPr id="11" name="Text 9"/>
          <p:cNvSpPr txBox="1"/>
          <p:nvPr/>
        </p:nvSpPr>
        <p:spPr>
          <a:xfrm>
            <a:off x="5861745" y="1163092"/>
            <a:ext cx="7361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USE WHEN</a:t>
            </a:r>
            <a:endParaRPr lang="en-US" sz="816" dirty="0"/>
          </a:p>
        </p:txBody>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2110234" cy="9525"/>
          </a:xfrm>
          <a:prstGeom prst="rect">
            <a:avLst/>
          </a:prstGeom>
          <a:solidFill>
            <a:srgbClr val="DDD9D2"/>
          </a:solidFill>
          <a:ln/>
        </p:spPr>
      </p:sp>
      <p:sp>
        <p:nvSpPr>
          <p:cNvPr id="14" name="Shape 12"/>
          <p:cNvSpPr/>
          <p:nvPr/>
        </p:nvSpPr>
        <p:spPr>
          <a:xfrm>
            <a:off x="563761" y="1488728"/>
            <a:ext cx="902940" cy="181570"/>
          </a:xfrm>
          <a:prstGeom prst="roundRect">
            <a:avLst>
              <a:gd name="adj" fmla="val 20984"/>
            </a:avLst>
          </a:prstGeom>
          <a:solidFill>
            <a:srgbClr val="16303F">
              <a:alpha val="7000"/>
            </a:srgbClr>
          </a:solidFill>
          <a:ln/>
        </p:spPr>
      </p:sp>
      <p:sp>
        <p:nvSpPr>
          <p:cNvPr id="15" name="Text 13"/>
          <p:cNvSpPr txBox="1"/>
          <p:nvPr/>
        </p:nvSpPr>
        <p:spPr>
          <a:xfrm>
            <a:off x="506611" y="1488728"/>
            <a:ext cx="101724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IOptions&lt;T&gt;</a:t>
            </a:r>
            <a:endParaRPr lang="en-US" sz="972" dirty="0"/>
          </a:p>
        </p:txBody>
      </p:sp>
      <p:sp>
        <p:nvSpPr>
          <p:cNvPr id="16" name="Shape 14"/>
          <p:cNvSpPr/>
          <p:nvPr/>
        </p:nvSpPr>
        <p:spPr>
          <a:xfrm>
            <a:off x="2567434" y="1733252"/>
            <a:ext cx="995511" cy="9525"/>
          </a:xfrm>
          <a:prstGeom prst="rect">
            <a:avLst/>
          </a:prstGeom>
          <a:solidFill>
            <a:srgbClr val="DDD9D2"/>
          </a:solidFill>
          <a:ln/>
        </p:spPr>
      </p:sp>
      <p:sp>
        <p:nvSpPr>
          <p:cNvPr id="17" name="Text 15"/>
          <p:cNvSpPr txBox="1"/>
          <p:nvPr/>
        </p:nvSpPr>
        <p:spPr>
          <a:xfrm>
            <a:off x="2673995" y="1479500"/>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18" name="Shape 16"/>
          <p:cNvSpPr/>
          <p:nvPr/>
        </p:nvSpPr>
        <p:spPr>
          <a:xfrm>
            <a:off x="3562945" y="1733252"/>
            <a:ext cx="2192238" cy="9525"/>
          </a:xfrm>
          <a:prstGeom prst="rect">
            <a:avLst/>
          </a:prstGeom>
          <a:solidFill>
            <a:srgbClr val="DDD9D2"/>
          </a:solidFill>
          <a:ln/>
        </p:spPr>
      </p:sp>
      <p:sp>
        <p:nvSpPr>
          <p:cNvPr id="19" name="Text 17"/>
          <p:cNvSpPr txBox="1"/>
          <p:nvPr/>
        </p:nvSpPr>
        <p:spPr>
          <a:xfrm>
            <a:off x="3669506" y="1479500"/>
            <a:ext cx="167565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bound once, forever</a:t>
            </a:r>
            <a:endParaRPr lang="en-US" sz="1056" dirty="0"/>
          </a:p>
        </p:txBody>
      </p:sp>
      <p:sp>
        <p:nvSpPr>
          <p:cNvPr id="20" name="Shape 18"/>
          <p:cNvSpPr/>
          <p:nvPr/>
        </p:nvSpPr>
        <p:spPr>
          <a:xfrm>
            <a:off x="5755184" y="1733252"/>
            <a:ext cx="3122116" cy="9525"/>
          </a:xfrm>
          <a:prstGeom prst="rect">
            <a:avLst/>
          </a:prstGeom>
          <a:solidFill>
            <a:srgbClr val="DDD9D2"/>
          </a:solidFill>
          <a:ln/>
        </p:spPr>
      </p:sp>
      <p:sp>
        <p:nvSpPr>
          <p:cNvPr id="21" name="Text 19"/>
          <p:cNvSpPr txBox="1"/>
          <p:nvPr/>
        </p:nvSpPr>
        <p:spPr>
          <a:xfrm>
            <a:off x="5861745" y="1479500"/>
            <a:ext cx="219893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The value can’t change at runtime</a:t>
            </a:r>
            <a:endParaRPr lang="en-US" sz="1056" dirty="0"/>
          </a:p>
        </p:txBody>
      </p:sp>
      <p:sp>
        <p:nvSpPr>
          <p:cNvPr id="22" name="Shape 20"/>
          <p:cNvSpPr/>
          <p:nvPr/>
        </p:nvSpPr>
        <p:spPr>
          <a:xfrm>
            <a:off x="457200" y="1742777"/>
            <a:ext cx="8420100" cy="341561"/>
          </a:xfrm>
          <a:prstGeom prst="rect">
            <a:avLst/>
          </a:prstGeom>
          <a:solidFill>
            <a:srgbClr val="16303F">
              <a:alpha val="3000"/>
            </a:srgbClr>
          </a:solidFill>
          <a:ln/>
        </p:spPr>
      </p:sp>
      <p:sp>
        <p:nvSpPr>
          <p:cNvPr id="23" name="Shape 21"/>
          <p:cNvSpPr/>
          <p:nvPr/>
        </p:nvSpPr>
        <p:spPr>
          <a:xfrm>
            <a:off x="457200" y="2074813"/>
            <a:ext cx="8420100" cy="9525"/>
          </a:xfrm>
          <a:prstGeom prst="rect">
            <a:avLst/>
          </a:prstGeom>
          <a:solidFill>
            <a:srgbClr val="9CA3AF">
              <a:alpha val="20000"/>
            </a:srgbClr>
          </a:solidFill>
          <a:ln/>
        </p:spPr>
      </p:sp>
      <p:sp>
        <p:nvSpPr>
          <p:cNvPr id="24" name="Shape 22"/>
          <p:cNvSpPr/>
          <p:nvPr/>
        </p:nvSpPr>
        <p:spPr>
          <a:xfrm>
            <a:off x="457200" y="2074813"/>
            <a:ext cx="2110234" cy="9525"/>
          </a:xfrm>
          <a:prstGeom prst="rect">
            <a:avLst/>
          </a:prstGeom>
          <a:solidFill>
            <a:srgbClr val="DDD9D2"/>
          </a:solidFill>
          <a:ln/>
        </p:spPr>
      </p:sp>
      <p:sp>
        <p:nvSpPr>
          <p:cNvPr id="25" name="Shape 23"/>
          <p:cNvSpPr/>
          <p:nvPr/>
        </p:nvSpPr>
        <p:spPr>
          <a:xfrm>
            <a:off x="563761" y="1830288"/>
            <a:ext cx="1494979" cy="181570"/>
          </a:xfrm>
          <a:prstGeom prst="roundRect">
            <a:avLst>
              <a:gd name="adj" fmla="val 20984"/>
            </a:avLst>
          </a:prstGeom>
          <a:solidFill>
            <a:srgbClr val="16303F">
              <a:alpha val="7000"/>
            </a:srgbClr>
          </a:solidFill>
          <a:ln/>
        </p:spPr>
      </p:sp>
      <p:sp>
        <p:nvSpPr>
          <p:cNvPr id="26" name="Text 24"/>
          <p:cNvSpPr txBox="1"/>
          <p:nvPr/>
        </p:nvSpPr>
        <p:spPr>
          <a:xfrm>
            <a:off x="506611" y="183028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endParaRPr lang="en-US" sz="972" dirty="0"/>
          </a:p>
        </p:txBody>
      </p:sp>
      <p:sp>
        <p:nvSpPr>
          <p:cNvPr id="27" name="Shape 25"/>
          <p:cNvSpPr/>
          <p:nvPr/>
        </p:nvSpPr>
        <p:spPr>
          <a:xfrm>
            <a:off x="2567434" y="2074813"/>
            <a:ext cx="995511" cy="9525"/>
          </a:xfrm>
          <a:prstGeom prst="rect">
            <a:avLst/>
          </a:prstGeom>
          <a:solidFill>
            <a:srgbClr val="DDD9D2"/>
          </a:solidFill>
          <a:ln/>
        </p:spPr>
      </p:sp>
      <p:sp>
        <p:nvSpPr>
          <p:cNvPr id="28" name="Text 26"/>
          <p:cNvSpPr txBox="1"/>
          <p:nvPr/>
        </p:nvSpPr>
        <p:spPr>
          <a:xfrm>
            <a:off x="2673995" y="1821061"/>
            <a:ext cx="613618"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Scoped</a:t>
            </a:r>
            <a:endParaRPr lang="en-US" sz="1056" dirty="0"/>
          </a:p>
        </p:txBody>
      </p:sp>
      <p:sp>
        <p:nvSpPr>
          <p:cNvPr id="29" name="Shape 27"/>
          <p:cNvSpPr/>
          <p:nvPr/>
        </p:nvSpPr>
        <p:spPr>
          <a:xfrm>
            <a:off x="3562945" y="2074813"/>
            <a:ext cx="2192238" cy="9525"/>
          </a:xfrm>
          <a:prstGeom prst="rect">
            <a:avLst/>
          </a:prstGeom>
          <a:solidFill>
            <a:srgbClr val="DDD9D2"/>
          </a:solidFill>
          <a:ln/>
        </p:spPr>
      </p:sp>
      <p:sp>
        <p:nvSpPr>
          <p:cNvPr id="30" name="Text 28"/>
          <p:cNvSpPr txBox="1"/>
          <p:nvPr/>
        </p:nvSpPr>
        <p:spPr>
          <a:xfrm>
            <a:off x="3669506" y="1821061"/>
            <a:ext cx="118809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Once per request</a:t>
            </a:r>
            <a:endParaRPr lang="en-US" sz="1056" dirty="0"/>
          </a:p>
        </p:txBody>
      </p:sp>
      <p:sp>
        <p:nvSpPr>
          <p:cNvPr id="31" name="Shape 29"/>
          <p:cNvSpPr/>
          <p:nvPr/>
        </p:nvSpPr>
        <p:spPr>
          <a:xfrm>
            <a:off x="5755184" y="2074813"/>
            <a:ext cx="3122116" cy="9525"/>
          </a:xfrm>
          <a:prstGeom prst="rect">
            <a:avLst/>
          </a:prstGeom>
          <a:solidFill>
            <a:srgbClr val="DDD9D2"/>
          </a:solidFill>
          <a:ln/>
        </p:spPr>
      </p:sp>
      <p:sp>
        <p:nvSpPr>
          <p:cNvPr id="32" name="Text 30"/>
          <p:cNvSpPr txBox="1"/>
          <p:nvPr/>
        </p:nvSpPr>
        <p:spPr>
          <a:xfrm>
            <a:off x="5861745" y="1821061"/>
            <a:ext cx="242813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Per-request consistency in a web app</a:t>
            </a:r>
            <a:endParaRPr lang="en-US" sz="1056" dirty="0"/>
          </a:p>
        </p:txBody>
      </p:sp>
      <p:sp>
        <p:nvSpPr>
          <p:cNvPr id="33" name="Shape 31"/>
          <p:cNvSpPr/>
          <p:nvPr/>
        </p:nvSpPr>
        <p:spPr>
          <a:xfrm>
            <a:off x="457200" y="2416373"/>
            <a:ext cx="8420100" cy="9525"/>
          </a:xfrm>
          <a:prstGeom prst="rect">
            <a:avLst/>
          </a:prstGeom>
          <a:solidFill>
            <a:srgbClr val="9CA3AF">
              <a:alpha val="20000"/>
            </a:srgbClr>
          </a:solidFill>
          <a:ln/>
        </p:spPr>
      </p:sp>
      <p:sp>
        <p:nvSpPr>
          <p:cNvPr id="34" name="Shape 32"/>
          <p:cNvSpPr/>
          <p:nvPr/>
        </p:nvSpPr>
        <p:spPr>
          <a:xfrm>
            <a:off x="457200" y="2416373"/>
            <a:ext cx="2110234" cy="9525"/>
          </a:xfrm>
          <a:prstGeom prst="rect">
            <a:avLst/>
          </a:prstGeom>
          <a:solidFill>
            <a:srgbClr val="DDD9D2"/>
          </a:solidFill>
          <a:ln/>
        </p:spPr>
      </p:sp>
      <p:sp>
        <p:nvSpPr>
          <p:cNvPr id="35" name="Shape 33"/>
          <p:cNvSpPr/>
          <p:nvPr/>
        </p:nvSpPr>
        <p:spPr>
          <a:xfrm>
            <a:off x="563761" y="2171849"/>
            <a:ext cx="1421011" cy="181570"/>
          </a:xfrm>
          <a:prstGeom prst="roundRect">
            <a:avLst>
              <a:gd name="adj" fmla="val 20984"/>
            </a:avLst>
          </a:prstGeom>
          <a:solidFill>
            <a:srgbClr val="16303F">
              <a:alpha val="7000"/>
            </a:srgbClr>
          </a:solidFill>
          <a:ln/>
        </p:spPr>
      </p:sp>
      <p:sp>
        <p:nvSpPr>
          <p:cNvPr id="36" name="Text 34"/>
          <p:cNvSpPr txBox="1"/>
          <p:nvPr/>
        </p:nvSpPr>
        <p:spPr>
          <a:xfrm>
            <a:off x="506611" y="2171849"/>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IOptionsMonitor&lt;T&gt;</a:t>
            </a:r>
            <a:endParaRPr lang="en-US" sz="972" dirty="0"/>
          </a:p>
        </p:txBody>
      </p:sp>
      <p:sp>
        <p:nvSpPr>
          <p:cNvPr id="37" name="Shape 35"/>
          <p:cNvSpPr/>
          <p:nvPr/>
        </p:nvSpPr>
        <p:spPr>
          <a:xfrm>
            <a:off x="2567434" y="2416373"/>
            <a:ext cx="995511" cy="9525"/>
          </a:xfrm>
          <a:prstGeom prst="rect">
            <a:avLst/>
          </a:prstGeom>
          <a:solidFill>
            <a:srgbClr val="DDD9D2"/>
          </a:solidFill>
          <a:ln/>
        </p:spPr>
      </p:sp>
      <p:sp>
        <p:nvSpPr>
          <p:cNvPr id="38" name="Text 36"/>
          <p:cNvSpPr txBox="1"/>
          <p:nvPr/>
        </p:nvSpPr>
        <p:spPr>
          <a:xfrm>
            <a:off x="2673995" y="2162621"/>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39" name="Shape 37"/>
          <p:cNvSpPr/>
          <p:nvPr/>
        </p:nvSpPr>
        <p:spPr>
          <a:xfrm>
            <a:off x="3562945" y="2416373"/>
            <a:ext cx="2192238" cy="9525"/>
          </a:xfrm>
          <a:prstGeom prst="rect">
            <a:avLst/>
          </a:prstGeom>
          <a:solidFill>
            <a:srgbClr val="DDD9D2"/>
          </a:solidFill>
          <a:ln/>
        </p:spPr>
      </p:sp>
      <p:sp>
        <p:nvSpPr>
          <p:cNvPr id="40" name="Shape 38"/>
          <p:cNvSpPr/>
          <p:nvPr/>
        </p:nvSpPr>
        <p:spPr>
          <a:xfrm>
            <a:off x="4239071" y="2171849"/>
            <a:ext cx="680889" cy="181570"/>
          </a:xfrm>
          <a:prstGeom prst="roundRect">
            <a:avLst>
              <a:gd name="adj" fmla="val 20984"/>
            </a:avLst>
          </a:prstGeom>
          <a:solidFill>
            <a:srgbClr val="16303F">
              <a:alpha val="7000"/>
            </a:srgbClr>
          </a:solidFill>
          <a:ln/>
        </p:spPr>
      </p:sp>
      <p:sp>
        <p:nvSpPr>
          <p:cNvPr id="41" name="Text 39"/>
          <p:cNvSpPr txBox="1"/>
          <p:nvPr/>
        </p:nvSpPr>
        <p:spPr>
          <a:xfrm>
            <a:off x="3669506" y="2162621"/>
            <a:ext cx="132040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with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OnChange</a:t>
            </a:r>
            <a:endParaRPr lang="en-US" sz="1056" dirty="0"/>
          </a:p>
        </p:txBody>
      </p:sp>
      <p:sp>
        <p:nvSpPr>
          <p:cNvPr id="42" name="Shape 40"/>
          <p:cNvSpPr/>
          <p:nvPr/>
        </p:nvSpPr>
        <p:spPr>
          <a:xfrm>
            <a:off x="5755184" y="2416373"/>
            <a:ext cx="3122116" cy="9525"/>
          </a:xfrm>
          <a:prstGeom prst="rect">
            <a:avLst/>
          </a:prstGeom>
          <a:solidFill>
            <a:srgbClr val="DDD9D2"/>
          </a:solidFill>
          <a:ln/>
        </p:spPr>
      </p:sp>
      <p:sp>
        <p:nvSpPr>
          <p:cNvPr id="43" name="Text 41"/>
          <p:cNvSpPr txBox="1"/>
          <p:nvPr/>
        </p:nvSpPr>
        <p:spPr>
          <a:xfrm>
            <a:off x="5861745" y="2162621"/>
            <a:ext cx="2347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Singletons and background services</a:t>
            </a:r>
            <a:endParaRPr lang="en-US" sz="1056" dirty="0"/>
          </a:p>
        </p:txBody>
      </p:sp>
      <p:sp>
        <p:nvSpPr>
          <p:cNvPr id="44" name="Shape 42"/>
          <p:cNvSpPr/>
          <p:nvPr/>
        </p:nvSpPr>
        <p:spPr>
          <a:xfrm>
            <a:off x="8330208" y="228600"/>
            <a:ext cx="714821" cy="228451"/>
          </a:xfrm>
          <a:prstGeom prst="roundRect">
            <a:avLst>
              <a:gd name="adj" fmla="val 16678"/>
            </a:avLst>
          </a:prstGeom>
          <a:solidFill>
            <a:srgbClr val="16303F"/>
          </a:solidFill>
          <a:ln/>
        </p:spPr>
      </p:sp>
      <p:sp>
        <p:nvSpPr>
          <p:cNvPr id="45" name="Text 43"/>
          <p:cNvSpPr txBox="1"/>
          <p:nvPr/>
        </p:nvSpPr>
        <p:spPr>
          <a:xfrm>
            <a:off x="8424565" y="274290"/>
            <a:ext cx="640407"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LIFETIME</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881063"/>
          </a:xfrm>
          <a:prstGeom prst="roundRect">
            <a:avLst>
              <a:gd name="adj" fmla="val 4324"/>
            </a:avLst>
          </a:prstGeom>
          <a:solidFill>
            <a:srgbClr val="011627"/>
          </a:solidFill>
          <a:ln/>
        </p:spPr>
      </p:sp>
      <p:sp>
        <p:nvSpPr>
          <p:cNvPr id="5" name="Text 3"/>
          <p:cNvSpPr txBox="1"/>
          <p:nvPr/>
        </p:nvSpPr>
        <p:spPr>
          <a:xfrm>
            <a:off x="381000" y="1144637"/>
            <a:ext cx="8591550" cy="695325"/>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a:t>
            </a:r>
            <a:endParaRPr lang="en-US" sz="1275" dirty="0"/>
          </a:p>
        </p:txBody>
      </p:sp>
      <p:sp>
        <p:nvSpPr>
          <p:cNvPr id="6" name="Shape 4"/>
          <p:cNvSpPr/>
          <p:nvPr/>
        </p:nvSpPr>
        <p:spPr>
          <a:xfrm>
            <a:off x="629394" y="2262485"/>
            <a:ext cx="1409998" cy="202704"/>
          </a:xfrm>
          <a:prstGeom prst="roundRect">
            <a:avLst>
              <a:gd name="adj" fmla="val 18796"/>
            </a:avLst>
          </a:prstGeom>
          <a:solidFill>
            <a:srgbClr val="16303F">
              <a:alpha val="7000"/>
            </a:srgbClr>
          </a:solidFill>
          <a:ln/>
        </p:spPr>
      </p:sp>
      <p:sp>
        <p:nvSpPr>
          <p:cNvPr id="7" name="Text 5"/>
          <p:cNvSpPr txBox="1"/>
          <p:nvPr/>
        </p:nvSpPr>
        <p:spPr>
          <a:xfrm>
            <a:off x="304800" y="2254300"/>
            <a:ext cx="4920109"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now </a:t>
            </a:r>
            <a:pPr algn="l" indent="0" marL="0">
              <a:buNone/>
            </a:pPr>
            <a:r>
              <a:rPr lang="en-US" sz="1080" i="1" dirty="0">
                <a:solidFill>
                  <a:srgbClr val="44535A"/>
                </a:solidFill>
                <a:latin typeface="JetBrains Mono" pitchFamily="34" charset="0"/>
                <a:ea typeface="JetBrains Mono" pitchFamily="34" charset="-122"/>
                <a:cs typeface="JetBrains Mono" pitchFamily="34" charset="-120"/>
              </a:rPr>
              <a:t>appsettings.json</a:t>
            </a:r>
            <a:pPr algn="l" indent="0" marL="0">
              <a:buNone/>
            </a:pPr>
            <a:r>
              <a:rPr lang="en-US" sz="1200" i="1" dirty="0">
                <a:solidFill>
                  <a:srgbClr val="44535A"/>
                </a:solidFill>
                <a:latin typeface="Manrope" pitchFamily="34" charset="0"/>
                <a:ea typeface="Manrope" pitchFamily="34" charset="-122"/>
                <a:cs typeface="Manrope" pitchFamily="34" charset="-120"/>
              </a:rPr>
              <a:t> changes to 90 underneath the running app.</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same request      next request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        30                30      &lt;- never moves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        30                90      &lt;- new scope only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        90                90      &lt;- immediately</a:t>
            </a:r>
            <a:endParaRPr lang="en-US" sz="1275" dirty="0"/>
          </a:p>
        </p:txBody>
      </p:sp>
      <p:sp>
        <p:nvSpPr>
          <p:cNvPr id="6" name="Text 4"/>
          <p:cNvSpPr txBox="1"/>
          <p:nvPr/>
        </p:nvSpPr>
        <p:spPr>
          <a:xfrm>
            <a:off x="304800" y="2497187"/>
            <a:ext cx="87439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middle column matters: a snapshot already resolved in the current request stays at 30. It is scoped, so it only picks up the change in a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new scope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normally the next request.</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0613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What actually reloads</a:t>
            </a:r>
            <a:endParaRPr lang="en-US" sz="2820" dirty="0"/>
          </a:p>
        </p:txBody>
      </p:sp>
      <p:sp>
        <p:nvSpPr>
          <p:cNvPr id="4" name="Shape 2"/>
          <p:cNvSpPr/>
          <p:nvPr/>
        </p:nvSpPr>
        <p:spPr>
          <a:xfrm>
            <a:off x="457200" y="1341388"/>
            <a:ext cx="8420100" cy="9525"/>
          </a:xfrm>
          <a:prstGeom prst="rect">
            <a:avLst/>
          </a:prstGeom>
          <a:solidFill>
            <a:srgbClr val="9CA3AF">
              <a:alpha val="20000"/>
            </a:srgbClr>
          </a:solidFill>
          <a:ln/>
        </p:spPr>
      </p:sp>
      <p:sp>
        <p:nvSpPr>
          <p:cNvPr id="5" name="Shape 3"/>
          <p:cNvSpPr/>
          <p:nvPr/>
        </p:nvSpPr>
        <p:spPr>
          <a:xfrm>
            <a:off x="457200" y="1331863"/>
            <a:ext cx="2413397" cy="19050"/>
          </a:xfrm>
          <a:prstGeom prst="rect">
            <a:avLst/>
          </a:prstGeom>
          <a:solidFill>
            <a:srgbClr val="16303F"/>
          </a:solidFill>
          <a:ln/>
        </p:spPr>
      </p:sp>
      <p:sp>
        <p:nvSpPr>
          <p:cNvPr id="6" name="Text 4"/>
          <p:cNvSpPr txBox="1"/>
          <p:nvPr/>
        </p:nvSpPr>
        <p:spPr>
          <a:xfrm>
            <a:off x="563761" y="11403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7" name="Shape 5"/>
          <p:cNvSpPr/>
          <p:nvPr/>
        </p:nvSpPr>
        <p:spPr>
          <a:xfrm>
            <a:off x="2870597" y="1331863"/>
            <a:ext cx="3829943" cy="19050"/>
          </a:xfrm>
          <a:prstGeom prst="rect">
            <a:avLst/>
          </a:prstGeom>
          <a:solidFill>
            <a:srgbClr val="16303F"/>
          </a:solidFill>
          <a:ln/>
        </p:spPr>
      </p:sp>
      <p:sp>
        <p:nvSpPr>
          <p:cNvPr id="8" name="Text 6"/>
          <p:cNvSpPr txBox="1"/>
          <p:nvPr/>
        </p:nvSpPr>
        <p:spPr>
          <a:xfrm>
            <a:off x="2977158" y="1140321"/>
            <a:ext cx="73059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RELOADS?</a:t>
            </a:r>
            <a:endParaRPr lang="en-US" sz="816" dirty="0"/>
          </a:p>
        </p:txBody>
      </p:sp>
      <p:sp>
        <p:nvSpPr>
          <p:cNvPr id="9" name="Shape 7"/>
          <p:cNvSpPr/>
          <p:nvPr/>
        </p:nvSpPr>
        <p:spPr>
          <a:xfrm>
            <a:off x="6700540" y="1331863"/>
            <a:ext cx="2176760" cy="19050"/>
          </a:xfrm>
          <a:prstGeom prst="rect">
            <a:avLst/>
          </a:prstGeom>
          <a:solidFill>
            <a:srgbClr val="16303F"/>
          </a:solidFill>
          <a:ln/>
        </p:spPr>
      </p:sp>
      <p:sp>
        <p:nvSpPr>
          <p:cNvPr id="10" name="Text 8"/>
          <p:cNvSpPr txBox="1"/>
          <p:nvPr/>
        </p:nvSpPr>
        <p:spPr>
          <a:xfrm>
            <a:off x="6807101" y="1140321"/>
            <a:ext cx="39945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HOW</a:t>
            </a:r>
            <a:endParaRPr lang="en-US" sz="816" dirty="0"/>
          </a:p>
        </p:txBody>
      </p:sp>
      <p:sp>
        <p:nvSpPr>
          <p:cNvPr id="11" name="Shape 9"/>
          <p:cNvSpPr/>
          <p:nvPr/>
        </p:nvSpPr>
        <p:spPr>
          <a:xfrm>
            <a:off x="457200" y="1636365"/>
            <a:ext cx="8420100" cy="9525"/>
          </a:xfrm>
          <a:prstGeom prst="rect">
            <a:avLst/>
          </a:prstGeom>
          <a:solidFill>
            <a:srgbClr val="9CA3AF">
              <a:alpha val="20000"/>
            </a:srgbClr>
          </a:solidFill>
          <a:ln/>
        </p:spPr>
      </p:sp>
      <p:sp>
        <p:nvSpPr>
          <p:cNvPr id="12" name="Shape 10"/>
          <p:cNvSpPr/>
          <p:nvPr/>
        </p:nvSpPr>
        <p:spPr>
          <a:xfrm>
            <a:off x="457200" y="1636365"/>
            <a:ext cx="2413397" cy="9525"/>
          </a:xfrm>
          <a:prstGeom prst="rect">
            <a:avLst/>
          </a:prstGeom>
          <a:solidFill>
            <a:srgbClr val="DDD9D2"/>
          </a:solidFill>
          <a:ln/>
        </p:spPr>
      </p:sp>
      <p:sp>
        <p:nvSpPr>
          <p:cNvPr id="13" name="Shape 11"/>
          <p:cNvSpPr/>
          <p:nvPr/>
        </p:nvSpPr>
        <p:spPr>
          <a:xfrm>
            <a:off x="563761" y="1412677"/>
            <a:ext cx="1285429" cy="180677"/>
          </a:xfrm>
          <a:prstGeom prst="roundRect">
            <a:avLst>
              <a:gd name="adj" fmla="val 21087"/>
            </a:avLst>
          </a:prstGeom>
          <a:solidFill>
            <a:srgbClr val="16303F">
              <a:alpha val="7000"/>
            </a:srgbClr>
          </a:solidFill>
          <a:ln/>
        </p:spPr>
      </p:sp>
      <p:sp>
        <p:nvSpPr>
          <p:cNvPr id="14" name="Text 12"/>
          <p:cNvSpPr txBox="1"/>
          <p:nvPr/>
        </p:nvSpPr>
        <p:spPr>
          <a:xfrm>
            <a:off x="50661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15" name="Shape 13"/>
          <p:cNvSpPr/>
          <p:nvPr/>
        </p:nvSpPr>
        <p:spPr>
          <a:xfrm>
            <a:off x="2870597" y="1636365"/>
            <a:ext cx="3829943" cy="9525"/>
          </a:xfrm>
          <a:prstGeom prst="rect">
            <a:avLst/>
          </a:prstGeom>
          <a:solidFill>
            <a:srgbClr val="DDD9D2"/>
          </a:solidFill>
          <a:ln/>
        </p:spPr>
      </p:sp>
      <p:sp>
        <p:nvSpPr>
          <p:cNvPr id="16" name="Text 14"/>
          <p:cNvSpPr txBox="1"/>
          <p:nvPr/>
        </p:nvSpPr>
        <p:spPr>
          <a:xfrm>
            <a:off x="2977158" y="1412528"/>
            <a:ext cx="116964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(host default)</a:t>
            </a:r>
            <a:endParaRPr lang="en-US" sz="1008" dirty="0"/>
          </a:p>
        </p:txBody>
      </p:sp>
      <p:sp>
        <p:nvSpPr>
          <p:cNvPr id="17" name="Shape 15"/>
          <p:cNvSpPr/>
          <p:nvPr/>
        </p:nvSpPr>
        <p:spPr>
          <a:xfrm>
            <a:off x="6700540" y="1636365"/>
            <a:ext cx="2176760" cy="9525"/>
          </a:xfrm>
          <a:prstGeom prst="rect">
            <a:avLst/>
          </a:prstGeom>
          <a:solidFill>
            <a:srgbClr val="DDD9D2"/>
          </a:solidFill>
          <a:ln/>
        </p:spPr>
      </p:sp>
      <p:sp>
        <p:nvSpPr>
          <p:cNvPr id="18" name="Shape 16"/>
          <p:cNvSpPr/>
          <p:nvPr/>
        </p:nvSpPr>
        <p:spPr>
          <a:xfrm>
            <a:off x="6807101" y="1412677"/>
            <a:ext cx="1285429" cy="180677"/>
          </a:xfrm>
          <a:prstGeom prst="roundRect">
            <a:avLst>
              <a:gd name="adj" fmla="val 21087"/>
            </a:avLst>
          </a:prstGeom>
          <a:solidFill>
            <a:srgbClr val="16303F">
              <a:alpha val="7000"/>
            </a:srgbClr>
          </a:solidFill>
          <a:ln/>
        </p:spPr>
      </p:sp>
      <p:sp>
        <p:nvSpPr>
          <p:cNvPr id="19" name="Text 17"/>
          <p:cNvSpPr txBox="1"/>
          <p:nvPr/>
        </p:nvSpPr>
        <p:spPr>
          <a:xfrm>
            <a:off x="674995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FileSystemWatcher</a:t>
            </a:r>
            <a:endParaRPr lang="en-US" sz="927" dirty="0"/>
          </a:p>
        </p:txBody>
      </p:sp>
      <p:sp>
        <p:nvSpPr>
          <p:cNvPr id="20" name="Shape 18"/>
          <p:cNvSpPr/>
          <p:nvPr/>
        </p:nvSpPr>
        <p:spPr>
          <a:xfrm>
            <a:off x="457200" y="1645890"/>
            <a:ext cx="8420100" cy="286643"/>
          </a:xfrm>
          <a:prstGeom prst="rect">
            <a:avLst/>
          </a:prstGeom>
          <a:solidFill>
            <a:srgbClr val="16303F">
              <a:alpha val="3000"/>
            </a:srgbClr>
          </a:solidFill>
          <a:ln/>
        </p:spPr>
      </p:sp>
      <p:sp>
        <p:nvSpPr>
          <p:cNvPr id="21" name="Shape 19"/>
          <p:cNvSpPr/>
          <p:nvPr/>
        </p:nvSpPr>
        <p:spPr>
          <a:xfrm>
            <a:off x="457200" y="1923008"/>
            <a:ext cx="8420100" cy="9525"/>
          </a:xfrm>
          <a:prstGeom prst="rect">
            <a:avLst/>
          </a:prstGeom>
          <a:solidFill>
            <a:srgbClr val="9CA3AF">
              <a:alpha val="20000"/>
            </a:srgbClr>
          </a:solidFill>
          <a:ln/>
        </p:spPr>
      </p:sp>
      <p:sp>
        <p:nvSpPr>
          <p:cNvPr id="22" name="Shape 20"/>
          <p:cNvSpPr/>
          <p:nvPr/>
        </p:nvSpPr>
        <p:spPr>
          <a:xfrm>
            <a:off x="457200" y="1923008"/>
            <a:ext cx="2413397" cy="9525"/>
          </a:xfrm>
          <a:prstGeom prst="rect">
            <a:avLst/>
          </a:prstGeom>
          <a:solidFill>
            <a:srgbClr val="DDD9D2"/>
          </a:solidFill>
          <a:ln/>
        </p:spPr>
      </p:sp>
      <p:sp>
        <p:nvSpPr>
          <p:cNvPr id="23" name="Text 21"/>
          <p:cNvSpPr txBox="1"/>
          <p:nvPr/>
        </p:nvSpPr>
        <p:spPr>
          <a:xfrm>
            <a:off x="563761" y="1702743"/>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24" name="Shape 22"/>
          <p:cNvSpPr/>
          <p:nvPr/>
        </p:nvSpPr>
        <p:spPr>
          <a:xfrm>
            <a:off x="2870597" y="1923008"/>
            <a:ext cx="3829943" cy="9525"/>
          </a:xfrm>
          <a:prstGeom prst="rect">
            <a:avLst/>
          </a:prstGeom>
          <a:solidFill>
            <a:srgbClr val="DDD9D2"/>
          </a:solidFill>
          <a:ln/>
        </p:spPr>
      </p:sp>
      <p:sp>
        <p:nvSpPr>
          <p:cNvPr id="25" name="Text 23"/>
          <p:cNvSpPr txBox="1"/>
          <p:nvPr/>
        </p:nvSpPr>
        <p:spPr>
          <a:xfrm>
            <a:off x="2977158" y="1702743"/>
            <a:ext cx="31730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a:t>
            </a:r>
            <a:endParaRPr lang="en-US" sz="1008" dirty="0"/>
          </a:p>
        </p:txBody>
      </p:sp>
      <p:sp>
        <p:nvSpPr>
          <p:cNvPr id="26" name="Shape 24"/>
          <p:cNvSpPr/>
          <p:nvPr/>
        </p:nvSpPr>
        <p:spPr>
          <a:xfrm>
            <a:off x="6700540" y="1923008"/>
            <a:ext cx="2176760" cy="9525"/>
          </a:xfrm>
          <a:prstGeom prst="rect">
            <a:avLst/>
          </a:prstGeom>
          <a:solidFill>
            <a:srgbClr val="DDD9D2"/>
          </a:solidFill>
          <a:ln/>
        </p:spPr>
      </p:sp>
      <p:sp>
        <p:nvSpPr>
          <p:cNvPr id="27" name="Text 25"/>
          <p:cNvSpPr txBox="1"/>
          <p:nvPr/>
        </p:nvSpPr>
        <p:spPr>
          <a:xfrm>
            <a:off x="6807101" y="1702743"/>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28" name="Shape 26"/>
          <p:cNvSpPr/>
          <p:nvPr/>
        </p:nvSpPr>
        <p:spPr>
          <a:xfrm>
            <a:off x="457200" y="2209651"/>
            <a:ext cx="8420100" cy="9525"/>
          </a:xfrm>
          <a:prstGeom prst="rect">
            <a:avLst/>
          </a:prstGeom>
          <a:solidFill>
            <a:srgbClr val="9CA3AF">
              <a:alpha val="20000"/>
            </a:srgbClr>
          </a:solidFill>
          <a:ln/>
        </p:spPr>
      </p:sp>
      <p:sp>
        <p:nvSpPr>
          <p:cNvPr id="29" name="Shape 27"/>
          <p:cNvSpPr/>
          <p:nvPr/>
        </p:nvSpPr>
        <p:spPr>
          <a:xfrm>
            <a:off x="457200" y="2209651"/>
            <a:ext cx="2413397" cy="9525"/>
          </a:xfrm>
          <a:prstGeom prst="rect">
            <a:avLst/>
          </a:prstGeom>
          <a:solidFill>
            <a:srgbClr val="DDD9D2"/>
          </a:solidFill>
          <a:ln/>
        </p:spPr>
      </p:sp>
      <p:sp>
        <p:nvSpPr>
          <p:cNvPr id="30" name="Text 28"/>
          <p:cNvSpPr txBox="1"/>
          <p:nvPr/>
        </p:nvSpPr>
        <p:spPr>
          <a:xfrm>
            <a:off x="563761" y="1989386"/>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2870597" y="2209651"/>
            <a:ext cx="3829943" cy="9525"/>
          </a:xfrm>
          <a:prstGeom prst="rect">
            <a:avLst/>
          </a:prstGeom>
          <a:solidFill>
            <a:srgbClr val="DDD9D2"/>
          </a:solidFill>
          <a:ln/>
        </p:spPr>
      </p:sp>
      <p:sp>
        <p:nvSpPr>
          <p:cNvPr id="32" name="Text 30"/>
          <p:cNvSpPr txBox="1"/>
          <p:nvPr/>
        </p:nvSpPr>
        <p:spPr>
          <a:xfrm>
            <a:off x="2977158" y="1989386"/>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33" name="Shape 31"/>
          <p:cNvSpPr/>
          <p:nvPr/>
        </p:nvSpPr>
        <p:spPr>
          <a:xfrm>
            <a:off x="6700540" y="2209651"/>
            <a:ext cx="2176760" cy="9525"/>
          </a:xfrm>
          <a:prstGeom prst="rect">
            <a:avLst/>
          </a:prstGeom>
          <a:solidFill>
            <a:srgbClr val="DDD9D2"/>
          </a:solidFill>
          <a:ln/>
        </p:spPr>
      </p:sp>
      <p:sp>
        <p:nvSpPr>
          <p:cNvPr id="34" name="Text 32"/>
          <p:cNvSpPr txBox="1"/>
          <p:nvPr/>
        </p:nvSpPr>
        <p:spPr>
          <a:xfrm>
            <a:off x="6807101" y="1989386"/>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35" name="Shape 33"/>
          <p:cNvSpPr/>
          <p:nvPr/>
        </p:nvSpPr>
        <p:spPr>
          <a:xfrm>
            <a:off x="457200" y="2219176"/>
            <a:ext cx="8420100" cy="286643"/>
          </a:xfrm>
          <a:prstGeom prst="rect">
            <a:avLst/>
          </a:prstGeom>
          <a:solidFill>
            <a:srgbClr val="16303F">
              <a:alpha val="3000"/>
            </a:srgbClr>
          </a:solidFill>
          <a:ln/>
        </p:spPr>
      </p:sp>
      <p:sp>
        <p:nvSpPr>
          <p:cNvPr id="36" name="Shape 34"/>
          <p:cNvSpPr/>
          <p:nvPr/>
        </p:nvSpPr>
        <p:spPr>
          <a:xfrm>
            <a:off x="457200" y="2496294"/>
            <a:ext cx="8420100" cy="9525"/>
          </a:xfrm>
          <a:prstGeom prst="rect">
            <a:avLst/>
          </a:prstGeom>
          <a:solidFill>
            <a:srgbClr val="9CA3AF">
              <a:alpha val="20000"/>
            </a:srgbClr>
          </a:solidFill>
          <a:ln/>
        </p:spPr>
      </p:sp>
      <p:sp>
        <p:nvSpPr>
          <p:cNvPr id="37" name="Shape 35"/>
          <p:cNvSpPr/>
          <p:nvPr/>
        </p:nvSpPr>
        <p:spPr>
          <a:xfrm>
            <a:off x="457200" y="2496294"/>
            <a:ext cx="2413397" cy="9525"/>
          </a:xfrm>
          <a:prstGeom prst="rect">
            <a:avLst/>
          </a:prstGeom>
          <a:solidFill>
            <a:srgbClr val="DDD9D2"/>
          </a:solidFill>
          <a:ln/>
        </p:spPr>
      </p:sp>
      <p:sp>
        <p:nvSpPr>
          <p:cNvPr id="38" name="Text 36"/>
          <p:cNvSpPr txBox="1"/>
          <p:nvPr/>
        </p:nvSpPr>
        <p:spPr>
          <a:xfrm>
            <a:off x="563761" y="2276029"/>
            <a:ext cx="95726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 line</a:t>
            </a:r>
            <a:endParaRPr lang="en-US" sz="1008" dirty="0"/>
          </a:p>
        </p:txBody>
      </p:sp>
      <p:sp>
        <p:nvSpPr>
          <p:cNvPr id="39" name="Shape 37"/>
          <p:cNvSpPr/>
          <p:nvPr/>
        </p:nvSpPr>
        <p:spPr>
          <a:xfrm>
            <a:off x="2870597" y="2496294"/>
            <a:ext cx="3829943" cy="9525"/>
          </a:xfrm>
          <a:prstGeom prst="rect">
            <a:avLst/>
          </a:prstGeom>
          <a:solidFill>
            <a:srgbClr val="DDD9D2"/>
          </a:solidFill>
          <a:ln/>
        </p:spPr>
      </p:sp>
      <p:sp>
        <p:nvSpPr>
          <p:cNvPr id="40" name="Text 38"/>
          <p:cNvSpPr txBox="1"/>
          <p:nvPr/>
        </p:nvSpPr>
        <p:spPr>
          <a:xfrm>
            <a:off x="2977158" y="2276029"/>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41" name="Shape 39"/>
          <p:cNvSpPr/>
          <p:nvPr/>
        </p:nvSpPr>
        <p:spPr>
          <a:xfrm>
            <a:off x="6700540" y="2496294"/>
            <a:ext cx="2176760" cy="9525"/>
          </a:xfrm>
          <a:prstGeom prst="rect">
            <a:avLst/>
          </a:prstGeom>
          <a:solidFill>
            <a:srgbClr val="DDD9D2"/>
          </a:solidFill>
          <a:ln/>
        </p:spPr>
      </p:sp>
      <p:sp>
        <p:nvSpPr>
          <p:cNvPr id="42" name="Text 40"/>
          <p:cNvSpPr txBox="1"/>
          <p:nvPr/>
        </p:nvSpPr>
        <p:spPr>
          <a:xfrm>
            <a:off x="6807101" y="2276029"/>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43" name="Shape 41"/>
          <p:cNvSpPr/>
          <p:nvPr/>
        </p:nvSpPr>
        <p:spPr>
          <a:xfrm>
            <a:off x="457200" y="2786509"/>
            <a:ext cx="8420100" cy="9525"/>
          </a:xfrm>
          <a:prstGeom prst="rect">
            <a:avLst/>
          </a:prstGeom>
          <a:solidFill>
            <a:srgbClr val="9CA3AF">
              <a:alpha val="20000"/>
            </a:srgbClr>
          </a:solidFill>
          <a:ln/>
        </p:spPr>
      </p:sp>
      <p:sp>
        <p:nvSpPr>
          <p:cNvPr id="44" name="Shape 42"/>
          <p:cNvSpPr/>
          <p:nvPr/>
        </p:nvSpPr>
        <p:spPr>
          <a:xfrm>
            <a:off x="457200" y="2786509"/>
            <a:ext cx="2413397" cy="9525"/>
          </a:xfrm>
          <a:prstGeom prst="rect">
            <a:avLst/>
          </a:prstGeom>
          <a:solidFill>
            <a:srgbClr val="DDD9D2"/>
          </a:solidFill>
          <a:ln/>
        </p:spPr>
      </p:sp>
      <p:sp>
        <p:nvSpPr>
          <p:cNvPr id="45" name="Text 43"/>
          <p:cNvSpPr txBox="1"/>
          <p:nvPr/>
        </p:nvSpPr>
        <p:spPr>
          <a:xfrm>
            <a:off x="563761" y="2562671"/>
            <a:ext cx="10220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Key Vault</a:t>
            </a:r>
            <a:endParaRPr lang="en-US" sz="1008" dirty="0"/>
          </a:p>
        </p:txBody>
      </p:sp>
      <p:sp>
        <p:nvSpPr>
          <p:cNvPr id="46" name="Shape 44"/>
          <p:cNvSpPr/>
          <p:nvPr/>
        </p:nvSpPr>
        <p:spPr>
          <a:xfrm>
            <a:off x="2870597" y="2786509"/>
            <a:ext cx="3829943" cy="9525"/>
          </a:xfrm>
          <a:prstGeom prst="rect">
            <a:avLst/>
          </a:prstGeom>
          <a:solidFill>
            <a:srgbClr val="DDD9D2"/>
          </a:solidFill>
          <a:ln/>
        </p:spPr>
      </p:sp>
      <p:sp>
        <p:nvSpPr>
          <p:cNvPr id="47" name="Shape 45"/>
          <p:cNvSpPr/>
          <p:nvPr/>
        </p:nvSpPr>
        <p:spPr>
          <a:xfrm>
            <a:off x="3369766" y="2562820"/>
            <a:ext cx="1073497" cy="180677"/>
          </a:xfrm>
          <a:prstGeom prst="roundRect">
            <a:avLst>
              <a:gd name="adj" fmla="val 21087"/>
            </a:avLst>
          </a:prstGeom>
          <a:solidFill>
            <a:srgbClr val="16303F">
              <a:alpha val="7000"/>
            </a:srgbClr>
          </a:solidFill>
          <a:ln/>
        </p:spPr>
      </p:sp>
      <p:sp>
        <p:nvSpPr>
          <p:cNvPr id="48" name="Text 46"/>
          <p:cNvSpPr txBox="1"/>
          <p:nvPr/>
        </p:nvSpPr>
        <p:spPr>
          <a:xfrm>
            <a:off x="2977158" y="2562671"/>
            <a:ext cx="17993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Only if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ReloadInterval</a:t>
            </a:r>
            <a:pPr algn="l" indent="0" marL="0">
              <a:buNone/>
            </a:pPr>
            <a:r>
              <a:rPr lang="en-US" sz="1008" dirty="0">
                <a:solidFill>
                  <a:srgbClr val="16303F"/>
                </a:solidFill>
                <a:latin typeface="Manrope" pitchFamily="34" charset="0"/>
                <a:ea typeface="Manrope" pitchFamily="34" charset="-122"/>
                <a:cs typeface="Manrope" pitchFamily="34" charset="-120"/>
              </a:rPr>
              <a:t> set</a:t>
            </a:r>
            <a:endParaRPr lang="en-US" sz="1008" dirty="0"/>
          </a:p>
        </p:txBody>
      </p:sp>
      <p:sp>
        <p:nvSpPr>
          <p:cNvPr id="49" name="Shape 47"/>
          <p:cNvSpPr/>
          <p:nvPr/>
        </p:nvSpPr>
        <p:spPr>
          <a:xfrm>
            <a:off x="6700540" y="2786509"/>
            <a:ext cx="2176760" cy="9525"/>
          </a:xfrm>
          <a:prstGeom prst="rect">
            <a:avLst/>
          </a:prstGeom>
          <a:solidFill>
            <a:srgbClr val="DDD9D2"/>
          </a:solidFill>
          <a:ln/>
        </p:spPr>
      </p:sp>
      <p:sp>
        <p:nvSpPr>
          <p:cNvPr id="50" name="Text 48"/>
          <p:cNvSpPr txBox="1"/>
          <p:nvPr/>
        </p:nvSpPr>
        <p:spPr>
          <a:xfrm>
            <a:off x="6807101" y="2562671"/>
            <a:ext cx="50735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a:t>
            </a:r>
            <a:endParaRPr lang="en-US" sz="1008" dirty="0"/>
          </a:p>
        </p:txBody>
      </p:sp>
      <p:sp>
        <p:nvSpPr>
          <p:cNvPr id="51" name="Shape 49"/>
          <p:cNvSpPr/>
          <p:nvPr/>
        </p:nvSpPr>
        <p:spPr>
          <a:xfrm>
            <a:off x="457200" y="2796034"/>
            <a:ext cx="8420100" cy="290215"/>
          </a:xfrm>
          <a:prstGeom prst="rect">
            <a:avLst/>
          </a:prstGeom>
          <a:solidFill>
            <a:srgbClr val="16303F">
              <a:alpha val="3000"/>
            </a:srgbClr>
          </a:solidFill>
          <a:ln/>
        </p:spPr>
      </p:sp>
      <p:sp>
        <p:nvSpPr>
          <p:cNvPr id="52" name="Shape 50"/>
          <p:cNvSpPr/>
          <p:nvPr/>
        </p:nvSpPr>
        <p:spPr>
          <a:xfrm>
            <a:off x="457200" y="3076724"/>
            <a:ext cx="8420100" cy="9525"/>
          </a:xfrm>
          <a:prstGeom prst="rect">
            <a:avLst/>
          </a:prstGeom>
          <a:solidFill>
            <a:srgbClr val="9CA3AF">
              <a:alpha val="20000"/>
            </a:srgbClr>
          </a:solidFill>
          <a:ln/>
        </p:spPr>
      </p:sp>
      <p:sp>
        <p:nvSpPr>
          <p:cNvPr id="53" name="Shape 51"/>
          <p:cNvSpPr/>
          <p:nvPr/>
        </p:nvSpPr>
        <p:spPr>
          <a:xfrm>
            <a:off x="457200" y="3076724"/>
            <a:ext cx="2413397" cy="9525"/>
          </a:xfrm>
          <a:prstGeom prst="rect">
            <a:avLst/>
          </a:prstGeom>
          <a:solidFill>
            <a:srgbClr val="DDD9D2"/>
          </a:solidFill>
          <a:ln/>
        </p:spPr>
      </p:sp>
      <p:sp>
        <p:nvSpPr>
          <p:cNvPr id="54" name="Text 52"/>
          <p:cNvSpPr txBox="1"/>
          <p:nvPr/>
        </p:nvSpPr>
        <p:spPr>
          <a:xfrm>
            <a:off x="563761" y="2852886"/>
            <a:ext cx="156284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App Configuration</a:t>
            </a:r>
            <a:endParaRPr lang="en-US" sz="1008" dirty="0"/>
          </a:p>
        </p:txBody>
      </p:sp>
      <p:sp>
        <p:nvSpPr>
          <p:cNvPr id="55" name="Shape 53"/>
          <p:cNvSpPr/>
          <p:nvPr/>
        </p:nvSpPr>
        <p:spPr>
          <a:xfrm>
            <a:off x="2870597" y="3076724"/>
            <a:ext cx="3829943" cy="9525"/>
          </a:xfrm>
          <a:prstGeom prst="rect">
            <a:avLst/>
          </a:prstGeom>
          <a:solidFill>
            <a:srgbClr val="DDD9D2"/>
          </a:solidFill>
          <a:ln/>
        </p:spPr>
      </p:sp>
      <p:sp>
        <p:nvSpPr>
          <p:cNvPr id="56" name="Shape 54"/>
          <p:cNvSpPr/>
          <p:nvPr/>
        </p:nvSpPr>
        <p:spPr>
          <a:xfrm>
            <a:off x="3520827" y="2853035"/>
            <a:ext cx="1214735" cy="180677"/>
          </a:xfrm>
          <a:prstGeom prst="roundRect">
            <a:avLst>
              <a:gd name="adj" fmla="val 21087"/>
            </a:avLst>
          </a:prstGeom>
          <a:solidFill>
            <a:srgbClr val="16303F">
              <a:alpha val="7000"/>
            </a:srgbClr>
          </a:solidFill>
          <a:ln/>
        </p:spPr>
      </p:sp>
      <p:sp>
        <p:nvSpPr>
          <p:cNvPr id="57" name="Text 55"/>
          <p:cNvSpPr txBox="1"/>
          <p:nvPr/>
        </p:nvSpPr>
        <p:spPr>
          <a:xfrm>
            <a:off x="2977158" y="2852886"/>
            <a:ext cx="183043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with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ConfigureRefresh</a:t>
            </a:r>
            <a:endParaRPr lang="en-US" sz="1008" dirty="0"/>
          </a:p>
        </p:txBody>
      </p:sp>
      <p:sp>
        <p:nvSpPr>
          <p:cNvPr id="58" name="Shape 56"/>
          <p:cNvSpPr/>
          <p:nvPr/>
        </p:nvSpPr>
        <p:spPr>
          <a:xfrm>
            <a:off x="6700540" y="3076724"/>
            <a:ext cx="2176760" cy="9525"/>
          </a:xfrm>
          <a:prstGeom prst="rect">
            <a:avLst/>
          </a:prstGeom>
          <a:solidFill>
            <a:srgbClr val="DDD9D2"/>
          </a:solidFill>
          <a:ln/>
        </p:spPr>
      </p:sp>
      <p:sp>
        <p:nvSpPr>
          <p:cNvPr id="59" name="Text 57"/>
          <p:cNvSpPr txBox="1"/>
          <p:nvPr/>
        </p:nvSpPr>
        <p:spPr>
          <a:xfrm>
            <a:off x="6807101" y="2852886"/>
            <a:ext cx="11452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 on activity</a:t>
            </a:r>
            <a:endParaRPr lang="en-US" sz="1008" dirty="0"/>
          </a:p>
        </p:txBody>
      </p:sp>
      <p:sp>
        <p:nvSpPr>
          <p:cNvPr id="60" name="Shape 58"/>
          <p:cNvSpPr/>
          <p:nvPr/>
        </p:nvSpPr>
        <p:spPr>
          <a:xfrm>
            <a:off x="457200" y="3366939"/>
            <a:ext cx="8420100" cy="9525"/>
          </a:xfrm>
          <a:prstGeom prst="rect">
            <a:avLst/>
          </a:prstGeom>
          <a:solidFill>
            <a:srgbClr val="9CA3AF">
              <a:alpha val="20000"/>
            </a:srgbClr>
          </a:solidFill>
          <a:ln/>
        </p:spPr>
      </p:sp>
      <p:sp>
        <p:nvSpPr>
          <p:cNvPr id="61" name="Shape 59"/>
          <p:cNvSpPr/>
          <p:nvPr/>
        </p:nvSpPr>
        <p:spPr>
          <a:xfrm>
            <a:off x="457200" y="3366939"/>
            <a:ext cx="2413397" cy="9525"/>
          </a:xfrm>
          <a:prstGeom prst="rect">
            <a:avLst/>
          </a:prstGeom>
          <a:solidFill>
            <a:srgbClr val="DDD9D2"/>
          </a:solidFill>
          <a:ln/>
        </p:spPr>
      </p:sp>
      <p:sp>
        <p:nvSpPr>
          <p:cNvPr id="62" name="Text 60"/>
          <p:cNvSpPr txBox="1"/>
          <p:nvPr/>
        </p:nvSpPr>
        <p:spPr>
          <a:xfrm>
            <a:off x="563761" y="3143101"/>
            <a:ext cx="81245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Key-per-file</a:t>
            </a:r>
            <a:endParaRPr lang="en-US" sz="1008" dirty="0"/>
          </a:p>
        </p:txBody>
      </p:sp>
      <p:sp>
        <p:nvSpPr>
          <p:cNvPr id="63" name="Shape 61"/>
          <p:cNvSpPr/>
          <p:nvPr/>
        </p:nvSpPr>
        <p:spPr>
          <a:xfrm>
            <a:off x="2870597" y="3366939"/>
            <a:ext cx="3829943" cy="9525"/>
          </a:xfrm>
          <a:prstGeom prst="rect">
            <a:avLst/>
          </a:prstGeom>
          <a:solidFill>
            <a:srgbClr val="DDD9D2"/>
          </a:solidFill>
          <a:ln/>
        </p:spPr>
      </p:sp>
      <p:sp>
        <p:nvSpPr>
          <p:cNvPr id="64" name="Shape 62"/>
          <p:cNvSpPr/>
          <p:nvPr/>
        </p:nvSpPr>
        <p:spPr>
          <a:xfrm>
            <a:off x="3660725" y="3143250"/>
            <a:ext cx="1073497" cy="180677"/>
          </a:xfrm>
          <a:prstGeom prst="roundRect">
            <a:avLst>
              <a:gd name="adj" fmla="val 21087"/>
            </a:avLst>
          </a:prstGeom>
          <a:solidFill>
            <a:srgbClr val="16303F">
              <a:alpha val="7000"/>
            </a:srgbClr>
          </a:solidFill>
          <a:ln/>
        </p:spPr>
      </p:sp>
      <p:sp>
        <p:nvSpPr>
          <p:cNvPr id="65" name="Text 63"/>
          <p:cNvSpPr txBox="1"/>
          <p:nvPr/>
        </p:nvSpPr>
        <p:spPr>
          <a:xfrm>
            <a:off x="2977158" y="3143101"/>
            <a:ext cx="2538115"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Only when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reloadOnChange</a:t>
            </a:r>
            <a:pPr algn="l" indent="0" marL="0">
              <a:buNone/>
            </a:pPr>
            <a:r>
              <a:rPr lang="en-US" sz="1008" b="1" dirty="0">
                <a:solidFill>
                  <a:srgbClr val="16303F"/>
                </a:solidFill>
                <a:latin typeface="Manrope" pitchFamily="34" charset="0"/>
                <a:ea typeface="Manrope" pitchFamily="34" charset="-122"/>
                <a:cs typeface="Manrope" pitchFamily="34" charset="-120"/>
              </a:rPr>
              <a:t> is enabled</a:t>
            </a:r>
            <a:endParaRPr lang="en-US" sz="1008" dirty="0"/>
          </a:p>
        </p:txBody>
      </p:sp>
      <p:sp>
        <p:nvSpPr>
          <p:cNvPr id="66" name="Shape 64"/>
          <p:cNvSpPr/>
          <p:nvPr/>
        </p:nvSpPr>
        <p:spPr>
          <a:xfrm>
            <a:off x="6700540" y="3366939"/>
            <a:ext cx="2176760" cy="9525"/>
          </a:xfrm>
          <a:prstGeom prst="rect">
            <a:avLst/>
          </a:prstGeom>
          <a:solidFill>
            <a:srgbClr val="DDD9D2"/>
          </a:solidFill>
          <a:ln/>
        </p:spPr>
      </p:sp>
      <p:sp>
        <p:nvSpPr>
          <p:cNvPr id="67" name="Text 65"/>
          <p:cNvSpPr txBox="1"/>
          <p:nvPr/>
        </p:nvSpPr>
        <p:spPr>
          <a:xfrm>
            <a:off x="6807101" y="3143101"/>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68" name="Shape 66"/>
          <p:cNvSpPr/>
          <p:nvPr/>
        </p:nvSpPr>
        <p:spPr>
          <a:xfrm>
            <a:off x="457200" y="3376464"/>
            <a:ext cx="8420100" cy="286643"/>
          </a:xfrm>
          <a:prstGeom prst="rect">
            <a:avLst/>
          </a:prstGeom>
          <a:solidFill>
            <a:srgbClr val="16303F">
              <a:alpha val="3000"/>
            </a:srgbClr>
          </a:solidFill>
          <a:ln/>
        </p:spPr>
      </p:sp>
      <p:sp>
        <p:nvSpPr>
          <p:cNvPr id="69" name="Shape 67"/>
          <p:cNvSpPr/>
          <p:nvPr/>
        </p:nvSpPr>
        <p:spPr>
          <a:xfrm>
            <a:off x="457200" y="3653582"/>
            <a:ext cx="8420100" cy="9525"/>
          </a:xfrm>
          <a:prstGeom prst="rect">
            <a:avLst/>
          </a:prstGeom>
          <a:solidFill>
            <a:srgbClr val="9CA3AF">
              <a:alpha val="20000"/>
            </a:srgbClr>
          </a:solidFill>
          <a:ln/>
        </p:spPr>
      </p:sp>
      <p:sp>
        <p:nvSpPr>
          <p:cNvPr id="70" name="Shape 68"/>
          <p:cNvSpPr/>
          <p:nvPr/>
        </p:nvSpPr>
        <p:spPr>
          <a:xfrm>
            <a:off x="457200" y="3653582"/>
            <a:ext cx="2413397" cy="9525"/>
          </a:xfrm>
          <a:prstGeom prst="rect">
            <a:avLst/>
          </a:prstGeom>
          <a:solidFill>
            <a:srgbClr val="DDD9D2"/>
          </a:solidFill>
          <a:ln/>
        </p:spPr>
      </p:sp>
      <p:sp>
        <p:nvSpPr>
          <p:cNvPr id="71" name="Text 69"/>
          <p:cNvSpPr txBox="1"/>
          <p:nvPr/>
        </p:nvSpPr>
        <p:spPr>
          <a:xfrm>
            <a:off x="563761" y="3433316"/>
            <a:ext cx="751731"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In-memory</a:t>
            </a:r>
            <a:endParaRPr lang="en-US" sz="1008" dirty="0"/>
          </a:p>
        </p:txBody>
      </p:sp>
      <p:sp>
        <p:nvSpPr>
          <p:cNvPr id="72" name="Shape 70"/>
          <p:cNvSpPr/>
          <p:nvPr/>
        </p:nvSpPr>
        <p:spPr>
          <a:xfrm>
            <a:off x="2870597" y="3653582"/>
            <a:ext cx="3829943" cy="9525"/>
          </a:xfrm>
          <a:prstGeom prst="rect">
            <a:avLst/>
          </a:prstGeom>
          <a:solidFill>
            <a:srgbClr val="DDD9D2"/>
          </a:solidFill>
          <a:ln/>
        </p:spPr>
      </p:sp>
      <p:sp>
        <p:nvSpPr>
          <p:cNvPr id="73" name="Text 71"/>
          <p:cNvSpPr txBox="1"/>
          <p:nvPr/>
        </p:nvSpPr>
        <p:spPr>
          <a:xfrm>
            <a:off x="2977158" y="3433316"/>
            <a:ext cx="2777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No</a:t>
            </a:r>
            <a:endParaRPr lang="en-US" sz="1008" dirty="0"/>
          </a:p>
        </p:txBody>
      </p:sp>
      <p:sp>
        <p:nvSpPr>
          <p:cNvPr id="74" name="Shape 72"/>
          <p:cNvSpPr/>
          <p:nvPr/>
        </p:nvSpPr>
        <p:spPr>
          <a:xfrm>
            <a:off x="6700540" y="3653582"/>
            <a:ext cx="2176760" cy="9525"/>
          </a:xfrm>
          <a:prstGeom prst="rect">
            <a:avLst/>
          </a:prstGeom>
          <a:solidFill>
            <a:srgbClr val="DDD9D2"/>
          </a:solidFill>
          <a:ln/>
        </p:spPr>
      </p:sp>
      <p:sp>
        <p:nvSpPr>
          <p:cNvPr id="75" name="Text 73"/>
          <p:cNvSpPr txBox="1"/>
          <p:nvPr/>
        </p:nvSpPr>
        <p:spPr>
          <a:xfrm>
            <a:off x="6807101" y="3433316"/>
            <a:ext cx="21416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t>
            </a:r>
            <a:endParaRPr lang="en-US" sz="1008" dirty="0"/>
          </a:p>
        </p:txBody>
      </p:sp>
      <p:sp>
        <p:nvSpPr>
          <p:cNvPr id="76" name="Shape 74"/>
          <p:cNvSpPr/>
          <p:nvPr/>
        </p:nvSpPr>
        <p:spPr>
          <a:xfrm>
            <a:off x="457200" y="3943796"/>
            <a:ext cx="8420100" cy="9525"/>
          </a:xfrm>
          <a:prstGeom prst="rect">
            <a:avLst/>
          </a:prstGeom>
          <a:solidFill>
            <a:srgbClr val="9CA3AF">
              <a:alpha val="20000"/>
            </a:srgbClr>
          </a:solidFill>
          <a:ln/>
        </p:spPr>
      </p:sp>
      <p:sp>
        <p:nvSpPr>
          <p:cNvPr id="77" name="Shape 75"/>
          <p:cNvSpPr/>
          <p:nvPr/>
        </p:nvSpPr>
        <p:spPr>
          <a:xfrm>
            <a:off x="457200" y="3943796"/>
            <a:ext cx="2413397" cy="9525"/>
          </a:xfrm>
          <a:prstGeom prst="rect">
            <a:avLst/>
          </a:prstGeom>
          <a:solidFill>
            <a:srgbClr val="DDD9D2"/>
          </a:solidFill>
          <a:ln/>
        </p:spPr>
      </p:sp>
      <p:sp>
        <p:nvSpPr>
          <p:cNvPr id="78" name="Text 76"/>
          <p:cNvSpPr txBox="1"/>
          <p:nvPr/>
        </p:nvSpPr>
        <p:spPr>
          <a:xfrm>
            <a:off x="563761" y="3719959"/>
            <a:ext cx="58221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Custom</a:t>
            </a:r>
            <a:endParaRPr lang="en-US" sz="1008" dirty="0"/>
          </a:p>
        </p:txBody>
      </p:sp>
      <p:sp>
        <p:nvSpPr>
          <p:cNvPr id="79" name="Shape 77"/>
          <p:cNvSpPr/>
          <p:nvPr/>
        </p:nvSpPr>
        <p:spPr>
          <a:xfrm>
            <a:off x="2870597" y="3943796"/>
            <a:ext cx="3829943" cy="9525"/>
          </a:xfrm>
          <a:prstGeom prst="rect">
            <a:avLst/>
          </a:prstGeom>
          <a:solidFill>
            <a:srgbClr val="DDD9D2"/>
          </a:solidFill>
          <a:ln/>
        </p:spPr>
      </p:sp>
      <p:sp>
        <p:nvSpPr>
          <p:cNvPr id="80" name="Text 78"/>
          <p:cNvSpPr txBox="1"/>
          <p:nvPr/>
        </p:nvSpPr>
        <p:spPr>
          <a:xfrm>
            <a:off x="2977158" y="3719959"/>
            <a:ext cx="60022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Your call</a:t>
            </a:r>
            <a:endParaRPr lang="en-US" sz="1008" dirty="0"/>
          </a:p>
        </p:txBody>
      </p:sp>
      <p:sp>
        <p:nvSpPr>
          <p:cNvPr id="81" name="Shape 79"/>
          <p:cNvSpPr/>
          <p:nvPr/>
        </p:nvSpPr>
        <p:spPr>
          <a:xfrm>
            <a:off x="6700540" y="3943796"/>
            <a:ext cx="2176760" cy="9525"/>
          </a:xfrm>
          <a:prstGeom prst="rect">
            <a:avLst/>
          </a:prstGeom>
          <a:solidFill>
            <a:srgbClr val="DDD9D2"/>
          </a:solidFill>
          <a:ln/>
        </p:spPr>
      </p:sp>
      <p:sp>
        <p:nvSpPr>
          <p:cNvPr id="82" name="Shape 80"/>
          <p:cNvSpPr/>
          <p:nvPr/>
        </p:nvSpPr>
        <p:spPr>
          <a:xfrm>
            <a:off x="6807101" y="3720108"/>
            <a:ext cx="791021" cy="180677"/>
          </a:xfrm>
          <a:prstGeom prst="roundRect">
            <a:avLst>
              <a:gd name="adj" fmla="val 21087"/>
            </a:avLst>
          </a:prstGeom>
          <a:solidFill>
            <a:srgbClr val="16303F">
              <a:alpha val="7000"/>
            </a:srgbClr>
          </a:solidFill>
          <a:ln/>
        </p:spPr>
      </p:sp>
      <p:sp>
        <p:nvSpPr>
          <p:cNvPr id="83" name="Text 81"/>
          <p:cNvSpPr txBox="1"/>
          <p:nvPr/>
        </p:nvSpPr>
        <p:spPr>
          <a:xfrm>
            <a:off x="6749951" y="3720108"/>
            <a:ext cx="90532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OnReload()</a:t>
            </a:r>
            <a:endParaRPr lang="en-US" sz="927" dirty="0"/>
          </a:p>
        </p:txBody>
      </p:sp>
      <p:sp>
        <p:nvSpPr>
          <p:cNvPr id="84" name="Text 82"/>
          <p:cNvSpPr txBox="1"/>
          <p:nvPr/>
        </p:nvSpPr>
        <p:spPr>
          <a:xfrm>
            <a:off x="457200" y="4279999"/>
            <a:ext cx="8130927"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a:t>
            </a:r>
            <a:pPr algn="l" indent="0" marL="0">
              <a:buNone/>
            </a:pPr>
            <a:r>
              <a:rPr lang="en-US" sz="1200" b="1" dirty="0">
                <a:solidFill>
                  <a:srgbClr val="44535A"/>
                </a:solidFill>
                <a:latin typeface="Manrope" pitchFamily="34" charset="0"/>
                <a:ea typeface="Manrope" pitchFamily="34" charset="-122"/>
                <a:cs typeface="Manrope" pitchFamily="34" charset="-120"/>
              </a:rPr>
              <a:t>No</a:t>
            </a:r>
            <a:pPr algn="l" indent="0" marL="0">
              <a:buNone/>
            </a:pPr>
            <a:r>
              <a:rPr lang="en-US" sz="1200" dirty="0">
                <a:solidFill>
                  <a:srgbClr val="44535A"/>
                </a:solidFill>
                <a:latin typeface="Manrope" pitchFamily="34" charset="0"/>
                <a:ea typeface="Manrope" pitchFamily="34" charset="-122"/>
                <a:cs typeface="Manrope" pitchFamily="34" charset="-120"/>
              </a:rPr>
              <a:t> rows are the ones that matter: changing an environment variable on a running container does nothing at all.</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7549604"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One edit now has to reach every instance.</a:t>
            </a:r>
            <a:endParaRPr lang="en-US" sz="3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9949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App Configuration</a:t>
            </a:r>
            <a:endParaRPr lang="en-US" sz="2820" dirty="0"/>
          </a:p>
        </p:txBody>
      </p:sp>
      <p:sp>
        <p:nvSpPr>
          <p:cNvPr id="4" name="Shape 2"/>
          <p:cNvSpPr/>
          <p:nvPr/>
        </p:nvSpPr>
        <p:spPr>
          <a:xfrm>
            <a:off x="457200" y="1087041"/>
            <a:ext cx="8420100" cy="1652587"/>
          </a:xfrm>
          <a:prstGeom prst="roundRect">
            <a:avLst>
              <a:gd name="adj" fmla="val 2305"/>
            </a:avLst>
          </a:prstGeom>
          <a:solidFill>
            <a:srgbClr val="011627"/>
          </a:solidFill>
          <a:ln/>
        </p:spPr>
      </p:sp>
      <p:sp>
        <p:nvSpPr>
          <p:cNvPr id="5" name="Text 3"/>
          <p:cNvSpPr txBox="1"/>
          <p:nvPr/>
        </p:nvSpPr>
        <p:spPr>
          <a:xfrm>
            <a:off x="533400" y="117276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1.  edit  Weather:Timeout      -&gt;  60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2.  edit  Weather:Retries      -&gt;  5</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3.  edit  Weather:Sentinel     -&gt;  v4      &lt;-- last, always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next request TRIGGERS a refresh ---------+  it may still serve the OLD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values; later requests see</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all three change together</a:t>
            </a:r>
            <a:endParaRPr lang="en-US" sz="1125" dirty="0"/>
          </a:p>
        </p:txBody>
      </p:sp>
      <p:sp>
        <p:nvSpPr>
          <p:cNvPr id="6" name="Shape 4"/>
          <p:cNvSpPr/>
          <p:nvPr/>
        </p:nvSpPr>
        <p:spPr>
          <a:xfrm>
            <a:off x="457200" y="2815828"/>
            <a:ext cx="8420100" cy="1223962"/>
          </a:xfrm>
          <a:prstGeom prst="roundRect">
            <a:avLst>
              <a:gd name="adj" fmla="val 3113"/>
            </a:avLst>
          </a:prstGeom>
          <a:solidFill>
            <a:srgbClr val="011627"/>
          </a:solidFill>
          <a:ln/>
        </p:spPr>
      </p:sp>
      <p:sp>
        <p:nvSpPr>
          <p:cNvPr id="7" name="Text 5"/>
          <p:cNvSpPr txBox="1"/>
          <p:nvPr/>
        </p:nvSpPr>
        <p:spPr>
          <a:xfrm>
            <a:off x="533400" y="2901553"/>
            <a:ext cx="8286750" cy="1047750"/>
          </a:xfrm>
          <a:prstGeom prst="rect">
            <a:avLst/>
          </a:prstGeom>
          <a:noFill/>
          <a:ln/>
        </p:spPr>
        <p:txBody>
          <a:bodyPr wrap="square" lIns="0" tIns="0" rIns="0" bIns="0" rtlCol="0" anchor="t"/>
          <a:lstStyle/>
          <a:p>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ConfigureRefresh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(refresh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refresh</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Register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Weather:Sentinel</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refreshAll: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SetRefreshInterval</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TimeSpan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FromSeconds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30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Shape 1"/>
          <p:cNvSpPr/>
          <p:nvPr/>
        </p:nvSpPr>
        <p:spPr>
          <a:xfrm>
            <a:off x="7411343" y="2183160"/>
            <a:ext cx="510629" cy="495300"/>
          </a:xfrm>
          <a:prstGeom prst="roundRect">
            <a:avLst>
              <a:gd name="adj" fmla="val 7692"/>
            </a:avLst>
          </a:prstGeom>
          <a:solidFill>
            <a:srgbClr val="F7F6F3">
              <a:alpha val="16000"/>
            </a:srgbClr>
          </a:solidFill>
          <a:ln/>
        </p:spPr>
      </p:sp>
      <p:sp>
        <p:nvSpPr>
          <p:cNvPr id="4" name="Text 2"/>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A feature flag is configuration with an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if</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statement attached.</a:t>
            </a:r>
            <a:endParaRPr lang="en-US" sz="3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86129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feature flag is just configuration</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373684" cy="19050"/>
          </a:xfrm>
          <a:prstGeom prst="rect">
            <a:avLst/>
          </a:prstGeom>
          <a:solidFill>
            <a:srgbClr val="16303F"/>
          </a:solidFill>
          <a:ln/>
        </p:spPr>
      </p:sp>
      <p:sp>
        <p:nvSpPr>
          <p:cNvPr id="6" name="Text 4"/>
          <p:cNvSpPr txBox="1"/>
          <p:nvPr/>
        </p:nvSpPr>
        <p:spPr>
          <a:xfrm>
            <a:off x="563761" y="1163092"/>
            <a:ext cx="50348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STAGE</a:t>
            </a:r>
            <a:endParaRPr lang="en-US" sz="816" dirty="0"/>
          </a:p>
        </p:txBody>
      </p:sp>
      <p:sp>
        <p:nvSpPr>
          <p:cNvPr id="7" name="Shape 5"/>
          <p:cNvSpPr/>
          <p:nvPr/>
        </p:nvSpPr>
        <p:spPr>
          <a:xfrm>
            <a:off x="1830884" y="1377404"/>
            <a:ext cx="2158603" cy="19050"/>
          </a:xfrm>
          <a:prstGeom prst="rect">
            <a:avLst/>
          </a:prstGeom>
          <a:solidFill>
            <a:srgbClr val="16303F"/>
          </a:solidFill>
          <a:ln/>
        </p:spPr>
      </p:sp>
      <p:sp>
        <p:nvSpPr>
          <p:cNvPr id="8" name="Text 6"/>
          <p:cNvSpPr txBox="1"/>
          <p:nvPr/>
        </p:nvSpPr>
        <p:spPr>
          <a:xfrm>
            <a:off x="1937445" y="1163092"/>
            <a:ext cx="149616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THE FLAG LIVES</a:t>
            </a:r>
            <a:endParaRPr lang="en-US" sz="816" dirty="0"/>
          </a:p>
        </p:txBody>
      </p:sp>
      <p:sp>
        <p:nvSpPr>
          <p:cNvPr id="9" name="Shape 7"/>
          <p:cNvSpPr/>
          <p:nvPr/>
        </p:nvSpPr>
        <p:spPr>
          <a:xfrm>
            <a:off x="3989487" y="1377404"/>
            <a:ext cx="4887813" cy="19050"/>
          </a:xfrm>
          <a:prstGeom prst="rect">
            <a:avLst/>
          </a:prstGeom>
          <a:solidFill>
            <a:srgbClr val="16303F"/>
          </a:solidFill>
          <a:ln/>
        </p:spPr>
      </p:sp>
      <p:sp>
        <p:nvSpPr>
          <p:cNvPr id="10" name="Text 8"/>
          <p:cNvSpPr txBox="1"/>
          <p:nvPr/>
        </p:nvSpPr>
        <p:spPr>
          <a:xfrm>
            <a:off x="4096048" y="1163092"/>
            <a:ext cx="99953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GET</a:t>
            </a:r>
            <a:endParaRPr lang="en-US" sz="816" dirty="0"/>
          </a:p>
        </p:txBody>
      </p:sp>
      <p:sp>
        <p:nvSpPr>
          <p:cNvPr id="11" name="Shape 9"/>
          <p:cNvSpPr/>
          <p:nvPr/>
        </p:nvSpPr>
        <p:spPr>
          <a:xfrm>
            <a:off x="457200" y="1396454"/>
            <a:ext cx="8420100" cy="346323"/>
          </a:xfrm>
          <a:prstGeom prst="rect">
            <a:avLst/>
          </a:prstGeom>
          <a:solidFill>
            <a:srgbClr val="16303F"/>
          </a:solidFill>
          <a:ln/>
        </p:spPr>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1373684" cy="9525"/>
          </a:xfrm>
          <a:prstGeom prst="rect">
            <a:avLst/>
          </a:prstGeom>
          <a:solidFill>
            <a:srgbClr val="16303F"/>
          </a:solidFill>
          <a:ln/>
        </p:spPr>
      </p:sp>
      <p:sp>
        <p:nvSpPr>
          <p:cNvPr id="14" name="Text 12"/>
          <p:cNvSpPr txBox="1"/>
          <p:nvPr/>
        </p:nvSpPr>
        <p:spPr>
          <a:xfrm>
            <a:off x="563761" y="1479500"/>
            <a:ext cx="731490" cy="180975"/>
          </a:xfrm>
          <a:prstGeom prst="rect">
            <a:avLst/>
          </a:prstGeom>
          <a:noFill/>
          <a:ln/>
        </p:spPr>
        <p:txBody>
          <a:bodyPr wrap="none" lIns="0" tIns="0" rIns="0" bIns="0" rtlCol="0" anchor="t"/>
          <a:lstStyle/>
          <a:p>
            <a:pPr algn="l" indent="0" marL="0">
              <a:buNone/>
            </a:pPr>
            <a:r>
              <a:rPr lang="en-US" sz="1056" b="1" dirty="0">
                <a:solidFill>
                  <a:srgbClr val="F7F6F3"/>
                </a:solidFill>
                <a:latin typeface="Manrope" pitchFamily="34" charset="0"/>
                <a:ea typeface="Manrope" pitchFamily="34" charset="-122"/>
                <a:cs typeface="Manrope" pitchFamily="34" charset="-120"/>
              </a:rPr>
              <a:t>Local dev</a:t>
            </a:r>
            <a:endParaRPr lang="en-US" sz="1056" dirty="0"/>
          </a:p>
        </p:txBody>
      </p:sp>
      <p:sp>
        <p:nvSpPr>
          <p:cNvPr id="15" name="Shape 13"/>
          <p:cNvSpPr/>
          <p:nvPr/>
        </p:nvSpPr>
        <p:spPr>
          <a:xfrm>
            <a:off x="1830884" y="1733252"/>
            <a:ext cx="2158603" cy="9525"/>
          </a:xfrm>
          <a:prstGeom prst="rect">
            <a:avLst/>
          </a:prstGeom>
          <a:solidFill>
            <a:srgbClr val="16303F"/>
          </a:solidFill>
          <a:ln/>
        </p:spPr>
      </p:sp>
      <p:sp>
        <p:nvSpPr>
          <p:cNvPr id="16" name="Shape 14"/>
          <p:cNvSpPr/>
          <p:nvPr/>
        </p:nvSpPr>
        <p:spPr>
          <a:xfrm>
            <a:off x="1937445" y="1488728"/>
            <a:ext cx="1272927" cy="181570"/>
          </a:xfrm>
          <a:prstGeom prst="roundRect">
            <a:avLst>
              <a:gd name="adj" fmla="val 20984"/>
            </a:avLst>
          </a:prstGeom>
          <a:solidFill>
            <a:srgbClr val="F7F6F3">
              <a:alpha val="14000"/>
            </a:srgbClr>
          </a:solidFill>
          <a:ln/>
        </p:spPr>
      </p:sp>
      <p:sp>
        <p:nvSpPr>
          <p:cNvPr id="17" name="Text 15"/>
          <p:cNvSpPr txBox="1"/>
          <p:nvPr/>
        </p:nvSpPr>
        <p:spPr>
          <a:xfrm>
            <a:off x="1880295" y="1488728"/>
            <a:ext cx="1387227" cy="181570"/>
          </a:xfrm>
          <a:prstGeom prst="rect">
            <a:avLst/>
          </a:prstGeom>
          <a:noFill/>
          <a:ln/>
        </p:spPr>
        <p:txBody>
          <a:bodyPr wrap="none" lIns="0" tIns="0" rIns="0" bIns="0" rtlCol="0" anchor="ctr"/>
          <a:lstStyle/>
          <a:p>
            <a:pPr algn="ctr" indent="0" marL="0">
              <a:buNone/>
            </a:pPr>
            <a:r>
              <a:rPr lang="en-US" sz="972" dirty="0">
                <a:solidFill>
                  <a:srgbClr val="F7F6F3"/>
                </a:solidFill>
                <a:latin typeface="JetBrains Mono" pitchFamily="34" charset="0"/>
                <a:ea typeface="JetBrains Mono" pitchFamily="34" charset="-122"/>
                <a:cs typeface="JetBrains Mono" pitchFamily="34" charset="-120"/>
              </a:rPr>
              <a:t>appsettings.json</a:t>
            </a:r>
            <a:endParaRPr lang="en-US" sz="972" dirty="0"/>
          </a:p>
        </p:txBody>
      </p:sp>
      <p:sp>
        <p:nvSpPr>
          <p:cNvPr id="18" name="Shape 16"/>
          <p:cNvSpPr/>
          <p:nvPr/>
        </p:nvSpPr>
        <p:spPr>
          <a:xfrm>
            <a:off x="3989487" y="1733252"/>
            <a:ext cx="4887813" cy="9525"/>
          </a:xfrm>
          <a:prstGeom prst="rect">
            <a:avLst/>
          </a:prstGeom>
          <a:solidFill>
            <a:srgbClr val="16303F"/>
          </a:solidFill>
          <a:ln/>
        </p:spPr>
      </p:sp>
      <p:sp>
        <p:nvSpPr>
          <p:cNvPr id="19" name="Text 17"/>
          <p:cNvSpPr txBox="1"/>
          <p:nvPr/>
        </p:nvSpPr>
        <p:spPr>
          <a:xfrm>
            <a:off x="4096048" y="1479500"/>
            <a:ext cx="3512641" cy="180975"/>
          </a:xfrm>
          <a:prstGeom prst="rect">
            <a:avLst/>
          </a:prstGeom>
          <a:noFill/>
          <a:ln/>
        </p:spPr>
        <p:txBody>
          <a:bodyPr wrap="none" lIns="0" tIns="0" rIns="0" bIns="0" rtlCol="0" anchor="t"/>
          <a:lstStyle/>
          <a:p>
            <a:pPr algn="l" indent="0" marL="0">
              <a:buNone/>
            </a:pPr>
            <a:r>
              <a:rPr lang="en-US" sz="1056" b="1" dirty="0">
                <a:solidFill>
                  <a:srgbClr val="F4C233"/>
                </a:solidFill>
                <a:latin typeface="Manrope" pitchFamily="34" charset="0"/>
                <a:ea typeface="Manrope" pitchFamily="34" charset="-122"/>
                <a:cs typeface="Manrope" pitchFamily="34" charset="-120"/>
              </a:rPr>
              <a:t>Branch in code without branching in git. Zero cloud.</a:t>
            </a:r>
            <a:endParaRPr lang="en-US" sz="1056" dirty="0"/>
          </a:p>
        </p:txBody>
      </p:sp>
      <p:sp>
        <p:nvSpPr>
          <p:cNvPr id="20" name="Shape 18"/>
          <p:cNvSpPr/>
          <p:nvPr/>
        </p:nvSpPr>
        <p:spPr>
          <a:xfrm>
            <a:off x="457200" y="1742777"/>
            <a:ext cx="8420100" cy="338584"/>
          </a:xfrm>
          <a:prstGeom prst="rect">
            <a:avLst/>
          </a:prstGeom>
          <a:solidFill>
            <a:srgbClr val="16303F">
              <a:alpha val="3000"/>
            </a:srgbClr>
          </a:solidFill>
          <a:ln/>
        </p:spPr>
      </p:sp>
      <p:sp>
        <p:nvSpPr>
          <p:cNvPr id="21" name="Shape 19"/>
          <p:cNvSpPr/>
          <p:nvPr/>
        </p:nvSpPr>
        <p:spPr>
          <a:xfrm>
            <a:off x="457200" y="2071836"/>
            <a:ext cx="8420100" cy="9525"/>
          </a:xfrm>
          <a:prstGeom prst="rect">
            <a:avLst/>
          </a:prstGeom>
          <a:solidFill>
            <a:srgbClr val="9CA3AF">
              <a:alpha val="20000"/>
            </a:srgbClr>
          </a:solidFill>
          <a:ln/>
        </p:spPr>
      </p:sp>
      <p:sp>
        <p:nvSpPr>
          <p:cNvPr id="22" name="Shape 20"/>
          <p:cNvSpPr/>
          <p:nvPr/>
        </p:nvSpPr>
        <p:spPr>
          <a:xfrm>
            <a:off x="457200" y="2071836"/>
            <a:ext cx="1373684" cy="9525"/>
          </a:xfrm>
          <a:prstGeom prst="rect">
            <a:avLst/>
          </a:prstGeom>
          <a:solidFill>
            <a:srgbClr val="DDD9D2"/>
          </a:solidFill>
          <a:ln/>
        </p:spPr>
      </p:sp>
      <p:sp>
        <p:nvSpPr>
          <p:cNvPr id="23" name="Text 21"/>
          <p:cNvSpPr txBox="1"/>
          <p:nvPr/>
        </p:nvSpPr>
        <p:spPr>
          <a:xfrm>
            <a:off x="563761" y="1821061"/>
            <a:ext cx="91618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4" name="Shape 22"/>
          <p:cNvSpPr/>
          <p:nvPr/>
        </p:nvSpPr>
        <p:spPr>
          <a:xfrm>
            <a:off x="1830884" y="2071836"/>
            <a:ext cx="2158603" cy="9525"/>
          </a:xfrm>
          <a:prstGeom prst="rect">
            <a:avLst/>
          </a:prstGeom>
          <a:solidFill>
            <a:srgbClr val="DDD9D2"/>
          </a:solidFill>
          <a:ln/>
        </p:spPr>
      </p:sp>
      <p:sp>
        <p:nvSpPr>
          <p:cNvPr id="25" name="Text 23"/>
          <p:cNvSpPr txBox="1"/>
          <p:nvPr/>
        </p:nvSpPr>
        <p:spPr>
          <a:xfrm>
            <a:off x="1937445" y="1821061"/>
            <a:ext cx="140761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a:t>
            </a:r>
            <a:endParaRPr lang="en-US" sz="1056" dirty="0"/>
          </a:p>
        </p:txBody>
      </p:sp>
      <p:sp>
        <p:nvSpPr>
          <p:cNvPr id="26" name="Shape 24"/>
          <p:cNvSpPr/>
          <p:nvPr/>
        </p:nvSpPr>
        <p:spPr>
          <a:xfrm>
            <a:off x="3989487" y="2071836"/>
            <a:ext cx="4887813" cy="9525"/>
          </a:xfrm>
          <a:prstGeom prst="rect">
            <a:avLst/>
          </a:prstGeom>
          <a:solidFill>
            <a:srgbClr val="DDD9D2"/>
          </a:solidFill>
          <a:ln/>
        </p:spPr>
      </p:sp>
      <p:sp>
        <p:nvSpPr>
          <p:cNvPr id="27" name="Text 25"/>
          <p:cNvSpPr txBox="1"/>
          <p:nvPr/>
        </p:nvSpPr>
        <p:spPr>
          <a:xfrm>
            <a:off x="4096048" y="1821061"/>
            <a:ext cx="22093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Ship dark, enable per environment</a:t>
            </a:r>
            <a:endParaRPr lang="en-US" sz="1056" dirty="0"/>
          </a:p>
        </p:txBody>
      </p:sp>
      <p:sp>
        <p:nvSpPr>
          <p:cNvPr id="28" name="Shape 26"/>
          <p:cNvSpPr/>
          <p:nvPr/>
        </p:nvSpPr>
        <p:spPr>
          <a:xfrm>
            <a:off x="457200" y="2410420"/>
            <a:ext cx="8420100" cy="9525"/>
          </a:xfrm>
          <a:prstGeom prst="rect">
            <a:avLst/>
          </a:prstGeom>
          <a:solidFill>
            <a:srgbClr val="9CA3AF">
              <a:alpha val="20000"/>
            </a:srgbClr>
          </a:solidFill>
          <a:ln/>
        </p:spPr>
      </p:sp>
      <p:sp>
        <p:nvSpPr>
          <p:cNvPr id="29" name="Shape 27"/>
          <p:cNvSpPr/>
          <p:nvPr/>
        </p:nvSpPr>
        <p:spPr>
          <a:xfrm>
            <a:off x="457200" y="2410420"/>
            <a:ext cx="1373684" cy="9525"/>
          </a:xfrm>
          <a:prstGeom prst="rect">
            <a:avLst/>
          </a:prstGeom>
          <a:solidFill>
            <a:srgbClr val="DDD9D2"/>
          </a:solidFill>
          <a:ln/>
        </p:spPr>
      </p:sp>
      <p:sp>
        <p:nvSpPr>
          <p:cNvPr id="30" name="Text 28"/>
          <p:cNvSpPr txBox="1"/>
          <p:nvPr/>
        </p:nvSpPr>
        <p:spPr>
          <a:xfrm>
            <a:off x="563761" y="2159645"/>
            <a:ext cx="58712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Shared</a:t>
            </a:r>
            <a:endParaRPr lang="en-US" sz="1056" dirty="0"/>
          </a:p>
        </p:txBody>
      </p:sp>
      <p:sp>
        <p:nvSpPr>
          <p:cNvPr id="31" name="Shape 29"/>
          <p:cNvSpPr/>
          <p:nvPr/>
        </p:nvSpPr>
        <p:spPr>
          <a:xfrm>
            <a:off x="1830884" y="2410420"/>
            <a:ext cx="2158603" cy="9525"/>
          </a:xfrm>
          <a:prstGeom prst="rect">
            <a:avLst/>
          </a:prstGeom>
          <a:solidFill>
            <a:srgbClr val="DDD9D2"/>
          </a:solidFill>
          <a:ln/>
        </p:spPr>
      </p:sp>
      <p:sp>
        <p:nvSpPr>
          <p:cNvPr id="32" name="Text 30"/>
          <p:cNvSpPr txBox="1"/>
          <p:nvPr/>
        </p:nvSpPr>
        <p:spPr>
          <a:xfrm>
            <a:off x="1937445" y="2159645"/>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3" name="Shape 31"/>
          <p:cNvSpPr/>
          <p:nvPr/>
        </p:nvSpPr>
        <p:spPr>
          <a:xfrm>
            <a:off x="3989487" y="2410420"/>
            <a:ext cx="4887813" cy="9525"/>
          </a:xfrm>
          <a:prstGeom prst="rect">
            <a:avLst/>
          </a:prstGeom>
          <a:solidFill>
            <a:srgbClr val="DDD9D2"/>
          </a:solidFill>
          <a:ln/>
        </p:spPr>
      </p:sp>
      <p:sp>
        <p:nvSpPr>
          <p:cNvPr id="34" name="Text 32"/>
          <p:cNvSpPr txBox="1"/>
          <p:nvPr/>
        </p:nvSpPr>
        <p:spPr>
          <a:xfrm>
            <a:off x="4096048" y="2159645"/>
            <a:ext cx="324296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Flip at runtime, target a cohort, roll back in seconds</a:t>
            </a:r>
            <a:endParaRPr lang="en-US" sz="1056"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3911"/>
            <a:ext cx="415870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Flags start with no cloud at all</a:t>
            </a:r>
            <a:endParaRPr lang="en-US" sz="2280" dirty="0"/>
          </a:p>
        </p:txBody>
      </p:sp>
      <p:sp>
        <p:nvSpPr>
          <p:cNvPr id="4" name="Shape 2"/>
          <p:cNvSpPr/>
          <p:nvPr/>
        </p:nvSpPr>
        <p:spPr>
          <a:xfrm>
            <a:off x="628650" y="762744"/>
            <a:ext cx="8077200" cy="2095500"/>
          </a:xfrm>
          <a:prstGeom prst="roundRect">
            <a:avLst>
              <a:gd name="adj" fmla="val 1818"/>
            </a:avLst>
          </a:prstGeom>
          <a:solidFill>
            <a:srgbClr val="011627"/>
          </a:solidFill>
          <a:ln/>
        </p:spPr>
      </p:sp>
      <p:sp>
        <p:nvSpPr>
          <p:cNvPr id="5" name="Text 3"/>
          <p:cNvSpPr txBox="1"/>
          <p:nvPr/>
        </p:nvSpPr>
        <p:spPr>
          <a:xfrm>
            <a:off x="704850" y="848469"/>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"feature_flags"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false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BetaBanner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true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6" name="Shape 4"/>
          <p:cNvSpPr/>
          <p:nvPr/>
        </p:nvSpPr>
        <p:spPr>
          <a:xfrm>
            <a:off x="628650" y="3071515"/>
            <a:ext cx="8077200" cy="881063"/>
          </a:xfrm>
          <a:prstGeom prst="roundRect">
            <a:avLst>
              <a:gd name="adj" fmla="val 4324"/>
            </a:avLst>
          </a:prstGeom>
          <a:solidFill>
            <a:srgbClr val="011627"/>
          </a:solidFill>
          <a:ln/>
        </p:spPr>
      </p:sp>
      <p:sp>
        <p:nvSpPr>
          <p:cNvPr id="7" name="Text 5"/>
          <p:cNvSpPr txBox="1"/>
          <p:nvPr/>
        </p:nvSpPr>
        <p:spPr>
          <a:xfrm>
            <a:off x="704850" y="3157240"/>
            <a:ext cx="7943850" cy="695325"/>
          </a:xfrm>
          <a:prstGeom prst="rect">
            <a:avLst/>
          </a:prstGeom>
          <a:noFill/>
          <a:ln/>
        </p:spPr>
        <p:txBody>
          <a:bodyPr wrap="square" lIns="0" tIns="0" rIns="0" bIns="0" rtlCol="0" anchor="t"/>
          <a:lstStyle/>
          <a:p>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AddFeatureManagement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IsEnabledAsync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 {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endParaRPr lang="en-US" sz="1275" dirty="0"/>
          </a:p>
        </p:txBody>
      </p:sp>
      <p:sp>
        <p:nvSpPr>
          <p:cNvPr id="8" name="Text 6"/>
          <p:cNvSpPr txBox="1"/>
          <p:nvPr/>
        </p:nvSpPr>
        <p:spPr>
          <a:xfrm>
            <a:off x="628650" y="4403973"/>
            <a:ext cx="8155326"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That is the entire setup. No cloud service, no cloud account, no network dependency — just a NuGet package and a JSON section.</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089327"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50% of users, or 50% of calls?</a:t>
            </a:r>
            <a:endParaRPr lang="en-US" sz="2820" dirty="0"/>
          </a:p>
        </p:txBody>
      </p:sp>
      <p:sp>
        <p:nvSpPr>
          <p:cNvPr id="4" name="Shape 2"/>
          <p:cNvSpPr/>
          <p:nvPr/>
        </p:nvSpPr>
        <p:spPr>
          <a:xfrm>
            <a:off x="457200" y="1087041"/>
            <a:ext cx="8420100" cy="2081212"/>
          </a:xfrm>
          <a:prstGeom prst="roundRect">
            <a:avLst>
              <a:gd name="adj" fmla="val 1831"/>
            </a:avLst>
          </a:prstGeom>
          <a:solidFill>
            <a:srgbClr val="011627"/>
          </a:solidFill>
          <a:ln/>
        </p:spPr>
      </p:sp>
      <p:sp>
        <p:nvSpPr>
          <p:cNvPr id="5" name="Text 3"/>
          <p:cNvSpPr txBox="1"/>
          <p:nvPr/>
        </p:nvSpPr>
        <p:spPr>
          <a:xfrm>
            <a:off x="533400" y="1172766"/>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"id"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NewCheckout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"enabled"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"conditions"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"client_filters"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"name"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Microsoft.Percentage</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"parameters"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"Value"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50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3320653"/>
            <a:ext cx="38100" cy="533400"/>
          </a:xfrm>
          <a:prstGeom prst="rect">
            <a:avLst/>
          </a:prstGeom>
          <a:solidFill>
            <a:srgbClr val="F4C233"/>
          </a:solidFill>
          <a:ln/>
        </p:spPr>
      </p:sp>
      <p:sp>
        <p:nvSpPr>
          <p:cNvPr id="7" name="Text 5"/>
          <p:cNvSpPr txBox="1"/>
          <p:nvPr/>
        </p:nvSpPr>
        <p:spPr>
          <a:xfrm>
            <a:off x="617190" y="3482578"/>
            <a:ext cx="583272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“Same user, same session, checks this flag twice. Same answer both times?”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349502"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50% of users, or 50% of calls?</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D29 - Microsoft.Percentage is per-call, not per-user</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percentage   true  false true  true  false false true  false true  true</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targeting    true  true  true  true  true  true  true  true  true  true</a:t>
            </a:r>
            <a:endParaRPr lang="en-US" sz="1275" dirty="0"/>
          </a:p>
        </p:txBody>
      </p:sp>
      <p:sp>
        <p:nvSpPr>
          <p:cNvPr id="6" name="Shape 4"/>
          <p:cNvSpPr/>
          <p:nvPr/>
        </p:nvSpPr>
        <p:spPr>
          <a:xfrm>
            <a:off x="304800" y="2335262"/>
            <a:ext cx="38100" cy="533400"/>
          </a:xfrm>
          <a:prstGeom prst="rect">
            <a:avLst/>
          </a:prstGeom>
          <a:solidFill>
            <a:srgbClr val="F4C233"/>
          </a:solidFill>
          <a:ln/>
        </p:spPr>
      </p:sp>
      <p:sp>
        <p:nvSpPr>
          <p:cNvPr id="7" name="Shape 5"/>
          <p:cNvSpPr/>
          <p:nvPr/>
        </p:nvSpPr>
        <p:spPr>
          <a:xfrm>
            <a:off x="464790" y="2505373"/>
            <a:ext cx="1739205" cy="202704"/>
          </a:xfrm>
          <a:prstGeom prst="roundRect">
            <a:avLst>
              <a:gd name="adj" fmla="val 18796"/>
            </a:avLst>
          </a:prstGeom>
          <a:solidFill>
            <a:srgbClr val="16303F">
              <a:alpha val="7000"/>
            </a:srgbClr>
          </a:solidFill>
          <a:ln/>
        </p:spPr>
      </p:sp>
      <p:sp>
        <p:nvSpPr>
          <p:cNvPr id="8" name="Text 6"/>
          <p:cNvSpPr txBox="1"/>
          <p:nvPr/>
        </p:nvSpPr>
        <p:spPr>
          <a:xfrm>
            <a:off x="511373" y="2497187"/>
            <a:ext cx="4337745"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Microsoft.Percentage</a:t>
            </a:r>
            <a:pPr algn="l" indent="0" marL="0">
              <a:buNone/>
            </a:pPr>
            <a:r>
              <a:rPr lang="en-US" sz="1200" b="1" dirty="0">
                <a:solidFill>
                  <a:srgbClr val="16303F"/>
                </a:solidFill>
                <a:latin typeface="Manrope" pitchFamily="34" charset="0"/>
                <a:ea typeface="Manrope" pitchFamily="34" charset="-122"/>
                <a:cs typeface="Manrope" pitchFamily="34" charset="-120"/>
              </a:rPr>
              <a:t> is evaluated per call, not per user.</a:t>
            </a:r>
            <a:endParaRPr lang="en-US" sz="1080" dirty="0"/>
          </a:p>
        </p:txBody>
      </p:sp>
      <p:sp>
        <p:nvSpPr>
          <p:cNvPr id="9" name="Shape 7"/>
          <p:cNvSpPr/>
          <p:nvPr/>
        </p:nvSpPr>
        <p:spPr>
          <a:xfrm>
            <a:off x="1476821" y="3381673"/>
            <a:ext cx="422374" cy="202704"/>
          </a:xfrm>
          <a:prstGeom prst="roundRect">
            <a:avLst>
              <a:gd name="adj" fmla="val 18796"/>
            </a:avLst>
          </a:prstGeom>
          <a:solidFill>
            <a:srgbClr val="16303F">
              <a:alpha val="7000"/>
            </a:srgbClr>
          </a:solidFill>
          <a:ln/>
        </p:spPr>
      </p:sp>
      <p:sp>
        <p:nvSpPr>
          <p:cNvPr id="10" name="Text 8"/>
          <p:cNvSpPr txBox="1"/>
          <p:nvPr/>
        </p:nvSpPr>
        <p:spPr>
          <a:xfrm>
            <a:off x="304800" y="3144887"/>
            <a:ext cx="8881863"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nav bar says new checkout, the checkout page says old, and it is invisible in a single test run. The fix: targeting, or variant allocation with a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seed</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that is what gives a stable per-user assignment.</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26778"/>
            <a:ext cx="4089202"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Boolean flags are not enough</a:t>
            </a:r>
            <a:endParaRPr lang="en-US" sz="2280" dirty="0"/>
          </a:p>
        </p:txBody>
      </p:sp>
      <p:sp>
        <p:nvSpPr>
          <p:cNvPr id="4" name="Shape 2"/>
          <p:cNvSpPr/>
          <p:nvPr/>
        </p:nvSpPr>
        <p:spPr>
          <a:xfrm>
            <a:off x="628650" y="1795611"/>
            <a:ext cx="8077200" cy="1123950"/>
          </a:xfrm>
          <a:prstGeom prst="roundRect">
            <a:avLst>
              <a:gd name="adj" fmla="val 3390"/>
            </a:avLst>
          </a:prstGeom>
          <a:solidFill>
            <a:srgbClr val="011627"/>
          </a:solidFill>
          <a:ln/>
        </p:spPr>
      </p:sp>
      <p:sp>
        <p:nvSpPr>
          <p:cNvPr id="5" name="Text 3"/>
          <p:cNvSpPr txBox="1"/>
          <p:nvPr/>
        </p:nvSpPr>
        <p:spPr>
          <a:xfrm>
            <a:off x="704850" y="1881336"/>
            <a:ext cx="79438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Variant variant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GetVariantAsync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CheckoutLayout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settings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CheckoutLayoutSettings();</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variant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(settings);   </a:t>
            </a: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it's an IConfigurationSection</a:t>
            </a:r>
            <a:endParaRPr lang="en-US" sz="1275" dirty="0"/>
          </a:p>
        </p:txBody>
      </p:sp>
      <p:sp>
        <p:nvSpPr>
          <p:cNvPr id="6" name="Text 4"/>
          <p:cNvSpPr txBox="1"/>
          <p:nvPr/>
        </p:nvSpPr>
        <p:spPr>
          <a:xfrm>
            <a:off x="628650" y="3370957"/>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last line is the whole point: a variant hands you a configuration section, so you bind it like anything else in this talk.</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4739432" y="468511"/>
            <a:ext cx="486817" cy="466725"/>
          </a:xfrm>
          <a:prstGeom prst="roundRect">
            <a:avLst>
              <a:gd name="adj" fmla="val 8163"/>
            </a:avLst>
          </a:prstGeom>
          <a:solidFill>
            <a:srgbClr val="F5F5F5"/>
          </a:solidFill>
          <a:ln/>
        </p:spPr>
      </p:sp>
      <p:sp>
        <p:nvSpPr>
          <p:cNvPr id="4" name="Text 2"/>
          <p:cNvSpPr txBox="1"/>
          <p:nvPr/>
        </p:nvSpPr>
        <p:spPr>
          <a:xfrm>
            <a:off x="457200" y="439936"/>
            <a:ext cx="8575369"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Every flag is a permanent </a:t>
            </a:r>
            <a:pPr algn="l" indent="0" marL="0">
              <a:lnSpc>
                <a:spcPts val="3101"/>
              </a:lnSpc>
              <a:buNone/>
            </a:pPr>
            <a:r>
              <a:rPr lang="en-US" sz="2538" spc="-56" kern="0" dirty="0">
                <a:solidFill>
                  <a:srgbClr val="16303F"/>
                </a:solidFill>
                <a:latin typeface="JetBrains Mono" pitchFamily="34" charset="0"/>
                <a:ea typeface="JetBrains Mono" pitchFamily="34" charset="-122"/>
                <a:cs typeface="JetBrains Mono" pitchFamily="34" charset="-120"/>
              </a:rPr>
              <a:t>if</a:t>
            </a:r>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 with an owner and an expiry</a:t>
            </a:r>
            <a:endParaRPr lang="en-US" sz="2820" dirty="0"/>
          </a:p>
        </p:txBody>
      </p:sp>
      <p:sp>
        <p:nvSpPr>
          <p:cNvPr id="5" name="Shape 3"/>
          <p:cNvSpPr/>
          <p:nvPr/>
        </p:nvSpPr>
        <p:spPr>
          <a:xfrm>
            <a:off x="457200" y="1780729"/>
            <a:ext cx="8420100" cy="9525"/>
          </a:xfrm>
          <a:prstGeom prst="rect">
            <a:avLst/>
          </a:prstGeom>
          <a:solidFill>
            <a:srgbClr val="9CA3AF">
              <a:alpha val="20000"/>
            </a:srgbClr>
          </a:solidFill>
          <a:ln/>
        </p:spPr>
      </p:sp>
      <p:sp>
        <p:nvSpPr>
          <p:cNvPr id="6" name="Shape 4"/>
          <p:cNvSpPr/>
          <p:nvPr/>
        </p:nvSpPr>
        <p:spPr>
          <a:xfrm>
            <a:off x="457200" y="1771204"/>
            <a:ext cx="2051149" cy="19050"/>
          </a:xfrm>
          <a:prstGeom prst="rect">
            <a:avLst/>
          </a:prstGeom>
          <a:solidFill>
            <a:srgbClr val="16303F"/>
          </a:solidFill>
          <a:ln/>
        </p:spPr>
      </p:sp>
      <p:sp>
        <p:nvSpPr>
          <p:cNvPr id="7" name="Text 5"/>
          <p:cNvSpPr txBox="1"/>
          <p:nvPr/>
        </p:nvSpPr>
        <p:spPr>
          <a:xfrm>
            <a:off x="563761" y="1556891"/>
            <a:ext cx="40451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KIND</a:t>
            </a:r>
            <a:endParaRPr lang="en-US" sz="816" dirty="0"/>
          </a:p>
        </p:txBody>
      </p:sp>
      <p:sp>
        <p:nvSpPr>
          <p:cNvPr id="8" name="Shape 6"/>
          <p:cNvSpPr/>
          <p:nvPr/>
        </p:nvSpPr>
        <p:spPr>
          <a:xfrm>
            <a:off x="2508349" y="1771204"/>
            <a:ext cx="1810494" cy="19050"/>
          </a:xfrm>
          <a:prstGeom prst="rect">
            <a:avLst/>
          </a:prstGeom>
          <a:solidFill>
            <a:srgbClr val="16303F"/>
          </a:solidFill>
          <a:ln/>
        </p:spPr>
      </p:sp>
      <p:sp>
        <p:nvSpPr>
          <p:cNvPr id="9" name="Text 7"/>
          <p:cNvSpPr txBox="1"/>
          <p:nvPr/>
        </p:nvSpPr>
        <p:spPr>
          <a:xfrm>
            <a:off x="2614910" y="1556891"/>
            <a:ext cx="71631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LIVES FOR</a:t>
            </a:r>
            <a:endParaRPr lang="en-US" sz="816" dirty="0"/>
          </a:p>
        </p:txBody>
      </p:sp>
      <p:sp>
        <p:nvSpPr>
          <p:cNvPr id="10" name="Shape 8"/>
          <p:cNvSpPr/>
          <p:nvPr/>
        </p:nvSpPr>
        <p:spPr>
          <a:xfrm>
            <a:off x="4318843" y="1771204"/>
            <a:ext cx="4558457" cy="19050"/>
          </a:xfrm>
          <a:prstGeom prst="rect">
            <a:avLst/>
          </a:prstGeom>
          <a:solidFill>
            <a:srgbClr val="16303F"/>
          </a:solidFill>
          <a:ln/>
        </p:spPr>
      </p:sp>
      <p:sp>
        <p:nvSpPr>
          <p:cNvPr id="11" name="Text 9"/>
          <p:cNvSpPr txBox="1"/>
          <p:nvPr/>
        </p:nvSpPr>
        <p:spPr>
          <a:xfrm>
            <a:off x="4425404" y="1556891"/>
            <a:ext cx="43175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THEN</a:t>
            </a:r>
            <a:endParaRPr lang="en-US" sz="816" dirty="0"/>
          </a:p>
        </p:txBody>
      </p:sp>
      <p:sp>
        <p:nvSpPr>
          <p:cNvPr id="12" name="Shape 10"/>
          <p:cNvSpPr/>
          <p:nvPr/>
        </p:nvSpPr>
        <p:spPr>
          <a:xfrm>
            <a:off x="457200" y="2124075"/>
            <a:ext cx="8420100" cy="9525"/>
          </a:xfrm>
          <a:prstGeom prst="rect">
            <a:avLst/>
          </a:prstGeom>
          <a:solidFill>
            <a:srgbClr val="9CA3AF">
              <a:alpha val="20000"/>
            </a:srgbClr>
          </a:solidFill>
          <a:ln/>
        </p:spPr>
      </p:sp>
      <p:sp>
        <p:nvSpPr>
          <p:cNvPr id="13" name="Shape 11"/>
          <p:cNvSpPr/>
          <p:nvPr/>
        </p:nvSpPr>
        <p:spPr>
          <a:xfrm>
            <a:off x="457200" y="2124075"/>
            <a:ext cx="2051149" cy="9525"/>
          </a:xfrm>
          <a:prstGeom prst="rect">
            <a:avLst/>
          </a:prstGeom>
          <a:solidFill>
            <a:srgbClr val="DDD9D2"/>
          </a:solidFill>
          <a:ln/>
        </p:spPr>
      </p:sp>
      <p:sp>
        <p:nvSpPr>
          <p:cNvPr id="14" name="Text 12"/>
          <p:cNvSpPr txBox="1"/>
          <p:nvPr/>
        </p:nvSpPr>
        <p:spPr>
          <a:xfrm>
            <a:off x="563761" y="1873300"/>
            <a:ext cx="60275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release</a:t>
            </a:r>
            <a:endParaRPr lang="en-US" sz="1056" dirty="0"/>
          </a:p>
        </p:txBody>
      </p:sp>
      <p:sp>
        <p:nvSpPr>
          <p:cNvPr id="15" name="Shape 13"/>
          <p:cNvSpPr/>
          <p:nvPr/>
        </p:nvSpPr>
        <p:spPr>
          <a:xfrm>
            <a:off x="2508349" y="2124075"/>
            <a:ext cx="1810494" cy="9525"/>
          </a:xfrm>
          <a:prstGeom prst="rect">
            <a:avLst/>
          </a:prstGeom>
          <a:solidFill>
            <a:srgbClr val="DDD9D2"/>
          </a:solidFill>
          <a:ln/>
        </p:spPr>
      </p:sp>
      <p:sp>
        <p:nvSpPr>
          <p:cNvPr id="16" name="Text 14"/>
          <p:cNvSpPr txBox="1"/>
          <p:nvPr/>
        </p:nvSpPr>
        <p:spPr>
          <a:xfrm>
            <a:off x="2614910" y="1873300"/>
            <a:ext cx="98211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days to weeks</a:t>
            </a:r>
            <a:endParaRPr lang="en-US" sz="1056" dirty="0"/>
          </a:p>
        </p:txBody>
      </p:sp>
      <p:sp>
        <p:nvSpPr>
          <p:cNvPr id="17" name="Shape 15"/>
          <p:cNvSpPr/>
          <p:nvPr/>
        </p:nvSpPr>
        <p:spPr>
          <a:xfrm>
            <a:off x="4318843" y="2124075"/>
            <a:ext cx="4558457" cy="9525"/>
          </a:xfrm>
          <a:prstGeom prst="rect">
            <a:avLst/>
          </a:prstGeom>
          <a:solidFill>
            <a:srgbClr val="DDD9D2"/>
          </a:solidFill>
          <a:ln/>
        </p:spPr>
      </p:sp>
      <p:sp>
        <p:nvSpPr>
          <p:cNvPr id="18" name="Text 16"/>
          <p:cNvSpPr txBox="1"/>
          <p:nvPr/>
        </p:nvSpPr>
        <p:spPr>
          <a:xfrm>
            <a:off x="4425404" y="1873300"/>
            <a:ext cx="126652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rollout</a:t>
            </a:r>
            <a:endParaRPr lang="en-US" sz="1056" dirty="0"/>
          </a:p>
        </p:txBody>
      </p:sp>
      <p:sp>
        <p:nvSpPr>
          <p:cNvPr id="19" name="Shape 17"/>
          <p:cNvSpPr/>
          <p:nvPr/>
        </p:nvSpPr>
        <p:spPr>
          <a:xfrm>
            <a:off x="457200" y="2133600"/>
            <a:ext cx="8420100" cy="338584"/>
          </a:xfrm>
          <a:prstGeom prst="rect">
            <a:avLst/>
          </a:prstGeom>
          <a:solidFill>
            <a:srgbClr val="16303F">
              <a:alpha val="3000"/>
            </a:srgbClr>
          </a:solidFill>
          <a:ln/>
        </p:spPr>
      </p:sp>
      <p:sp>
        <p:nvSpPr>
          <p:cNvPr id="20" name="Shape 18"/>
          <p:cNvSpPr/>
          <p:nvPr/>
        </p:nvSpPr>
        <p:spPr>
          <a:xfrm>
            <a:off x="457200" y="2462659"/>
            <a:ext cx="8420100" cy="9525"/>
          </a:xfrm>
          <a:prstGeom prst="rect">
            <a:avLst/>
          </a:prstGeom>
          <a:solidFill>
            <a:srgbClr val="9CA3AF">
              <a:alpha val="20000"/>
            </a:srgbClr>
          </a:solidFill>
          <a:ln/>
        </p:spPr>
      </p:sp>
      <p:sp>
        <p:nvSpPr>
          <p:cNvPr id="21" name="Shape 19"/>
          <p:cNvSpPr/>
          <p:nvPr/>
        </p:nvSpPr>
        <p:spPr>
          <a:xfrm>
            <a:off x="457200" y="2462659"/>
            <a:ext cx="2051149" cy="9525"/>
          </a:xfrm>
          <a:prstGeom prst="rect">
            <a:avLst/>
          </a:prstGeom>
          <a:solidFill>
            <a:srgbClr val="DDD9D2"/>
          </a:solidFill>
          <a:ln/>
        </p:spPr>
      </p:sp>
      <p:sp>
        <p:nvSpPr>
          <p:cNvPr id="22" name="Text 20"/>
          <p:cNvSpPr txBox="1"/>
          <p:nvPr/>
        </p:nvSpPr>
        <p:spPr>
          <a:xfrm>
            <a:off x="563761" y="2211884"/>
            <a:ext cx="87481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experiment</a:t>
            </a:r>
            <a:endParaRPr lang="en-US" sz="1056" dirty="0"/>
          </a:p>
        </p:txBody>
      </p:sp>
      <p:sp>
        <p:nvSpPr>
          <p:cNvPr id="23" name="Shape 21"/>
          <p:cNvSpPr/>
          <p:nvPr/>
        </p:nvSpPr>
        <p:spPr>
          <a:xfrm>
            <a:off x="2508349" y="2462659"/>
            <a:ext cx="1810494" cy="9525"/>
          </a:xfrm>
          <a:prstGeom prst="rect">
            <a:avLst/>
          </a:prstGeom>
          <a:solidFill>
            <a:srgbClr val="DDD9D2"/>
          </a:solidFill>
          <a:ln/>
        </p:spPr>
      </p:sp>
      <p:sp>
        <p:nvSpPr>
          <p:cNvPr id="24" name="Text 22"/>
          <p:cNvSpPr txBox="1"/>
          <p:nvPr/>
        </p:nvSpPr>
        <p:spPr>
          <a:xfrm>
            <a:off x="2614910" y="2211884"/>
            <a:ext cx="50705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weeks</a:t>
            </a:r>
            <a:endParaRPr lang="en-US" sz="1056" dirty="0"/>
          </a:p>
        </p:txBody>
      </p:sp>
      <p:sp>
        <p:nvSpPr>
          <p:cNvPr id="25" name="Shape 23"/>
          <p:cNvSpPr/>
          <p:nvPr/>
        </p:nvSpPr>
        <p:spPr>
          <a:xfrm>
            <a:off x="4318843" y="2462659"/>
            <a:ext cx="4558457" cy="9525"/>
          </a:xfrm>
          <a:prstGeom prst="rect">
            <a:avLst/>
          </a:prstGeom>
          <a:solidFill>
            <a:srgbClr val="DDD9D2"/>
          </a:solidFill>
          <a:ln/>
        </p:spPr>
      </p:sp>
      <p:sp>
        <p:nvSpPr>
          <p:cNvPr id="26" name="Text 24"/>
          <p:cNvSpPr txBox="1"/>
          <p:nvPr/>
        </p:nvSpPr>
        <p:spPr>
          <a:xfrm>
            <a:off x="4425404" y="2211884"/>
            <a:ext cx="162550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the decision</a:t>
            </a:r>
            <a:endParaRPr lang="en-US" sz="1056" dirty="0"/>
          </a:p>
        </p:txBody>
      </p:sp>
      <p:sp>
        <p:nvSpPr>
          <p:cNvPr id="27" name="Shape 25"/>
          <p:cNvSpPr/>
          <p:nvPr/>
        </p:nvSpPr>
        <p:spPr>
          <a:xfrm>
            <a:off x="457200" y="2801243"/>
            <a:ext cx="8420100" cy="9525"/>
          </a:xfrm>
          <a:prstGeom prst="rect">
            <a:avLst/>
          </a:prstGeom>
          <a:solidFill>
            <a:srgbClr val="9CA3AF">
              <a:alpha val="20000"/>
            </a:srgbClr>
          </a:solidFill>
          <a:ln/>
        </p:spPr>
      </p:sp>
      <p:sp>
        <p:nvSpPr>
          <p:cNvPr id="28" name="Shape 26"/>
          <p:cNvSpPr/>
          <p:nvPr/>
        </p:nvSpPr>
        <p:spPr>
          <a:xfrm>
            <a:off x="457200" y="2801243"/>
            <a:ext cx="2051149" cy="9525"/>
          </a:xfrm>
          <a:prstGeom prst="rect">
            <a:avLst/>
          </a:prstGeom>
          <a:solidFill>
            <a:srgbClr val="DDD9D2"/>
          </a:solidFill>
          <a:ln/>
        </p:spPr>
      </p:sp>
      <p:sp>
        <p:nvSpPr>
          <p:cNvPr id="29" name="Text 27"/>
          <p:cNvSpPr txBox="1"/>
          <p:nvPr/>
        </p:nvSpPr>
        <p:spPr>
          <a:xfrm>
            <a:off x="563761" y="2550468"/>
            <a:ext cx="11257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ops / kill switch</a:t>
            </a:r>
            <a:endParaRPr lang="en-US" sz="1056" dirty="0"/>
          </a:p>
        </p:txBody>
      </p:sp>
      <p:sp>
        <p:nvSpPr>
          <p:cNvPr id="30" name="Shape 28"/>
          <p:cNvSpPr/>
          <p:nvPr/>
        </p:nvSpPr>
        <p:spPr>
          <a:xfrm>
            <a:off x="2508349" y="2801243"/>
            <a:ext cx="1810494" cy="9525"/>
          </a:xfrm>
          <a:prstGeom prst="rect">
            <a:avLst/>
          </a:prstGeom>
          <a:solidFill>
            <a:srgbClr val="DDD9D2"/>
          </a:solidFill>
          <a:ln/>
        </p:spPr>
      </p:sp>
      <p:sp>
        <p:nvSpPr>
          <p:cNvPr id="31" name="Text 29"/>
          <p:cNvSpPr txBox="1"/>
          <p:nvPr/>
        </p:nvSpPr>
        <p:spPr>
          <a:xfrm>
            <a:off x="2614910" y="2550468"/>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32" name="Shape 30"/>
          <p:cNvSpPr/>
          <p:nvPr/>
        </p:nvSpPr>
        <p:spPr>
          <a:xfrm>
            <a:off x="4318843" y="2801243"/>
            <a:ext cx="4558457" cy="9525"/>
          </a:xfrm>
          <a:prstGeom prst="rect">
            <a:avLst/>
          </a:prstGeom>
          <a:solidFill>
            <a:srgbClr val="DDD9D2"/>
          </a:solidFill>
          <a:ln/>
        </p:spPr>
      </p:sp>
      <p:sp>
        <p:nvSpPr>
          <p:cNvPr id="33" name="Text 31"/>
          <p:cNvSpPr txBox="1"/>
          <p:nvPr/>
        </p:nvSpPr>
        <p:spPr>
          <a:xfrm>
            <a:off x="4425404" y="2550468"/>
            <a:ext cx="9906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and that’s fine</a:t>
            </a:r>
            <a:endParaRPr lang="en-US" sz="1056" dirty="0"/>
          </a:p>
        </p:txBody>
      </p:sp>
      <p:sp>
        <p:nvSpPr>
          <p:cNvPr id="34" name="Shape 32"/>
          <p:cNvSpPr/>
          <p:nvPr/>
        </p:nvSpPr>
        <p:spPr>
          <a:xfrm>
            <a:off x="457200" y="2810768"/>
            <a:ext cx="8420100" cy="338584"/>
          </a:xfrm>
          <a:prstGeom prst="rect">
            <a:avLst/>
          </a:prstGeom>
          <a:solidFill>
            <a:srgbClr val="16303F">
              <a:alpha val="3000"/>
            </a:srgbClr>
          </a:solidFill>
          <a:ln/>
        </p:spPr>
      </p:sp>
      <p:sp>
        <p:nvSpPr>
          <p:cNvPr id="35" name="Shape 33"/>
          <p:cNvSpPr/>
          <p:nvPr/>
        </p:nvSpPr>
        <p:spPr>
          <a:xfrm>
            <a:off x="457200" y="3139827"/>
            <a:ext cx="8420100" cy="9525"/>
          </a:xfrm>
          <a:prstGeom prst="rect">
            <a:avLst/>
          </a:prstGeom>
          <a:solidFill>
            <a:srgbClr val="9CA3AF">
              <a:alpha val="20000"/>
            </a:srgbClr>
          </a:solidFill>
          <a:ln/>
        </p:spPr>
      </p:sp>
      <p:sp>
        <p:nvSpPr>
          <p:cNvPr id="36" name="Shape 34"/>
          <p:cNvSpPr/>
          <p:nvPr/>
        </p:nvSpPr>
        <p:spPr>
          <a:xfrm>
            <a:off x="457200" y="3139827"/>
            <a:ext cx="2051149" cy="9525"/>
          </a:xfrm>
          <a:prstGeom prst="rect">
            <a:avLst/>
          </a:prstGeom>
          <a:solidFill>
            <a:srgbClr val="DDD9D2"/>
          </a:solidFill>
          <a:ln/>
        </p:spPr>
      </p:sp>
      <p:sp>
        <p:nvSpPr>
          <p:cNvPr id="37" name="Text 35"/>
          <p:cNvSpPr txBox="1"/>
          <p:nvPr/>
        </p:nvSpPr>
        <p:spPr>
          <a:xfrm>
            <a:off x="563761" y="2889052"/>
            <a:ext cx="85323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permission</a:t>
            </a:r>
            <a:endParaRPr lang="en-US" sz="1056" dirty="0"/>
          </a:p>
        </p:txBody>
      </p:sp>
      <p:sp>
        <p:nvSpPr>
          <p:cNvPr id="38" name="Shape 36"/>
          <p:cNvSpPr/>
          <p:nvPr/>
        </p:nvSpPr>
        <p:spPr>
          <a:xfrm>
            <a:off x="2508349" y="3139827"/>
            <a:ext cx="1810494" cy="9525"/>
          </a:xfrm>
          <a:prstGeom prst="rect">
            <a:avLst/>
          </a:prstGeom>
          <a:solidFill>
            <a:srgbClr val="DDD9D2"/>
          </a:solidFill>
          <a:ln/>
        </p:spPr>
      </p:sp>
      <p:sp>
        <p:nvSpPr>
          <p:cNvPr id="39" name="Text 37"/>
          <p:cNvSpPr txBox="1"/>
          <p:nvPr/>
        </p:nvSpPr>
        <p:spPr>
          <a:xfrm>
            <a:off x="2614910" y="2889052"/>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40" name="Shape 38"/>
          <p:cNvSpPr/>
          <p:nvPr/>
        </p:nvSpPr>
        <p:spPr>
          <a:xfrm>
            <a:off x="4318843" y="3139827"/>
            <a:ext cx="4558457" cy="9525"/>
          </a:xfrm>
          <a:prstGeom prst="rect">
            <a:avLst/>
          </a:prstGeom>
          <a:solidFill>
            <a:srgbClr val="DDD9D2"/>
          </a:solidFill>
          <a:ln/>
        </p:spPr>
      </p:sp>
      <p:sp>
        <p:nvSpPr>
          <p:cNvPr id="41" name="Text 39"/>
          <p:cNvSpPr txBox="1"/>
          <p:nvPr/>
        </p:nvSpPr>
        <p:spPr>
          <a:xfrm>
            <a:off x="4425404" y="2889052"/>
            <a:ext cx="26225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arguably not a flag — that’s authorization</a:t>
            </a:r>
            <a:endParaRPr lang="en-US" sz="1056" dirty="0"/>
          </a:p>
        </p:txBody>
      </p:sp>
      <p:sp>
        <p:nvSpPr>
          <p:cNvPr id="42" name="Shape 40"/>
          <p:cNvSpPr/>
          <p:nvPr/>
        </p:nvSpPr>
        <p:spPr>
          <a:xfrm>
            <a:off x="457200" y="3314105"/>
            <a:ext cx="38100" cy="533400"/>
          </a:xfrm>
          <a:prstGeom prst="rect">
            <a:avLst/>
          </a:prstGeom>
          <a:solidFill>
            <a:srgbClr val="F4C233"/>
          </a:solidFill>
          <a:ln/>
        </p:spPr>
      </p:sp>
      <p:sp>
        <p:nvSpPr>
          <p:cNvPr id="43" name="Shape 41"/>
          <p:cNvSpPr/>
          <p:nvPr/>
        </p:nvSpPr>
        <p:spPr>
          <a:xfrm>
            <a:off x="617190" y="3484215"/>
            <a:ext cx="998488" cy="202704"/>
          </a:xfrm>
          <a:prstGeom prst="roundRect">
            <a:avLst>
              <a:gd name="adj" fmla="val 18796"/>
            </a:avLst>
          </a:prstGeom>
          <a:solidFill>
            <a:srgbClr val="16303F">
              <a:alpha val="7000"/>
            </a:srgbClr>
          </a:solidFill>
          <a:ln/>
        </p:spPr>
      </p:sp>
      <p:sp>
        <p:nvSpPr>
          <p:cNvPr id="44" name="Shape 42"/>
          <p:cNvSpPr/>
          <p:nvPr/>
        </p:nvSpPr>
        <p:spPr>
          <a:xfrm>
            <a:off x="3125837" y="3484215"/>
            <a:ext cx="2232868" cy="202704"/>
          </a:xfrm>
          <a:prstGeom prst="roundRect">
            <a:avLst>
              <a:gd name="adj" fmla="val 18796"/>
            </a:avLst>
          </a:prstGeom>
          <a:solidFill>
            <a:srgbClr val="16303F">
              <a:alpha val="7000"/>
            </a:srgbClr>
          </a:solidFill>
          <a:ln/>
        </p:spPr>
      </p:sp>
      <p:sp>
        <p:nvSpPr>
          <p:cNvPr id="45" name="Text 43"/>
          <p:cNvSpPr txBox="1"/>
          <p:nvPr/>
        </p:nvSpPr>
        <p:spPr>
          <a:xfrm>
            <a:off x="663773" y="3476030"/>
            <a:ext cx="6267004"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NewCheckout</a:t>
            </a:r>
            <a:pPr algn="l" indent="0" marL="0">
              <a:buNone/>
            </a:pPr>
            <a:r>
              <a:rPr lang="en-US" sz="1200" b="1" dirty="0">
                <a:solidFill>
                  <a:srgbClr val="16303F"/>
                </a:solidFill>
                <a:latin typeface="Manrope" pitchFamily="34" charset="0"/>
                <a:ea typeface="Manrope" pitchFamily="34" charset="-122"/>
                <a:cs typeface="Manrope" pitchFamily="34" charset="-120"/>
              </a:rPr>
              <a:t> never gets deleted.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Checkout_V2_Rollout_2026Q1</a:t>
            </a:r>
            <a:pPr algn="l" indent="0" marL="0">
              <a:buNone/>
            </a:pPr>
            <a:r>
              <a:rPr lang="en-US" sz="1200" b="1" dirty="0">
                <a:solidFill>
                  <a:srgbClr val="16303F"/>
                </a:solidFill>
                <a:latin typeface="Manrope" pitchFamily="34" charset="0"/>
                <a:ea typeface="Manrope" pitchFamily="34" charset="-122"/>
                <a:cs typeface="Manrope" pitchFamily="34" charset="-120"/>
              </a:rPr>
              <a:t> files its own expiry.</a:t>
            </a:r>
            <a:endParaRPr lang="en-US" sz="108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8439150"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Deleting a flag is a code change, not a config change</a:t>
            </a:r>
            <a:endParaRPr lang="en-US" sz="2820" dirty="0"/>
          </a:p>
        </p:txBody>
      </p:sp>
      <p:sp>
        <p:nvSpPr>
          <p:cNvPr id="4" name="Shape 2"/>
          <p:cNvSpPr/>
          <p:nvPr/>
        </p:nvSpPr>
        <p:spPr>
          <a:xfrm>
            <a:off x="457200" y="1480840"/>
            <a:ext cx="8420100" cy="2081212"/>
          </a:xfrm>
          <a:prstGeom prst="roundRect">
            <a:avLst>
              <a:gd name="adj" fmla="val 1831"/>
            </a:avLst>
          </a:prstGeom>
          <a:solidFill>
            <a:srgbClr val="011627"/>
          </a:solidFill>
          <a:ln/>
        </p:spPr>
      </p:sp>
      <p:sp>
        <p:nvSpPr>
          <p:cNvPr id="5" name="Text 3"/>
          <p:cNvSpPr txBox="1"/>
          <p:nvPr/>
        </p:nvSpPr>
        <p:spPr>
          <a:xfrm>
            <a:off x="533400" y="1566565"/>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internal diagnostics - authorize it; this leaks operational state</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app</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MapGet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/flags</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(IVariantFeatureManager features, CancellationToken ct)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List&lt;FlagRecord&gt; inventory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await</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 foreach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string</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name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in</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 features</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GetFeatureNamesAsync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inventory</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FlagRecord(name,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Category</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Owner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Expiry</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await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 features</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IsEnabledAsync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ct)));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return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inventory;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RequireAuthorization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Text 4"/>
          <p:cNvSpPr txBox="1"/>
          <p:nvPr/>
        </p:nvSpPr>
        <p:spPr>
          <a:xfrm>
            <a:off x="457200" y="3876377"/>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Turning it off in the portal leaves the dead branch compiling forever.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Ten live flags is up to 1,024 nominal combinations. You test three.</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Flags convert a deployment problem into a runtime problem.</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You gain instant rollback. You lose </a:t>
            </a:r>
            <a:pPr algn="l" indent="0" marL="0">
              <a:lnSpc>
                <a:spcPts val="3074"/>
              </a:lnSpc>
              <a:buNone/>
            </a:pPr>
            <a:r>
              <a:rPr lang="en-US" sz="2520" b="1" i="1" spc="-50" kern="0" dirty="0">
                <a:solidFill>
                  <a:srgbClr val="16303F"/>
                </a:solidFill>
                <a:latin typeface="Manrope" pitchFamily="34" charset="0"/>
                <a:ea typeface="Manrope" pitchFamily="34" charset="-122"/>
                <a:cs typeface="Manrope" pitchFamily="34" charset="-120"/>
              </a:rPr>
              <a:t>"the code that ran is the code in the commit."</a:t>
            </a:r>
            <a:endParaRPr lang="en-US" sz="252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145060"/>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Who owns it? Is it secret? Who needs it? How fast must it change?</a:t>
            </a:r>
            <a:endParaRPr lang="en-US" sz="3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3501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Sort every setting into three buckets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33302" cy="19050"/>
          </a:xfrm>
          <a:prstGeom prst="rect">
            <a:avLst/>
          </a:prstGeom>
          <a:solidFill>
            <a:srgbClr val="16303F"/>
          </a:solidFill>
          <a:ln/>
        </p:spPr>
      </p:sp>
      <p:sp>
        <p:nvSpPr>
          <p:cNvPr id="6" name="Shape 4"/>
          <p:cNvSpPr/>
          <p:nvPr/>
        </p:nvSpPr>
        <p:spPr>
          <a:xfrm>
            <a:off x="2590502" y="1377404"/>
            <a:ext cx="3063180" cy="19050"/>
          </a:xfrm>
          <a:prstGeom prst="rect">
            <a:avLst/>
          </a:prstGeom>
          <a:solidFill>
            <a:srgbClr val="16303F"/>
          </a:solidFill>
          <a:ln/>
        </p:spPr>
      </p:sp>
      <p:sp>
        <p:nvSpPr>
          <p:cNvPr id="7" name="Text 5"/>
          <p:cNvSpPr txBox="1"/>
          <p:nvPr/>
        </p:nvSpPr>
        <p:spPr>
          <a:xfrm>
            <a:off x="2697063" y="1163092"/>
            <a:ext cx="74205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EXAMPLES</a:t>
            </a:r>
            <a:endParaRPr lang="en-US" sz="816" dirty="0"/>
          </a:p>
        </p:txBody>
      </p:sp>
      <p:sp>
        <p:nvSpPr>
          <p:cNvPr id="8" name="Shape 6"/>
          <p:cNvSpPr/>
          <p:nvPr/>
        </p:nvSpPr>
        <p:spPr>
          <a:xfrm>
            <a:off x="5653683" y="1377404"/>
            <a:ext cx="3223617" cy="19050"/>
          </a:xfrm>
          <a:prstGeom prst="rect">
            <a:avLst/>
          </a:prstGeom>
          <a:solidFill>
            <a:srgbClr val="16303F"/>
          </a:solidFill>
          <a:ln/>
        </p:spPr>
      </p:sp>
      <p:sp>
        <p:nvSpPr>
          <p:cNvPr id="9" name="Text 7"/>
          <p:cNvSpPr txBox="1"/>
          <p:nvPr/>
        </p:nvSpPr>
        <p:spPr>
          <a:xfrm>
            <a:off x="5760244" y="1163092"/>
            <a:ext cx="126429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IT BELONGS</a:t>
            </a:r>
            <a:endParaRPr lang="en-US" sz="816" dirty="0"/>
          </a:p>
        </p:txBody>
      </p:sp>
      <p:sp>
        <p:nvSpPr>
          <p:cNvPr id="10" name="Shape 8"/>
          <p:cNvSpPr/>
          <p:nvPr/>
        </p:nvSpPr>
        <p:spPr>
          <a:xfrm>
            <a:off x="457200" y="1934319"/>
            <a:ext cx="8420100" cy="9525"/>
          </a:xfrm>
          <a:prstGeom prst="rect">
            <a:avLst/>
          </a:prstGeom>
          <a:solidFill>
            <a:srgbClr val="9CA3AF">
              <a:alpha val="20000"/>
            </a:srgbClr>
          </a:solidFill>
          <a:ln/>
        </p:spPr>
      </p:sp>
      <p:sp>
        <p:nvSpPr>
          <p:cNvPr id="11" name="Shape 9"/>
          <p:cNvSpPr/>
          <p:nvPr/>
        </p:nvSpPr>
        <p:spPr>
          <a:xfrm>
            <a:off x="457200" y="1934319"/>
            <a:ext cx="2133302" cy="9525"/>
          </a:xfrm>
          <a:prstGeom prst="rect">
            <a:avLst/>
          </a:prstGeom>
          <a:solidFill>
            <a:srgbClr val="DDD9D2"/>
          </a:solidFill>
          <a:ln/>
        </p:spPr>
      </p:sp>
      <p:sp>
        <p:nvSpPr>
          <p:cNvPr id="12" name="Text 10"/>
          <p:cNvSpPr txBox="1"/>
          <p:nvPr/>
        </p:nvSpPr>
        <p:spPr>
          <a:xfrm>
            <a:off x="563880" y="1479500"/>
            <a:ext cx="1938992" cy="382042"/>
          </a:xfrm>
          <a:prstGeom prst="rect">
            <a:avLst/>
          </a:prstGeom>
          <a:noFill/>
          <a:ln/>
        </p:spPr>
        <p:txBody>
          <a:bodyPr wrap="square" lIns="0" tIns="0" rIns="0" bIns="0" rtlCol="0" anchor="t"/>
          <a:lstStyle/>
          <a:p>
            <a:pPr algn="l" indent="0" marL="0">
              <a:lnSpc>
                <a:spcPts val="1583"/>
              </a:lnSpc>
              <a:buNone/>
            </a:pPr>
            <a:r>
              <a:rPr lang="en-US" sz="1056" b="1" dirty="0">
                <a:solidFill>
                  <a:srgbClr val="16303F"/>
                </a:solidFill>
                <a:latin typeface="Manrope" pitchFamily="34" charset="0"/>
                <a:ea typeface="Manrope" pitchFamily="34" charset="-122"/>
                <a:cs typeface="Manrope" pitchFamily="34" charset="-120"/>
              </a:rPr>
              <a:t>Non-secret, per-environment</a:t>
            </a:r>
            <a:endParaRPr lang="en-US" sz="1056" dirty="0"/>
          </a:p>
        </p:txBody>
      </p:sp>
      <p:sp>
        <p:nvSpPr>
          <p:cNvPr id="13" name="Shape 11"/>
          <p:cNvSpPr/>
          <p:nvPr/>
        </p:nvSpPr>
        <p:spPr>
          <a:xfrm>
            <a:off x="2590502" y="1934319"/>
            <a:ext cx="3063180" cy="9525"/>
          </a:xfrm>
          <a:prstGeom prst="rect">
            <a:avLst/>
          </a:prstGeom>
          <a:solidFill>
            <a:srgbClr val="DDD9D2"/>
          </a:solidFill>
          <a:ln/>
        </p:spPr>
      </p:sp>
      <p:sp>
        <p:nvSpPr>
          <p:cNvPr id="14" name="Text 12"/>
          <p:cNvSpPr txBox="1"/>
          <p:nvPr/>
        </p:nvSpPr>
        <p:spPr>
          <a:xfrm>
            <a:off x="2697182" y="1479500"/>
            <a:ext cx="2868870"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base URLs, timeouts, retries, log levels, toggles</a:t>
            </a:r>
            <a:endParaRPr lang="en-US" sz="1056" dirty="0"/>
          </a:p>
        </p:txBody>
      </p:sp>
      <p:sp>
        <p:nvSpPr>
          <p:cNvPr id="15" name="Shape 13"/>
          <p:cNvSpPr/>
          <p:nvPr/>
        </p:nvSpPr>
        <p:spPr>
          <a:xfrm>
            <a:off x="5653683" y="1934319"/>
            <a:ext cx="3223617" cy="9525"/>
          </a:xfrm>
          <a:prstGeom prst="rect">
            <a:avLst/>
          </a:prstGeom>
          <a:solidFill>
            <a:srgbClr val="DDD9D2"/>
          </a:solidFill>
          <a:ln/>
        </p:spPr>
      </p:sp>
      <p:sp>
        <p:nvSpPr>
          <p:cNvPr id="16" name="Shape 14"/>
          <p:cNvSpPr/>
          <p:nvPr/>
        </p:nvSpPr>
        <p:spPr>
          <a:xfrm>
            <a:off x="5760244" y="1488728"/>
            <a:ext cx="1717030" cy="181570"/>
          </a:xfrm>
          <a:prstGeom prst="roundRect">
            <a:avLst>
              <a:gd name="adj" fmla="val 20984"/>
            </a:avLst>
          </a:prstGeom>
          <a:solidFill>
            <a:srgbClr val="16303F">
              <a:alpha val="7000"/>
            </a:srgbClr>
          </a:solidFill>
          <a:ln/>
        </p:spPr>
      </p:sp>
      <p:sp>
        <p:nvSpPr>
          <p:cNvPr id="17" name="Text 15"/>
          <p:cNvSpPr txBox="1"/>
          <p:nvPr/>
        </p:nvSpPr>
        <p:spPr>
          <a:xfrm>
            <a:off x="5760363" y="1479500"/>
            <a:ext cx="3029307" cy="385018"/>
          </a:xfrm>
          <a:prstGeom prst="rect">
            <a:avLst/>
          </a:prstGeom>
          <a:noFill/>
          <a:ln/>
        </p:spPr>
        <p:txBody>
          <a:bodyPr wrap="square" lIns="0" tIns="0" rIns="0" bIns="0" rtlCol="0" anchor="t"/>
          <a:lstStyle/>
          <a:p>
            <a:pPr algn="l" indent="0" marL="0">
              <a:lnSpc>
                <a:spcPts val="1607"/>
              </a:lnSpc>
              <a:buNone/>
            </a:pPr>
            <a:r>
              <a:rPr lang="en-US" sz="972" dirty="0">
                <a:solidFill>
                  <a:srgbClr val="16303F"/>
                </a:solidFill>
                <a:latin typeface="JetBrains Mono" pitchFamily="34" charset="0"/>
                <a:ea typeface="JetBrains Mono" pitchFamily="34" charset="-122"/>
                <a:cs typeface="JetBrains Mono" pitchFamily="34" charset="-120"/>
              </a:rPr>
              <a:t>appsettings.{Env}.json</a:t>
            </a:r>
            <a:pPr algn="l" indent="0" marL="0">
              <a:lnSpc>
                <a:spcPts val="1607"/>
              </a:lnSpc>
              <a:buNone/>
            </a:pPr>
            <a:r>
              <a:rPr lang="en-US" sz="1056" dirty="0">
                <a:solidFill>
                  <a:srgbClr val="16303F"/>
                </a:solidFill>
                <a:latin typeface="Manrope" pitchFamily="34" charset="0"/>
                <a:ea typeface="Manrope" pitchFamily="34" charset="-122"/>
                <a:cs typeface="Manrope" pitchFamily="34" charset="-120"/>
              </a:rPr>
              <a:t>, or App Configuration</a:t>
            </a:r>
            <a:endParaRPr lang="en-US" sz="972" dirty="0"/>
          </a:p>
        </p:txBody>
      </p:sp>
      <p:sp>
        <p:nvSpPr>
          <p:cNvPr id="18" name="Shape 16"/>
          <p:cNvSpPr/>
          <p:nvPr/>
        </p:nvSpPr>
        <p:spPr>
          <a:xfrm>
            <a:off x="457200" y="1943844"/>
            <a:ext cx="8420100" cy="338584"/>
          </a:xfrm>
          <a:prstGeom prst="rect">
            <a:avLst/>
          </a:prstGeom>
          <a:solidFill>
            <a:srgbClr val="16303F">
              <a:alpha val="3000"/>
            </a:srgbClr>
          </a:solidFill>
          <a:ln/>
        </p:spPr>
      </p:sp>
      <p:sp>
        <p:nvSpPr>
          <p:cNvPr id="19" name="Shape 17"/>
          <p:cNvSpPr/>
          <p:nvPr/>
        </p:nvSpPr>
        <p:spPr>
          <a:xfrm>
            <a:off x="457200" y="2272903"/>
            <a:ext cx="8420100" cy="9525"/>
          </a:xfrm>
          <a:prstGeom prst="rect">
            <a:avLst/>
          </a:prstGeom>
          <a:solidFill>
            <a:srgbClr val="9CA3AF">
              <a:alpha val="20000"/>
            </a:srgbClr>
          </a:solidFill>
          <a:ln/>
        </p:spPr>
      </p:sp>
      <p:sp>
        <p:nvSpPr>
          <p:cNvPr id="20" name="Shape 18"/>
          <p:cNvSpPr/>
          <p:nvPr/>
        </p:nvSpPr>
        <p:spPr>
          <a:xfrm>
            <a:off x="457200" y="2272903"/>
            <a:ext cx="2133302" cy="9525"/>
          </a:xfrm>
          <a:prstGeom prst="rect">
            <a:avLst/>
          </a:prstGeom>
          <a:solidFill>
            <a:srgbClr val="DDD9D2"/>
          </a:solidFill>
          <a:ln/>
        </p:spPr>
      </p:sp>
      <p:sp>
        <p:nvSpPr>
          <p:cNvPr id="21" name="Text 19"/>
          <p:cNvSpPr txBox="1"/>
          <p:nvPr/>
        </p:nvSpPr>
        <p:spPr>
          <a:xfrm>
            <a:off x="563761" y="2022128"/>
            <a:ext cx="55914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Secret</a:t>
            </a:r>
            <a:endParaRPr lang="en-US" sz="1056" dirty="0"/>
          </a:p>
        </p:txBody>
      </p:sp>
      <p:sp>
        <p:nvSpPr>
          <p:cNvPr id="22" name="Shape 20"/>
          <p:cNvSpPr/>
          <p:nvPr/>
        </p:nvSpPr>
        <p:spPr>
          <a:xfrm>
            <a:off x="2590502" y="2272903"/>
            <a:ext cx="3063180" cy="9525"/>
          </a:xfrm>
          <a:prstGeom prst="rect">
            <a:avLst/>
          </a:prstGeom>
          <a:solidFill>
            <a:srgbClr val="DDD9D2"/>
          </a:solidFill>
          <a:ln/>
        </p:spPr>
      </p:sp>
      <p:sp>
        <p:nvSpPr>
          <p:cNvPr id="23" name="Text 21"/>
          <p:cNvSpPr txBox="1"/>
          <p:nvPr/>
        </p:nvSpPr>
        <p:spPr>
          <a:xfrm>
            <a:off x="2697063" y="2022128"/>
            <a:ext cx="28411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API keys, connection strings with passwords</a:t>
            </a:r>
            <a:endParaRPr lang="en-US" sz="1056" dirty="0"/>
          </a:p>
        </p:txBody>
      </p:sp>
      <p:sp>
        <p:nvSpPr>
          <p:cNvPr id="24" name="Shape 22"/>
          <p:cNvSpPr/>
          <p:nvPr/>
        </p:nvSpPr>
        <p:spPr>
          <a:xfrm>
            <a:off x="5653683" y="2272903"/>
            <a:ext cx="3223617" cy="9525"/>
          </a:xfrm>
          <a:prstGeom prst="rect">
            <a:avLst/>
          </a:prstGeom>
          <a:solidFill>
            <a:srgbClr val="DDD9D2"/>
          </a:solidFill>
          <a:ln/>
        </p:spPr>
      </p:sp>
      <p:sp>
        <p:nvSpPr>
          <p:cNvPr id="25" name="Text 23"/>
          <p:cNvSpPr txBox="1"/>
          <p:nvPr/>
        </p:nvSpPr>
        <p:spPr>
          <a:xfrm>
            <a:off x="5760244" y="2022128"/>
            <a:ext cx="24239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(dev) -&gt; Key Vault (prod)</a:t>
            </a:r>
            <a:endParaRPr lang="en-US" sz="1056" dirty="0"/>
          </a:p>
        </p:txBody>
      </p:sp>
      <p:sp>
        <p:nvSpPr>
          <p:cNvPr id="26" name="Shape 24"/>
          <p:cNvSpPr/>
          <p:nvPr/>
        </p:nvSpPr>
        <p:spPr>
          <a:xfrm>
            <a:off x="457200" y="2611487"/>
            <a:ext cx="8420100" cy="9525"/>
          </a:xfrm>
          <a:prstGeom prst="rect">
            <a:avLst/>
          </a:prstGeom>
          <a:solidFill>
            <a:srgbClr val="9CA3AF">
              <a:alpha val="20000"/>
            </a:srgbClr>
          </a:solidFill>
          <a:ln/>
        </p:spPr>
      </p:sp>
      <p:sp>
        <p:nvSpPr>
          <p:cNvPr id="27" name="Shape 25"/>
          <p:cNvSpPr/>
          <p:nvPr/>
        </p:nvSpPr>
        <p:spPr>
          <a:xfrm>
            <a:off x="457200" y="2611487"/>
            <a:ext cx="2133302" cy="9525"/>
          </a:xfrm>
          <a:prstGeom prst="rect">
            <a:avLst/>
          </a:prstGeom>
          <a:solidFill>
            <a:srgbClr val="DDD9D2"/>
          </a:solidFill>
          <a:ln/>
        </p:spPr>
      </p:sp>
      <p:sp>
        <p:nvSpPr>
          <p:cNvPr id="28" name="Text 26"/>
          <p:cNvSpPr txBox="1"/>
          <p:nvPr/>
        </p:nvSpPr>
        <p:spPr>
          <a:xfrm>
            <a:off x="563761" y="2360712"/>
            <a:ext cx="97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Per-instance</a:t>
            </a:r>
            <a:endParaRPr lang="en-US" sz="1056" dirty="0"/>
          </a:p>
        </p:txBody>
      </p:sp>
      <p:sp>
        <p:nvSpPr>
          <p:cNvPr id="29" name="Shape 27"/>
          <p:cNvSpPr/>
          <p:nvPr/>
        </p:nvSpPr>
        <p:spPr>
          <a:xfrm>
            <a:off x="2590502" y="2611487"/>
            <a:ext cx="3063180" cy="9525"/>
          </a:xfrm>
          <a:prstGeom prst="rect">
            <a:avLst/>
          </a:prstGeom>
          <a:solidFill>
            <a:srgbClr val="DDD9D2"/>
          </a:solidFill>
          <a:ln/>
        </p:spPr>
      </p:sp>
      <p:sp>
        <p:nvSpPr>
          <p:cNvPr id="30" name="Text 28"/>
          <p:cNvSpPr txBox="1"/>
          <p:nvPr/>
        </p:nvSpPr>
        <p:spPr>
          <a:xfrm>
            <a:off x="2697063" y="2360712"/>
            <a:ext cx="278903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name, instance id, port, region</a:t>
            </a:r>
            <a:endParaRPr lang="en-US" sz="1056" dirty="0"/>
          </a:p>
        </p:txBody>
      </p:sp>
      <p:sp>
        <p:nvSpPr>
          <p:cNvPr id="31" name="Shape 29"/>
          <p:cNvSpPr/>
          <p:nvPr/>
        </p:nvSpPr>
        <p:spPr>
          <a:xfrm>
            <a:off x="5653683" y="2611487"/>
            <a:ext cx="3223617" cy="9525"/>
          </a:xfrm>
          <a:prstGeom prst="rect">
            <a:avLst/>
          </a:prstGeom>
          <a:solidFill>
            <a:srgbClr val="DDD9D2"/>
          </a:solidFill>
          <a:ln/>
        </p:spPr>
      </p:sp>
      <p:sp>
        <p:nvSpPr>
          <p:cNvPr id="32" name="Text 30"/>
          <p:cNvSpPr txBox="1"/>
          <p:nvPr/>
        </p:nvSpPr>
        <p:spPr>
          <a:xfrm>
            <a:off x="5760244" y="2360712"/>
            <a:ext cx="270688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variables, set by the platform</a:t>
            </a:r>
            <a:endParaRPr lang="en-US" sz="1056" dirty="0"/>
          </a:p>
        </p:txBody>
      </p:sp>
      <p:sp>
        <p:nvSpPr>
          <p:cNvPr id="33" name="Shape 31"/>
          <p:cNvSpPr/>
          <p:nvPr/>
        </p:nvSpPr>
        <p:spPr>
          <a:xfrm>
            <a:off x="457200" y="2785765"/>
            <a:ext cx="38100" cy="533400"/>
          </a:xfrm>
          <a:prstGeom prst="rect">
            <a:avLst/>
          </a:prstGeom>
          <a:solidFill>
            <a:srgbClr val="F4C233"/>
          </a:solidFill>
          <a:ln/>
        </p:spPr>
      </p:sp>
      <p:sp>
        <p:nvSpPr>
          <p:cNvPr id="34" name="Text 32"/>
          <p:cNvSpPr txBox="1"/>
          <p:nvPr/>
        </p:nvSpPr>
        <p:spPr>
          <a:xfrm>
            <a:off x="617190" y="2947690"/>
            <a:ext cx="5297835"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If a value is in the wrong bucket, no amount of provider tuning fixes it.</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53727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What I’d use for six common app types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787426" cy="19050"/>
          </a:xfrm>
          <a:prstGeom prst="rect">
            <a:avLst/>
          </a:prstGeom>
          <a:solidFill>
            <a:srgbClr val="16303F"/>
          </a:solidFill>
          <a:ln/>
        </p:spPr>
      </p:sp>
      <p:sp>
        <p:nvSpPr>
          <p:cNvPr id="6" name="Text 4"/>
          <p:cNvSpPr txBox="1"/>
          <p:nvPr/>
        </p:nvSpPr>
        <p:spPr>
          <a:xfrm>
            <a:off x="563761" y="1163092"/>
            <a:ext cx="77881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APP SHAPE</a:t>
            </a:r>
            <a:endParaRPr lang="en-US" sz="816" dirty="0"/>
          </a:p>
        </p:txBody>
      </p:sp>
      <p:sp>
        <p:nvSpPr>
          <p:cNvPr id="7" name="Shape 5"/>
          <p:cNvSpPr/>
          <p:nvPr/>
        </p:nvSpPr>
        <p:spPr>
          <a:xfrm>
            <a:off x="2244626" y="1377404"/>
            <a:ext cx="1919139" cy="19050"/>
          </a:xfrm>
          <a:prstGeom prst="rect">
            <a:avLst/>
          </a:prstGeom>
          <a:solidFill>
            <a:srgbClr val="16303F"/>
          </a:solidFill>
          <a:ln/>
        </p:spPr>
      </p:sp>
      <p:sp>
        <p:nvSpPr>
          <p:cNvPr id="8" name="Text 6"/>
          <p:cNvSpPr txBox="1"/>
          <p:nvPr/>
        </p:nvSpPr>
        <p:spPr>
          <a:xfrm>
            <a:off x="2351187" y="1163092"/>
            <a:ext cx="6860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BASELINE</a:t>
            </a:r>
            <a:endParaRPr lang="en-US" sz="816" dirty="0"/>
          </a:p>
        </p:txBody>
      </p:sp>
      <p:sp>
        <p:nvSpPr>
          <p:cNvPr id="9" name="Shape 7"/>
          <p:cNvSpPr/>
          <p:nvPr/>
        </p:nvSpPr>
        <p:spPr>
          <a:xfrm>
            <a:off x="4163764" y="1377404"/>
            <a:ext cx="1920925" cy="19050"/>
          </a:xfrm>
          <a:prstGeom prst="rect">
            <a:avLst/>
          </a:prstGeom>
          <a:solidFill>
            <a:srgbClr val="16303F"/>
          </a:solidFill>
          <a:ln/>
        </p:spPr>
      </p:sp>
      <p:sp>
        <p:nvSpPr>
          <p:cNvPr id="10" name="Text 8"/>
          <p:cNvSpPr txBox="1"/>
          <p:nvPr/>
        </p:nvSpPr>
        <p:spPr>
          <a:xfrm>
            <a:off x="4270325" y="1163092"/>
            <a:ext cx="655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SECRETS</a:t>
            </a:r>
            <a:endParaRPr lang="en-US" sz="816" dirty="0"/>
          </a:p>
        </p:txBody>
      </p:sp>
      <p:sp>
        <p:nvSpPr>
          <p:cNvPr id="11" name="Shape 9"/>
          <p:cNvSpPr/>
          <p:nvPr/>
        </p:nvSpPr>
        <p:spPr>
          <a:xfrm>
            <a:off x="6084689" y="1377404"/>
            <a:ext cx="2792611" cy="19050"/>
          </a:xfrm>
          <a:prstGeom prst="rect">
            <a:avLst/>
          </a:prstGeom>
          <a:solidFill>
            <a:srgbClr val="16303F"/>
          </a:solidFill>
          <a:ln/>
        </p:spPr>
      </p:sp>
      <p:sp>
        <p:nvSpPr>
          <p:cNvPr id="12" name="Text 10"/>
          <p:cNvSpPr txBox="1"/>
          <p:nvPr/>
        </p:nvSpPr>
        <p:spPr>
          <a:xfrm>
            <a:off x="6191250" y="1163092"/>
            <a:ext cx="191422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CHANGE WITHOUT REDEPLOY?</a:t>
            </a:r>
            <a:endParaRPr lang="en-US" sz="816" dirty="0"/>
          </a:p>
        </p:txBody>
      </p:sp>
      <p:sp>
        <p:nvSpPr>
          <p:cNvPr id="13" name="Shape 11"/>
          <p:cNvSpPr/>
          <p:nvPr/>
        </p:nvSpPr>
        <p:spPr>
          <a:xfrm>
            <a:off x="457200" y="1931343"/>
            <a:ext cx="8420100" cy="9525"/>
          </a:xfrm>
          <a:prstGeom prst="rect">
            <a:avLst/>
          </a:prstGeom>
          <a:solidFill>
            <a:srgbClr val="9CA3AF">
              <a:alpha val="20000"/>
            </a:srgbClr>
          </a:solidFill>
          <a:ln/>
        </p:spPr>
      </p:sp>
      <p:sp>
        <p:nvSpPr>
          <p:cNvPr id="14" name="Shape 12"/>
          <p:cNvSpPr/>
          <p:nvPr/>
        </p:nvSpPr>
        <p:spPr>
          <a:xfrm>
            <a:off x="457200" y="1931343"/>
            <a:ext cx="1787426" cy="9525"/>
          </a:xfrm>
          <a:prstGeom prst="rect">
            <a:avLst/>
          </a:prstGeom>
          <a:solidFill>
            <a:srgbClr val="DDD9D2"/>
          </a:solidFill>
          <a:ln/>
        </p:spPr>
      </p:sp>
      <p:sp>
        <p:nvSpPr>
          <p:cNvPr id="15" name="Text 13"/>
          <p:cNvSpPr txBox="1"/>
          <p:nvPr/>
        </p:nvSpPr>
        <p:spPr>
          <a:xfrm>
            <a:off x="563880" y="1479500"/>
            <a:ext cx="1593116"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ASP.NET Core on App Service</a:t>
            </a:r>
            <a:endParaRPr lang="en-US" sz="1056" dirty="0"/>
          </a:p>
        </p:txBody>
      </p:sp>
      <p:sp>
        <p:nvSpPr>
          <p:cNvPr id="16" name="Shape 14"/>
          <p:cNvSpPr/>
          <p:nvPr/>
        </p:nvSpPr>
        <p:spPr>
          <a:xfrm>
            <a:off x="2244626" y="1931343"/>
            <a:ext cx="1919139" cy="9525"/>
          </a:xfrm>
          <a:prstGeom prst="rect">
            <a:avLst/>
          </a:prstGeom>
          <a:solidFill>
            <a:srgbClr val="DDD9D2"/>
          </a:solidFill>
          <a:ln/>
        </p:spPr>
      </p:sp>
      <p:sp>
        <p:nvSpPr>
          <p:cNvPr id="17" name="Text 15"/>
          <p:cNvSpPr txBox="1"/>
          <p:nvPr/>
        </p:nvSpPr>
        <p:spPr>
          <a:xfrm>
            <a:off x="2351306" y="1479500"/>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 App Service settings</a:t>
            </a:r>
            <a:endParaRPr lang="en-US" sz="1056" dirty="0"/>
          </a:p>
        </p:txBody>
      </p:sp>
      <p:sp>
        <p:nvSpPr>
          <p:cNvPr id="18" name="Shape 16"/>
          <p:cNvSpPr/>
          <p:nvPr/>
        </p:nvSpPr>
        <p:spPr>
          <a:xfrm>
            <a:off x="4163764" y="1931343"/>
            <a:ext cx="1920925" cy="9525"/>
          </a:xfrm>
          <a:prstGeom prst="rect">
            <a:avLst/>
          </a:prstGeom>
          <a:solidFill>
            <a:srgbClr val="DDD9D2"/>
          </a:solidFill>
          <a:ln/>
        </p:spPr>
      </p:sp>
      <p:sp>
        <p:nvSpPr>
          <p:cNvPr id="19" name="Text 17"/>
          <p:cNvSpPr txBox="1"/>
          <p:nvPr/>
        </p:nvSpPr>
        <p:spPr>
          <a:xfrm>
            <a:off x="4270325" y="1479500"/>
            <a:ext cx="94744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Key Vault refs</a:t>
            </a:r>
            <a:endParaRPr lang="en-US" sz="1056" dirty="0"/>
          </a:p>
        </p:txBody>
      </p:sp>
      <p:sp>
        <p:nvSpPr>
          <p:cNvPr id="20" name="Shape 18"/>
          <p:cNvSpPr/>
          <p:nvPr/>
        </p:nvSpPr>
        <p:spPr>
          <a:xfrm>
            <a:off x="6084689" y="1931343"/>
            <a:ext cx="2792611" cy="9525"/>
          </a:xfrm>
          <a:prstGeom prst="rect">
            <a:avLst/>
          </a:prstGeom>
          <a:solidFill>
            <a:srgbClr val="DDD9D2"/>
          </a:solidFill>
          <a:ln/>
        </p:spPr>
      </p:sp>
      <p:sp>
        <p:nvSpPr>
          <p:cNvPr id="21" name="Text 19"/>
          <p:cNvSpPr txBox="1"/>
          <p:nvPr/>
        </p:nvSpPr>
        <p:spPr>
          <a:xfrm>
            <a:off x="6191369" y="1479500"/>
            <a:ext cx="2598301"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App Service settings restart; App Config doesn’t</a:t>
            </a:r>
            <a:endParaRPr lang="en-US" sz="1056" dirty="0"/>
          </a:p>
        </p:txBody>
      </p:sp>
      <p:sp>
        <p:nvSpPr>
          <p:cNvPr id="22" name="Shape 20"/>
          <p:cNvSpPr/>
          <p:nvPr/>
        </p:nvSpPr>
        <p:spPr>
          <a:xfrm>
            <a:off x="457200" y="1940868"/>
            <a:ext cx="8420100" cy="539651"/>
          </a:xfrm>
          <a:prstGeom prst="rect">
            <a:avLst/>
          </a:prstGeom>
          <a:solidFill>
            <a:srgbClr val="16303F">
              <a:alpha val="3000"/>
            </a:srgbClr>
          </a:solidFill>
          <a:ln/>
        </p:spPr>
      </p:sp>
      <p:sp>
        <p:nvSpPr>
          <p:cNvPr id="23" name="Shape 21"/>
          <p:cNvSpPr/>
          <p:nvPr/>
        </p:nvSpPr>
        <p:spPr>
          <a:xfrm>
            <a:off x="457200" y="2470993"/>
            <a:ext cx="8420100" cy="9525"/>
          </a:xfrm>
          <a:prstGeom prst="rect">
            <a:avLst/>
          </a:prstGeom>
          <a:solidFill>
            <a:srgbClr val="9CA3AF">
              <a:alpha val="20000"/>
            </a:srgbClr>
          </a:solidFill>
          <a:ln/>
        </p:spPr>
      </p:sp>
      <p:sp>
        <p:nvSpPr>
          <p:cNvPr id="24" name="Shape 22"/>
          <p:cNvSpPr/>
          <p:nvPr/>
        </p:nvSpPr>
        <p:spPr>
          <a:xfrm>
            <a:off x="457200" y="2470993"/>
            <a:ext cx="1787426" cy="9525"/>
          </a:xfrm>
          <a:prstGeom prst="rect">
            <a:avLst/>
          </a:prstGeom>
          <a:solidFill>
            <a:srgbClr val="DDD9D2"/>
          </a:solidFill>
          <a:ln/>
        </p:spPr>
      </p:sp>
      <p:sp>
        <p:nvSpPr>
          <p:cNvPr id="25" name="Text 23"/>
          <p:cNvSpPr txBox="1"/>
          <p:nvPr/>
        </p:nvSpPr>
        <p:spPr>
          <a:xfrm>
            <a:off x="563761" y="2019151"/>
            <a:ext cx="1083618"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Container / AKS</a:t>
            </a:r>
            <a:endParaRPr lang="en-US" sz="1056" dirty="0"/>
          </a:p>
        </p:txBody>
      </p:sp>
      <p:sp>
        <p:nvSpPr>
          <p:cNvPr id="26" name="Shape 24"/>
          <p:cNvSpPr/>
          <p:nvPr/>
        </p:nvSpPr>
        <p:spPr>
          <a:xfrm>
            <a:off x="2244626" y="2470993"/>
            <a:ext cx="1919139" cy="9525"/>
          </a:xfrm>
          <a:prstGeom prst="rect">
            <a:avLst/>
          </a:prstGeom>
          <a:solidFill>
            <a:srgbClr val="DDD9D2"/>
          </a:solidFill>
          <a:ln/>
        </p:spPr>
      </p:sp>
      <p:sp>
        <p:nvSpPr>
          <p:cNvPr id="27" name="Text 25"/>
          <p:cNvSpPr txBox="1"/>
          <p:nvPr/>
        </p:nvSpPr>
        <p:spPr>
          <a:xfrm>
            <a:off x="2351306" y="2019151"/>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 orchestrator env vars</a:t>
            </a:r>
            <a:endParaRPr lang="en-US" sz="1056" dirty="0"/>
          </a:p>
        </p:txBody>
      </p:sp>
      <p:sp>
        <p:nvSpPr>
          <p:cNvPr id="28" name="Shape 26"/>
          <p:cNvSpPr/>
          <p:nvPr/>
        </p:nvSpPr>
        <p:spPr>
          <a:xfrm>
            <a:off x="4163764" y="2470993"/>
            <a:ext cx="1920925" cy="9525"/>
          </a:xfrm>
          <a:prstGeom prst="rect">
            <a:avLst/>
          </a:prstGeom>
          <a:solidFill>
            <a:srgbClr val="DDD9D2"/>
          </a:solidFill>
          <a:ln/>
        </p:spPr>
      </p:sp>
      <p:sp>
        <p:nvSpPr>
          <p:cNvPr id="29" name="Text 27"/>
          <p:cNvSpPr txBox="1"/>
          <p:nvPr/>
        </p:nvSpPr>
        <p:spPr>
          <a:xfrm>
            <a:off x="4270444" y="2019151"/>
            <a:ext cx="1726615"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key-per-file, or workload identity</a:t>
            </a:r>
            <a:endParaRPr lang="en-US" sz="1056" dirty="0"/>
          </a:p>
        </p:txBody>
      </p:sp>
      <p:sp>
        <p:nvSpPr>
          <p:cNvPr id="30" name="Shape 28"/>
          <p:cNvSpPr/>
          <p:nvPr/>
        </p:nvSpPr>
        <p:spPr>
          <a:xfrm>
            <a:off x="6084689" y="2470993"/>
            <a:ext cx="2792611" cy="9525"/>
          </a:xfrm>
          <a:prstGeom prst="rect">
            <a:avLst/>
          </a:prstGeom>
          <a:solidFill>
            <a:srgbClr val="DDD9D2"/>
          </a:solidFill>
          <a:ln/>
        </p:spPr>
      </p:sp>
      <p:sp>
        <p:nvSpPr>
          <p:cNvPr id="31" name="Text 29"/>
          <p:cNvSpPr txBox="1"/>
          <p:nvPr/>
        </p:nvSpPr>
        <p:spPr>
          <a:xfrm>
            <a:off x="6191250" y="2019151"/>
            <a:ext cx="194667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restart the pod, or App Config</a:t>
            </a:r>
            <a:endParaRPr lang="en-US" sz="1056" dirty="0"/>
          </a:p>
        </p:txBody>
      </p:sp>
      <p:sp>
        <p:nvSpPr>
          <p:cNvPr id="32" name="Shape 30"/>
          <p:cNvSpPr/>
          <p:nvPr/>
        </p:nvSpPr>
        <p:spPr>
          <a:xfrm>
            <a:off x="457200" y="2809577"/>
            <a:ext cx="8420100" cy="9525"/>
          </a:xfrm>
          <a:prstGeom prst="rect">
            <a:avLst/>
          </a:prstGeom>
          <a:solidFill>
            <a:srgbClr val="9CA3AF">
              <a:alpha val="20000"/>
            </a:srgbClr>
          </a:solidFill>
          <a:ln/>
        </p:spPr>
      </p:sp>
      <p:sp>
        <p:nvSpPr>
          <p:cNvPr id="33" name="Shape 31"/>
          <p:cNvSpPr/>
          <p:nvPr/>
        </p:nvSpPr>
        <p:spPr>
          <a:xfrm>
            <a:off x="457200" y="2809577"/>
            <a:ext cx="1787426" cy="9525"/>
          </a:xfrm>
          <a:prstGeom prst="rect">
            <a:avLst/>
          </a:prstGeom>
          <a:solidFill>
            <a:srgbClr val="DDD9D2"/>
          </a:solidFill>
          <a:ln/>
        </p:spPr>
      </p:sp>
      <p:sp>
        <p:nvSpPr>
          <p:cNvPr id="34" name="Text 32"/>
          <p:cNvSpPr txBox="1"/>
          <p:nvPr/>
        </p:nvSpPr>
        <p:spPr>
          <a:xfrm>
            <a:off x="563761" y="2558802"/>
            <a:ext cx="133870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Many microservices</a:t>
            </a:r>
            <a:endParaRPr lang="en-US" sz="1056" dirty="0"/>
          </a:p>
        </p:txBody>
      </p:sp>
      <p:sp>
        <p:nvSpPr>
          <p:cNvPr id="35" name="Shape 33"/>
          <p:cNvSpPr/>
          <p:nvPr/>
        </p:nvSpPr>
        <p:spPr>
          <a:xfrm>
            <a:off x="2244626" y="2809577"/>
            <a:ext cx="1919139" cy="9525"/>
          </a:xfrm>
          <a:prstGeom prst="rect">
            <a:avLst/>
          </a:prstGeom>
          <a:solidFill>
            <a:srgbClr val="DDD9D2"/>
          </a:solidFill>
          <a:ln/>
        </p:spPr>
      </p:sp>
      <p:sp>
        <p:nvSpPr>
          <p:cNvPr id="36" name="Text 34"/>
          <p:cNvSpPr txBox="1"/>
          <p:nvPr/>
        </p:nvSpPr>
        <p:spPr>
          <a:xfrm>
            <a:off x="2351187" y="2558802"/>
            <a:ext cx="129644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 + labels</a:t>
            </a:r>
            <a:endParaRPr lang="en-US" sz="1056" dirty="0"/>
          </a:p>
        </p:txBody>
      </p:sp>
      <p:sp>
        <p:nvSpPr>
          <p:cNvPr id="37" name="Shape 35"/>
          <p:cNvSpPr/>
          <p:nvPr/>
        </p:nvSpPr>
        <p:spPr>
          <a:xfrm>
            <a:off x="4163764" y="2809577"/>
            <a:ext cx="1920925" cy="9525"/>
          </a:xfrm>
          <a:prstGeom prst="rect">
            <a:avLst/>
          </a:prstGeom>
          <a:solidFill>
            <a:srgbClr val="DDD9D2"/>
          </a:solidFill>
          <a:ln/>
        </p:spPr>
      </p:sp>
      <p:sp>
        <p:nvSpPr>
          <p:cNvPr id="38" name="Text 36"/>
          <p:cNvSpPr txBox="1"/>
          <p:nvPr/>
        </p:nvSpPr>
        <p:spPr>
          <a:xfrm>
            <a:off x="4270325" y="2558802"/>
            <a:ext cx="137636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Key Vault references</a:t>
            </a:r>
            <a:endParaRPr lang="en-US" sz="1056" dirty="0"/>
          </a:p>
        </p:txBody>
      </p:sp>
      <p:sp>
        <p:nvSpPr>
          <p:cNvPr id="39" name="Shape 37"/>
          <p:cNvSpPr/>
          <p:nvPr/>
        </p:nvSpPr>
        <p:spPr>
          <a:xfrm>
            <a:off x="6084689" y="2809577"/>
            <a:ext cx="2792611" cy="9525"/>
          </a:xfrm>
          <a:prstGeom prst="rect">
            <a:avLst/>
          </a:prstGeom>
          <a:solidFill>
            <a:srgbClr val="DDD9D2"/>
          </a:solidFill>
          <a:ln/>
        </p:spPr>
      </p:sp>
      <p:sp>
        <p:nvSpPr>
          <p:cNvPr id="40" name="Text 38"/>
          <p:cNvSpPr txBox="1"/>
          <p:nvPr/>
        </p:nvSpPr>
        <p:spPr>
          <a:xfrm>
            <a:off x="6191250" y="2558802"/>
            <a:ext cx="156924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 sentinel + refresh</a:t>
            </a:r>
            <a:endParaRPr lang="en-US" sz="1056" dirty="0"/>
          </a:p>
        </p:txBody>
      </p:sp>
      <p:sp>
        <p:nvSpPr>
          <p:cNvPr id="41" name="Shape 39"/>
          <p:cNvSpPr/>
          <p:nvPr/>
        </p:nvSpPr>
        <p:spPr>
          <a:xfrm>
            <a:off x="457200" y="2819102"/>
            <a:ext cx="8420100" cy="539651"/>
          </a:xfrm>
          <a:prstGeom prst="rect">
            <a:avLst/>
          </a:prstGeom>
          <a:solidFill>
            <a:srgbClr val="16303F">
              <a:alpha val="3000"/>
            </a:srgbClr>
          </a:solidFill>
          <a:ln/>
        </p:spPr>
      </p:sp>
      <p:sp>
        <p:nvSpPr>
          <p:cNvPr id="42" name="Shape 40"/>
          <p:cNvSpPr/>
          <p:nvPr/>
        </p:nvSpPr>
        <p:spPr>
          <a:xfrm>
            <a:off x="457200" y="3349228"/>
            <a:ext cx="8420100" cy="9525"/>
          </a:xfrm>
          <a:prstGeom prst="rect">
            <a:avLst/>
          </a:prstGeom>
          <a:solidFill>
            <a:srgbClr val="9CA3AF">
              <a:alpha val="20000"/>
            </a:srgbClr>
          </a:solidFill>
          <a:ln/>
        </p:spPr>
      </p:sp>
      <p:sp>
        <p:nvSpPr>
          <p:cNvPr id="43" name="Shape 41"/>
          <p:cNvSpPr/>
          <p:nvPr/>
        </p:nvSpPr>
        <p:spPr>
          <a:xfrm>
            <a:off x="457200" y="3349228"/>
            <a:ext cx="1787426" cy="9525"/>
          </a:xfrm>
          <a:prstGeom prst="rect">
            <a:avLst/>
          </a:prstGeom>
          <a:solidFill>
            <a:srgbClr val="DDD9D2"/>
          </a:solidFill>
          <a:ln/>
        </p:spPr>
      </p:sp>
      <p:sp>
        <p:nvSpPr>
          <p:cNvPr id="44" name="Text 42"/>
          <p:cNvSpPr txBox="1"/>
          <p:nvPr/>
        </p:nvSpPr>
        <p:spPr>
          <a:xfrm>
            <a:off x="563761" y="2897386"/>
            <a:ext cx="139571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Worker / background</a:t>
            </a:r>
            <a:endParaRPr lang="en-US" sz="1056" dirty="0"/>
          </a:p>
        </p:txBody>
      </p:sp>
      <p:sp>
        <p:nvSpPr>
          <p:cNvPr id="45" name="Shape 43"/>
          <p:cNvSpPr/>
          <p:nvPr/>
        </p:nvSpPr>
        <p:spPr>
          <a:xfrm>
            <a:off x="2244626" y="3349228"/>
            <a:ext cx="1919139" cy="9525"/>
          </a:xfrm>
          <a:prstGeom prst="rect">
            <a:avLst/>
          </a:prstGeom>
          <a:solidFill>
            <a:srgbClr val="DDD9D2"/>
          </a:solidFill>
          <a:ln/>
        </p:spPr>
      </p:sp>
      <p:sp>
        <p:nvSpPr>
          <p:cNvPr id="46" name="Text 44"/>
          <p:cNvSpPr txBox="1"/>
          <p:nvPr/>
        </p:nvSpPr>
        <p:spPr>
          <a:xfrm>
            <a:off x="2351187" y="2897386"/>
            <a:ext cx="108465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JSON + env vars</a:t>
            </a:r>
            <a:endParaRPr lang="en-US" sz="1056" dirty="0"/>
          </a:p>
        </p:txBody>
      </p:sp>
      <p:sp>
        <p:nvSpPr>
          <p:cNvPr id="47" name="Shape 45"/>
          <p:cNvSpPr/>
          <p:nvPr/>
        </p:nvSpPr>
        <p:spPr>
          <a:xfrm>
            <a:off x="4163764" y="3349228"/>
            <a:ext cx="1920925" cy="9525"/>
          </a:xfrm>
          <a:prstGeom prst="rect">
            <a:avLst/>
          </a:prstGeom>
          <a:solidFill>
            <a:srgbClr val="DDD9D2"/>
          </a:solidFill>
          <a:ln/>
        </p:spPr>
      </p:sp>
      <p:sp>
        <p:nvSpPr>
          <p:cNvPr id="48" name="Text 46"/>
          <p:cNvSpPr txBox="1"/>
          <p:nvPr/>
        </p:nvSpPr>
        <p:spPr>
          <a:xfrm>
            <a:off x="4270444" y="2897386"/>
            <a:ext cx="1726615"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Key Vault via managed identity</a:t>
            </a:r>
            <a:endParaRPr lang="en-US" sz="1056" dirty="0"/>
          </a:p>
        </p:txBody>
      </p:sp>
      <p:sp>
        <p:nvSpPr>
          <p:cNvPr id="49" name="Shape 47"/>
          <p:cNvSpPr/>
          <p:nvPr/>
        </p:nvSpPr>
        <p:spPr>
          <a:xfrm>
            <a:off x="6084689" y="3349228"/>
            <a:ext cx="2792611" cy="9525"/>
          </a:xfrm>
          <a:prstGeom prst="rect">
            <a:avLst/>
          </a:prstGeom>
          <a:solidFill>
            <a:srgbClr val="DDD9D2"/>
          </a:solidFill>
          <a:ln/>
        </p:spPr>
      </p:sp>
      <p:sp>
        <p:nvSpPr>
          <p:cNvPr id="50" name="Shape 48"/>
          <p:cNvSpPr/>
          <p:nvPr/>
        </p:nvSpPr>
        <p:spPr>
          <a:xfrm>
            <a:off x="6191250" y="2906613"/>
            <a:ext cx="1198959" cy="181570"/>
          </a:xfrm>
          <a:prstGeom prst="roundRect">
            <a:avLst>
              <a:gd name="adj" fmla="val 20984"/>
            </a:avLst>
          </a:prstGeom>
          <a:solidFill>
            <a:srgbClr val="16303F">
              <a:alpha val="7000"/>
            </a:srgbClr>
          </a:solidFill>
          <a:ln/>
        </p:spPr>
      </p:sp>
      <p:sp>
        <p:nvSpPr>
          <p:cNvPr id="51" name="Text 49"/>
          <p:cNvSpPr txBox="1"/>
          <p:nvPr/>
        </p:nvSpPr>
        <p:spPr>
          <a:xfrm>
            <a:off x="6235601" y="2897386"/>
            <a:ext cx="2320826"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IOptionsMonitor</a:t>
            </a:r>
            <a:pPr algn="l" indent="0" marL="0">
              <a:buNone/>
            </a:pPr>
            <a:r>
              <a:rPr lang="en-US" sz="1056" dirty="0">
                <a:solidFill>
                  <a:srgbClr val="16303F"/>
                </a:solidFill>
                <a:latin typeface="Manrope" pitchFamily="34" charset="0"/>
                <a:ea typeface="Manrope" pitchFamily="34" charset="-122"/>
                <a:cs typeface="Manrope" pitchFamily="34" charset="-120"/>
              </a:rPr>
              <a:t> + explicit refresh</a:t>
            </a:r>
            <a:endParaRPr lang="en-US" sz="972" dirty="0"/>
          </a:p>
        </p:txBody>
      </p:sp>
      <p:sp>
        <p:nvSpPr>
          <p:cNvPr id="52" name="Shape 50"/>
          <p:cNvSpPr/>
          <p:nvPr/>
        </p:nvSpPr>
        <p:spPr>
          <a:xfrm>
            <a:off x="457200" y="3687812"/>
            <a:ext cx="8420100" cy="9525"/>
          </a:xfrm>
          <a:prstGeom prst="rect">
            <a:avLst/>
          </a:prstGeom>
          <a:solidFill>
            <a:srgbClr val="9CA3AF">
              <a:alpha val="20000"/>
            </a:srgbClr>
          </a:solidFill>
          <a:ln/>
        </p:spPr>
      </p:sp>
      <p:sp>
        <p:nvSpPr>
          <p:cNvPr id="53" name="Shape 51"/>
          <p:cNvSpPr/>
          <p:nvPr/>
        </p:nvSpPr>
        <p:spPr>
          <a:xfrm>
            <a:off x="457200" y="3687812"/>
            <a:ext cx="1787426" cy="9525"/>
          </a:xfrm>
          <a:prstGeom prst="rect">
            <a:avLst/>
          </a:prstGeom>
          <a:solidFill>
            <a:srgbClr val="DDD9D2"/>
          </a:solidFill>
          <a:ln/>
        </p:spPr>
      </p:sp>
      <p:sp>
        <p:nvSpPr>
          <p:cNvPr id="54" name="Text 52"/>
          <p:cNvSpPr txBox="1"/>
          <p:nvPr/>
        </p:nvSpPr>
        <p:spPr>
          <a:xfrm>
            <a:off x="563761" y="3437037"/>
            <a:ext cx="93017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Console / CLI</a:t>
            </a:r>
            <a:endParaRPr lang="en-US" sz="1056" dirty="0"/>
          </a:p>
        </p:txBody>
      </p:sp>
      <p:sp>
        <p:nvSpPr>
          <p:cNvPr id="55" name="Shape 53"/>
          <p:cNvSpPr/>
          <p:nvPr/>
        </p:nvSpPr>
        <p:spPr>
          <a:xfrm>
            <a:off x="2244626" y="3687812"/>
            <a:ext cx="1919139" cy="9525"/>
          </a:xfrm>
          <a:prstGeom prst="rect">
            <a:avLst/>
          </a:prstGeom>
          <a:solidFill>
            <a:srgbClr val="DDD9D2"/>
          </a:solidFill>
          <a:ln/>
        </p:spPr>
      </p:sp>
      <p:sp>
        <p:nvSpPr>
          <p:cNvPr id="56" name="Text 54"/>
          <p:cNvSpPr txBox="1"/>
          <p:nvPr/>
        </p:nvSpPr>
        <p:spPr>
          <a:xfrm>
            <a:off x="2351187" y="3437037"/>
            <a:ext cx="143827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JSON + command line</a:t>
            </a:r>
            <a:endParaRPr lang="en-US" sz="1056" dirty="0"/>
          </a:p>
        </p:txBody>
      </p:sp>
      <p:sp>
        <p:nvSpPr>
          <p:cNvPr id="57" name="Shape 55"/>
          <p:cNvSpPr/>
          <p:nvPr/>
        </p:nvSpPr>
        <p:spPr>
          <a:xfrm>
            <a:off x="4163764" y="3687812"/>
            <a:ext cx="1920925" cy="9525"/>
          </a:xfrm>
          <a:prstGeom prst="rect">
            <a:avLst/>
          </a:prstGeom>
          <a:solidFill>
            <a:srgbClr val="DDD9D2"/>
          </a:solidFill>
          <a:ln/>
        </p:spPr>
      </p:sp>
      <p:sp>
        <p:nvSpPr>
          <p:cNvPr id="58" name="Text 56"/>
          <p:cNvSpPr txBox="1"/>
          <p:nvPr/>
        </p:nvSpPr>
        <p:spPr>
          <a:xfrm>
            <a:off x="4270325" y="3437037"/>
            <a:ext cx="127843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in dev</a:t>
            </a:r>
            <a:endParaRPr lang="en-US" sz="1056" dirty="0"/>
          </a:p>
        </p:txBody>
      </p:sp>
      <p:sp>
        <p:nvSpPr>
          <p:cNvPr id="59" name="Shape 57"/>
          <p:cNvSpPr/>
          <p:nvPr/>
        </p:nvSpPr>
        <p:spPr>
          <a:xfrm>
            <a:off x="6084689" y="3687812"/>
            <a:ext cx="2792611" cy="9525"/>
          </a:xfrm>
          <a:prstGeom prst="rect">
            <a:avLst/>
          </a:prstGeom>
          <a:solidFill>
            <a:srgbClr val="DDD9D2"/>
          </a:solidFill>
          <a:ln/>
        </p:spPr>
      </p:sp>
      <p:sp>
        <p:nvSpPr>
          <p:cNvPr id="60" name="Text 58"/>
          <p:cNvSpPr txBox="1"/>
          <p:nvPr/>
        </p:nvSpPr>
        <p:spPr>
          <a:xfrm>
            <a:off x="6191250" y="3437037"/>
            <a:ext cx="162892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short-lived process</a:t>
            </a:r>
            <a:endParaRPr lang="en-US" sz="1056" dirty="0"/>
          </a:p>
        </p:txBody>
      </p:sp>
      <p:sp>
        <p:nvSpPr>
          <p:cNvPr id="61" name="Shape 59"/>
          <p:cNvSpPr/>
          <p:nvPr/>
        </p:nvSpPr>
        <p:spPr>
          <a:xfrm>
            <a:off x="457200" y="3697337"/>
            <a:ext cx="8420100" cy="539651"/>
          </a:xfrm>
          <a:prstGeom prst="rect">
            <a:avLst/>
          </a:prstGeom>
          <a:solidFill>
            <a:srgbClr val="16303F">
              <a:alpha val="3000"/>
            </a:srgbClr>
          </a:solidFill>
          <a:ln/>
        </p:spPr>
      </p:sp>
      <p:sp>
        <p:nvSpPr>
          <p:cNvPr id="62" name="Shape 60"/>
          <p:cNvSpPr/>
          <p:nvPr/>
        </p:nvSpPr>
        <p:spPr>
          <a:xfrm>
            <a:off x="457200" y="4227463"/>
            <a:ext cx="8420100" cy="9525"/>
          </a:xfrm>
          <a:prstGeom prst="rect">
            <a:avLst/>
          </a:prstGeom>
          <a:solidFill>
            <a:srgbClr val="9CA3AF">
              <a:alpha val="20000"/>
            </a:srgbClr>
          </a:solidFill>
          <a:ln/>
        </p:spPr>
      </p:sp>
      <p:sp>
        <p:nvSpPr>
          <p:cNvPr id="63" name="Shape 61"/>
          <p:cNvSpPr/>
          <p:nvPr/>
        </p:nvSpPr>
        <p:spPr>
          <a:xfrm>
            <a:off x="457200" y="4227463"/>
            <a:ext cx="1787426" cy="9525"/>
          </a:xfrm>
          <a:prstGeom prst="rect">
            <a:avLst/>
          </a:prstGeom>
          <a:solidFill>
            <a:srgbClr val="DDD9D2"/>
          </a:solidFill>
          <a:ln/>
        </p:spPr>
      </p:sp>
      <p:sp>
        <p:nvSpPr>
          <p:cNvPr id="64" name="Text 62"/>
          <p:cNvSpPr txBox="1"/>
          <p:nvPr/>
        </p:nvSpPr>
        <p:spPr>
          <a:xfrm>
            <a:off x="563761" y="3775621"/>
            <a:ext cx="629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Desktop</a:t>
            </a:r>
            <a:endParaRPr lang="en-US" sz="1056" dirty="0"/>
          </a:p>
        </p:txBody>
      </p:sp>
      <p:sp>
        <p:nvSpPr>
          <p:cNvPr id="65" name="Shape 63"/>
          <p:cNvSpPr/>
          <p:nvPr/>
        </p:nvSpPr>
        <p:spPr>
          <a:xfrm>
            <a:off x="2244626" y="4227463"/>
            <a:ext cx="1919139" cy="9525"/>
          </a:xfrm>
          <a:prstGeom prst="rect">
            <a:avLst/>
          </a:prstGeom>
          <a:solidFill>
            <a:srgbClr val="DDD9D2"/>
          </a:solidFill>
          <a:ln/>
        </p:spPr>
      </p:sp>
      <p:sp>
        <p:nvSpPr>
          <p:cNvPr id="66" name="Text 64"/>
          <p:cNvSpPr txBox="1"/>
          <p:nvPr/>
        </p:nvSpPr>
        <p:spPr>
          <a:xfrm>
            <a:off x="2351306" y="3775621"/>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next to the EXE + AppData</a:t>
            </a:r>
            <a:endParaRPr lang="en-US" sz="1056" dirty="0"/>
          </a:p>
        </p:txBody>
      </p:sp>
      <p:sp>
        <p:nvSpPr>
          <p:cNvPr id="67" name="Shape 65"/>
          <p:cNvSpPr/>
          <p:nvPr/>
        </p:nvSpPr>
        <p:spPr>
          <a:xfrm>
            <a:off x="4163764" y="4227463"/>
            <a:ext cx="1920925" cy="9525"/>
          </a:xfrm>
          <a:prstGeom prst="rect">
            <a:avLst/>
          </a:prstGeom>
          <a:solidFill>
            <a:srgbClr val="DDD9D2"/>
          </a:solidFill>
          <a:ln/>
        </p:spPr>
      </p:sp>
      <p:sp>
        <p:nvSpPr>
          <p:cNvPr id="68" name="Text 66"/>
          <p:cNvSpPr txBox="1"/>
          <p:nvPr/>
        </p:nvSpPr>
        <p:spPr>
          <a:xfrm>
            <a:off x="4270325" y="3775621"/>
            <a:ext cx="125968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none in the client</a:t>
            </a:r>
            <a:endParaRPr lang="en-US" sz="1056" dirty="0"/>
          </a:p>
        </p:txBody>
      </p:sp>
      <p:sp>
        <p:nvSpPr>
          <p:cNvPr id="69" name="Shape 67"/>
          <p:cNvSpPr/>
          <p:nvPr/>
        </p:nvSpPr>
        <p:spPr>
          <a:xfrm>
            <a:off x="6084689" y="4227463"/>
            <a:ext cx="2792611" cy="9525"/>
          </a:xfrm>
          <a:prstGeom prst="rect">
            <a:avLst/>
          </a:prstGeom>
          <a:solidFill>
            <a:srgbClr val="DDD9D2"/>
          </a:solidFill>
          <a:ln/>
        </p:spPr>
      </p:sp>
      <p:sp>
        <p:nvSpPr>
          <p:cNvPr id="70" name="Text 68"/>
          <p:cNvSpPr txBox="1"/>
          <p:nvPr/>
        </p:nvSpPr>
        <p:spPr>
          <a:xfrm>
            <a:off x="6191250" y="3775621"/>
            <a:ext cx="17807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restart, or call your own API</a:t>
            </a:r>
            <a:endParaRPr lang="en-US" sz="1056"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26159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Don’t do this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034504" cy="19050"/>
          </a:xfrm>
          <a:prstGeom prst="rect">
            <a:avLst/>
          </a:prstGeom>
          <a:solidFill>
            <a:srgbClr val="16303F"/>
          </a:solidFill>
          <a:ln/>
        </p:spPr>
      </p:sp>
      <p:sp>
        <p:nvSpPr>
          <p:cNvPr id="6" name="Shape 4"/>
          <p:cNvSpPr/>
          <p:nvPr/>
        </p:nvSpPr>
        <p:spPr>
          <a:xfrm>
            <a:off x="1491704" y="1377404"/>
            <a:ext cx="7385596" cy="19050"/>
          </a:xfrm>
          <a:prstGeom prst="rect">
            <a:avLst/>
          </a:prstGeom>
          <a:solidFill>
            <a:srgbClr val="16303F"/>
          </a:solidFill>
          <a:ln/>
        </p:spPr>
      </p:sp>
      <p:sp>
        <p:nvSpPr>
          <p:cNvPr id="7" name="Text 5"/>
          <p:cNvSpPr txBox="1"/>
          <p:nvPr/>
        </p:nvSpPr>
        <p:spPr>
          <a:xfrm>
            <a:off x="1598265" y="1163092"/>
            <a:ext cx="205100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ONE THAT COSTS YOU MOST</a:t>
            </a:r>
            <a:endParaRPr lang="en-US" sz="816" dirty="0"/>
          </a:p>
        </p:txBody>
      </p:sp>
      <p:sp>
        <p:nvSpPr>
          <p:cNvPr id="8" name="Shape 6"/>
          <p:cNvSpPr/>
          <p:nvPr/>
        </p:nvSpPr>
        <p:spPr>
          <a:xfrm>
            <a:off x="457200" y="1733252"/>
            <a:ext cx="8420100" cy="9525"/>
          </a:xfrm>
          <a:prstGeom prst="rect">
            <a:avLst/>
          </a:prstGeom>
          <a:solidFill>
            <a:srgbClr val="9CA3AF">
              <a:alpha val="20000"/>
            </a:srgbClr>
          </a:solidFill>
          <a:ln/>
        </p:spPr>
      </p:sp>
      <p:sp>
        <p:nvSpPr>
          <p:cNvPr id="9" name="Shape 7"/>
          <p:cNvSpPr/>
          <p:nvPr/>
        </p:nvSpPr>
        <p:spPr>
          <a:xfrm>
            <a:off x="457200" y="1733252"/>
            <a:ext cx="1034504" cy="9525"/>
          </a:xfrm>
          <a:prstGeom prst="rect">
            <a:avLst/>
          </a:prstGeom>
          <a:solidFill>
            <a:srgbClr val="DDD9D2"/>
          </a:solidFill>
          <a:ln/>
        </p:spPr>
      </p:sp>
      <p:sp>
        <p:nvSpPr>
          <p:cNvPr id="10" name="Text 8"/>
          <p:cNvSpPr txBox="1"/>
          <p:nvPr/>
        </p:nvSpPr>
        <p:spPr>
          <a:xfrm>
            <a:off x="563761" y="1479500"/>
            <a:ext cx="57016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ORDER</a:t>
            </a:r>
            <a:endParaRPr lang="en-US" sz="1056" dirty="0"/>
          </a:p>
        </p:txBody>
      </p:sp>
      <p:sp>
        <p:nvSpPr>
          <p:cNvPr id="11" name="Shape 9"/>
          <p:cNvSpPr/>
          <p:nvPr/>
        </p:nvSpPr>
        <p:spPr>
          <a:xfrm>
            <a:off x="1491704" y="1733252"/>
            <a:ext cx="7385596" cy="9525"/>
          </a:xfrm>
          <a:prstGeom prst="rect">
            <a:avLst/>
          </a:prstGeom>
          <a:solidFill>
            <a:srgbClr val="DDD9D2"/>
          </a:solidFill>
          <a:ln/>
        </p:spPr>
      </p:sp>
      <p:sp>
        <p:nvSpPr>
          <p:cNvPr id="12" name="Shape 10"/>
          <p:cNvSpPr/>
          <p:nvPr/>
        </p:nvSpPr>
        <p:spPr>
          <a:xfrm>
            <a:off x="2879527" y="1488728"/>
            <a:ext cx="2087017" cy="181570"/>
          </a:xfrm>
          <a:prstGeom prst="roundRect">
            <a:avLst>
              <a:gd name="adj" fmla="val 20984"/>
            </a:avLst>
          </a:prstGeom>
          <a:solidFill>
            <a:srgbClr val="16303F">
              <a:alpha val="7000"/>
            </a:srgbClr>
          </a:solidFill>
          <a:ln/>
        </p:spPr>
      </p:sp>
      <p:sp>
        <p:nvSpPr>
          <p:cNvPr id="13" name="Text 11"/>
          <p:cNvSpPr txBox="1"/>
          <p:nvPr/>
        </p:nvSpPr>
        <p:spPr>
          <a:xfrm>
            <a:off x="1598265" y="1479500"/>
            <a:ext cx="494377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assuming an array in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appsettings.Production.json</a:t>
            </a:r>
            <a:pPr algn="l" indent="0" marL="0">
              <a:buNone/>
            </a:pPr>
            <a:r>
              <a:rPr lang="en-US" sz="1056" dirty="0">
                <a:solidFill>
                  <a:srgbClr val="16303F"/>
                </a:solidFill>
                <a:latin typeface="Manrope" pitchFamily="34" charset="0"/>
                <a:ea typeface="Manrope" pitchFamily="34" charset="-122"/>
                <a:cs typeface="Manrope" pitchFamily="34" charset="-120"/>
              </a:rPr>
              <a:t> replaces the base array</a:t>
            </a:r>
            <a:endParaRPr lang="en-US" sz="1056" dirty="0"/>
          </a:p>
        </p:txBody>
      </p:sp>
      <p:sp>
        <p:nvSpPr>
          <p:cNvPr id="14" name="Shape 12"/>
          <p:cNvSpPr/>
          <p:nvPr/>
        </p:nvSpPr>
        <p:spPr>
          <a:xfrm>
            <a:off x="457200" y="1742777"/>
            <a:ext cx="8420100" cy="341561"/>
          </a:xfrm>
          <a:prstGeom prst="rect">
            <a:avLst/>
          </a:prstGeom>
          <a:solidFill>
            <a:srgbClr val="16303F">
              <a:alpha val="3000"/>
            </a:srgbClr>
          </a:solidFill>
          <a:ln/>
        </p:spPr>
      </p:sp>
      <p:sp>
        <p:nvSpPr>
          <p:cNvPr id="15" name="Shape 13"/>
          <p:cNvSpPr/>
          <p:nvPr/>
        </p:nvSpPr>
        <p:spPr>
          <a:xfrm>
            <a:off x="457200" y="2074813"/>
            <a:ext cx="8420100" cy="9525"/>
          </a:xfrm>
          <a:prstGeom prst="rect">
            <a:avLst/>
          </a:prstGeom>
          <a:solidFill>
            <a:srgbClr val="9CA3AF">
              <a:alpha val="20000"/>
            </a:srgbClr>
          </a:solidFill>
          <a:ln/>
        </p:spPr>
      </p:sp>
      <p:sp>
        <p:nvSpPr>
          <p:cNvPr id="16" name="Shape 14"/>
          <p:cNvSpPr/>
          <p:nvPr/>
        </p:nvSpPr>
        <p:spPr>
          <a:xfrm>
            <a:off x="457200" y="2074813"/>
            <a:ext cx="1034504" cy="9525"/>
          </a:xfrm>
          <a:prstGeom prst="rect">
            <a:avLst/>
          </a:prstGeom>
          <a:solidFill>
            <a:srgbClr val="DDD9D2"/>
          </a:solidFill>
          <a:ln/>
        </p:spPr>
      </p:sp>
      <p:sp>
        <p:nvSpPr>
          <p:cNvPr id="17" name="Text 15"/>
          <p:cNvSpPr txBox="1"/>
          <p:nvPr/>
        </p:nvSpPr>
        <p:spPr>
          <a:xfrm>
            <a:off x="563761" y="1821061"/>
            <a:ext cx="5606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SHAPE</a:t>
            </a:r>
            <a:endParaRPr lang="en-US" sz="1056" dirty="0"/>
          </a:p>
        </p:txBody>
      </p:sp>
      <p:sp>
        <p:nvSpPr>
          <p:cNvPr id="18" name="Shape 16"/>
          <p:cNvSpPr/>
          <p:nvPr/>
        </p:nvSpPr>
        <p:spPr>
          <a:xfrm>
            <a:off x="1491704" y="2074813"/>
            <a:ext cx="7385596" cy="9525"/>
          </a:xfrm>
          <a:prstGeom prst="rect">
            <a:avLst/>
          </a:prstGeom>
          <a:solidFill>
            <a:srgbClr val="DDD9D2"/>
          </a:solidFill>
          <a:ln/>
        </p:spPr>
      </p:sp>
      <p:sp>
        <p:nvSpPr>
          <p:cNvPr id="19" name="Shape 17"/>
          <p:cNvSpPr/>
          <p:nvPr/>
        </p:nvSpPr>
        <p:spPr>
          <a:xfrm>
            <a:off x="1598265" y="1830288"/>
            <a:ext cx="1494979" cy="181570"/>
          </a:xfrm>
          <a:prstGeom prst="roundRect">
            <a:avLst>
              <a:gd name="adj" fmla="val 20984"/>
            </a:avLst>
          </a:prstGeom>
          <a:solidFill>
            <a:srgbClr val="16303F">
              <a:alpha val="7000"/>
            </a:srgbClr>
          </a:solidFill>
          <a:ln/>
        </p:spPr>
      </p:sp>
      <p:sp>
        <p:nvSpPr>
          <p:cNvPr id="20" name="Text 18"/>
          <p:cNvSpPr txBox="1"/>
          <p:nvPr/>
        </p:nvSpPr>
        <p:spPr>
          <a:xfrm>
            <a:off x="1642616" y="1821061"/>
            <a:ext cx="4439096"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config["Some:Key"]!</a:t>
            </a:r>
            <a:pPr algn="l" indent="0" marL="0">
              <a:buNone/>
            </a:pPr>
            <a:r>
              <a:rPr lang="en-US" sz="1056" dirty="0">
                <a:solidFill>
                  <a:srgbClr val="16303F"/>
                </a:solidFill>
                <a:latin typeface="Manrope" pitchFamily="34" charset="0"/>
                <a:ea typeface="Manrope" pitchFamily="34" charset="-122"/>
                <a:cs typeface="Manrope" pitchFamily="34" charset="-120"/>
              </a:rPr>
              <a:t> with a null-forgiving operator and no validation</a:t>
            </a:r>
            <a:endParaRPr lang="en-US" sz="972" dirty="0"/>
          </a:p>
        </p:txBody>
      </p:sp>
      <p:sp>
        <p:nvSpPr>
          <p:cNvPr id="21" name="Shape 19"/>
          <p:cNvSpPr/>
          <p:nvPr/>
        </p:nvSpPr>
        <p:spPr>
          <a:xfrm>
            <a:off x="457200" y="2416373"/>
            <a:ext cx="8420100" cy="9525"/>
          </a:xfrm>
          <a:prstGeom prst="rect">
            <a:avLst/>
          </a:prstGeom>
          <a:solidFill>
            <a:srgbClr val="9CA3AF">
              <a:alpha val="20000"/>
            </a:srgbClr>
          </a:solidFill>
          <a:ln/>
        </p:spPr>
      </p:sp>
      <p:sp>
        <p:nvSpPr>
          <p:cNvPr id="22" name="Shape 20"/>
          <p:cNvSpPr/>
          <p:nvPr/>
        </p:nvSpPr>
        <p:spPr>
          <a:xfrm>
            <a:off x="457200" y="2416373"/>
            <a:ext cx="1034504" cy="9525"/>
          </a:xfrm>
          <a:prstGeom prst="rect">
            <a:avLst/>
          </a:prstGeom>
          <a:solidFill>
            <a:srgbClr val="DDD9D2"/>
          </a:solidFill>
          <a:ln/>
        </p:spPr>
      </p:sp>
      <p:sp>
        <p:nvSpPr>
          <p:cNvPr id="23" name="Text 21"/>
          <p:cNvSpPr txBox="1"/>
          <p:nvPr/>
        </p:nvSpPr>
        <p:spPr>
          <a:xfrm>
            <a:off x="563761" y="2162621"/>
            <a:ext cx="692795"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LIFETIME</a:t>
            </a:r>
            <a:endParaRPr lang="en-US" sz="1056" dirty="0"/>
          </a:p>
        </p:txBody>
      </p:sp>
      <p:sp>
        <p:nvSpPr>
          <p:cNvPr id="24" name="Shape 22"/>
          <p:cNvSpPr/>
          <p:nvPr/>
        </p:nvSpPr>
        <p:spPr>
          <a:xfrm>
            <a:off x="1491704" y="2416373"/>
            <a:ext cx="7385596" cy="9525"/>
          </a:xfrm>
          <a:prstGeom prst="rect">
            <a:avLst/>
          </a:prstGeom>
          <a:solidFill>
            <a:srgbClr val="DDD9D2"/>
          </a:solidFill>
          <a:ln/>
        </p:spPr>
      </p:sp>
      <p:sp>
        <p:nvSpPr>
          <p:cNvPr id="25" name="Shape 23"/>
          <p:cNvSpPr/>
          <p:nvPr/>
        </p:nvSpPr>
        <p:spPr>
          <a:xfrm>
            <a:off x="1598265" y="2171849"/>
            <a:ext cx="1494979" cy="181570"/>
          </a:xfrm>
          <a:prstGeom prst="roundRect">
            <a:avLst>
              <a:gd name="adj" fmla="val 20984"/>
            </a:avLst>
          </a:prstGeom>
          <a:solidFill>
            <a:srgbClr val="16303F">
              <a:alpha val="7000"/>
            </a:srgbClr>
          </a:solidFill>
          <a:ln/>
        </p:spPr>
      </p:sp>
      <p:sp>
        <p:nvSpPr>
          <p:cNvPr id="26" name="Text 24"/>
          <p:cNvSpPr txBox="1"/>
          <p:nvPr/>
        </p:nvSpPr>
        <p:spPr>
          <a:xfrm>
            <a:off x="1642616" y="2162621"/>
            <a:ext cx="307464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pPr algn="l" indent="0" marL="0">
              <a:buNone/>
            </a:pPr>
            <a:r>
              <a:rPr lang="en-US" sz="1056" dirty="0">
                <a:solidFill>
                  <a:srgbClr val="16303F"/>
                </a:solidFill>
                <a:latin typeface="Manrope" pitchFamily="34" charset="0"/>
                <a:ea typeface="Manrope" pitchFamily="34" charset="-122"/>
                <a:cs typeface="Manrope" pitchFamily="34" charset="-120"/>
              </a:rPr>
              <a:t> injected into a singleton</a:t>
            </a:r>
            <a:endParaRPr lang="en-US" sz="972" dirty="0"/>
          </a:p>
        </p:txBody>
      </p:sp>
      <p:sp>
        <p:nvSpPr>
          <p:cNvPr id="27" name="Shape 25"/>
          <p:cNvSpPr/>
          <p:nvPr/>
        </p:nvSpPr>
        <p:spPr>
          <a:xfrm>
            <a:off x="457200" y="2425898"/>
            <a:ext cx="8420100" cy="341561"/>
          </a:xfrm>
          <a:prstGeom prst="rect">
            <a:avLst/>
          </a:prstGeom>
          <a:solidFill>
            <a:srgbClr val="16303F">
              <a:alpha val="3000"/>
            </a:srgbClr>
          </a:solidFill>
          <a:ln/>
        </p:spPr>
      </p:sp>
      <p:sp>
        <p:nvSpPr>
          <p:cNvPr id="28" name="Shape 26"/>
          <p:cNvSpPr/>
          <p:nvPr/>
        </p:nvSpPr>
        <p:spPr>
          <a:xfrm>
            <a:off x="457200" y="2757934"/>
            <a:ext cx="8420100" cy="9525"/>
          </a:xfrm>
          <a:prstGeom prst="rect">
            <a:avLst/>
          </a:prstGeom>
          <a:solidFill>
            <a:srgbClr val="9CA3AF">
              <a:alpha val="20000"/>
            </a:srgbClr>
          </a:solidFill>
          <a:ln/>
        </p:spPr>
      </p:sp>
      <p:sp>
        <p:nvSpPr>
          <p:cNvPr id="29" name="Shape 27"/>
          <p:cNvSpPr/>
          <p:nvPr/>
        </p:nvSpPr>
        <p:spPr>
          <a:xfrm>
            <a:off x="457200" y="2757934"/>
            <a:ext cx="1034504" cy="9525"/>
          </a:xfrm>
          <a:prstGeom prst="rect">
            <a:avLst/>
          </a:prstGeom>
          <a:solidFill>
            <a:srgbClr val="DDD9D2"/>
          </a:solidFill>
          <a:ln/>
        </p:spPr>
      </p:sp>
      <p:sp>
        <p:nvSpPr>
          <p:cNvPr id="30" name="Text 28"/>
          <p:cNvSpPr txBox="1"/>
          <p:nvPr/>
        </p:nvSpPr>
        <p:spPr>
          <a:xfrm>
            <a:off x="563761" y="2504182"/>
            <a:ext cx="55111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TRUST</a:t>
            </a:r>
            <a:endParaRPr lang="en-US" sz="1056" dirty="0"/>
          </a:p>
        </p:txBody>
      </p:sp>
      <p:sp>
        <p:nvSpPr>
          <p:cNvPr id="31" name="Shape 29"/>
          <p:cNvSpPr/>
          <p:nvPr/>
        </p:nvSpPr>
        <p:spPr>
          <a:xfrm>
            <a:off x="1491704" y="2757934"/>
            <a:ext cx="7385596" cy="9525"/>
          </a:xfrm>
          <a:prstGeom prst="rect">
            <a:avLst/>
          </a:prstGeom>
          <a:solidFill>
            <a:srgbClr val="DDD9D2"/>
          </a:solidFill>
          <a:ln/>
        </p:spPr>
      </p:sp>
      <p:sp>
        <p:nvSpPr>
          <p:cNvPr id="32" name="Shape 30"/>
          <p:cNvSpPr/>
          <p:nvPr/>
        </p:nvSpPr>
        <p:spPr>
          <a:xfrm>
            <a:off x="2929979" y="2513409"/>
            <a:ext cx="1272927" cy="181570"/>
          </a:xfrm>
          <a:prstGeom prst="roundRect">
            <a:avLst>
              <a:gd name="adj" fmla="val 20984"/>
            </a:avLst>
          </a:prstGeom>
          <a:solidFill>
            <a:srgbClr val="16303F">
              <a:alpha val="7000"/>
            </a:srgbClr>
          </a:solidFill>
          <a:ln/>
        </p:spPr>
      </p:sp>
      <p:sp>
        <p:nvSpPr>
          <p:cNvPr id="33" name="Shape 31"/>
          <p:cNvSpPr/>
          <p:nvPr/>
        </p:nvSpPr>
        <p:spPr>
          <a:xfrm>
            <a:off x="4949577" y="2513409"/>
            <a:ext cx="2087017" cy="181570"/>
          </a:xfrm>
          <a:prstGeom prst="roundRect">
            <a:avLst>
              <a:gd name="adj" fmla="val 20984"/>
            </a:avLst>
          </a:prstGeom>
          <a:solidFill>
            <a:srgbClr val="16303F">
              <a:alpha val="7000"/>
            </a:srgbClr>
          </a:solidFill>
          <a:ln/>
        </p:spPr>
      </p:sp>
      <p:sp>
        <p:nvSpPr>
          <p:cNvPr id="34" name="Text 32"/>
          <p:cNvSpPr txBox="1"/>
          <p:nvPr/>
        </p:nvSpPr>
        <p:spPr>
          <a:xfrm>
            <a:off x="1598265" y="2504182"/>
            <a:ext cx="5508278"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secrets committed in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pPr algn="l" indent="0" marL="0">
              <a:buNone/>
            </a:pPr>
            <a:r>
              <a:rPr lang="en-US" sz="1056" dirty="0">
                <a:solidFill>
                  <a:srgbClr val="16303F"/>
                </a:solidFill>
                <a:latin typeface="Manrope" pitchFamily="34" charset="0"/>
                <a:ea typeface="Manrope" pitchFamily="34" charset="-122"/>
                <a:cs typeface="Manrope" pitchFamily="34" charset="-120"/>
              </a:rPr>
              <a:t> — or worse,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appsettings.Production.json</a:t>
            </a:r>
            <a:endParaRPr lang="en-US" sz="1056"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26296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desktop app gets installed, not deployed</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438573" cy="19050"/>
          </a:xfrm>
          <a:prstGeom prst="rect">
            <a:avLst/>
          </a:prstGeom>
          <a:solidFill>
            <a:srgbClr val="16303F"/>
          </a:solidFill>
          <a:ln/>
        </p:spPr>
      </p:sp>
      <p:sp>
        <p:nvSpPr>
          <p:cNvPr id="6" name="Shape 4"/>
          <p:cNvSpPr/>
          <p:nvPr/>
        </p:nvSpPr>
        <p:spPr>
          <a:xfrm>
            <a:off x="1895773" y="1377404"/>
            <a:ext cx="2010966" cy="19050"/>
          </a:xfrm>
          <a:prstGeom prst="rect">
            <a:avLst/>
          </a:prstGeom>
          <a:solidFill>
            <a:srgbClr val="16303F"/>
          </a:solidFill>
          <a:ln/>
        </p:spPr>
      </p:sp>
      <p:sp>
        <p:nvSpPr>
          <p:cNvPr id="7" name="Text 5"/>
          <p:cNvSpPr txBox="1"/>
          <p:nvPr/>
        </p:nvSpPr>
        <p:spPr>
          <a:xfrm>
            <a:off x="2002334" y="1163092"/>
            <a:ext cx="574923"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SERVER</a:t>
            </a:r>
            <a:endParaRPr lang="en-US" sz="816" dirty="0"/>
          </a:p>
        </p:txBody>
      </p:sp>
      <p:sp>
        <p:nvSpPr>
          <p:cNvPr id="8" name="Shape 6"/>
          <p:cNvSpPr/>
          <p:nvPr/>
        </p:nvSpPr>
        <p:spPr>
          <a:xfrm>
            <a:off x="3906738" y="1377404"/>
            <a:ext cx="4970562" cy="19050"/>
          </a:xfrm>
          <a:prstGeom prst="rect">
            <a:avLst/>
          </a:prstGeom>
          <a:solidFill>
            <a:srgbClr val="16303F"/>
          </a:solidFill>
          <a:ln/>
        </p:spPr>
      </p:sp>
      <p:sp>
        <p:nvSpPr>
          <p:cNvPr id="9" name="Text 7"/>
          <p:cNvSpPr txBox="1"/>
          <p:nvPr/>
        </p:nvSpPr>
        <p:spPr>
          <a:xfrm>
            <a:off x="4013299" y="1163092"/>
            <a:ext cx="66928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DESKTOP</a:t>
            </a:r>
            <a:endParaRPr lang="en-US" sz="816" dirty="0"/>
          </a:p>
        </p:txBody>
      </p:sp>
      <p:sp>
        <p:nvSpPr>
          <p:cNvPr id="10" name="Shape 8"/>
          <p:cNvSpPr/>
          <p:nvPr/>
        </p:nvSpPr>
        <p:spPr>
          <a:xfrm>
            <a:off x="457200" y="1730276"/>
            <a:ext cx="8420100" cy="9525"/>
          </a:xfrm>
          <a:prstGeom prst="rect">
            <a:avLst/>
          </a:prstGeom>
          <a:solidFill>
            <a:srgbClr val="9CA3AF">
              <a:alpha val="20000"/>
            </a:srgbClr>
          </a:solidFill>
          <a:ln/>
        </p:spPr>
      </p:sp>
      <p:sp>
        <p:nvSpPr>
          <p:cNvPr id="11" name="Shape 9"/>
          <p:cNvSpPr/>
          <p:nvPr/>
        </p:nvSpPr>
        <p:spPr>
          <a:xfrm>
            <a:off x="457200" y="1730276"/>
            <a:ext cx="1438573" cy="9525"/>
          </a:xfrm>
          <a:prstGeom prst="rect">
            <a:avLst/>
          </a:prstGeom>
          <a:solidFill>
            <a:srgbClr val="DDD9D2"/>
          </a:solidFill>
          <a:ln/>
        </p:spPr>
      </p:sp>
      <p:sp>
        <p:nvSpPr>
          <p:cNvPr id="12" name="Text 10"/>
          <p:cNvSpPr txBox="1"/>
          <p:nvPr/>
        </p:nvSpPr>
        <p:spPr>
          <a:xfrm>
            <a:off x="563761" y="1479500"/>
            <a:ext cx="69190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Local dev</a:t>
            </a:r>
            <a:endParaRPr lang="en-US" sz="1056" dirty="0"/>
          </a:p>
        </p:txBody>
      </p:sp>
      <p:sp>
        <p:nvSpPr>
          <p:cNvPr id="13" name="Shape 11"/>
          <p:cNvSpPr/>
          <p:nvPr/>
        </p:nvSpPr>
        <p:spPr>
          <a:xfrm>
            <a:off x="1895773" y="1730276"/>
            <a:ext cx="2010966" cy="9525"/>
          </a:xfrm>
          <a:prstGeom prst="rect">
            <a:avLst/>
          </a:prstGeom>
          <a:solidFill>
            <a:srgbClr val="DDD9D2"/>
          </a:solidFill>
          <a:ln/>
        </p:spPr>
      </p:sp>
      <p:sp>
        <p:nvSpPr>
          <p:cNvPr id="14" name="Text 12"/>
          <p:cNvSpPr txBox="1"/>
          <p:nvPr/>
        </p:nvSpPr>
        <p:spPr>
          <a:xfrm>
            <a:off x="2002334"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5" name="Shape 13"/>
          <p:cNvSpPr/>
          <p:nvPr/>
        </p:nvSpPr>
        <p:spPr>
          <a:xfrm>
            <a:off x="3906738" y="1730276"/>
            <a:ext cx="4970562" cy="9525"/>
          </a:xfrm>
          <a:prstGeom prst="rect">
            <a:avLst/>
          </a:prstGeom>
          <a:solidFill>
            <a:srgbClr val="DDD9D2"/>
          </a:solidFill>
          <a:ln/>
        </p:spPr>
      </p:sp>
      <p:sp>
        <p:nvSpPr>
          <p:cNvPr id="16" name="Text 14"/>
          <p:cNvSpPr txBox="1"/>
          <p:nvPr/>
        </p:nvSpPr>
        <p:spPr>
          <a:xfrm>
            <a:off x="4013299"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7" name="Shape 15"/>
          <p:cNvSpPr/>
          <p:nvPr/>
        </p:nvSpPr>
        <p:spPr>
          <a:xfrm>
            <a:off x="457200" y="1739801"/>
            <a:ext cx="8420100" cy="338584"/>
          </a:xfrm>
          <a:prstGeom prst="rect">
            <a:avLst/>
          </a:prstGeom>
          <a:solidFill>
            <a:srgbClr val="16303F">
              <a:alpha val="3000"/>
            </a:srgbClr>
          </a:solidFill>
          <a:ln/>
        </p:spPr>
      </p:sp>
      <p:sp>
        <p:nvSpPr>
          <p:cNvPr id="18" name="Shape 16"/>
          <p:cNvSpPr/>
          <p:nvPr/>
        </p:nvSpPr>
        <p:spPr>
          <a:xfrm>
            <a:off x="457200" y="2068860"/>
            <a:ext cx="8420100" cy="9525"/>
          </a:xfrm>
          <a:prstGeom prst="rect">
            <a:avLst/>
          </a:prstGeom>
          <a:solidFill>
            <a:srgbClr val="9CA3AF">
              <a:alpha val="20000"/>
            </a:srgbClr>
          </a:solidFill>
          <a:ln/>
        </p:spPr>
      </p:sp>
      <p:sp>
        <p:nvSpPr>
          <p:cNvPr id="19" name="Shape 17"/>
          <p:cNvSpPr/>
          <p:nvPr/>
        </p:nvSpPr>
        <p:spPr>
          <a:xfrm>
            <a:off x="457200" y="2068860"/>
            <a:ext cx="1438573" cy="9525"/>
          </a:xfrm>
          <a:prstGeom prst="rect">
            <a:avLst/>
          </a:prstGeom>
          <a:solidFill>
            <a:srgbClr val="DDD9D2"/>
          </a:solidFill>
          <a:ln/>
        </p:spPr>
      </p:sp>
      <p:sp>
        <p:nvSpPr>
          <p:cNvPr id="20" name="Text 18"/>
          <p:cNvSpPr txBox="1"/>
          <p:nvPr/>
        </p:nvSpPr>
        <p:spPr>
          <a:xfrm>
            <a:off x="563761" y="1818084"/>
            <a:ext cx="8618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1" name="Shape 19"/>
          <p:cNvSpPr/>
          <p:nvPr/>
        </p:nvSpPr>
        <p:spPr>
          <a:xfrm>
            <a:off x="1895773" y="2068860"/>
            <a:ext cx="2010966" cy="9525"/>
          </a:xfrm>
          <a:prstGeom prst="rect">
            <a:avLst/>
          </a:prstGeom>
          <a:solidFill>
            <a:srgbClr val="DDD9D2"/>
          </a:solidFill>
          <a:ln/>
        </p:spPr>
      </p:sp>
      <p:sp>
        <p:nvSpPr>
          <p:cNvPr id="22" name="Text 20"/>
          <p:cNvSpPr txBox="1"/>
          <p:nvPr/>
        </p:nvSpPr>
        <p:spPr>
          <a:xfrm>
            <a:off x="2002334" y="1818084"/>
            <a:ext cx="6296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 deploy</a:t>
            </a:r>
            <a:endParaRPr lang="en-US" sz="1056" dirty="0"/>
          </a:p>
        </p:txBody>
      </p:sp>
      <p:sp>
        <p:nvSpPr>
          <p:cNvPr id="23" name="Shape 21"/>
          <p:cNvSpPr/>
          <p:nvPr/>
        </p:nvSpPr>
        <p:spPr>
          <a:xfrm>
            <a:off x="3906738" y="2068860"/>
            <a:ext cx="4970562" cy="9525"/>
          </a:xfrm>
          <a:prstGeom prst="rect">
            <a:avLst/>
          </a:prstGeom>
          <a:solidFill>
            <a:srgbClr val="DDD9D2"/>
          </a:solidFill>
          <a:ln/>
        </p:spPr>
      </p:sp>
      <p:sp>
        <p:nvSpPr>
          <p:cNvPr id="24" name="Text 22"/>
          <p:cNvSpPr txBox="1"/>
          <p:nvPr/>
        </p:nvSpPr>
        <p:spPr>
          <a:xfrm>
            <a:off x="4013299" y="1818084"/>
            <a:ext cx="71095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 </a:t>
            </a:r>
            <a:pPr algn="l" indent="0" marL="0">
              <a:buNone/>
            </a:pPr>
            <a:r>
              <a:rPr lang="en-US" sz="1056" b="1" dirty="0">
                <a:solidFill>
                  <a:srgbClr val="16303F"/>
                </a:solidFill>
                <a:latin typeface="Manrope" pitchFamily="34" charset="0"/>
                <a:ea typeface="Manrope" pitchFamily="34" charset="-122"/>
                <a:cs typeface="Manrope" pitchFamily="34" charset="-120"/>
              </a:rPr>
              <a:t>install</a:t>
            </a:r>
            <a:endParaRPr lang="en-US" sz="1056" dirty="0"/>
          </a:p>
        </p:txBody>
      </p:sp>
      <p:sp>
        <p:nvSpPr>
          <p:cNvPr id="25" name="Shape 23"/>
          <p:cNvSpPr/>
          <p:nvPr/>
        </p:nvSpPr>
        <p:spPr>
          <a:xfrm>
            <a:off x="457200" y="2407444"/>
            <a:ext cx="8420100" cy="9525"/>
          </a:xfrm>
          <a:prstGeom prst="rect">
            <a:avLst/>
          </a:prstGeom>
          <a:solidFill>
            <a:srgbClr val="9CA3AF">
              <a:alpha val="20000"/>
            </a:srgbClr>
          </a:solidFill>
          <a:ln/>
        </p:spPr>
      </p:sp>
      <p:sp>
        <p:nvSpPr>
          <p:cNvPr id="26" name="Shape 24"/>
          <p:cNvSpPr/>
          <p:nvPr/>
        </p:nvSpPr>
        <p:spPr>
          <a:xfrm>
            <a:off x="457200" y="2407444"/>
            <a:ext cx="1438573" cy="9525"/>
          </a:xfrm>
          <a:prstGeom prst="rect">
            <a:avLst/>
          </a:prstGeom>
          <a:solidFill>
            <a:srgbClr val="DDD9D2"/>
          </a:solidFill>
          <a:ln/>
        </p:spPr>
      </p:sp>
      <p:sp>
        <p:nvSpPr>
          <p:cNvPr id="27" name="Text 25"/>
          <p:cNvSpPr txBox="1"/>
          <p:nvPr/>
        </p:nvSpPr>
        <p:spPr>
          <a:xfrm>
            <a:off x="563761" y="2156668"/>
            <a:ext cx="55602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Shared</a:t>
            </a:r>
            <a:endParaRPr lang="en-US" sz="1056" dirty="0"/>
          </a:p>
        </p:txBody>
      </p:sp>
      <p:sp>
        <p:nvSpPr>
          <p:cNvPr id="28" name="Shape 26"/>
          <p:cNvSpPr/>
          <p:nvPr/>
        </p:nvSpPr>
        <p:spPr>
          <a:xfrm>
            <a:off x="1895773" y="2407444"/>
            <a:ext cx="2010966" cy="9525"/>
          </a:xfrm>
          <a:prstGeom prst="rect">
            <a:avLst/>
          </a:prstGeom>
          <a:solidFill>
            <a:srgbClr val="DDD9D2"/>
          </a:solidFill>
          <a:ln/>
        </p:spPr>
      </p:sp>
      <p:sp>
        <p:nvSpPr>
          <p:cNvPr id="29" name="Text 27"/>
          <p:cNvSpPr txBox="1"/>
          <p:nvPr/>
        </p:nvSpPr>
        <p:spPr>
          <a:xfrm>
            <a:off x="2002334" y="2156668"/>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0" name="Shape 28"/>
          <p:cNvSpPr/>
          <p:nvPr/>
        </p:nvSpPr>
        <p:spPr>
          <a:xfrm>
            <a:off x="3906738" y="2407444"/>
            <a:ext cx="4970562" cy="9525"/>
          </a:xfrm>
          <a:prstGeom prst="rect">
            <a:avLst/>
          </a:prstGeom>
          <a:solidFill>
            <a:srgbClr val="DDD9D2"/>
          </a:solidFill>
          <a:ln/>
        </p:spPr>
      </p:sp>
      <p:sp>
        <p:nvSpPr>
          <p:cNvPr id="31" name="Text 29"/>
          <p:cNvSpPr txBox="1"/>
          <p:nvPr/>
        </p:nvSpPr>
        <p:spPr>
          <a:xfrm>
            <a:off x="4013299" y="2156668"/>
            <a:ext cx="322034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 directly trusted shared provider in the client</a:t>
            </a:r>
            <a:endParaRPr lang="en-US" sz="1056" dirty="0"/>
          </a:p>
        </p:txBody>
      </p:sp>
      <p:sp>
        <p:nvSpPr>
          <p:cNvPr id="32" name="Text 30"/>
          <p:cNvSpPr txBox="1"/>
          <p:nvPr/>
        </p:nvSpPr>
        <p:spPr>
          <a:xfrm>
            <a:off x="441900" y="262741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3" name="Shape 31"/>
          <p:cNvSpPr/>
          <p:nvPr/>
        </p:nvSpPr>
        <p:spPr>
          <a:xfrm>
            <a:off x="655141" y="2645122"/>
            <a:ext cx="3138190" cy="202704"/>
          </a:xfrm>
          <a:prstGeom prst="roundRect">
            <a:avLst>
              <a:gd name="adj" fmla="val 18796"/>
            </a:avLst>
          </a:prstGeom>
          <a:solidFill>
            <a:srgbClr val="16303F">
              <a:alpha val="7000"/>
            </a:srgbClr>
          </a:solidFill>
          <a:ln/>
        </p:spPr>
      </p:sp>
      <p:sp>
        <p:nvSpPr>
          <p:cNvPr id="34" name="Text 32"/>
          <p:cNvSpPr txBox="1"/>
          <p:nvPr/>
        </p:nvSpPr>
        <p:spPr>
          <a:xfrm>
            <a:off x="655260" y="2636937"/>
            <a:ext cx="8241090"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SetBasePath(AppContext.BaseDirectory)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the working directory of a double-clicked EXE is not the install directory</a:t>
            </a:r>
            <a:endParaRPr lang="en-US" sz="1080" dirty="0"/>
          </a:p>
        </p:txBody>
      </p:sp>
      <p:sp>
        <p:nvSpPr>
          <p:cNvPr id="35" name="Text 33"/>
          <p:cNvSpPr txBox="1"/>
          <p:nvPr/>
        </p:nvSpPr>
        <p:spPr>
          <a:xfrm>
            <a:off x="441900" y="313030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6" name="Shape 34"/>
          <p:cNvSpPr/>
          <p:nvPr/>
        </p:nvSpPr>
        <p:spPr>
          <a:xfrm>
            <a:off x="655141" y="3148012"/>
            <a:ext cx="1245394" cy="202704"/>
          </a:xfrm>
          <a:prstGeom prst="roundRect">
            <a:avLst>
              <a:gd name="adj" fmla="val 18796"/>
            </a:avLst>
          </a:prstGeom>
          <a:solidFill>
            <a:srgbClr val="16303F">
              <a:alpha val="7000"/>
            </a:srgbClr>
          </a:solidFill>
          <a:ln/>
        </p:spPr>
      </p:sp>
      <p:sp>
        <p:nvSpPr>
          <p:cNvPr id="37" name="Text 35"/>
          <p:cNvSpPr txBox="1"/>
          <p:nvPr/>
        </p:nvSpPr>
        <p:spPr>
          <a:xfrm>
            <a:off x="655260" y="3139827"/>
            <a:ext cx="8321704"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IConfiguration</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has an indexer setter but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no persistence API</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nothing writes back to the JSON. User preferences are a different problem</a:t>
            </a:r>
            <a:endParaRPr lang="en-US" sz="1080" dirty="0"/>
          </a:p>
        </p:txBody>
      </p:sp>
      <p:sp>
        <p:nvSpPr>
          <p:cNvPr id="38" name="Text 36"/>
          <p:cNvSpPr txBox="1"/>
          <p:nvPr/>
        </p:nvSpPr>
        <p:spPr>
          <a:xfrm>
            <a:off x="441900" y="363319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9" name="Text 37"/>
          <p:cNvSpPr txBox="1"/>
          <p:nvPr/>
        </p:nvSpPr>
        <p:spPr>
          <a:xfrm>
            <a:off x="655141" y="3642717"/>
            <a:ext cx="5284143" cy="209550"/>
          </a:xfrm>
          <a:prstGeom prst="rect">
            <a:avLst/>
          </a:prstGeom>
          <a:noFill/>
          <a:ln/>
        </p:spPr>
        <p:txBody>
          <a:bodyPr wrap="none" lIns="0" tIns="0" rIns="0" bIns="0" rtlCol="0" anchor="t"/>
          <a:lstStyle/>
          <a:p>
            <a:pPr algn="l" indent="0" marL="0">
              <a:buNone/>
            </a:pPr>
            <a:r>
              <a:rPr lang="en-US" sz="1200" b="1" dirty="0">
                <a:solidFill>
                  <a:srgbClr val="44535A"/>
                </a:solidFill>
                <a:latin typeface="Manrope" pitchFamily="34" charset="0"/>
                <a:ea typeface="Manrope" pitchFamily="34" charset="-122"/>
                <a:cs typeface="Manrope" pitchFamily="34" charset="-120"/>
              </a:rPr>
              <a:t>No cloud secrets in a client binary.</a:t>
            </a:r>
            <a:pPr algn="l" indent="0" marL="0">
              <a:buNone/>
            </a:pPr>
            <a:r>
              <a:rPr lang="en-US" sz="1200" dirty="0">
                <a:solidFill>
                  <a:srgbClr val="44535A"/>
                </a:solidFill>
                <a:latin typeface="Manrope" pitchFamily="34" charset="0"/>
                <a:ea typeface="Manrope" pitchFamily="34" charset="-122"/>
                <a:cs typeface="Manrope" pitchFamily="34" charset="-120"/>
              </a:rPr>
              <a:t> Authenticate the user, call a backend</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1988493"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Questions</a:t>
            </a:r>
            <a:endParaRPr lang="en-US" sz="3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4001988"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Let’s keep talking.</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387831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github.com/1kevgriff/modern-dotnet-configuration</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474416"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X · LinkedIn · GitHub — @1kevgriff</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2538710"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Bluesky — @consultwithgriff.com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4791521"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Useful details we skipped.</a:t>
            </a:r>
            <a:endParaRPr lang="en-US" sz="3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48034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Four became eleven</a:t>
            </a:r>
            <a:endParaRPr lang="en-US" sz="2820" dirty="0"/>
          </a:p>
        </p:txBody>
      </p:sp>
      <p:sp>
        <p:nvSpPr>
          <p:cNvPr id="4" name="Text 2"/>
          <p:cNvSpPr txBox="1"/>
          <p:nvPr/>
        </p:nvSpPr>
        <p:spPr>
          <a:xfrm>
            <a:off x="457200" y="987921"/>
            <a:ext cx="407045" cy="638175"/>
          </a:xfrm>
          <a:prstGeom prst="rect">
            <a:avLst/>
          </a:prstGeom>
          <a:noFill/>
          <a:ln/>
        </p:spPr>
        <p:txBody>
          <a:bodyPr wrap="none" lIns="0" tIns="0" rIns="0" bIns="0" rtlCol="0" anchor="t"/>
          <a:lstStyle/>
          <a:p>
            <a:pPr algn="l" indent="0" marL="0">
              <a:buNone/>
            </a:pPr>
            <a:r>
              <a:rPr lang="en-US" sz="3840" b="1" dirty="0">
                <a:solidFill>
                  <a:srgbClr val="44535A"/>
                </a:solidFill>
                <a:latin typeface="JetBrains Mono" pitchFamily="34" charset="0"/>
                <a:ea typeface="JetBrains Mono" pitchFamily="34" charset="-122"/>
                <a:cs typeface="JetBrains Mono" pitchFamily="34" charset="-120"/>
              </a:rPr>
              <a:t>4</a:t>
            </a:r>
            <a:endParaRPr lang="en-US" sz="3840" dirty="0"/>
          </a:p>
        </p:txBody>
      </p:sp>
      <p:pic>
        <p:nvPicPr>
          <p:cNvPr id="5" name="Image 0" descr="Rendered as an image because of CSS svg">    </p:cNvPr>
          <p:cNvPicPr>
            <a:picLocks noChangeAspect="1"/>
          </p:cNvPicPr>
          <p:nvPr/>
        </p:nvPicPr>
        <p:blipFill>
          <a:blip r:embed="rId1"/>
          <a:stretch>
            <a:fillRect/>
          </a:stretch>
        </p:blipFill>
        <p:spPr>
          <a:xfrm>
            <a:off x="917525" y="1231702"/>
            <a:ext cx="457200" cy="152400"/>
          </a:xfrm>
          <a:prstGeom prst="rect">
            <a:avLst/>
          </a:prstGeom>
        </p:spPr>
      </p:pic>
      <p:sp>
        <p:nvSpPr>
          <p:cNvPr id="6" name="Text 3"/>
          <p:cNvSpPr txBox="1"/>
          <p:nvPr/>
        </p:nvSpPr>
        <p:spPr>
          <a:xfrm>
            <a:off x="1542306" y="987921"/>
            <a:ext cx="699641" cy="638175"/>
          </a:xfrm>
          <a:prstGeom prst="rect">
            <a:avLst/>
          </a:prstGeom>
          <a:noFill/>
          <a:ln/>
        </p:spPr>
        <p:txBody>
          <a:bodyPr wrap="none" lIns="0" tIns="0" rIns="0" bIns="0" rtlCol="0" anchor="t"/>
          <a:lstStyle/>
          <a:p>
            <a:pPr algn="l" indent="0" marL="0">
              <a:buNone/>
            </a:pPr>
            <a:r>
              <a:rPr lang="en-US" sz="3840" b="1" dirty="0">
                <a:solidFill>
                  <a:srgbClr val="F4C233"/>
                </a:solidFill>
                <a:latin typeface="JetBrains Mono" pitchFamily="34" charset="0"/>
                <a:ea typeface="JetBrains Mono" pitchFamily="34" charset="-122"/>
                <a:cs typeface="JetBrains Mono" pitchFamily="34" charset="-120"/>
              </a:rPr>
              <a:t>11</a:t>
            </a:r>
            <a:endParaRPr lang="en-US" sz="3840" dirty="0"/>
          </a:p>
        </p:txBody>
      </p:sp>
      <p:sp>
        <p:nvSpPr>
          <p:cNvPr id="7" name="Shape 4"/>
          <p:cNvSpPr/>
          <p:nvPr/>
        </p:nvSpPr>
        <p:spPr>
          <a:xfrm>
            <a:off x="457200" y="1711821"/>
            <a:ext cx="8420100" cy="1652587"/>
          </a:xfrm>
          <a:prstGeom prst="roundRect">
            <a:avLst>
              <a:gd name="adj" fmla="val 2305"/>
            </a:avLst>
          </a:prstGeom>
          <a:solidFill>
            <a:srgbClr val="011627"/>
          </a:solidFill>
          <a:ln/>
        </p:spPr>
      </p:sp>
      <p:sp>
        <p:nvSpPr>
          <p:cNvPr id="8" name="Text 5"/>
          <p:cNvSpPr txBox="1"/>
          <p:nvPr/>
        </p:nvSpPr>
        <p:spPr>
          <a:xfrm>
            <a:off x="533400" y="179754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9      CUSTOMCONNSTR_   MYSQLCONNSTR_*   SQLCONNSTR_*   SQLAZURECONNSTR_*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10     + POSTGRESQLCONNSTR_*   DOCDBCONNSTR_        REDISCACHECONNSTR_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SERVICEBUSCONNSTR_    EVENTHUBCONNSTR_     NOTIFICATIONHUBCONNSTR_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APIHUBCONNSTR_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also sets ConnectionStrings:{KEY}_ProviderName</a:t>
            </a:r>
            <a:endParaRPr lang="en-US" sz="1125"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55558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Named options and source generators</a:t>
            </a:r>
            <a:endParaRPr lang="en-US" sz="2820" dirty="0"/>
          </a:p>
        </p:txBody>
      </p:sp>
      <p:sp>
        <p:nvSpPr>
          <p:cNvPr id="4" name="Text 2"/>
          <p:cNvSpPr txBox="1"/>
          <p:nvPr/>
        </p:nvSpPr>
        <p:spPr>
          <a:xfrm>
            <a:off x="304800" y="1071711"/>
            <a:ext cx="540841"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NAMED</a:t>
            </a:r>
            <a:endParaRPr lang="en-US" sz="768" dirty="0"/>
          </a:p>
        </p:txBody>
      </p:sp>
      <p:sp>
        <p:nvSpPr>
          <p:cNvPr id="5" name="Shape 3"/>
          <p:cNvSpPr/>
          <p:nvPr/>
        </p:nvSpPr>
        <p:spPr>
          <a:xfrm>
            <a:off x="304800" y="1313855"/>
            <a:ext cx="8724900" cy="1217265"/>
          </a:xfrm>
          <a:prstGeom prst="roundRect">
            <a:avLst>
              <a:gd name="adj" fmla="val 3130"/>
            </a:avLst>
          </a:prstGeom>
          <a:solidFill>
            <a:srgbClr val="011627"/>
          </a:solidFill>
          <a:ln/>
        </p:spPr>
      </p:sp>
      <p:sp>
        <p:nvSpPr>
          <p:cNvPr id="6" name="Text 4"/>
          <p:cNvSpPr txBox="1"/>
          <p:nvPr/>
        </p:nvSpPr>
        <p:spPr>
          <a:xfrm>
            <a:off x="381000" y="1399580"/>
            <a:ext cx="8619696" cy="1032867"/>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Named - same shape, several times</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EndpointOptions Primary </a:t>
            </a:r>
            <a:pPr algn="l" indent="0" marL="0">
              <a:lnSpc>
                <a:spcPts val="1677"/>
              </a:lnSpc>
              <a:buNone/>
            </a:pPr>
            <a:r>
              <a:rPr lang="en-US" sz="1118" dirty="0">
                <a:solidFill>
                  <a:srgbClr val="7FDBCA"/>
                </a:solidFill>
                <a:latin typeface="JetBrains Mono" pitchFamily="34" charset="0"/>
                <a:ea typeface="JetBrains Mono" pitchFamily="34" charset="-122"/>
                <a:cs typeface="JetBrains Mono" pitchFamily="34" charset="-120"/>
              </a:rPr>
              <a:t>=&gt;</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 monitor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endParaRPr lang="en-US" sz="1118" dirty="0"/>
          </a:p>
        </p:txBody>
      </p:sp>
      <p:sp>
        <p:nvSpPr>
          <p:cNvPr id="7" name="Text 5"/>
          <p:cNvSpPr txBox="1"/>
          <p:nvPr/>
        </p:nvSpPr>
        <p:spPr>
          <a:xfrm>
            <a:off x="304800" y="2698700"/>
            <a:ext cx="82569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GENERATED</a:t>
            </a:r>
            <a:endParaRPr lang="en-US" sz="768" dirty="0"/>
          </a:p>
        </p:txBody>
      </p:sp>
      <p:sp>
        <p:nvSpPr>
          <p:cNvPr id="8" name="Shape 6"/>
          <p:cNvSpPr/>
          <p:nvPr/>
        </p:nvSpPr>
        <p:spPr>
          <a:xfrm>
            <a:off x="304800" y="2940844"/>
            <a:ext cx="8724900" cy="791319"/>
          </a:xfrm>
          <a:prstGeom prst="roundRect">
            <a:avLst>
              <a:gd name="adj" fmla="val 4815"/>
            </a:avLst>
          </a:prstGeom>
          <a:solidFill>
            <a:srgbClr val="011627"/>
          </a:solidFill>
          <a:ln/>
        </p:spPr>
      </p:sp>
      <p:sp>
        <p:nvSpPr>
          <p:cNvPr id="9" name="Text 7"/>
          <p:cNvSpPr txBox="1"/>
          <p:nvPr/>
        </p:nvSpPr>
        <p:spPr>
          <a:xfrm>
            <a:off x="381000" y="3026569"/>
            <a:ext cx="8591550" cy="606921"/>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Generated - no reflection at runtime</a:t>
            </a: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[OptionsValidator]</a:t>
            </a:r>
            <a:b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public</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sealed</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partial</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class</a:t>
            </a:r>
            <a:pPr algn="l" indent="0" marL="0">
              <a:lnSpc>
                <a:spcPts val="1677"/>
              </a:lnSpc>
              <a:buNone/>
            </a:pPr>
            <a:r>
              <a:rPr lang="en-US" sz="1118" dirty="0">
                <a:solidFill>
                  <a:srgbClr val="FFCB8B"/>
                </a:solidFill>
                <a:latin typeface="JetBrains Mono" pitchFamily="34" charset="0"/>
                <a:ea typeface="JetBrains Mono" pitchFamily="34" charset="-122"/>
                <a:cs typeface="JetBrains Mono" pitchFamily="34" charset="-120"/>
              </a:rPr>
              <a:t> ValidateWeatherOptions</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 IValidateOptions&lt;WeatherOptions&gt;;</a:t>
            </a:r>
            <a:endParaRPr lang="en-US" sz="1118" dirty="0"/>
          </a:p>
        </p:txBody>
      </p:sp>
      <p:sp>
        <p:nvSpPr>
          <p:cNvPr id="10" name="Shape 8"/>
          <p:cNvSpPr/>
          <p:nvPr/>
        </p:nvSpPr>
        <p:spPr>
          <a:xfrm>
            <a:off x="2103834" y="4138464"/>
            <a:ext cx="6594574" cy="202704"/>
          </a:xfrm>
          <a:prstGeom prst="roundRect">
            <a:avLst>
              <a:gd name="adj" fmla="val 18796"/>
            </a:avLst>
          </a:prstGeom>
          <a:solidFill>
            <a:srgbClr val="16303F">
              <a:alpha val="7000"/>
            </a:srgbClr>
          </a:solidFill>
          <a:ln/>
        </p:spPr>
      </p:sp>
      <p:sp>
        <p:nvSpPr>
          <p:cNvPr id="11" name="Text 9"/>
          <p:cNvSpPr txBox="1"/>
          <p:nvPr/>
        </p:nvSpPr>
        <p:spPr>
          <a:xfrm>
            <a:off x="304800" y="4130278"/>
            <a:ext cx="846132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Plus one line, not a panel: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&lt;EnableConfigurationBindingGenerator&gt;true&lt;/EnableConfigurationBindingGenerator&gt;</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2362646" y="974378"/>
            <a:ext cx="1017836" cy="381000"/>
          </a:xfrm>
          <a:prstGeom prst="roundRect">
            <a:avLst>
              <a:gd name="adj" fmla="val 10000"/>
            </a:avLst>
          </a:prstGeom>
          <a:solidFill>
            <a:srgbClr val="F5F5F5"/>
          </a:solidFill>
          <a:ln/>
        </p:spPr>
      </p:sp>
      <p:sp>
        <p:nvSpPr>
          <p:cNvPr id="4" name="Text 2"/>
          <p:cNvSpPr txBox="1"/>
          <p:nvPr/>
        </p:nvSpPr>
        <p:spPr>
          <a:xfrm>
            <a:off x="628650" y="955328"/>
            <a:ext cx="510420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A provider is </a:t>
            </a:r>
            <a:pPr algn="l" indent="0" marL="0">
              <a:buNone/>
            </a:pPr>
            <a:r>
              <a:rPr lang="en-US" sz="2052" spc="-46" kern="0" dirty="0">
                <a:solidFill>
                  <a:srgbClr val="16303F"/>
                </a:solidFill>
                <a:latin typeface="JetBrains Mono" pitchFamily="34" charset="0"/>
                <a:ea typeface="JetBrains Mono" pitchFamily="34" charset="-122"/>
                <a:cs typeface="JetBrains Mono" pitchFamily="34" charset="-120"/>
              </a:rPr>
              <a:t>Load()</a:t>
            </a:r>
            <a:pPr algn="l" indent="0" marL="0">
              <a:buNone/>
            </a:pPr>
            <a:r>
              <a:rPr lang="en-US" sz="2280" b="1" spc="-46" kern="0" dirty="0">
                <a:solidFill>
                  <a:srgbClr val="16303F"/>
                </a:solidFill>
                <a:latin typeface="Manrope" pitchFamily="34" charset="0"/>
                <a:ea typeface="Manrope" pitchFamily="34" charset="-122"/>
                <a:cs typeface="Manrope" pitchFamily="34" charset="-120"/>
              </a:rPr>
              <a:t> and a dictionary</a:t>
            </a:r>
            <a:endParaRPr lang="en-US" sz="2280" dirty="0"/>
          </a:p>
        </p:txBody>
      </p:sp>
      <p:sp>
        <p:nvSpPr>
          <p:cNvPr id="5" name="Shape 3"/>
          <p:cNvSpPr/>
          <p:nvPr/>
        </p:nvSpPr>
        <p:spPr>
          <a:xfrm>
            <a:off x="628650" y="1624161"/>
            <a:ext cx="8077200" cy="2480072"/>
          </a:xfrm>
          <a:prstGeom prst="roundRect">
            <a:avLst>
              <a:gd name="adj" fmla="val 1536"/>
            </a:avLst>
          </a:prstGeom>
          <a:solidFill>
            <a:srgbClr val="011627"/>
          </a:solidFill>
          <a:ln/>
        </p:spPr>
      </p:sp>
      <p:sp>
        <p:nvSpPr>
          <p:cNvPr id="6" name="Text 4"/>
          <p:cNvSpPr txBox="1"/>
          <p:nvPr/>
        </p:nvSpPr>
        <p:spPr>
          <a:xfrm>
            <a:off x="704850" y="1709886"/>
            <a:ext cx="7996235" cy="2304455"/>
          </a:xfrm>
          <a:prstGeom prst="rect">
            <a:avLst/>
          </a:prstGeom>
          <a:noFill/>
          <a:ln/>
        </p:spPr>
        <p:txBody>
          <a:bodyPr wrap="square" lIns="0" tIns="0" rIns="0" bIns="0" rtlCol="0" anchor="t"/>
          <a:lstStyle/>
          <a:p>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DotEnvConfigurationSource</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IConfigurationSource</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IConfigurationProvider </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Build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(IConfigurationBuilder builder)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b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new</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DotEnvConfigurationProvider(path);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DotEnvConfigurationProvider</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ConfigurationProvider</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override</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void</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Load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Data </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ParseDotEnv</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endParaRPr lang="en-US" sz="1223"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69793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Null is preserved now</a:t>
            </a:r>
            <a:endParaRPr lang="en-US" sz="2820" dirty="0"/>
          </a:p>
        </p:txBody>
      </p:sp>
      <p:sp>
        <p:nvSpPr>
          <p:cNvPr id="4" name="Shape 2"/>
          <p:cNvSpPr/>
          <p:nvPr/>
        </p:nvSpPr>
        <p:spPr>
          <a:xfrm>
            <a:off x="457200" y="1087041"/>
            <a:ext cx="8420100" cy="366712"/>
          </a:xfrm>
          <a:prstGeom prst="roundRect">
            <a:avLst>
              <a:gd name="adj" fmla="val 10390"/>
            </a:avLst>
          </a:prstGeom>
          <a:solidFill>
            <a:srgbClr val="011627"/>
          </a:solidFill>
          <a:ln/>
        </p:spPr>
      </p:sp>
      <p:sp>
        <p:nvSpPr>
          <p:cNvPr id="5" name="Text 3"/>
          <p:cNvSpPr txBox="1"/>
          <p:nvPr/>
        </p:nvSpPr>
        <p:spPr>
          <a:xfrm>
            <a:off x="533400" y="1172766"/>
            <a:ext cx="7400925" cy="190500"/>
          </a:xfrm>
          <a:prstGeom prst="rect">
            <a:avLst/>
          </a:prstGeom>
          <a:noFill/>
          <a:ln/>
        </p:spPr>
        <p:txBody>
          <a:bodyPr wrap="none" lIns="0" tIns="0" rIns="0" bIns="0" rtlCol="0" anchor="t"/>
          <a:lstStyle/>
          <a:p>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"StringProperty"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"IntProperty"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"Array1"</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"Array2"</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 }</a:t>
            </a:r>
            <a:endParaRPr lang="en-US" sz="1125" dirty="0"/>
          </a:p>
        </p:txBody>
      </p:sp>
      <p:sp>
        <p:nvSpPr>
          <p:cNvPr id="6" name="Shape 4"/>
          <p:cNvSpPr/>
          <p:nvPr/>
        </p:nvSpPr>
        <p:spPr>
          <a:xfrm>
            <a:off x="457200" y="1829842"/>
            <a:ext cx="8420100" cy="9525"/>
          </a:xfrm>
          <a:prstGeom prst="rect">
            <a:avLst/>
          </a:prstGeom>
          <a:solidFill>
            <a:srgbClr val="9CA3AF">
              <a:alpha val="20000"/>
            </a:srgbClr>
          </a:solidFill>
          <a:ln/>
        </p:spPr>
      </p:sp>
      <p:sp>
        <p:nvSpPr>
          <p:cNvPr id="7" name="Shape 5"/>
          <p:cNvSpPr/>
          <p:nvPr/>
        </p:nvSpPr>
        <p:spPr>
          <a:xfrm>
            <a:off x="457200" y="1820317"/>
            <a:ext cx="2825800" cy="19050"/>
          </a:xfrm>
          <a:prstGeom prst="rect">
            <a:avLst/>
          </a:prstGeom>
          <a:solidFill>
            <a:srgbClr val="16303F"/>
          </a:solidFill>
          <a:ln/>
        </p:spPr>
      </p:sp>
      <p:sp>
        <p:nvSpPr>
          <p:cNvPr id="8" name="Text 6"/>
          <p:cNvSpPr txBox="1"/>
          <p:nvPr/>
        </p:nvSpPr>
        <p:spPr>
          <a:xfrm>
            <a:off x="563761" y="1606004"/>
            <a:ext cx="74220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PROPERTY</a:t>
            </a:r>
            <a:endParaRPr lang="en-US" sz="816" dirty="0"/>
          </a:p>
        </p:txBody>
      </p:sp>
      <p:sp>
        <p:nvSpPr>
          <p:cNvPr id="9" name="Shape 7"/>
          <p:cNvSpPr/>
          <p:nvPr/>
        </p:nvSpPr>
        <p:spPr>
          <a:xfrm>
            <a:off x="3283000" y="1820317"/>
            <a:ext cx="3067199" cy="19050"/>
          </a:xfrm>
          <a:prstGeom prst="rect">
            <a:avLst/>
          </a:prstGeom>
          <a:solidFill>
            <a:srgbClr val="16303F"/>
          </a:solidFill>
          <a:ln/>
        </p:spPr>
      </p:sp>
      <p:sp>
        <p:nvSpPr>
          <p:cNvPr id="10" name="Text 8"/>
          <p:cNvSpPr txBox="1"/>
          <p:nvPr/>
        </p:nvSpPr>
        <p:spPr>
          <a:xfrm>
            <a:off x="3389561" y="1606004"/>
            <a:ext cx="49172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9</a:t>
            </a:r>
            <a:endParaRPr lang="en-US" sz="816" dirty="0"/>
          </a:p>
        </p:txBody>
      </p:sp>
      <p:sp>
        <p:nvSpPr>
          <p:cNvPr id="11" name="Shape 9"/>
          <p:cNvSpPr/>
          <p:nvPr/>
        </p:nvSpPr>
        <p:spPr>
          <a:xfrm>
            <a:off x="6350198" y="1820317"/>
            <a:ext cx="2527102" cy="19050"/>
          </a:xfrm>
          <a:prstGeom prst="rect">
            <a:avLst/>
          </a:prstGeom>
          <a:solidFill>
            <a:srgbClr val="16303F"/>
          </a:solidFill>
          <a:ln/>
        </p:spPr>
      </p:sp>
      <p:sp>
        <p:nvSpPr>
          <p:cNvPr id="12" name="Text 10"/>
          <p:cNvSpPr txBox="1"/>
          <p:nvPr/>
        </p:nvSpPr>
        <p:spPr>
          <a:xfrm>
            <a:off x="6456759" y="1606004"/>
            <a:ext cx="55453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10</a:t>
            </a:r>
            <a:endParaRPr lang="en-US" sz="816" dirty="0"/>
          </a:p>
        </p:txBody>
      </p:sp>
      <p:sp>
        <p:nvSpPr>
          <p:cNvPr id="13" name="Shape 11"/>
          <p:cNvSpPr/>
          <p:nvPr/>
        </p:nvSpPr>
        <p:spPr>
          <a:xfrm>
            <a:off x="457200" y="2176165"/>
            <a:ext cx="8420100" cy="9525"/>
          </a:xfrm>
          <a:prstGeom prst="rect">
            <a:avLst/>
          </a:prstGeom>
          <a:solidFill>
            <a:srgbClr val="9CA3AF">
              <a:alpha val="20000"/>
            </a:srgbClr>
          </a:solidFill>
          <a:ln/>
        </p:spPr>
      </p:sp>
      <p:sp>
        <p:nvSpPr>
          <p:cNvPr id="14" name="Shape 12"/>
          <p:cNvSpPr/>
          <p:nvPr/>
        </p:nvSpPr>
        <p:spPr>
          <a:xfrm>
            <a:off x="457200" y="2176165"/>
            <a:ext cx="2825800" cy="9525"/>
          </a:xfrm>
          <a:prstGeom prst="rect">
            <a:avLst/>
          </a:prstGeom>
          <a:solidFill>
            <a:srgbClr val="DDD9D2"/>
          </a:solidFill>
          <a:ln/>
        </p:spPr>
      </p:sp>
      <p:sp>
        <p:nvSpPr>
          <p:cNvPr id="15" name="Shape 13"/>
          <p:cNvSpPr/>
          <p:nvPr/>
        </p:nvSpPr>
        <p:spPr>
          <a:xfrm>
            <a:off x="563761" y="1931640"/>
            <a:ext cx="606772" cy="181570"/>
          </a:xfrm>
          <a:prstGeom prst="roundRect">
            <a:avLst>
              <a:gd name="adj" fmla="val 20984"/>
            </a:avLst>
          </a:prstGeom>
          <a:solidFill>
            <a:srgbClr val="16303F">
              <a:alpha val="7000"/>
            </a:srgbClr>
          </a:solidFill>
          <a:ln/>
        </p:spPr>
      </p:sp>
      <p:sp>
        <p:nvSpPr>
          <p:cNvPr id="16" name="Text 14"/>
          <p:cNvSpPr txBox="1"/>
          <p:nvPr/>
        </p:nvSpPr>
        <p:spPr>
          <a:xfrm>
            <a:off x="608112" y="1922413"/>
            <a:ext cx="140583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string?</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17" name="Shape 15"/>
          <p:cNvSpPr/>
          <p:nvPr/>
        </p:nvSpPr>
        <p:spPr>
          <a:xfrm>
            <a:off x="3283000" y="2176165"/>
            <a:ext cx="3067199" cy="9525"/>
          </a:xfrm>
          <a:prstGeom prst="rect">
            <a:avLst/>
          </a:prstGeom>
          <a:solidFill>
            <a:srgbClr val="DDD9D2"/>
          </a:solidFill>
          <a:ln/>
        </p:spPr>
      </p:sp>
      <p:sp>
        <p:nvSpPr>
          <p:cNvPr id="18" name="Shape 16"/>
          <p:cNvSpPr/>
          <p:nvPr/>
        </p:nvSpPr>
        <p:spPr>
          <a:xfrm>
            <a:off x="3389561" y="1931640"/>
            <a:ext cx="236786" cy="181570"/>
          </a:xfrm>
          <a:prstGeom prst="roundRect">
            <a:avLst>
              <a:gd name="adj" fmla="val 20984"/>
            </a:avLst>
          </a:prstGeom>
          <a:solidFill>
            <a:srgbClr val="16303F">
              <a:alpha val="7000"/>
            </a:srgbClr>
          </a:solidFill>
          <a:ln/>
        </p:spPr>
      </p:sp>
      <p:sp>
        <p:nvSpPr>
          <p:cNvPr id="19" name="Text 17"/>
          <p:cNvSpPr txBox="1"/>
          <p:nvPr/>
        </p:nvSpPr>
        <p:spPr>
          <a:xfrm>
            <a:off x="3433911" y="1922413"/>
            <a:ext cx="1653332"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a:t>
            </a:r>
            <a:pPr algn="l" indent="0" marL="0">
              <a:buNone/>
            </a:pPr>
            <a:r>
              <a:rPr lang="en-US" sz="1056" dirty="0">
                <a:solidFill>
                  <a:srgbClr val="16303F"/>
                </a:solidFill>
                <a:latin typeface="Manrope" pitchFamily="34" charset="0"/>
                <a:ea typeface="Manrope" pitchFamily="34" charset="-122"/>
                <a:cs typeface="Manrope" pitchFamily="34" charset="-120"/>
              </a:rPr>
              <a:t> — already overwritten</a:t>
            </a:r>
            <a:endParaRPr lang="en-US" sz="972" dirty="0"/>
          </a:p>
        </p:txBody>
      </p:sp>
      <p:sp>
        <p:nvSpPr>
          <p:cNvPr id="20" name="Shape 18"/>
          <p:cNvSpPr/>
          <p:nvPr/>
        </p:nvSpPr>
        <p:spPr>
          <a:xfrm>
            <a:off x="6350198" y="2176165"/>
            <a:ext cx="2527102" cy="9525"/>
          </a:xfrm>
          <a:prstGeom prst="rect">
            <a:avLst/>
          </a:prstGeom>
          <a:solidFill>
            <a:srgbClr val="DDD9D2"/>
          </a:solidFill>
          <a:ln/>
        </p:spPr>
      </p:sp>
      <p:sp>
        <p:nvSpPr>
          <p:cNvPr id="21" name="Shape 19"/>
          <p:cNvSpPr/>
          <p:nvPr/>
        </p:nvSpPr>
        <p:spPr>
          <a:xfrm>
            <a:off x="6456759" y="1931640"/>
            <a:ext cx="384870" cy="181570"/>
          </a:xfrm>
          <a:prstGeom prst="roundRect">
            <a:avLst>
              <a:gd name="adj" fmla="val 20984"/>
            </a:avLst>
          </a:prstGeom>
          <a:solidFill>
            <a:srgbClr val="16303F">
              <a:alpha val="7000"/>
            </a:srgbClr>
          </a:solidFill>
          <a:ln/>
        </p:spPr>
      </p:sp>
      <p:sp>
        <p:nvSpPr>
          <p:cNvPr id="22" name="Text 20"/>
          <p:cNvSpPr txBox="1"/>
          <p:nvPr/>
        </p:nvSpPr>
        <p:spPr>
          <a:xfrm>
            <a:off x="6399609" y="1931640"/>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23" name="Shape 21"/>
          <p:cNvSpPr/>
          <p:nvPr/>
        </p:nvSpPr>
        <p:spPr>
          <a:xfrm>
            <a:off x="457200" y="2185690"/>
            <a:ext cx="8420100" cy="341561"/>
          </a:xfrm>
          <a:prstGeom prst="rect">
            <a:avLst/>
          </a:prstGeom>
          <a:solidFill>
            <a:srgbClr val="16303F">
              <a:alpha val="3000"/>
            </a:srgbClr>
          </a:solidFill>
          <a:ln/>
        </p:spPr>
      </p:sp>
      <p:sp>
        <p:nvSpPr>
          <p:cNvPr id="24" name="Shape 22"/>
          <p:cNvSpPr/>
          <p:nvPr/>
        </p:nvSpPr>
        <p:spPr>
          <a:xfrm>
            <a:off x="457200" y="2517725"/>
            <a:ext cx="8420100" cy="9525"/>
          </a:xfrm>
          <a:prstGeom prst="rect">
            <a:avLst/>
          </a:prstGeom>
          <a:solidFill>
            <a:srgbClr val="9CA3AF">
              <a:alpha val="20000"/>
            </a:srgbClr>
          </a:solidFill>
          <a:ln/>
        </p:spPr>
      </p:sp>
      <p:sp>
        <p:nvSpPr>
          <p:cNvPr id="25" name="Shape 23"/>
          <p:cNvSpPr/>
          <p:nvPr/>
        </p:nvSpPr>
        <p:spPr>
          <a:xfrm>
            <a:off x="457200" y="2517725"/>
            <a:ext cx="2825800" cy="9525"/>
          </a:xfrm>
          <a:prstGeom prst="rect">
            <a:avLst/>
          </a:prstGeom>
          <a:solidFill>
            <a:srgbClr val="DDD9D2"/>
          </a:solidFill>
          <a:ln/>
        </p:spPr>
      </p:sp>
      <p:sp>
        <p:nvSpPr>
          <p:cNvPr id="26" name="Shape 24"/>
          <p:cNvSpPr/>
          <p:nvPr/>
        </p:nvSpPr>
        <p:spPr>
          <a:xfrm>
            <a:off x="563761" y="2273201"/>
            <a:ext cx="384870" cy="181570"/>
          </a:xfrm>
          <a:prstGeom prst="roundRect">
            <a:avLst>
              <a:gd name="adj" fmla="val 20984"/>
            </a:avLst>
          </a:prstGeom>
          <a:solidFill>
            <a:srgbClr val="16303F">
              <a:alpha val="7000"/>
            </a:srgbClr>
          </a:solidFill>
          <a:ln/>
        </p:spPr>
      </p:sp>
      <p:sp>
        <p:nvSpPr>
          <p:cNvPr id="27" name="Text 25"/>
          <p:cNvSpPr txBox="1"/>
          <p:nvPr/>
        </p:nvSpPr>
        <p:spPr>
          <a:xfrm>
            <a:off x="608112" y="2263973"/>
            <a:ext cx="1183928"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int?</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28" name="Shape 26"/>
          <p:cNvSpPr/>
          <p:nvPr/>
        </p:nvSpPr>
        <p:spPr>
          <a:xfrm>
            <a:off x="3283000" y="2517725"/>
            <a:ext cx="3067199" cy="9525"/>
          </a:xfrm>
          <a:prstGeom prst="rect">
            <a:avLst/>
          </a:prstGeom>
          <a:solidFill>
            <a:srgbClr val="DDD9D2"/>
          </a:solidFill>
          <a:ln/>
        </p:spPr>
      </p:sp>
      <p:sp>
        <p:nvSpPr>
          <p:cNvPr id="29" name="Text 27"/>
          <p:cNvSpPr txBox="1"/>
          <p:nvPr/>
        </p:nvSpPr>
        <p:spPr>
          <a:xfrm>
            <a:off x="3389561" y="2263973"/>
            <a:ext cx="126072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kept its initializer</a:t>
            </a:r>
            <a:endParaRPr lang="en-US" sz="1056" dirty="0"/>
          </a:p>
        </p:txBody>
      </p:sp>
      <p:sp>
        <p:nvSpPr>
          <p:cNvPr id="30" name="Shape 28"/>
          <p:cNvSpPr/>
          <p:nvPr/>
        </p:nvSpPr>
        <p:spPr>
          <a:xfrm>
            <a:off x="6350198" y="2517725"/>
            <a:ext cx="2527102" cy="9525"/>
          </a:xfrm>
          <a:prstGeom prst="rect">
            <a:avLst/>
          </a:prstGeom>
          <a:solidFill>
            <a:srgbClr val="DDD9D2"/>
          </a:solidFill>
          <a:ln/>
        </p:spPr>
      </p:sp>
      <p:sp>
        <p:nvSpPr>
          <p:cNvPr id="31" name="Shape 29"/>
          <p:cNvSpPr/>
          <p:nvPr/>
        </p:nvSpPr>
        <p:spPr>
          <a:xfrm>
            <a:off x="6456759" y="2273201"/>
            <a:ext cx="384870" cy="181570"/>
          </a:xfrm>
          <a:prstGeom prst="roundRect">
            <a:avLst>
              <a:gd name="adj" fmla="val 20984"/>
            </a:avLst>
          </a:prstGeom>
          <a:solidFill>
            <a:srgbClr val="16303F">
              <a:alpha val="7000"/>
            </a:srgbClr>
          </a:solidFill>
          <a:ln/>
        </p:spPr>
      </p:sp>
      <p:sp>
        <p:nvSpPr>
          <p:cNvPr id="32" name="Text 30"/>
          <p:cNvSpPr txBox="1"/>
          <p:nvPr/>
        </p:nvSpPr>
        <p:spPr>
          <a:xfrm>
            <a:off x="6399609" y="2273201"/>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33" name="Shape 31"/>
          <p:cNvSpPr/>
          <p:nvPr/>
        </p:nvSpPr>
        <p:spPr>
          <a:xfrm>
            <a:off x="457200" y="2859286"/>
            <a:ext cx="8420100" cy="9525"/>
          </a:xfrm>
          <a:prstGeom prst="rect">
            <a:avLst/>
          </a:prstGeom>
          <a:solidFill>
            <a:srgbClr val="9CA3AF">
              <a:alpha val="20000"/>
            </a:srgbClr>
          </a:solidFill>
          <a:ln/>
        </p:spPr>
      </p:sp>
      <p:sp>
        <p:nvSpPr>
          <p:cNvPr id="34" name="Shape 32"/>
          <p:cNvSpPr/>
          <p:nvPr/>
        </p:nvSpPr>
        <p:spPr>
          <a:xfrm>
            <a:off x="457200" y="2859286"/>
            <a:ext cx="2825800" cy="9525"/>
          </a:xfrm>
          <a:prstGeom prst="rect">
            <a:avLst/>
          </a:prstGeom>
          <a:solidFill>
            <a:srgbClr val="DDD9D2"/>
          </a:solidFill>
          <a:ln/>
        </p:spPr>
      </p:sp>
      <p:sp>
        <p:nvSpPr>
          <p:cNvPr id="35" name="Text 33"/>
          <p:cNvSpPr txBox="1"/>
          <p:nvPr/>
        </p:nvSpPr>
        <p:spPr>
          <a:xfrm>
            <a:off x="563761" y="2605534"/>
            <a:ext cx="155629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non-nullable value type</a:t>
            </a:r>
            <a:endParaRPr lang="en-US" sz="1056" dirty="0"/>
          </a:p>
        </p:txBody>
      </p:sp>
      <p:sp>
        <p:nvSpPr>
          <p:cNvPr id="36" name="Shape 34"/>
          <p:cNvSpPr/>
          <p:nvPr/>
        </p:nvSpPr>
        <p:spPr>
          <a:xfrm>
            <a:off x="3283000" y="2859286"/>
            <a:ext cx="3067199" cy="9525"/>
          </a:xfrm>
          <a:prstGeom prst="rect">
            <a:avLst/>
          </a:prstGeom>
          <a:solidFill>
            <a:srgbClr val="DDD9D2"/>
          </a:solidFill>
          <a:ln/>
        </p:spPr>
      </p:sp>
      <p:sp>
        <p:nvSpPr>
          <p:cNvPr id="37" name="Text 35"/>
          <p:cNvSpPr txBox="1"/>
          <p:nvPr/>
        </p:nvSpPr>
        <p:spPr>
          <a:xfrm>
            <a:off x="3389561" y="2605534"/>
            <a:ext cx="50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threw</a:t>
            </a:r>
            <a:endParaRPr lang="en-US" sz="1056" dirty="0"/>
          </a:p>
        </p:txBody>
      </p:sp>
      <p:sp>
        <p:nvSpPr>
          <p:cNvPr id="38" name="Shape 36"/>
          <p:cNvSpPr/>
          <p:nvPr/>
        </p:nvSpPr>
        <p:spPr>
          <a:xfrm>
            <a:off x="6350198" y="2859286"/>
            <a:ext cx="2527102" cy="9525"/>
          </a:xfrm>
          <a:prstGeom prst="rect">
            <a:avLst/>
          </a:prstGeom>
          <a:solidFill>
            <a:srgbClr val="DDD9D2"/>
          </a:solidFill>
          <a:ln/>
        </p:spPr>
      </p:sp>
      <p:sp>
        <p:nvSpPr>
          <p:cNvPr id="39" name="Shape 37"/>
          <p:cNvSpPr/>
          <p:nvPr/>
        </p:nvSpPr>
        <p:spPr>
          <a:xfrm>
            <a:off x="6456759" y="2614761"/>
            <a:ext cx="828824" cy="181570"/>
          </a:xfrm>
          <a:prstGeom prst="roundRect">
            <a:avLst>
              <a:gd name="adj" fmla="val 20984"/>
            </a:avLst>
          </a:prstGeom>
          <a:solidFill>
            <a:srgbClr val="16303F">
              <a:alpha val="7000"/>
            </a:srgbClr>
          </a:solidFill>
          <a:ln/>
        </p:spPr>
      </p:sp>
      <p:sp>
        <p:nvSpPr>
          <p:cNvPr id="40" name="Text 38"/>
          <p:cNvSpPr txBox="1"/>
          <p:nvPr/>
        </p:nvSpPr>
        <p:spPr>
          <a:xfrm>
            <a:off x="6399609" y="2614761"/>
            <a:ext cx="94312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default(T)</a:t>
            </a:r>
            <a:endParaRPr lang="en-US" sz="972" dirty="0"/>
          </a:p>
        </p:txBody>
      </p:sp>
      <p:sp>
        <p:nvSpPr>
          <p:cNvPr id="41" name="Shape 39"/>
          <p:cNvSpPr/>
          <p:nvPr/>
        </p:nvSpPr>
        <p:spPr>
          <a:xfrm>
            <a:off x="457200" y="2868811"/>
            <a:ext cx="8420100" cy="341561"/>
          </a:xfrm>
          <a:prstGeom prst="rect">
            <a:avLst/>
          </a:prstGeom>
          <a:solidFill>
            <a:srgbClr val="16303F">
              <a:alpha val="3000"/>
            </a:srgbClr>
          </a:solidFill>
          <a:ln/>
        </p:spPr>
      </p:sp>
      <p:sp>
        <p:nvSpPr>
          <p:cNvPr id="42" name="Shape 40"/>
          <p:cNvSpPr/>
          <p:nvPr/>
        </p:nvSpPr>
        <p:spPr>
          <a:xfrm>
            <a:off x="457200" y="3200846"/>
            <a:ext cx="8420100" cy="9525"/>
          </a:xfrm>
          <a:prstGeom prst="rect">
            <a:avLst/>
          </a:prstGeom>
          <a:solidFill>
            <a:srgbClr val="9CA3AF">
              <a:alpha val="20000"/>
            </a:srgbClr>
          </a:solidFill>
          <a:ln/>
        </p:spPr>
      </p:sp>
      <p:sp>
        <p:nvSpPr>
          <p:cNvPr id="43" name="Shape 41"/>
          <p:cNvSpPr/>
          <p:nvPr/>
        </p:nvSpPr>
        <p:spPr>
          <a:xfrm>
            <a:off x="457200" y="3200846"/>
            <a:ext cx="2825800" cy="9525"/>
          </a:xfrm>
          <a:prstGeom prst="rect">
            <a:avLst/>
          </a:prstGeom>
          <a:solidFill>
            <a:srgbClr val="DDD9D2"/>
          </a:solidFill>
          <a:ln/>
        </p:spPr>
      </p:sp>
      <p:sp>
        <p:nvSpPr>
          <p:cNvPr id="44" name="Shape 42"/>
          <p:cNvSpPr/>
          <p:nvPr/>
        </p:nvSpPr>
        <p:spPr>
          <a:xfrm>
            <a:off x="563761" y="2956322"/>
            <a:ext cx="976908" cy="181570"/>
          </a:xfrm>
          <a:prstGeom prst="roundRect">
            <a:avLst>
              <a:gd name="adj" fmla="val 20984"/>
            </a:avLst>
          </a:prstGeom>
          <a:solidFill>
            <a:srgbClr val="16303F">
              <a:alpha val="7000"/>
            </a:srgbClr>
          </a:solidFill>
          <a:ln/>
        </p:spPr>
      </p:sp>
      <p:sp>
        <p:nvSpPr>
          <p:cNvPr id="45" name="Text 43"/>
          <p:cNvSpPr txBox="1"/>
          <p:nvPr/>
        </p:nvSpPr>
        <p:spPr>
          <a:xfrm>
            <a:off x="506611" y="2956322"/>
            <a:ext cx="109120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 null]</a:t>
            </a:r>
            <a:endParaRPr lang="en-US" sz="972" dirty="0"/>
          </a:p>
        </p:txBody>
      </p:sp>
      <p:sp>
        <p:nvSpPr>
          <p:cNvPr id="46" name="Shape 44"/>
          <p:cNvSpPr/>
          <p:nvPr/>
        </p:nvSpPr>
        <p:spPr>
          <a:xfrm>
            <a:off x="3283000" y="3200846"/>
            <a:ext cx="3067199" cy="9525"/>
          </a:xfrm>
          <a:prstGeom prst="rect">
            <a:avLst/>
          </a:prstGeom>
          <a:solidFill>
            <a:srgbClr val="DDD9D2"/>
          </a:solidFill>
          <a:ln/>
        </p:spPr>
      </p:sp>
      <p:sp>
        <p:nvSpPr>
          <p:cNvPr id="47" name="Text 45"/>
          <p:cNvSpPr txBox="1"/>
          <p:nvPr/>
        </p:nvSpPr>
        <p:spPr>
          <a:xfrm>
            <a:off x="3389561" y="2947095"/>
            <a:ext cx="122649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empty strings</a:t>
            </a:r>
            <a:endParaRPr lang="en-US" sz="1056" dirty="0"/>
          </a:p>
        </p:txBody>
      </p:sp>
      <p:sp>
        <p:nvSpPr>
          <p:cNvPr id="48" name="Shape 46"/>
          <p:cNvSpPr/>
          <p:nvPr/>
        </p:nvSpPr>
        <p:spPr>
          <a:xfrm>
            <a:off x="6350198" y="3200846"/>
            <a:ext cx="2527102" cy="9525"/>
          </a:xfrm>
          <a:prstGeom prst="rect">
            <a:avLst/>
          </a:prstGeom>
          <a:solidFill>
            <a:srgbClr val="DDD9D2"/>
          </a:solidFill>
          <a:ln/>
        </p:spPr>
      </p:sp>
      <p:sp>
        <p:nvSpPr>
          <p:cNvPr id="49" name="Text 47"/>
          <p:cNvSpPr txBox="1"/>
          <p:nvPr/>
        </p:nvSpPr>
        <p:spPr>
          <a:xfrm>
            <a:off x="6456759" y="2947095"/>
            <a:ext cx="66689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nulls</a:t>
            </a:r>
            <a:endParaRPr lang="en-US" sz="1056" dirty="0"/>
          </a:p>
        </p:txBody>
      </p:sp>
      <p:sp>
        <p:nvSpPr>
          <p:cNvPr id="50" name="Shape 48"/>
          <p:cNvSpPr/>
          <p:nvPr/>
        </p:nvSpPr>
        <p:spPr>
          <a:xfrm>
            <a:off x="457200" y="3542407"/>
            <a:ext cx="8420100" cy="9525"/>
          </a:xfrm>
          <a:prstGeom prst="rect">
            <a:avLst/>
          </a:prstGeom>
          <a:solidFill>
            <a:srgbClr val="9CA3AF">
              <a:alpha val="20000"/>
            </a:srgbClr>
          </a:solidFill>
          <a:ln/>
        </p:spPr>
      </p:sp>
      <p:sp>
        <p:nvSpPr>
          <p:cNvPr id="51" name="Shape 49"/>
          <p:cNvSpPr/>
          <p:nvPr/>
        </p:nvSpPr>
        <p:spPr>
          <a:xfrm>
            <a:off x="457200" y="3542407"/>
            <a:ext cx="2825800" cy="9525"/>
          </a:xfrm>
          <a:prstGeom prst="rect">
            <a:avLst/>
          </a:prstGeom>
          <a:solidFill>
            <a:srgbClr val="DDD9D2"/>
          </a:solidFill>
          <a:ln/>
        </p:spPr>
      </p:sp>
      <p:sp>
        <p:nvSpPr>
          <p:cNvPr id="52" name="Shape 50"/>
          <p:cNvSpPr/>
          <p:nvPr/>
        </p:nvSpPr>
        <p:spPr>
          <a:xfrm>
            <a:off x="563761" y="3297882"/>
            <a:ext cx="236786" cy="181570"/>
          </a:xfrm>
          <a:prstGeom prst="roundRect">
            <a:avLst>
              <a:gd name="adj" fmla="val 20984"/>
            </a:avLst>
          </a:prstGeom>
          <a:solidFill>
            <a:srgbClr val="16303F">
              <a:alpha val="7000"/>
            </a:srgbClr>
          </a:solidFill>
          <a:ln/>
        </p:spPr>
      </p:sp>
      <p:sp>
        <p:nvSpPr>
          <p:cNvPr id="53" name="Text 51"/>
          <p:cNvSpPr txBox="1"/>
          <p:nvPr/>
        </p:nvSpPr>
        <p:spPr>
          <a:xfrm>
            <a:off x="506611" y="3297882"/>
            <a:ext cx="351086"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t>
            </a:r>
            <a:endParaRPr lang="en-US" sz="972" dirty="0"/>
          </a:p>
        </p:txBody>
      </p:sp>
      <p:sp>
        <p:nvSpPr>
          <p:cNvPr id="54" name="Shape 52"/>
          <p:cNvSpPr/>
          <p:nvPr/>
        </p:nvSpPr>
        <p:spPr>
          <a:xfrm>
            <a:off x="3283000" y="3542407"/>
            <a:ext cx="3067199" cy="9525"/>
          </a:xfrm>
          <a:prstGeom prst="rect">
            <a:avLst/>
          </a:prstGeom>
          <a:solidFill>
            <a:srgbClr val="DDD9D2"/>
          </a:solidFill>
          <a:ln/>
        </p:spPr>
      </p:sp>
      <p:sp>
        <p:nvSpPr>
          <p:cNvPr id="55" name="Text 53"/>
          <p:cNvSpPr txBox="1"/>
          <p:nvPr/>
        </p:nvSpPr>
        <p:spPr>
          <a:xfrm>
            <a:off x="3389561" y="3288655"/>
            <a:ext cx="588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ignored</a:t>
            </a:r>
            <a:endParaRPr lang="en-US" sz="1056" dirty="0"/>
          </a:p>
        </p:txBody>
      </p:sp>
      <p:sp>
        <p:nvSpPr>
          <p:cNvPr id="56" name="Shape 54"/>
          <p:cNvSpPr/>
          <p:nvPr/>
        </p:nvSpPr>
        <p:spPr>
          <a:xfrm>
            <a:off x="6350198" y="3542407"/>
            <a:ext cx="2527102" cy="9525"/>
          </a:xfrm>
          <a:prstGeom prst="rect">
            <a:avLst/>
          </a:prstGeom>
          <a:solidFill>
            <a:srgbClr val="DDD9D2"/>
          </a:solidFill>
          <a:ln/>
        </p:spPr>
      </p:sp>
      <p:sp>
        <p:nvSpPr>
          <p:cNvPr id="57" name="Text 55"/>
          <p:cNvSpPr txBox="1"/>
          <p:nvPr/>
        </p:nvSpPr>
        <p:spPr>
          <a:xfrm>
            <a:off x="6456759" y="3288655"/>
            <a:ext cx="138127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binds as empty array</a:t>
            </a:r>
            <a:endParaRPr lang="en-US" sz="1056" dirty="0"/>
          </a:p>
        </p:txBody>
      </p:sp>
      <p:sp>
        <p:nvSpPr>
          <p:cNvPr id="58" name="Text 56"/>
          <p:cNvSpPr txBox="1"/>
          <p:nvPr/>
        </p:nvSpPr>
        <p:spPr>
          <a:xfrm>
            <a:off x="457200" y="3878610"/>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All rows are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the JSON provider specifically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providers that already carried real nulls, such as in-memory, did not all behave this way. d06’s own one-liner: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“Retries was 3 on .NET 9 and is null on .NET 10.”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 Modern .NET Configuration
Kevin Griffin - Microsoft MVP - .NET 10 / C# 14
Generated from OUTLINE.md. Regenerate with `npm run generate`.
</dc:subject>
  <dc:creator>Kevin Griffin</dc:creator>
  <cp:lastModifiedBy>Kevin Griffin</cp:lastModifiedBy>
  <cp:revision>1</cp:revision>
  <dcterms:created xsi:type="dcterms:W3CDTF">2026-09-24T23:52:24Z</dcterms:created>
  <dcterms:modified xsi:type="dcterms:W3CDTF">2026-09-24T23:52:24Z</dcterms:modified>
</cp:coreProperties>
</file>