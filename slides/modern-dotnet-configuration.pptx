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Lst>
  <p:notesMasterIdLst>
    <p:notesMasterId r:id="rId5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notesMaster" Target="notesMasters/notesMaster1.xml"/><Relationship Id="rId57" Type="http://schemas.openxmlformats.org/officeDocument/2006/relationships/presProps" Target="presProps.xml"/><Relationship Id="rId58" Type="http://schemas.openxmlformats.org/officeDocument/2006/relationships/viewProps" Target="viewProps.xml"/><Relationship Id="rId59" Type="http://schemas.openxmlformats.org/officeDocument/2006/relationships/theme" Target="theme/theme1.xml"/><Relationship Id="rId6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[COLD OPEN 1 of 2] THE CONTRADICTION
60-min: keep, ~90 seconds for both cold open slides
FIRST THING THE ROOM SEES. No title slide yet. No introduction. Say nothing
for a beat, then read it out flatly:
"The file says one hundred and twenty. The app says ten."
Then STOP TALKING. Count to ten in your head. Let it be uncomfortable.
Do NOT explain it. Do NOT say "who can tell me why". Do not take a guess from
the floor. The only line you say is:
"We'll come back to this."
Then advance.
WHY OPEN HERE: "why externalize configuration" and "how do we load it" are
both expository. Two explanatory beats back to back is a flat first ten
minutes. A small mystery buys attention for the parts that are genuinely just
exposition - and it gets paid off properly at GetDebugView.
This slide and the next are lifted from d01 in the repo. Everything on screen
today runs.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[COLD OPEN 2 of 2] THE DUMP, UNEXPLAINED
60-min: keep
The same dump that comes back later - but with NO gold marker and NO
explanation. They cannot read it yet and that is the point.
Give it five seconds. Say:
"This is the app telling us exactly what happened. By the time we come back to
this slide, you'll be able to read it."
Then advance to the title and introduce yourself.
NOTE THE DEVICE: this image appears twice in the deck. Here it is unmarked and
unexplained. At the payoff slide it is the same dump with a gold marker on the
line that resolves the mystery. Do not mark it here and do not walk it.
If someone shouts out the answer - and occasionally someone does - say "yes,
and in twenty minutes everyone will know why" and move on. Do not let it turn
into a conversation; the whole device depends on the room sitting with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BEFORE THIS SLIDE IS ON SCREEN ===
[0-04 min] COLD OPEN - S1.0
Snippet: the d01 output, captured
60-min: keep, 3 min
Black screen. No title slide yet. No setup, no explanation.
DO:
- The file says 120. The app says 10. Both on screen, neither explained.
- The GetDebugView() dump on screen shows an unexpected provider won.
- Let the room sit with it. Fifteen full seconds. Count them.
- Say only: "We'll come back to this." Move on.
WHY THIS OPENING:
"Why externalize configuration" and "how do we load it" are both expository.
Two explanatory beats back to back is a flat first ten minutes. A small mystery
buys attention for the parts that are genuinely just exposition. S2 pays it off.
DO NOT take questions here. It only works while it stays unexplained.
=== THEN BRING UP THIS SLIDE ===
[title card]
60-min: keep
Now introduce yourself - briefly. The mystery from the cold open is already
running, so don't stall here.
- Kevin Griffin, software consultant, Microsoft MVP.
- Repo QR goes here AND on the thanks slide. People photograph the first one.
Frame the next 90 minutes in one line:
"Every app has configuration. Almost nobody revisits it. Today we find out what
it actually does, where it cuts you, and what holds up in production."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me]
60-min: keep, but 30 seconds MAX
Keep this SHORT. Credibility, then move - the room came for configuration, not
for a resume, and the cold open is still unresolved.
The one line that actually matters:
"Everything in this talk is something I got wrong in production first."
That's the license to be opinionated for the next 85 minutes. It also sets up
S6.6 (flag debt) and S4.6 (the idle-app refresh surprise) as scars rather than
trivia.
Do NOT list every technology you've touched. If they want the resume it's on
the site, and the site is on the last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[roadmap]
60-min: keep - it's the map, and at 60 minutes the map does more work
Five beats. Read them fast; it's a map, not a stop. Twenty seconds.
  01  How the provider chain really resolves        (S2, S3)
  02  Local dev -&gt; deployment -&gt; shared             (S1.4 spine, S4)
  03  Binding, options, and failing fast            (S5)
  04  Feature flags and flag debt                   (S6)
  05  Choosing a strategy, and where to stop        (S7)
Point at 02 and say "that's the spine - everything hangs off it."
Point at 04 and say "this is about a quarter of the talk, and it's the half
people don't expect."
Then get off this slide. The cold open is STILL unexplained and that tension is
doing work for you until S2.1.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[04-10 min] WHY - S1.1
60-min: compress to 4 min - trust and ownership get one line each
Five answers. First three obvious, last two are why this talk exists in 2026.
1. NO HARD-CODING - a value baked into an assembly changes only by editing code,
   rebuilding, retesting, redeploying. Value and logic have completely different
   rates of change. They shouldn't share a lifecycle.
2. VALUES THAT VARY BY ENVIRONMENT - same binary, local DB / staging API / prod
   endpoint. If the CODE differs per environment, you aren't testing what you ship.
3. CHANGING A VALUE ON THE FLY - timeout, log level, toggle. No deploy window,
   no dropped traffic.
4. TRUST - a credential compiled into an assembly ships everywhere that assembly
   ships: every laptop, build artifact, container layer, decompiler. This is not
   about rate of change, it's about BLAST RADIUS. Arguably reason #1 today.
5. OWNERSHIP - the person who needs to change the value often can't compile the
   code. Configuration is the seam between dev and ops. An SRE raising a timeout
   at 3am shouldn't need your build pipeline, your PR review, or you.
THE PIVOT: reasons 1-2 were solved by web.config twenty years ago.
Reasons 3, 4, 5 are why we're here - and they're the three that COST something.
A value outside the binary can be missing, malformed, stale, or arriving from a
source you forgot about. The rest of the talk is about paying that cost on purpose.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[10-13 min] COLD OPEN PART TWO - S1.2
60-min: fold into the Why block - drop the storytelling, keep the through-line
Three eras. Score each against the five reasons.
1. CONSTANTS AND #if DEBUG
   Hardcoded values, commented-out blocks, a pre-commit ritual.
   Simple and dangerous - failure mode was shipping the wrong uncommented line.
   Fails #1 outright. Fails #4 catastrophically.
2. web.config / app.config + ConfigurationManager.AppSettings
   XML, static, one string-keyed bag. No reload, no layering, framework-only.
   Transforms (Web.Release.config) ran at BUILD time.
   Wins #1 and #2 - but you built one artifact per environment, and #3 was impossible.
3. THE .NET GENERIC HOST (2018, .NET Core 2.1) + IConfiguration
   Provider chain, layering, binding, DI, reload - and the SAME model for a web
   app, a worker, a console tool, and a WinForms app.
   One artifact, many environments. All five reasons, finally.
THE THROUGH-LINE - say this out loud, it comes back twice:
"We traded a build-time decision for a runtime one."
Everything hard about modern configuration comes from that trade.
S6.8 shows feature flags making the same trade one level up.
ON SCREEN: three snippets, one per era, dated. No prose. Walk them in order
and score each against the five reasons from the previous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[10-13 min] THE TRADE - S1.2 through-line
60-min: keep - it costs 15 seconds and it earns the S6.8 callback
Headline only. Say it, let it sit, move on.
Everything hard about modern configuration comes from this trade. You are no
longer deciding at compile time what the app will do - you are deciding at
startup, or at runtime, or in a portal while the app is serving traffic.
That's the whole reason the rest of the talk has failure modes at all. A
constant can't be missing, malformed, stale, or arriving from a provider you
forgot about. A runtime value can be all four.
COMES BACK TWICE:
- S4.6, when App Configuration moves the decision later still.
- S6.8, when feature flags make the same trade one level up: deploys to flags.
  Point at this slide from there. "Same trade, one level 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[13-16 min] THESIS - S1.3
60-min: keep - this is the organizing claim
State it plainly:
"If a value could ever differ between two environments, two deployments, or two
moments in time, it belongs in configuration. If a behavior could ever need to
change without a deploy, it belongs behind a feature flag."
The bar is COULD EVER, not DOES TODAY. Moving a value into configuration later is
a code change under time pressure. Putting it there now costs one line. Same
argument for flags: adding one before you ship is cheap; adding one during an
incident is not.
HANDLE TWO OBJECTIONS OUT LOUD - both are fair:
- "Then everything is configurable and nothing is knowable."
  True if you stop at externalizing. That's why S5 binding + ValidateOnStart
  exist. A configurable value that's validated at startup is MORE knowable than
  a constant buried in code - it's declared, typed, and checked in one place.
- "That's a lot of flags."
  Yes, and every one is debt. S6.6 is the discipline that makes this position
  survivable rather than reckless.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[13-16 min] THE SPINE - S1.4
60-min: keep, 2 min - at 60 this slide does the organizing work nothing else can
Three stages, increasing in both capability and operational cost.
"Shared" not "scale" on purpose - stage three is about configuration that
outlives or spans a single deployment unit. Scale is one reason you get there,
not the definition.
LOCAL DEV - a developer clones the repo and it runs; secrets never touch git.
  appsettings.json, appsettings.Development.json, user secrets, launchSettings.json
DEPLOYMENT - one artifact, many environments; the platform supplies the values.
  env vars, command line, key-per-file mounts, Key Vault
SHARED - many apps and instances; values that change without a deploy.
  Azure App Configuration - labels, refresh, sentinel keys, feature flags
EACH STAGE IS INTRODUCED BY THE FAILURE THAT FORCES YOU TO THE NEXT ONE.
This is what gives the spine motion instead of making it a list:
  Local dev   -&gt; "works on my machine"       (launchSettings overriding your env
                                             var; secrets on one laptop)
  Deployment  -&gt; "the value didn't make it"  (a provider you forgot was winning;
                                             wrong key shape; secret cached)
  Shared      -&gt; "it changed, but not everywhere at once" (stale caches,
                                             half-applied edits, idle instance)
TWO THINGS TO SAY WITH THIS UP:
- The stages are CUMULATIVE, not alternatives. A stage-three app still has
  appsettings.json for defaults and still takes per-instance values from env vars.
  You add layers; you don't replace them.
- KNOW WHERE TO STOP. Stage three earns its complexity when more than one app
  shares values, or something genuinely must change without a deploy. S7 decides.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[motif slide] FOUR FAILURE MODES - S1.5
60-min: keep - it's 30 seconds and it pays off all talk
Not a section. A label to hang on things as they come up. Whatever stage you're
in, almost every configuration bug is one of four things:
1. ORDER    - a provider you forgot about is winning.
2. SHAPE    - the key you set doesn't produce the key the binder looks for.
3. LIFETIME - you cached a value that was supposed to change, or didn't cache
              one that wasn't.
4. TRUST    - a secret is sitting in a file that ships with the app.
NAME THEM OUT LOUD AS THEY COME UP:
  order on Same key. Four winners.    shape on Environment variables
  lifetime on the three interfaces    trust on User secrets
By the anti-patterns slide the audience should be calling them before you do.
That's the win condition for this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[16-23 min] THE MODEL - S2
60-min: keep, 5 min
Configuration is not "the appsettings.json file." It is an ordered chain of
key/value providers collapsed into ONE flat, case-insensitive dictionary of
strings, plus a binder that projects slices of it onto typed objects.
- Flat IDictionary&lt;string, string?&gt; with ':' as the hierarchy delimiter.
  {"Db": {"Timeout": 30}} is the single key Db:Timeout with the STRING "30".
- KEYS ARE CASE-INSENSITIVE. DB:TIMEOUT == db:timeout.
- VALUES ARE ALWAYS STRINGS. Every int, bool, TimeSpan, Uri is a binder conversion.
- LAST PROVIDER WINS. Add() appends; reads walk the list in reverse, first hit wins.
- ARRAY ELEMENTS ARE KEYS TOO: Servers:0:Host, Servers:1:Host.
- A duplicate key INSIDE one file provider throws FormatException.
  A duplicate key ACROSS providers is the whole point of the system.
Show that these are all the same read:
  config["Db:Timeout"]
  config.GetSection("Db")["Timeout"]
  config.GetSection("Db").GetValue&lt;int&gt;("Timeout")
  config.GetValue&lt;int&gt;("Db:Timeout", defaultValue: 30)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[16-23 min] EVERYTHING IS A STRING - S2
60-min: keep - it's 20 seconds and it justifies the whole options block
Headline only.
Every int, every bool, every TimeSpan, every Uri you ever read out of
configuration is a BINDER CONVERSION that happened on your behalf. The
dictionary holds strings. Only strings. Always strings.
WHY THIS MATTERS ENOUGH FOR ITS OWN SLIDE:
This is the fact that makes S5 necessary rather than merely tidy. If every
value is a string, then every value can be the WRONG string - malformed,
empty, or a word where you wanted a number - and nothing in the configuration
system will tell you. Binding plus validation is where the type system
re-enters the story.
It is also why "30" and 30 are the same thing here, why a trailing space in an
environment variable ruins your day, and why an empty string is not null - at
least, it wasn't until .NET 10 (S9).</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[16-23 min] THE DIAGNOSTIC - S2.1
The cold-open dump, now marked
60-min: NEVER CUT
This is the show-don't-tell moment of the talk, and it explains the cold open.
GetDebugView() prints every key, its effective value, AND the provider that
supplied it.
The cold-open dump returns, now with the gold marker. Walk it and point at the
line that explains the wrong value from minute zero.
Output shape:
  Db:
    Timeout=30 (JsonConfigurationProvider for 'appsettings.json' (Optional))
    ConnectionString=*** (EnvironmentVariablesConfigurationProvider Prefix: '')
SAY:
- The processValue overload takes Func&lt;ConfigurationDebugViewContext, string&gt;.
  Context carries Path, Key, Value, ConfigurationProvider.
- REDACT. Filter anything containing secret / password / key before printing.
  Logging GetDebugView() unredacted is anti-pattern #11.
- Gate it on IsDevelopment().
- To enumerate the chain directly: ((IConfigurationRoot)app.Configuration).Providers
This is the single most useful diagnostic in the entire system. If the audience
takes one thing home, make it this.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[16-23 min] THE DUMP - S2.1 - THE PAYOFF
The cold-open dump, marked this time
60-min: NEVER CUT
THIS IS THE SLIDE THE COLD OPEN WAS FOR.
The gold marker is on TimeoutSeconds=10, supplied by
EnvironmentVariablesConfigurationProvider - even though
appsettings.Development.json clearly says 120 and that is the file everyone
in the room was looking at for the last sixteen minutes.
SAY IT LIKE THIS:
"Sixteen minutes ago I showed you an app with the wrong timeout. Here's why.
The JSON says 120. An environment variable says 10. The environment variable
is later in the chain, so the environment variable wins. That's it. That's the
whole mystery."
Then name failure mode #1 - ORDER - and point at the badge when it turns up
two slides from now.
WHAT THE DUMP GIVES YOU THAT NOTHING ELSE DOES: the provider name in
parentheses. Not the value - anyone can log the value. The SOURCE.
Note ApiKey=*** is redacted by the lambda on the previous slide. Say that out
loud, because someone is about to go add GetDebugView to a production app.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[S3.1] DEFAULT PROVIDER ORDER
60-min: keep - compressed into the order block
HIGHEST PRIORITY FIRST. Reads top-down as "who wins".
The two rows people have never seen are 5 and 6 -
{ApplicationName}.settings.json and its environment variant. They are real,
and they apply to WEB APPS TOO, not just workers. WebApplication.CreateBuilder
constructs a HostApplicationBuilder internally, so it inherits them.
The known exception is CreateSlimBuilder, whose slim defaults omit them.
Verified on SDK 10.0.303: a file-based app web.cs really does probe
web.settings.json and web.settings.Development.json.
ROW 1 IS THE OTHER SURPRISE. The chained provider is added LAST, which makes
host configuration the highest-priority source, not the lowest. People assume
the opposite because it is read first. Read first, applied last.
ROW 2 - the command-line provider is registered TWICE: once during host
configuration so --environment can pick which files load, and once at the end
so it still wins the final read. That is deliberate, not a bug.
WHEN THE DUMP IS ON SCREEN the audience will count more providers than this
table has rows - two MemoryConfigurationProviders and the prefixed env var
providers. Say that those are host plumbing and move on; do not narrate all
thirteen.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[S3.2] HOST CONFIGURATION - THE TWO-PASS READ
60-min: keep - one slide, best "aha" in the order block
A real dump. One command, two effects.
Host configuration is read FIRST and it decides EnvironmentName. EnvironmentName
then decides WHICH appsettings.{Environment}.json even gets loaded. So the
command-line provider is registered TWICE on purpose:
  pass 1  so --environment Staging can influence which files load
  pass 2  so the same argument still wins the final read
Point at the two CommandLineConfigurationProvider lines. They are the same
provider, registered at both ends of the chain. That looks like a bug in the
framework until you see what it buys.
THE LINE TO SAY:
"ASPNETCORE_ENVIRONMENT is not just another setting. It is the input that picks
the rest of your inputs."
That reframing is what makes the two-phase design look deliberate instead of
accidental. It also explains why setting the environment variable AFTER the host
is built does nothing at all.
For a non-web host it is DOTNET_ENVIRONMENT, not ASPNETCORE_ENVIRONMENT. Say it
once; someone in the room is writing a worker this week.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[layering] PRECEDENCE, SHOWN
Snippets: lifted from d02 and d03
60-min: keep this; the array slide is the FIRST thing to cut if you run long
THE LAYERS - JSON, then the environment file, then an env var, then a CLI arg.
Same key, four different winners, one at a time. Call out failure mode #1: ORDER.
This is what makes "last provider wins" concrete instead of abstract.
THE ARRAY SURPRISE is the next slide.
appsettings.json has ["a","b","c"]. The environment file has ["x"].
Result: ["x","b","c"] - NOT ["x"].
Why: the environment file MERGES OVER the base file key by key. It is not a
replacement. Arrays don't merge cleanly because index keys overlay individually:
  Servers:0 = "x"   (overwritten)
  Servers:1 = "b"   (survives)
  Servers:2 = "c"   (survives)
This gets an audible reaction every time. But it's a gasp, not a load-bearing
idea - it's the first cut at 60 minutes.
WHAT TO DO INSTEAD: prefer an object keyed by name, or replace the section
deliberately. Also: EnvironmentName is arbitrary - appsettings.QA-East.json works
fine if ASPNETCORE_ENVIRONMENT=QA-East.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[31-39 min] STAGE 1 - LOCAL DEV
60-min: compress to 4 min
THE PROBLEM THIS STAGE SOLVES:
A developer clones the repo and it runs. Secrets never touch git.
Sources: appsettings.json, appsettings.Development.json, user secrets,
launchSettings.json
Close the block on its signature failure - "works on my machine" - which is what
pushes you to stage two.
ON SCREEN: the four sources and what each one yields, so the room can follow
the terminal without squinting. The last row is gold because it is the winner.
Do not read the slide aloud. Walk down the four rows, name the source each
time, and let the numbers do the 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[31-39 min] JSON FILES - S4.1
60-min: keep, brief
appsettings.json - safe defaults, COMMITTED.
appsettings.Development.json - overrides only, COMMITTED.
ApiKey in the base file is a PLACEHOLDER (empty string), never a real value.
POINTS:
- The environment file merges over the base file KEY BY KEY. Not a replacement.
  (The array consequence is the next slide.)
- EnvironmentName is arbitrary. Development / Staging / Production are just the
  framework's well-known values.
- Build Action = Content, Copy = PreserveNewest - or the file isn't next to the
  DLL at runtime. This one bites people in published output, not in F5.
IF SOMEONE ASKS about taking full control:
  builder.Configuration.Sources.Clear();
  then AddJsonFile / AddEnvironmentVariables / AddCommandLine explicitly.
Mention it exists; don't dwell. Most apps shouldn't.
RULE OF THUMB TO STATE HERE (S7.3 #2):
appsettings.json should be safe to publish. If leaking it would matter, something
is in the wrong bucket.
ON SCREEN: three panels. Base, the environment overlay, and what the app
actually sees. Gold marks the values the environment file supplied.
THE ROW THAT TEACHES IT is TimeoutSeconds. The Development file says nothing
about it, so 30 SURVIVES from the base file. That is what "merges key by key"
means, and it is why this is not a file swap.
HOUSEKEEPING - say these, do not slide them:
- EnvironmentName is ARBITRARY. Development / Staging / Production are just the
  framework's well-known values. appsettings.QA-East.json works fine if
  ASPNETCORE_ENVIRONMENT=QA-East. People think the three names are magic.
- Build Action = Content, Copy = PreserveNewest, or the file is not next to the
  DLL at runtime. This bites in published output, never during F5, which is why
  it is always found in production.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[S4.1] THE ARRAY SURPRISE
Snippet: lifted from d03
60-min: FIRST THING TO CUT if you are running long - it is a gasp, not a
load-bearing idea
The reliable audible reaction of the talk. Set it up as a question:
"The base file has three hosts. The Development file has one. How many hosts
does the app see?"
Let them answer ONE. Then show three.
WHY: the environment file merges key by key, and array elements ARE keys.
There is no array in the dictionary - there is Hosts:0, Hosts:1, Hosts:2. The
override only writes Hosts:0. Nothing deletes Hosts:1 and Hosts:2, so they
survive. Point at the right-hand panel and say exactly that.
Call back to the flat dictionary slide. This is that slide's consequence, and
it is the moment people realise the mental model actually predicts behaviour
rather than just describing it.
WHAT TO DO INSTEAD - say it, because someone is about to go fix this today:
- Prefer an object keyed by name over a positional array.
- Or replace the whole section deliberately rather than relying on the overlay.
- Anti-pattern #10 is exactly this assumption in appsettings.Production.json.
This is the slide people quote back to you afterwards.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[31-39 min] USER SECRETS - S4.4
Snippet: lifted from d09
60-min: keep - mention .NET 10 file-based apps in one line
WHAT IT IS NOT: not encrypted, not a vault.
THE SINGLE PURPOSE: keeping secrets out of the repo on a dev box.
  dotnet user-secrets init          (adds &lt;UserSecretsId&gt; to the .csproj)
  dotnet user-secrets set "Weather:ApiKey" "dev-key-12345"
  dotnet user-secrets list / remove / clear
Bulk load by piping JSON into 'dotnet user-secrets set'.
Storage - mention, but tell them NOT to write code against it:
  Windows: %APPDATA%\Microsoft\UserSecrets\&lt;id&gt;\secrets.json
  Linux/macOS: ~/.microsoft/usersecrets/&lt;id&gt;/secrets.json
Registered automatically by the default builders ONLY in Development.
It sits ABOVE the JSON files and BELOW environment variables and command line.
.NET 10 BONUS - file-based apps:
'dotnet run app.cs' programs get a stable UserSecretsId derived from a hash of
the file path.
  dotnet user-secrets set "ApiKey" "value" --file app.cs
A five-line single-file app reading configuration with no .csproj anywhere.
Worth its own slide at 90. At 60, one sentence.
Failure mode #4: TRUST. Name it.
ON SCREEN: the repo holds a GUID. Your laptop holds the actual secret, in
plaintext, in a file anyone with your login can read.
SAY IT PLAINLY: "This is not encryption. This is not a vault. The whole
feature is a convention for putting the file somewhere git will never see."
That is not a criticism - it is exactly the right tool for the job it has. But
half the room believes it is encrypted, and the ones who believe that are the
ones who will reach for it in production.
WHERE IT SITS IN THE CHAIN - say it, do not slide it:
Development environment ONLY. Above the JSON files, below environment
variables and the command line. The precedence table already showed the rank;
point back at it rather than repeating it.
Storage paths, for the record - and tell them NOT to write code against these:
  Windows       %APPDATA%MicrosoftUserSecrets&lt;id&gt;secrets.json
  Linux/macOS   ~/.microsoft/usersecrets/&lt;id&gt;/secrets.json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[S4.4] USER SECRETS - THE COMMANDS
Snippet: lifted from d09
60-min: keep, fast
Five commands and one .NET 10 addition. Do not read them out. Let people
photograph it and say what matters instead.
WHAT MATTERS:
- 'init' writes the UserSecretsId into the .csproj. That id is the only thing
  the repo ever learns about your secrets.
- Values are set by KEY PATH using the colon form - "Weather:ApiKey", not
  nested JSON. The provider flattens it exactly like everything else.
- Bulk load exists: pipe a JSON file into 'dotnet user-secrets set'. Useful
  when onboarding someone. Do not then commit that JSON file.
THE .NET 10 LINE IS THE ONE TO CALL OUT:
'dotnet run app.cs' programs get a stable UserSecretsId derived from a hash of
the FILE PATH. A single-file app with no .csproj anywhere still gets user
secrets, addressed with --file.
That is genuinely new and it lands well - a five-line program reading
configuration properly with no project file. Worth mentioning that moving the
file changes the hash, and therefore changes which secrets it sees.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[31-39 min] "WORKS ON MY MACHINE" - S4.2 gotcha
Snippet: lifted from d07
60-min: keep if at all possible - this is the block's whole payoff
THE #1 "works on my machine" configuration story:
launchSettings.json environment variables OVERRIDE machine and user environment
variables during local F5 / dotnet run - and launchSettings.json is a
DEVELOPMENT-ONLY file that never deploys.
So: you set an env var, you run locally, nothing changes, you conclude env vars
don't work. Or worse - it works locally because of launchSettings, and the value
simply isn't there in production.
Show the two side by side: the env var you set, and the launchSettings entry
that quietly beats it. Then the same app with that entry deleted.
CLOSE THE STAGE HERE:
"That's stage one's signature failure. The fix isn't a better laptop - it's
letting the platform supply the values. That's stage two."
Failure mode #1 (ORDER) and #2 (SHAPE) both live 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[39-51 min] OPTIONS - S5
60-min: 8 min - this block survives the cut nearly intact
The longest non-flag block in the talk, and correctly so. This is where
"configuration" stops being strings and starts being types you can validate.
Snippets here: d11 binding, d12 ValidateOnStart, d13 the three interfaces.
The three-interfaces before/after pair is the longest beat in the talk.
DO NOT RUSH IT.
This is also the answer to the thesis objection from S1.3 - "then nothing is
knowable." Binding plus validation is what makes a configurable value MORE
knowable than a constant.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[39-51 min] STOP INJECTING ICONFIGURATION - S5.1
60-min: keep
THE DON'T:
  public sealed class WeatherClient(IConfiguration config)
      =&gt; CallAsync(config["Weather:ApiBaseUrl"]!,
                   int.Parse(config["Weather:TimeoutSeconds"]!));
Four things wrong: stringly typed, unvalidated, untestable, re-parsed on every call.
Plus that null-forgiving '!' is anti-pattern #3 all by itself.
THE DO:
  sealed class WeatherOptions with const SectionName, [Required][Url] ApiBaseUrl,
  [Range(1,300)] TimeoutSeconds, [Range(0,10)] Retries, [Required][MinLength(8)] ApiKey
  - required init properties, defaults where sensible.
  public sealed class WeatherClient(IOptions&lt;WeatherOptions&gt; options)
THE ARGUMENT: the class now DECLARES EXACTLY WHAT IT NEEDS. You can read the
options type and know the whole configuration surface of that component. You
cannot do that with IConfiguration - it's a bag of everything.
Say the word "seam" again. This is the same ownership argument from S1.1 #5,
just inside the codebase instead of between teams.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[39-51 min] REGISTRATION - S5.2
Snippet: lifted from d11
60-min: merge into the previous slide if tight
  builder.Services
      .AddOptions&lt;WeatherOptions&gt;()
      .Bind(builder.Configuration.GetSection(WeatherOptions.SectionName))
      .ValidateDataAnnotations()
      .Validate(o =&gt; o.Retries == 0 || o.TimeoutSeconds &gt;= 5,
                "TimeoutSeconds must be &gt;= 5 when retries are enabled.")
      .ValidateOnStart();
Or the shorthand that makes fail-fast the DEFAULT POSTURE:
  builder.Services
      .AddOptionsWithValidateOnStart&lt;WeatherOptions&gt;()
      .Bind(builder.Configuration.GetSection(WeatherOptions.SectionName))
      .ValidateDataAnnotations();
Prefer the second form in every sample you show from here on. Modeling the good
default matters more than showing the long form.
ValidateDataAnnotations lives in Microsoft.Extensions.Options.DataAnnotations,
referenced implicitly by the web SDK - so it just works and people wonder why.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[39-51 min] THE THREE INTERFACES - S5.3
Snippet: lifted from d13. THE LONGEST BEAT IN THE TALK. DO NOT RUSH IT.
60-min: NEVER CUT
  IOptions&lt;T&gt;          Singleton  no re-read     value can't change at runtime
  IOptionsSnapshot&lt;T&gt;  SCOPED     once per scope per-request consistency (web)
  IOptionsMonitor&lt;T&gt;   Singleton  yes + OnChange singletons &amp; background services
BEFORE / AFTER PAIR: all three interfaces on one slide, then the same three
after appsettings.json changed underneath the running app.
Three different answers to the same question. That image is the slide.
THE CLASSIC BUG: injecting IOptionsSnapshot&lt;T&gt; into a singleton. It's scoped -
the container either throws at validation, or you capture the first scope's value
forever. Anti-pattern #4.
THE OTHER CLASSIC BUG: caching _monitor.CurrentValue in a field at construction.
That quietly turns a monitor back into an IOptions&lt;T&gt;. Anti-pattern #5.
Read CurrentValue at the point of use, every time.
TWO CONVENTIONS IN THE BACKGROUND SERVICE SAMPLE - say them, people copy this code:
- OnChange returns an IDisposable registration. HOLD IT AND DISPOSE IT or you leak
  the subscription.
- The log message is a TEMPLATE with named placeholders, never an interpolated
  string. Structured logging is the house rule.
Failure mode #3: LIFETIME. Name it 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[39-51 min] VALIDATION - S5.5
Snippet: lifted from d12
60-min: NEVER CUT
FAIL FAST IS THE WHOLE POINT.
Without ValidateOnStart(), validation runs LAZILY on first .Value access - a bad
deploy looks healthy until the first request reaches the affected code path. With
it, the process refuses to start. That's exactly the behavior you want during a
rolling deployment: the bad instance never takes traffic.
Bad config = no start. Show the startup exception naming the offending property.
NESTED OBJECTS AND COLLECTIONS ARE NOT VALIDATED BY DEFAULT. Opt in:
  [Required, ValidateObjectMembers]  on the nested object
  [ValidateEnumeratedItems]          on the collection
This surprises people who think [Required] recurses. It doesn't.
COMPLEX / CROSS-FIELD / SERVICE-DEPENDENT rules belong in a class:
  IValidateOptions&lt;T&gt;, registered with
  services.TryAddEnumerable(ServiceDescriptor.Singleton&lt;IValidateOptions&lt;T&gt;, V&gt;())
  (TryAddEnumerable, not Add - otherwise duplicate registrations pile up.)
Tie back to S1.3: this is the answer to "everything is configurable and nothing is
knowable." A validated option is more knowable than a buried constant.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[39-51 min] NAMED OPTIONS + GENERATORS - S5.4, S5.6
60-min: CUT the generator half to a single sentence
NAMED OPTIONS - for "same shape, several times": multiple API clients, queues.
  services.Configure&lt;EndpointOptions&gt;("primary", config.GetSection("Endpoints:Primary"));
  services.Configure&lt;EndpointOptions&gt;("secondary", ...);
  then monitor.Get("primary")
Configure&lt;T&gt;(section) with no name is shorthand for Options.DefaultName ("").
SOURCE GENERATORS - binding and validation both default to REFLECTION. Two opt-ins:
  &lt;EnableConfigurationBindingGenerator&gt;true&lt;/EnableConfigurationBindingGenerator&gt;
  [OptionsValidator]
  public sealed partial class ValidateWeatherOptions : IValidateOptions&lt;WeatherOptions&gt;;
  (empty partial - the generator writes the implementation)
The options validation generator is ON BY DEFAULT when the project references
Microsoft.Extensions.Options 8+ or builds an ASP.NET Core app. It rewrites
[Range], [MinLength], [MaxLength], [Length] into generated equivalents.
With [OptionsValidator] you do NOT also call ValidateDataAnnotations().
OPTIONAL (d17, 90 min only): PublishAot=true surfaces IL2026 / IL3050 warnings
from reflection binding; turn both generators on and they disappear.
Niche. At 60 minutes this is one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[51-59 min] STAGE 2 - DEPLOYMENT
60-min: compress to 4 min, one slide
THE PROBLEM THIS STAGE SOLVES:
One artifact, many environments. The platform supplies the values.
Sources: environment variables, command line, key-per-file mounts, Key Vault.
Close the block on its signature failure - "the value didn't make it" - which is
what pushes you to stage three.
RULE OF THUMB TO LAND HERE (S7.3 #1):
One artifact, many environments. If you build a different binary per environment,
you have reintroduced Web.Release.config. Configuration is a deployment-time
input, not a build input.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[51-59 min] ENVIRONMENT VARIABLES - S4.2
Snippet: lifted from d04
60-min: keep - this is the core of the compressed stage-2 slide
The workhorse in containers and every PaaS.
':' IS NOT PORTABLE in env var names. '__' is, and maps to ':'.
  Weather__ApiBaseUrl        -&gt; Weather:ApiBaseUrl
  ConnectionStrings__Default -&gt; ConnectionStrings:Default
Arrays use the index as a segment:
  Weather__AllowedOrigins__0, Weather__AllowedOrigins__1
PREFIXES:
  AddEnvironmentVariables(prefix: "MYAPP_") loads only matching variables AND
  STRIPS the prefix from the key.
  MYAPP_Weather__TimeoutSeconds -&gt; Weather:TimeoutSeconds
  Useful for isolating one app on a shared host.
DOTNET_ and ASPNETCORE_ are RESERVED for host settings. Don't reuse them for app
config - you'll get behavior you didn't ask for.
Failure mode #2: SHAPE. This is where it lives - the key you set doesn't produce
the key the binder is looking for. Single underscore instead of double is the
most common version.
ALSO SAY (it comes back in S8): changing an environment variable on a running
container does NOTHING. Env vars are read once at startup. Restart the container.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[51-59 min] CONNSTR PREFIXES - S4.2 - .NET 10 DELTA
Snippet: lifted from d05
60-min: keep as one line on the deployment slide - it's a good "new in 10" beat
Certain prefixed environment variables are rewritten into the ConnectionStrings:
section. This is an App Service compatibility behavior that most people have
never heard of.
.NET 9 recognized FOUR. .NET 10 recognizes ELEVEN.
  CUSTOMCONNSTR_{KEY}       -&gt; ConnectionStrings:{KEY}
  MYSQLCONNSTR_{KEY}        -&gt; + _ProviderName MySql.Data.MySqlClient
  SQLCONNSTR_{KEY}          -&gt; + _ProviderName System.Data.SqlClient
  SQLAZURECONNSTR_{KEY}     -&gt; + _ProviderName System.Data.SqlClient
  NEW IN 10:
  POSTGRESQLCONNSTR_{KEY}   -&gt; + _ProviderName Npgsql
  DOCDBCONNSTR_{KEY}        (Cosmos DB)
  REDISCACHECONNSTR_{KEY}
  SERVICEBUSCONNSTR_{KEY}
  EVENTHUBCONNSTR_{KEY}
  NOTIFICATIONHUBCONNSTR_{KEY}
  APIHUBCONNSTR_{KEY}
d05 SHOWS: set POSTGRESQLCONNSTR_Default, then
Configuration.GetConnectionString("Default") resolving on .NET 10 where it
wouldn't have on .NET 9.
Short, concrete, and it's a genuinely new thing - good energy beat 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[51-59 min] KEY-PER-FILE - S4.7
Snippet: lifted from d23, or name it and move on
60-min: CUT to a name on the deployment slide
Docker secrets and Kubernetes mounted secrets are ONE FILE PER VALUE. This is how
you consume them without an Azure round trip.
  builder.Configuration.AddKeyPerFile(directoryPath: "/run/secrets", optional: true);
File NAME is the key, file CONTENTS are the value, '__' is the delimiter.
A file named Weather__ApiKey containing abc123 becomes Weather:ApiKey = abc123.
THE PATH MUST BE ABSOLUTE. Relative paths fail in a way that looks like "the
provider isn't working."
This is the right answer for AKS and Docker Swarm and it costs nothing. Worth
naming even when you skip the snippet - half the room is on Kubernetes and has been
shelling secrets in through env vars.
RELOAD - GET THIS RIGHT: the 3-argument overload above does NOT reload.
AddKeyPerFile(dir, optional) resolves to reloadOnChange: false. You only get
a watcher from the 4-argument overload. And even then, on Kubernetes those
mounts are symlink swaps rather than in-place writes, so the watcher may or
may not fire. Treat restart as the contract.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[51-59 min] KEY VAULT - S4.5
Snippet: lifted from d18. No Azure dependency now - it is code on a slide.
60-min: one slide covers it; the mechanics were never visual anyway.
  builder.Configuration.AddAzureKeyVault(
      new Uri($"https://{name}.vault.azure.net/"),
      new DefaultAzureCredential());
  - guarded by if (!builder.Environment.IsDevelopment())
FOUR THINGS THAT ACTUALLY MATTER:
1. SECRET NAMING. Key Vault forbids ':' in secret names. The default
   KeyVaultSecretManager maps '--' to the delimiter:
   secret Weather--ApiKey  -&gt;  key Weather:ApiKey
   This is failure mode #2 (SHAPE) wearing a cloud hat.
2. REGISTER IT LAST so it overrides the file providers it's meant to replace.
3. NO RELOAD BY DEFAULT. Secrets are cached for the life of the process.
   ReloadInterval defaults to NULL - meaning never. Opt into polling:
     new AzureKeyVaultConfigurationOptions { ReloadInterval = TimeSpan.FromMinutes(30) }
   Tie to S7.3 #6: "It's in Key Vault" plus a process that caches it forever is a
   secret you cannot rotate.
4. EXPIRED SECRETS ARE STILL LOADED by default. Disabled secrets never are.
   Filter with a custom KeyVaultSecretManager overriding Load(SecretProperties).
CREDENTIALS: DefaultAzureCredential is the DEV CONVENIENCE chain (CLI, VS, env
vars, managed identity). In production prefer ManagedIdentityCredential
explicitly - narrower, and it FAILS FAST instead of silently walking the chain.
User-assigned identity: set AZURE_CLIENT_ID.
ISOLATION: one vault per app AND per environment. Don't multiplex with name
prefixes - that's anti-pattern #9.</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[S4.8] IN-MEMORY - THE TESTING PROVIDER
Snippet: lifted from d24
60-min: cut the slide, keep the sentence
Added LAST, so it beats everything. That is the entire trick.
This is the right answer for WebApplicationFactory integration tests: you get
the real application, the real provider chain, the real binding and validation
- and then you overwrite exactly the handful of keys the test cares about.
WHY IT BEATS THE ALTERNATIVES:
- Mocking IConfiguration tests your mock, not your configuration.
- A test appsettings.json is a second file to keep in sync with the first.
- Environment variables in a test runner leak between tests.
Say the ordering point out loud, because it is the whole reason this works:
AddInMemoryCollection is appended, and reads walk the chain in reverse. It
does not matter what appsettings.json says. It does not matter what the
developer has in user secrets. The dictionary wins.
SAME TRICK FOR FEATURE FLAGS - forward reference to S6.7. A flag is just
configuration, so you set feature_management:feature_flags:0:enabled here and
test both sides of the branch. That is the slide people photograph in the
flags block.
The other use, if anyone asks: in-memory as code DEFAULTS, added FIRST so
everything overrides it. Rarer, but it is how you ship a sane fallback
without a file.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[S4.10] CUSTOM PROVIDER - THE EXTENSIBILITY POINT
Snippet: lifted from d25
60-min: cut - point at the repo
Two types. That is the whole contract.
  IConfigurationSource   - a factory. Build() hands back a provider.
  ConfigurationProvider  - has a protected IDictionary&lt;string,string?&gt; Data
                           and a virtual Load(). Fill the dictionary.
Then an extension method so it reads like every other provider:
  builder.Configuration.AddSqlConfiguration(connectionString);
THREE THINGS TO LAND, THEN MOVE ON:
1. Load() RUNS ONCE, at build time. It is not lazy. If you want refresh you
   schedule it yourself and call OnReload() - that is what fires the change
   token that makes IOptionsMonitor wake up. Point back at the three
   interfaces slide when you say it.
2. A provider that THROWS in Load() takes the app down at startup. That
   sounds like a bug and is frequently the feature - it is the same
   fail-fast posture as ValidateOnStart.
3. Good real targets: a database-backed provider, a .env reader, a provider
   that pulls from your own internal config service. Bad target: anything
   you could have done with the eleven providers that already exist.
Do not live-code this. Show the shape, say the three things, point at d25 in
the repo. It is interesting to about six people in the room and they will
read the code later.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[59-64 min] STAGE 3 - SHARED
60-min: compress to 3 min - labels + sentinel key only
THE PROBLEM THIS STAGE SOLVES:
Many apps and instances; values that change without a deploy.
Note this block is only 5 minutes even at 90, because S6 now carries App
Configuration's most interesting behavior. Show the sentinel key here and let
feature flags do the rest.
Close on the signature failure - "it changed, but not everywhere at once" -
which is what forces the discipline: sentinel keys, validation, flag hygiene.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[59-64 min] APP CONFIGURATION - S4.6
Snippet: lifted from d20. No Azure dependency now.
60-min: keep, compressed - labels and the sentinel key are the two ideas
Packages: Microsoft.Extensions.Configuration.AzureAppConfiguration
        + Microsoft.Azure.AppConfiguration.AspNetCore (refresh middleware)
THE SIX THINGS WORTH SAYING:
1. LABELS ARE THE ENVIRONMENT AXIS. One store, Development/Staging/Production
   labels, Selected in order so labeled values overlay unlabeled defaults.
   Select("Weather:*", LabelFilter.Null) then Select("Weather:*", envName).
   Load a SLICE, not the whole store.
2. REFRESH IS NOT AUTOMATIC. You must call ConfigureRefresh and then RegisterAll()
   or Register(key). Feature flags are the exception - UseFeatureFlags self-registers.
   This trips up everyone exactly once.
3. REFRESH IS ACTIVITY-DRIVEN in ASP.NET Core. The middleware checks on an
   incoming request once the interval has elapsed. AN IDLE APP NEVER REFRESHES.
   It is also ASYNCHRONOUS: the request that TRIGGERS the refresh does not
   block on it and may still serve the OLD values. Later requests see the new
   ones. Say this - people assume the triggering request gets the update.
   Background services must inject IConfigurationRefresherProvider and call
   TryRefreshAsync() themselves. Say this slowly - it's the #1 surprise.
   Also: app.UseAzureAppConfiguration() must go EARLY in the pipeline, or another
   middleware short-circuits before refresh ever runs.
4. THE SENTINEL KEY PATTERN - the thing to actually take home.
   Instead of RegisterAll(), watch ONE key you bump AFTER every other edit lands:
     refresh.Register("Weather:Sentinel", refreshAll: true)
   Update the sentinel LAST. Each instance then reloads the selected values
   together in one refresh, so no single process sees a half-applied edit.
   Do NOT say "atomic" - the store is not transactional across keys, and
   instances refresh independently, so they do not all switch at the same
   moment. It answers "half-applied", not "everywhere at once".
5. FAILURE MODE IS GRACEFUL - a failed refresh keeps last known-good and retries.
   STARTUP now retries with backoff, bounded by ConfigureStartupOptions =&gt;
   options.Timeout. If it still cannot load when that budget runs out the
   failure surfaces during startup and normally aborts the process. So
   "a failed connection at startup crashes you" is true but incomplete -
   it retries first.
6. KEY VAULT REFERENCES live in the store as pointers with a distinct content
   type; ConfigureKeyVault dereferences them. Give them their OWN cadence with
   SetSecretRefreshInterval(key, TimeSpan) - a rotated secret is otherwise cached
   forever. MINIMUM is one minute; anything shorter is floored. This is the
   App Configuration provider resolving Key Vault REFERENCES, not the
   standalone Key Vault provider, which has its own ReloadInterval. (Same rotation argument as the Key Vault slide.)
Also exists: Map() rewrites keys on the way in, e.g. App__Settings__X -&gt; App:Settings:X.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[S8] RELOAD SEMANTICS
60-min: show the table, do NOT walk it
  appsettings*.json   YES, when reloadOnChange: true (host default)  FileSystemWatcher
  User secrets        YES                                            file watcher
  Environment vars    NO - read once at startup
  Command line        NO - read once at startup
  Azure Key Vault     only if ReloadInterval is set (default: NEVER) polling
  App Configuration   YES, with ConfigureRefresh + a trigger         polling on activity
  Key-per-file        ONLY with the 4-arg overload                   file watcher
  In-memory           NO
  Custom              your call - OnReload()
FOUR CONSEQUENCES - say these out loud, the table alone doesn't land them:
- Changing an environment variable on a running container does NOTHING.
  Restart the container.
- reloadOnChange on a Kubernetes ConfigMap mount is UNRELIABLE - symlink swaps,
  not in-place writes. The watcher may or may not see them. Treat restart as the
  contract.
- A single file save often fires the watcher TWICE (write + metadata). Debounce
  anything expensive hanging off OnChange.
- "CONFIG RELOADED" DOES NOT MEAN "APP RECONFIGURED." Reloading configuration
  does not reconfigure things that read it once at startup: Kestrel endpoints,
  the DI graph, HttpClient handler pipelines.
RULE OF THUMB (S7.3 #4): prefer restart to hot reload unless hot reload is a
requirement someone actually asked for. Hot reload is a distributed-systems
problem wearing a config hat.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[64-84 min] FEATURE FLAGS - S6
60-min: 10 min - S6.1-6.4 plus S6.6. Cut variants entirely.
ROUGHLY A QUARTER OF THE TALK. Not an appendix to Azure App Configuration - this
is the second half of the thesis from S1.3, and the only part of the
configuration story where a value changes while someone is watching.
NOTE FOR THE ABSTRACT: the submitted abstract does not mention feature flags. It
only implies them via "Azure App Configuration." If this abstract ever gets
resubmitted, add a clause. At 60 minutes especially, 20% of the room's time is
going somewhere the abstract didn't promise.
Block breakdown at 90:
  64-67  S6.1  a flag is just configuration
  67-72  S6.2-6.3  flags with zero cloud            d28
  72-77  S6.4  filters + the per-call gotcha        d29, d30
  77-80  S6.5  variants                             d31 (optional)
  80-84  S6.6 flag debt + S6.8 counterargument      d32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[64-67 min] FLAGS ARE CONFIGURATION - S6.1
60-min: keep - this is the load-bearing idea of the whole flags block
Microsoft.FeatureManagement IS BUILT ON IConfiguration.
ANY configuration provider can back a feature flag. No new infrastructure, no new
file format, no service dependency.
That means flags inherit EVERYTHING from S2-S4: the provider chain, precedence,
reload semantics, and the debug view. A flag in appsettings.Development.json is
overridden by the same flag in an environment variable, by the same last-wins
rule as any other key.
FLAGS LIVE AT ALL THREE STAGES OF THE SPINE - this is why the slide matters:
  LOCAL DEV    appsettings.json / user secrets
               Branch in code without branching in git. ZERO CLOUD.
  DEPLOYMENT   environment variable per environment
               Ship dark, enable per environment at deploy time.
  SHARED       Azure App Configuration
               Flip at runtime, target a cohort, roll back in seconds.
SHOW THE FIRST ROW BEFORE ANYONE SEES AZURE.
It's the row that makes flags feel FREE. Most of the room believes feature flags
require LaunchDarkly or a platform team. They require a JSON file.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[67-72 min] LOCAL FLAGS - S6.2, S6.3
Snippet: lifted from d28
60-min: keep
THE SCHEMA:
  "feature_management": { "feature_flags": [
      { "id": "NewCheckout", "enabled": false },
      { "id": "BetaBanner",  "enabled": true }
  ]}
  services.AddFeatureManagement();
SCHEMA NOTES WORTH SAYING OUT LOUD:
- feature_management / feature_flags is the MICROSOFT SCHEMA, shared across the
  .NET, Go, Python and JavaScript libraries. The older .NET-only FeatureManagement
  section still works; when both are present, feature_management wins.
- No "conditions" means the flag is simply enabled. WITH conditions, enabled:true
  means "eligible to be evaluated," NOT "on." That distinction catches people.
- requirement_type defaults to Any; set All when every filter must pass.
- A COLON IS FORBIDDEN in a flag name - flag names are configuration keys.
- Point the library at a custom section with AddFeatureManagement(config.GetSection("MyFlags")).
CONSUMING IT - four shapes, show at least two:
  IVariantFeatureManager.IsEnabledAsync("NewCheckout", ct)   &lt;- the modern interface
  [FeatureGate("NewCheckout")] on a controller/action        &lt;- 404 by default;
                                    override with IDisabledFeaturesHandler
  &lt;feature name="BetaBanner"&gt;  and  &lt;feature negate="true" name="BetaBanner"&gt;
  app.UseForFeature("NewCheckout", branch =&gt; branch.UseMiddleware&lt;...&gt;())
REGISTRATION DETAIL THAT BITES PEOPLE:
AddFeatureManagement() registers feature management as a SINGLETON. If a filter
needs scoped services (current user, a DbContext) you must use
AddScopedFeatureManagement() instead.
PACKAGES: FeatureGate, the tag helper, and UseForFeature need
Microsoft.FeatureManagement.AspNetCore. The core package covers everything else.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[72-77 min] FILTERS - S6.4
Snippets: lifted from d29 and d30
60-min: KEEP THE GOTCHA even if you cut the filter catalogue. Never-cut list.
BUILT IN, registered automatically by AddFeatureManagement() - except targeting,
which needs .WithTargeting&lt;T&gt;():
  Microsoft.Percentage   progressive rollout: 5% -&gt; 25% -&gt; 100%
  Microsoft.TimeWindow   scheduled enable/disable, Recurrence for daily/weekly
  Microsoft.Targeting    named users, groups, per-group percentages, exclusions
Targeting needs an ITargetingContextAccessor so the library knows who the current
user is:
  services.AddFeatureManagement().WithTargeting&lt;HttpContextTargetingContextAccessor&gt;();
*** THE SLIDE THAT EARNS ITS OWN MINUTE ***
PLAIN Microsoft.Percentage IS EVALUATED PER CALL, NOT PER USER.
A 50% flag checked twice in one request can answer DIFFERENTLY EACH TIME. A user
can watch the feature flicker between page loads. Nav bar says new checkout,
checkout page says old.
THIS IS THE MOST COMMON FEATURE-FLAG BUG IN THE WILD.
THE FIX: targeting, or variant allocation with a seed. That's what gives a STABLE
per-user assignment.
d29 is the flicker, d30 the stable version. If you only have room for one,
show the flicker and describe the fix - the bug is the memorable half.
CUSTOM FILTERS: implement IFeatureFilter (one method, EvaluateAsync), register
with .AddFeatureFilter&lt;TenantFilter&gt;(). Good example: a flag enabled per tenant.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[77-80 min] VARIANTS - S6.5
Snippet: lifted from d31 - optional even at 90
60-min: CUT. Mention in one sentence that flags can return values, move on.
A variant flag returns a VALUE - string, number, bool, or a whole configuration
object - instead of a boolean. This is where feature flags and the options
pattern meet, which is why it belongs in THIS talk and not a generic flags talk.
  Variant variant = await features.GetVariantAsync("CheckoutLayout", ct);
  variant.Configuration.Bind(settings);   // it's an IConfigurationSection -
                                          // bind it like anything else
That last line is the whole point. Land it and you can move on.
ALLOCATION is evaluated in order: user -&gt; group -&gt; percentile, falling back to
default_when_enabled, or default_when_disabled when the flag is off.
A SEED makes percentile assignment stable, and consistent ACROSS flags that share
the same seed. (This is the fix for the S6.4 gotcha.)
status_override (None / Enabled / Disabled) lets a variant flag also answer
IsEnabledAsync, so you can adopt variants without rewriting existing call sites.
You cannot override a flag whose enabled is false.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[80-84 min] FLAG DEBT - S6.6
Snippet: lifted from d32, the flag inventory endpoint
60-min: NEVER CUT. This is the closing argument.
THIS SECTION IS WHAT SEPARATES THE TALK FROM THE DOCUMENTATION.
It's the thing nobody else in the room will say.
Every flag is a permanent if-statement with an owner and an expiry date.
- A FLAG DOUBLES YOUR CODE PATHS. Ten live flags is up to 1,024 nominal
  combinations. You test maybe three of them.
- NAME FLAGS FOR THEIR REMOVAL.
  "NewCheckout" never gets deleted. It'll be there in 2031 and it will still be
  called New.
  "Checkout_V2_Rollout_2026Q1" files its own expiry.
- CATEGORIZE ON CREATION - lifetime differs by an ORDER OF MAGNITUDE:
    release     days to weeks    delete after rollout
    experiment  weeks            delete after the decision
    ops / kill  permanent        and that's fine
    permission  permanent        and arguably not a flag at all - that's authorization
- DELETING A FLAG IS A CODE CHANGE, NOT A CONFIG CHANGE. Turning it off in the
  portal and walking away leaves the dead branch compiling forever. This is the
  sentence people need to hear.
- INVENTORY THEM. GetFeatureNamesAsync() enumerates every flag the app knows
  about. A health endpoint listing flags and their current state is a five-minute
  build and THE ONE PEOPLE WILL ACTUALLY STEAL. That's d32.
TESTING (S6.7): flags are configuration, so the in-memory provider is the whole
story - or substitute IVariantFeatureManager outright.
THE RULE: test BOTH SIDES of every live flag, or you're shipping an untested
branch behind a switch someone can flip at 2am.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[80-84 min] THE COUNTERARGUMENT - S6.8
60-min: keep - it's 45 seconds and it closes the loop
Someone in the room is going to think it, so say it first:
FLAGS CONVERT A DEPLOYMENT PROBLEM INTO A RUNTIME PROBLEM.
You gain instant rollback. You lose "the code that ran is the code in the commit."
A flag flipped in a portal is a PRODUCTION CHANGE WITH NO PR, NO REVIEW, AND NO
DIFF - unless the store keeps history and you treat flag changes as deploys.
Azure App Configuration keeps revisions. Use them.
THE THROUGH-LINE CLOSES HERE:
That is the SAME TRADE as S1.2's build-time-to-runtime move, one level up.
Constants -&gt; web.config -&gt; Generic Host was trading build-time for runtime.
Deploys -&gt; feature flags is the same trade again, one level up.
Call back to the history slide explicitly. This is the moment the talk becomes
one argument instead of a tour of providers.
End the flags block on JUDGMENT, not tooling.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[84-87 min] THREE BUCKETS - S7.1
60-min: keep
  NON-SECRET, PER-ENVIRONMENT
    base URLs, timeouts, retry counts, log levels, feature toggles
    -&gt; appsettings.{Env}.json in the repo, or App Configuration
  SECRET
    API keys, connection strings with passwords, client secrets
    -&gt; user secrets (dev) -&gt; Key Vault or the platform's secret store (prod)
  PER-INSTANCE / PER-DEPLOYMENT
    environment name, instance id, port, region
    -&gt; environment variables, set by the platform
THE LINE TO SAY:
"If a value is in the wrong bucket, no amount of provider tuning fixes it."
That's the diagnostic. Most configuration pain people bring to you is a bucketing
error, not a provider error - and they've been trying to solve it with provider
order.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[84-87 min] CHOOSING A STRATEGY - S7.2, S7.3
60-min: keep - this is the one people photograph. Pause on it.
LEAVE THIS UP LONGER THAN FEELS COMFORTABLE. Count to five. Let them get the shot.
  ASP.NET Core on App Service   JSON + App Service settings; KV refs
                                App Service settings RESTART the app;
                                App Configuration doesn't
  Container / AKS               JSON baked in + orchestrator env vars;
                                key-per-file mount or KV via workload identity
  Many microservices            App Configuration, labels + per-app key prefix;
                                KV references; sentinel key + refresh
  Worker / background service   JSON + env vars; KV via managed identity;
                                IOptionsMonitor + explicit TryRefreshAsync
  Console / CLI                 JSON + command line + env vars; user secrets in
                                dev; NO hot reload - short-lived process
  Desktop (WinForms/WPF/MAUI)   JSON next to the EXE + per-user AppData;
                                NO SECRETS IN THE CLIENT
SIX RULES OF THUMB (S7.3) - read 1, 2, and 5 aloud at minimum:
  1. One artifact, many environments. A different binary per environment is
     Web.Release.config again.
  2. Commit defaults, never secrets. appsettings.json should be safe to publish.
  3. Reach for cloud configuration when you have a REAL reason: more than one app
     sharing values, or a need to change without a deploy. One app that redeploys
     in five minutes does not need App Configuration.
  4. Prefer restart to hot reload unless someone asked for hot reload.
  5. Validate at startup, always. Cheapest guardrail on every strategy above.
  6. Secrets get a rotation story or they aren't secure.
Rule 2 is on the never-cut list at any talk length.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[87-90 min] ANTI-PATTERNS - S10
60-min: keep, rapid-fire
Read these FAST. Don't explain them - by now the audience has seen every one.
The point is recognition, not instruction. If they're calling out the four
failure modes before you do, this slide is working.
 1. Secrets committed in appsettings.json - or worse, appsettings.Production.json.
 2. IConfiguration injected into business classes instead of bound options.
 3. config["Some:Key"]! with a null-forgiving operator and no validation.
 4. IOptionsSnapshot&lt;T&gt; in a singleton.
 5. IOptionsMonitor&lt;T&gt;.CurrentValue captured in a constructor field.
 6. Building a throwaway ConfigurationBuilder mid-request to "get a fresh value."
 7. Calling WebApplication.CreateBuilder() a second time just to read configuration.
 8. if (env.IsProduction()) branches in code instead of environment-specific
    configuration VALUES.
 9. One Key Vault for every app and environment, separated by secret-name prefixes.
10. Assuming an array in appsettings.Production.json replaces the base array.
    It doesn't. (Callback to the array slide - they'll remember.)
11. Logging GetDebugView() without redaction.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[87-90 min] DESKTOP - S4.11
60-min: compress to one line inside the choosing slide
THE ABSTRACT PROMISES "cloud-native microservices OR DESKTOP APPS." This is the
section that pays it off. If you're short on time, this is the honest thing to cut
- but say the one-liner.
STRUCTURAL HONESTY - name this rather than letting the structure contradict you:
The S1.4 spine assumes a SERVER. A desktop app has local dev, has "deployment" as
an INSTALL, and has NO STAGE THREE at all - no orchestrator setting env vars, no
central store it should authenticate to, no instance fleet.
THE LINE: "The spine assumes something that gets deployed. Here's what changes
when it gets installed on someone's laptop instead."
The configuration MODEL is identical. What differs is what's wired up for you.
- Console apps and workers get the full default chain from the generic host.
  Same JSON + user secrets + env vars + command line, same precedence - but
  DOTNET_ENVIRONMENT, not ASPNETCORE_ENVIRONMENT, outside ASP.NET Core.
- WinForms/WPF have no host by default. Either build IConfiguration by hand, or
  (preferred) host the desktop app and get DI, logging, and options for free.
FOUR DESKTOP REALITIES:
- SetBasePath(AppContext.BaseDirectory). The working directory of a double-clicked
  EXE is NOT the install directory. Directory.GetCurrentDirectory() will bite you.
- Per-user WRITABLE settings are a different problem. IConfiguration is
  read-optimized and has NO WRITE API. User preferences belong in a JSON file
  under SpecialFolder.ApplicationData that you load as an extra provider and save
  yourself.
- app.config isn't gone, but ConfigurationManager.AppSettings and IConfiguration
  are two UNRELATED systems. Migrating means moving keys, not bridging them.
- CLIENT APPS MUST NOT HOLD CLOUD SECRETS. No Key Vault credential ships in a
  desktop binary. Authenticate the USER, call a backend that holds the secret.
  SAY THIS OUT LOUD - someone always asks.
Flags are the interesting exception: a desktop app absolutely can consume flags
from a file or your own backend. It just can't hold the credential to a flag store.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[S9] .NET 10 DELTAS
60-min: fold into the slides where each one lives; skip as a standalone
Four talk-relevant deltas from .NET 9:
1. NULL VALUES ARE PRESERVED - *** BREAKING CHANGE ***
   Previously a null in configuration was treated as MISSING and skipped by the
   binder, and the JSON provider converted null to "".
   In .NET 10 the JSON provider reports null unchanged and the binder binds it
   like any other value. Binding of null array elements and empty arrays now works.
   -&gt; A property that used to KEEP ITS DEFAULT when the JSON said null now gets
      OVERWRITTEN WITH NULL.
   This is the one that will actually break someone's upgrade. d06 has the
   before/after. Worth 60 seconds even at 60 minutes.
2. SEVEN NEW CONNECTION-STRING PREFIXES (11 total) - Postgres, Cosmos, Redis,
   Service Bus, Event Hubs, Notification Hubs, API Hubs. Covered on the connstr
   slide; don't repeat it here.
3. AOT-SAFE ValidationContext CONSTRUCTOR taking an explicit displayName,
   removing AOT warnings from options validation.
4. FILE-BASED APPS (dotnet run app.cs) participate in user secrets via a
   path-hash-derived UserSecretsId and 'dotnet user-secrets --file'.
OPTIONAL FORWARD-LOOKING CLOSER - label it clearly as .NET 11 PREVIEW:
generic OptionsBuilder&lt;T&gt;.Validate&lt;TValidator&gt;(), Func&lt;Task&gt; overloads on
ChangeToken.OnChange, and async DataAnnotations validation.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[Q&amp;A]
60-min: keep - but see the note below about where questions actually go
THE ONE-LINE TAKEAWAY, say it BEFORE you open the floor - otherwise the last
thing the room hears is whatever the final question happened to be:
"GetDebugView() tells you where the value came from. Validate at startup so the
wrong value never takes traffic. And name every flag for the day you delete it."
AT 90 MINUTES: questions have been riding along, so this is a genuine open
floor with a few minutes of slack.
AT 60 MINUTES: the running order takes questions at three breath points -
after the model (14), after Options (31), after flags (48) - so this slide is
a backstop, not the main event.
QUESTIONS YOU WILL GET, AND THE SHORT ANSWERS:
- "When should I NOT use Azure App Configuration?"
  S7.3 rule 3. One app that redeploys in five minutes doesn't need it.
  This is the best question, so if nobody asks it, ask it yourself.
- "What about Aspire?"
  It shapes how configuration is WIRED between services; the provider chain
  underneath is the same model in this talk.
- "Should secrets go in App Configuration?"
  No - Key Vault references. The store holds the pointer, not the secret.
- "How do I test any of this?"
  S4.8 in-memory provider, added last so it beats everything. Same answer for
  feature flags (S6.7).
- "Does IOptionsMonitor work in a console app?"
  Yes, but nothing triggers a refresh for you. That's the S4.6 activity-driven
  point - call TryRefreshAsync yourself.
If the room goes quiet, go to the flag-inventory endpoint (d32). It's the
thing people ask about afterward anyway.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[thanks]
60-min: keep, 1 min
LEAVE THIS UP for the rest of the room's time, and through the hallway track.
People photograph the last slide. Put the repo QR here.
  Repo:      github.com/1kevgriff - modern-dotnet-configuration
             (slides, all demos numbered in presentation order, each with its
             own README and the point it's making)
  Web:       consultwithgriff.com
  X:         @1kevgriff
  Bluesky:   @consultwithgriff.com
  LinkedIn:  in/1kevgriff
  YouTube:   youtube.com/@consultwithgriff
  Speaking:  sessionize.com/kevingriffin
Thank the room and thank the organizers by name.
If you have slack left, the honest closer is the callback to S1.2 and S6.8:
"Twenty years ago we traded a build-time decision for a runtime one. Feature
flags are us making that same trade again. It's a good trade - as long as you
remember you made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image" Target="../media/image-1004-1.png"/><Relationship Id="rId2"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p:bg>
      <p:bgPr>
        <a:solidFill>
          <a:srgbClr val="F7F6F3"/>
        </a:solidFill>
      </p:bgPr>
    </p:bg>
    <p:spTree>
      <p:nvGrpSpPr>
        <p:cNvPr id="1" name=""/>
        <p:cNvGrpSpPr/>
        <p:nvPr/>
      </p:nvGrpSpPr>
      <p:grpSpPr>
        <a:xfrm>
          <a:off x="0" y="0"/>
          <a:ext cx="0" cy="0"/>
          <a:chOff x="0" y="0"/>
          <a:chExt cx="0" cy="0"/>
        </a:xfrm>
      </p:grpSpPr>
      <p:sp>
        <p:nvSpPr>
          <p:cNvPr id="2" name="Shape 0"/>
          <p:cNvSpPr/>
          <p:nvPr/>
        </p:nvSpPr>
        <p:spPr>
          <a:xfrm>
            <a:off x="640080" y="2011680"/>
            <a:ext cx="658368" cy="50292"/>
          </a:xfrm>
          <a:prstGeom prst="rect">
            <a:avLst/>
          </a:prstGeom>
          <a:solidFill>
            <a:srgbClr val="F4C233"/>
          </a:solidFill>
          <a:ln/>
        </p:spPr>
      </p:sp>
      <p:sp>
        <p:nvSpPr>
          <p:cNvPr id="3" name="Text 1"/>
          <p:cNvSpPr/>
          <p:nvPr/>
        </p:nvSpPr>
        <p:spPr>
          <a:xfrm>
            <a:off x="640080" y="6199632"/>
            <a:ext cx="5486400" cy="292608"/>
          </a:xfrm>
          <a:prstGeom prst="rect">
            <a:avLst/>
          </a:prstGeom>
          <a:noFill/>
          <a:ln/>
        </p:spPr>
        <p:txBody>
          <a:bodyPr wrap="square" lIns="0" tIns="0" rIns="0" bIns="0" rtlCol="0" anchor="ctr"/>
          <a:lstStyle/>
          <a:p>
            <a:pPr indent="0" marL="0">
              <a:buNone/>
            </a:pPr>
            <a:r>
              <a:rPr lang="en-US" sz="1000" dirty="0">
                <a:solidFill>
                  <a:srgbClr val="8A9299"/>
                </a:solidFill>
                <a:latin typeface="Manrope" pitchFamily="34" charset="0"/>
                <a:ea typeface="Manrope" pitchFamily="34" charset="-122"/>
                <a:cs typeface="Manrope" pitchFamily="34" charset="-120"/>
              </a:rPr>
              <a:t>Kevin Griffin · consultwithgriff.com</a:t>
            </a:r>
            <a:endParaRPr lang="en-US" sz="1000" dirty="0"/>
          </a:p>
        </p:txBody>
      </p:sp>
      <p:sp>
        <p:nvSpPr>
          <p:cNvPr id="4" name="Text 2"/>
          <p:cNvSpPr/>
          <p:nvPr>
            <p:ph idx="102" type="title" hasCustomPrompt="1"/>
          </p:nvPr>
        </p:nvSpPr>
        <p:spPr>
          <a:xfrm>
            <a:off x="640080" y="2286000"/>
            <a:ext cx="10881360" cy="1371600"/>
          </a:xfrm>
          <a:prstGeom prst="rect">
            <a:avLst/>
          </a:prstGeom>
          <a:noFill/>
          <a:ln/>
        </p:spPr>
        <p:txBody>
          <a:bodyPr wrap="square" rtlCol="0"/>
          <a:lstStyle>
            <a:lvl1pPr algn="l" indent="0" marL="0">
              <a:buNone/>
              <a:defRPr lang="en-US" sz="3800" b="1" dirty="0">
                <a:solidFill>
                  <a:srgbClr val="16303F"/>
                </a:solidFill>
                <a:latin typeface="Manrope" pitchFamily="34" charset="0"/>
                <a:ea typeface="Manrope" pitchFamily="34" charset="-122"/>
                <a:cs typeface="Manrope" pitchFamily="34" charset="-120"/>
              </a:defRPr>
            </a:lvl1pPr>
          </a:lstStyle>
          <a:p>
            <a:pPr algn="l" indent="0" marL="0">
              <a:buNone/>
            </a:pPr>
            <a:endParaRPr lang="en-US" sz="3800" dirty="0"/>
          </a:p>
        </p:txBody>
      </p:sp>
      <p:sp>
        <p:nvSpPr>
          <p:cNvPr id="25" name="Slide Number Placeholder 0"/>
          <p:cNvSpPr>
            <a:spLocks noGrp="1"/>
          </p:cNvSpPr>
          <p:nvPr>
            <p:ph type="sldNum" sz="quarter" idx="4294967295"/>
          </p:nvPr>
        </p:nvSpPr>
        <p:spPr>
          <a:xfrm>
            <a:off x="10881360" y="6199632"/>
            <a:ext cx="667512" cy="292608"/>
          </a:xfrm>
          <a:prstGeom prst="rect">
            <a:avLst/>
          </a:prstGeom>
          <a:extLst>
            <a:ext uri="{C572A759-6A51-4108-AA02-DFA0A04FC94B}">
              <ma14:wrappingTextBoxFlag xmlns:ma14="http://schemas.microsoft.com/office/mac/drawingml/2011/main" val="0"/>
            </a:ext>
          </a:extLst>
        </p:spPr>
        <p:txBody>
          <a:bodyPr/>
          <a:lstStyle>
            <a:lvl1pPr>
              <a:defRPr sz="1000">
                <a:solidFill>
                  <a:srgbClr val="16303F"/>
                </a:solidFill>
                <a:latin typeface="Manrope"/>
                <a:ea typeface="Manrope"/>
                <a:cs typeface="Manrope"/>
              </a:defRPr>
            </a:lvl1pPr>
          </a:lstStyle>
          <a:p>
            <a:pPr algn="r"/>
            <a:fld id="{F7021451-1387-4CA6-816F-3879F97B5CBC}" type="slidenum">
              <a:rPr b="1"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IVIDER">
    <p:bg>
      <p:bgPr>
        <a:solidFill>
          <a:srgbClr val="16303F"/>
        </a:solidFill>
      </p:bgPr>
    </p:bg>
    <p:spTree>
      <p:nvGrpSpPr>
        <p:cNvPr id="1" name=""/>
        <p:cNvGrpSpPr/>
        <p:nvPr/>
      </p:nvGrpSpPr>
      <p:grpSpPr>
        <a:xfrm>
          <a:off x="0" y="0"/>
          <a:ext cx="0" cy="0"/>
          <a:chOff x="0" y="0"/>
          <a:chExt cx="0" cy="0"/>
        </a:xfrm>
      </p:grpSpPr>
      <p:sp>
        <p:nvSpPr>
          <p:cNvPr id="2" name="Shape 0"/>
          <p:cNvSpPr/>
          <p:nvPr/>
        </p:nvSpPr>
        <p:spPr>
          <a:xfrm>
            <a:off x="640080" y="2788920"/>
            <a:ext cx="658368" cy="50292"/>
          </a:xfrm>
          <a:prstGeom prst="rect">
            <a:avLst/>
          </a:prstGeom>
          <a:solidFill>
            <a:srgbClr val="F4C233"/>
          </a:solidFill>
          <a:ln/>
        </p:spPr>
      </p:sp>
      <p:sp>
        <p:nvSpPr>
          <p:cNvPr id="3" name="Text 1"/>
          <p:cNvSpPr/>
          <p:nvPr/>
        </p:nvSpPr>
        <p:spPr>
          <a:xfrm>
            <a:off x="640080" y="6199632"/>
            <a:ext cx="5486400" cy="292608"/>
          </a:xfrm>
          <a:prstGeom prst="rect">
            <a:avLst/>
          </a:prstGeom>
          <a:noFill/>
          <a:ln/>
        </p:spPr>
        <p:txBody>
          <a:bodyPr wrap="square" lIns="0" tIns="0" rIns="0" bIns="0" rtlCol="0" anchor="ctr"/>
          <a:lstStyle/>
          <a:p>
            <a:pPr indent="0" marL="0">
              <a:buNone/>
            </a:pPr>
            <a:r>
              <a:rPr lang="en-US" sz="1000" dirty="0">
                <a:solidFill>
                  <a:srgbClr val="9FB0BA"/>
                </a:solidFill>
                <a:latin typeface="Manrope" pitchFamily="34" charset="0"/>
                <a:ea typeface="Manrope" pitchFamily="34" charset="-122"/>
                <a:cs typeface="Manrope" pitchFamily="34" charset="-120"/>
              </a:rPr>
              <a:t>Kevin Griffin · consultwithgriff.com</a:t>
            </a:r>
            <a:endParaRPr lang="en-US" sz="1000" dirty="0"/>
          </a:p>
        </p:txBody>
      </p:sp>
      <p:sp>
        <p:nvSpPr>
          <p:cNvPr id="4" name="Text 2"/>
          <p:cNvSpPr/>
          <p:nvPr>
            <p:ph idx="102" type="body" hasCustomPrompt="1"/>
          </p:nvPr>
        </p:nvSpPr>
        <p:spPr>
          <a:xfrm>
            <a:off x="640080" y="2331720"/>
            <a:ext cx="10881360" cy="365760"/>
          </a:xfrm>
          <a:prstGeom prst="rect">
            <a:avLst/>
          </a:prstGeom>
          <a:noFill/>
          <a:ln/>
        </p:spPr>
        <p:txBody>
          <a:bodyPr wrap="square" rtlCol="0"/>
          <a:lstStyle>
            <a:lvl1pPr indent="0" marL="0">
              <a:buNone/>
              <a:defRPr lang="en-US" sz="1400" b="1" spc="200" kern="0" dirty="0">
                <a:solidFill>
                  <a:srgbClr val="F4C233"/>
                </a:solidFill>
                <a:latin typeface="Manrope" pitchFamily="34" charset="0"/>
                <a:ea typeface="Manrope" pitchFamily="34" charset="-122"/>
                <a:cs typeface="Manrope" pitchFamily="34" charset="-120"/>
              </a:defRPr>
            </a:lvl1pPr>
          </a:lstStyle>
          <a:p>
            <a:pPr indent="0" marL="0">
              <a:buNone/>
            </a:pPr>
            <a:endParaRPr lang="en-US" sz="1400" dirty="0"/>
          </a:p>
        </p:txBody>
      </p:sp>
      <p:sp>
        <p:nvSpPr>
          <p:cNvPr id="5" name="Text 2"/>
          <p:cNvSpPr/>
          <p:nvPr>
            <p:ph idx="103" type="title" hasCustomPrompt="1"/>
          </p:nvPr>
        </p:nvSpPr>
        <p:spPr>
          <a:xfrm>
            <a:off x="640080" y="3017520"/>
            <a:ext cx="10881360" cy="1371600"/>
          </a:xfrm>
          <a:prstGeom prst="rect">
            <a:avLst/>
          </a:prstGeom>
          <a:noFill/>
          <a:ln/>
        </p:spPr>
        <p:txBody>
          <a:bodyPr wrap="square" rtlCol="0"/>
          <a:lstStyle>
            <a:lvl1pPr algn="l" indent="0" marL="0">
              <a:buNone/>
              <a:defRPr lang="en-US" sz="4400" b="1" dirty="0">
                <a:solidFill>
                  <a:srgbClr val="FFFFFF"/>
                </a:solidFill>
                <a:latin typeface="Manrope" pitchFamily="34" charset="0"/>
                <a:ea typeface="Manrope" pitchFamily="34" charset="-122"/>
                <a:cs typeface="Manrope" pitchFamily="34" charset="-120"/>
              </a:defRPr>
            </a:lvl1pPr>
          </a:lstStyle>
          <a:p>
            <a:pPr algn="l" indent="0" marL="0">
              <a:buNone/>
            </a:pPr>
            <a:endParaRPr lang="en-US" sz="4400" dirty="0"/>
          </a:p>
        </p:txBody>
      </p:sp>
      <p:sp>
        <p:nvSpPr>
          <p:cNvPr id="25" name="Slide Number Placeholder 0"/>
          <p:cNvSpPr>
            <a:spLocks noGrp="1"/>
          </p:cNvSpPr>
          <p:nvPr>
            <p:ph type="sldNum" sz="quarter" idx="4294967295"/>
          </p:nvPr>
        </p:nvSpPr>
        <p:spPr>
          <a:xfrm>
            <a:off x="10881360" y="6199632"/>
            <a:ext cx="667512" cy="292608"/>
          </a:xfrm>
          <a:prstGeom prst="rect">
            <a:avLst/>
          </a:prstGeom>
          <a:extLst>
            <a:ext uri="{C572A759-6A51-4108-AA02-DFA0A04FC94B}">
              <ma14:wrappingTextBoxFlag xmlns:ma14="http://schemas.microsoft.com/office/mac/drawingml/2011/main" val="0"/>
            </a:ext>
          </a:extLst>
        </p:spPr>
        <p:txBody>
          <a:bodyPr/>
          <a:lstStyle>
            <a:lvl1pPr>
              <a:defRPr sz="1000">
                <a:solidFill>
                  <a:srgbClr val="F4C233"/>
                </a:solidFill>
                <a:latin typeface="Manrope"/>
                <a:ea typeface="Manrope"/>
                <a:cs typeface="Manrope"/>
              </a:defRPr>
            </a:lvl1pPr>
          </a:lstStyle>
          <a:p>
            <a:pPr algn="r"/>
            <a:fld id="{F7021451-1387-4CA6-816F-3879F97B5CBC}" type="slidenum">
              <a:rPr b="1"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PLIT">
    <p:bg>
      <p:bgPr>
        <a:solidFill>
          <a:srgbClr val="F7F6F3"/>
        </a:solidFill>
      </p:bgPr>
    </p:bg>
    <p:spTree>
      <p:nvGrpSpPr>
        <p:cNvPr id="1" name=""/>
        <p:cNvGrpSpPr/>
        <p:nvPr/>
      </p:nvGrpSpPr>
      <p:grpSpPr>
        <a:xfrm>
          <a:off x="0" y="0"/>
          <a:ext cx="0" cy="0"/>
          <a:chOff x="0" y="0"/>
          <a:chExt cx="0" cy="0"/>
        </a:xfrm>
      </p:grpSpPr>
      <p:sp>
        <p:nvSpPr>
          <p:cNvPr id="2" name="Shape 0"/>
          <p:cNvSpPr/>
          <p:nvPr/>
        </p:nvSpPr>
        <p:spPr>
          <a:xfrm>
            <a:off x="0" y="0"/>
            <a:ext cx="7589520" cy="6858000"/>
          </a:xfrm>
          <a:prstGeom prst="rect">
            <a:avLst/>
          </a:prstGeom>
          <a:solidFill>
            <a:srgbClr val="16303F"/>
          </a:solidFill>
          <a:ln/>
        </p:spPr>
      </p:sp>
      <p:pic>
        <p:nvPicPr>
          <p:cNvPr id="3" name="Image 0" descr="C:\Users\kevin\AppData\Local\Temp\claude\G---talks-modern-dotnet-configuration\168b4f6d-c720-4fc0-8834-81425d739f7e\scratchpad\deck/kevin-griffin.png">    </p:cNvPr>
          <p:cNvPicPr>
            <a:picLocks noChangeAspect="1"/>
          </p:cNvPicPr>
          <p:nvPr/>
        </p:nvPicPr>
        <p:blipFill>
          <a:blip r:embed="rId1"/>
          <a:stretch>
            <a:fillRect/>
          </a:stretch>
        </p:blipFill>
        <p:spPr>
          <a:xfrm>
            <a:off x="7626096" y="3840480"/>
            <a:ext cx="4526280" cy="3017520"/>
          </a:xfrm>
          <a:prstGeom prst="rect">
            <a:avLst/>
          </a:prstGeom>
        </p:spPr>
      </p:pic>
      <p:sp>
        <p:nvSpPr>
          <p:cNvPr id="4" name="Shape 1"/>
          <p:cNvSpPr/>
          <p:nvPr/>
        </p:nvSpPr>
        <p:spPr>
          <a:xfrm>
            <a:off x="640080" y="2395728"/>
            <a:ext cx="658368" cy="50292"/>
          </a:xfrm>
          <a:prstGeom prst="rect">
            <a:avLst/>
          </a:prstGeom>
          <a:solidFill>
            <a:srgbClr val="F4C233"/>
          </a:solidFill>
          <a:ln/>
        </p:spPr>
      </p:sp>
      <p:sp>
        <p:nvSpPr>
          <p:cNvPr id="5" name="Text 2"/>
          <p:cNvSpPr/>
          <p:nvPr>
            <p:ph idx="103" type="body" hasCustomPrompt="1"/>
          </p:nvPr>
        </p:nvSpPr>
        <p:spPr>
          <a:xfrm>
            <a:off x="640080" y="1938528"/>
            <a:ext cx="6583680" cy="365760"/>
          </a:xfrm>
          <a:prstGeom prst="rect">
            <a:avLst/>
          </a:prstGeom>
          <a:noFill/>
          <a:ln/>
        </p:spPr>
        <p:txBody>
          <a:bodyPr wrap="square" rtlCol="0"/>
          <a:lstStyle>
            <a:lvl1pPr indent="0" marL="0">
              <a:buNone/>
              <a:defRPr lang="en-US" sz="1400" b="1" spc="200" kern="0" dirty="0">
                <a:solidFill>
                  <a:srgbClr val="F4C233"/>
                </a:solidFill>
                <a:latin typeface="Manrope" pitchFamily="34" charset="0"/>
                <a:ea typeface="Manrope" pitchFamily="34" charset="-122"/>
                <a:cs typeface="Manrope" pitchFamily="34" charset="-120"/>
              </a:defRPr>
            </a:lvl1pPr>
          </a:lstStyle>
          <a:p>
            <a:pPr indent="0" marL="0">
              <a:buNone/>
            </a:pPr>
            <a:endParaRPr lang="en-US" sz="1400" dirty="0"/>
          </a:p>
        </p:txBody>
      </p:sp>
      <p:sp>
        <p:nvSpPr>
          <p:cNvPr id="6" name="Text 2"/>
          <p:cNvSpPr/>
          <p:nvPr>
            <p:ph idx="104" type="title" hasCustomPrompt="1"/>
          </p:nvPr>
        </p:nvSpPr>
        <p:spPr>
          <a:xfrm>
            <a:off x="640080" y="2651760"/>
            <a:ext cx="6583680" cy="1737360"/>
          </a:xfrm>
          <a:prstGeom prst="rect">
            <a:avLst/>
          </a:prstGeom>
          <a:noFill/>
          <a:ln/>
        </p:spPr>
        <p:txBody>
          <a:bodyPr wrap="square" rtlCol="0"/>
          <a:lstStyle>
            <a:lvl1pPr algn="l" indent="0" marL="0">
              <a:buNone/>
              <a:defRPr lang="en-US" sz="4000" b="1" dirty="0">
                <a:solidFill>
                  <a:srgbClr val="FFFFFF"/>
                </a:solidFill>
                <a:latin typeface="Manrope" pitchFamily="34" charset="0"/>
                <a:ea typeface="Manrope" pitchFamily="34" charset="-122"/>
                <a:cs typeface="Manrope" pitchFamily="34" charset="-120"/>
              </a:defRPr>
            </a:lvl1pPr>
          </a:lstStyle>
          <a:p>
            <a:pPr algn="l" indent="0" marL="0">
              <a:buNone/>
            </a:pPr>
            <a:endParaRPr lang="en-US" sz="4000" dirty="0"/>
          </a:p>
        </p:txBody>
      </p:sp>
      <p:sp>
        <p:nvSpPr>
          <p:cNvPr id="7" name="Text 2"/>
          <p:cNvSpPr/>
          <p:nvPr>
            <p:ph idx="105" type="body" hasCustomPrompt="1"/>
          </p:nvPr>
        </p:nvSpPr>
        <p:spPr>
          <a:xfrm>
            <a:off x="640080" y="4343400"/>
            <a:ext cx="6583680" cy="1371600"/>
          </a:xfrm>
          <a:prstGeom prst="rect">
            <a:avLst/>
          </a:prstGeom>
          <a:noFill/>
          <a:ln/>
        </p:spPr>
        <p:txBody>
          <a:bodyPr wrap="square" rtlCol="0"/>
          <a:lstStyle>
            <a:lvl1pPr indent="0" marL="0">
              <a:buNone/>
              <a:defRPr lang="en-US" sz="1500" dirty="0">
                <a:solidFill>
                  <a:srgbClr val="9FB0BA"/>
                </a:solidFill>
                <a:latin typeface="Manrope" pitchFamily="34" charset="0"/>
                <a:ea typeface="Manrope" pitchFamily="34" charset="-122"/>
                <a:cs typeface="Manrope" pitchFamily="34" charset="-120"/>
              </a:defRPr>
            </a:lvl1pPr>
          </a:lstStyle>
          <a:p>
            <a:pPr indent="0" marL="0">
              <a:buNone/>
            </a:pPr>
            <a:endParaRPr lang="en-US" sz="1500" dirty="0"/>
          </a:p>
        </p:txBody>
      </p:sp>
      <p:sp>
        <p:nvSpPr>
          <p:cNvPr id="8" name="Text 2"/>
          <p:cNvSpPr/>
          <p:nvPr>
            <p:ph idx="106" type="body" hasCustomPrompt="1"/>
          </p:nvPr>
        </p:nvSpPr>
        <p:spPr>
          <a:xfrm>
            <a:off x="640080" y="5852160"/>
            <a:ext cx="6583680" cy="365760"/>
          </a:xfrm>
          <a:prstGeom prst="rect">
            <a:avLst/>
          </a:prstGeom>
          <a:noFill/>
          <a:ln/>
        </p:spPr>
        <p:txBody>
          <a:bodyPr wrap="square" rtlCol="0"/>
          <a:lstStyle>
            <a:lvl1pPr indent="0" marL="0">
              <a:buNone/>
              <a:defRPr lang="en-US" sz="1200" dirty="0">
                <a:solidFill>
                  <a:srgbClr val="9FB0BA"/>
                </a:solidFill>
                <a:latin typeface="Manrope" pitchFamily="34" charset="0"/>
                <a:ea typeface="Manrope" pitchFamily="34" charset="-122"/>
                <a:cs typeface="Manrope" pitchFamily="34" charset="-120"/>
              </a:defRPr>
            </a:lvl1pPr>
          </a:lstStyle>
          <a:p>
            <a:pPr indent="0" marL="0">
              <a:buNone/>
            </a:pPr>
            <a:endParaRPr lang="en-US" sz="1200"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VISUAL">
    <p:bg>
      <p:bgPr>
        <a:solidFill>
          <a:srgbClr val="F7F6F3"/>
        </a:solidFill>
      </p:bgPr>
    </p:bg>
    <p:spTree>
      <p:nvGrpSpPr>
        <p:cNvPr id="1" name=""/>
        <p:cNvGrpSpPr/>
        <p:nvPr/>
      </p:nvGrpSpPr>
      <p:grpSpPr>
        <a:xfrm>
          <a:off x="0" y="0"/>
          <a:ext cx="0" cy="0"/>
          <a:chOff x="0" y="0"/>
          <a:chExt cx="0" cy="0"/>
        </a:xfrm>
      </p:grpSpPr>
      <p:sp>
        <p:nvSpPr>
          <p:cNvPr id="2" name="Shape 0"/>
          <p:cNvSpPr/>
          <p:nvPr/>
        </p:nvSpPr>
        <p:spPr>
          <a:xfrm>
            <a:off x="640080" y="566928"/>
            <a:ext cx="658368" cy="50292"/>
          </a:xfrm>
          <a:prstGeom prst="rect">
            <a:avLst/>
          </a:prstGeom>
          <a:solidFill>
            <a:srgbClr val="F4C233"/>
          </a:solidFill>
          <a:ln/>
        </p:spPr>
      </p:sp>
      <p:sp>
        <p:nvSpPr>
          <p:cNvPr id="3" name="Text 1"/>
          <p:cNvSpPr/>
          <p:nvPr/>
        </p:nvSpPr>
        <p:spPr>
          <a:xfrm>
            <a:off x="640080" y="6199632"/>
            <a:ext cx="5486400" cy="292608"/>
          </a:xfrm>
          <a:prstGeom prst="rect">
            <a:avLst/>
          </a:prstGeom>
          <a:noFill/>
          <a:ln/>
        </p:spPr>
        <p:txBody>
          <a:bodyPr wrap="square" lIns="0" tIns="0" rIns="0" bIns="0" rtlCol="0" anchor="ctr"/>
          <a:lstStyle/>
          <a:p>
            <a:pPr indent="0" marL="0">
              <a:buNone/>
            </a:pPr>
            <a:r>
              <a:rPr lang="en-US" sz="1000" dirty="0">
                <a:solidFill>
                  <a:srgbClr val="8A9299"/>
                </a:solidFill>
                <a:latin typeface="Manrope" pitchFamily="34" charset="0"/>
                <a:ea typeface="Manrope" pitchFamily="34" charset="-122"/>
                <a:cs typeface="Manrope" pitchFamily="34" charset="-120"/>
              </a:rPr>
              <a:t>Kevin Griffin · consultwithgriff.com</a:t>
            </a:r>
            <a:endParaRPr lang="en-US" sz="1000" dirty="0"/>
          </a:p>
        </p:txBody>
      </p:sp>
      <p:sp>
        <p:nvSpPr>
          <p:cNvPr id="4" name="Text 2"/>
          <p:cNvSpPr/>
          <p:nvPr>
            <p:ph idx="102" type="title" hasCustomPrompt="1"/>
          </p:nvPr>
        </p:nvSpPr>
        <p:spPr>
          <a:xfrm>
            <a:off x="640080" y="841248"/>
            <a:ext cx="10881360" cy="822960"/>
          </a:xfrm>
          <a:prstGeom prst="rect">
            <a:avLst/>
          </a:prstGeom>
          <a:noFill/>
          <a:ln/>
        </p:spPr>
        <p:txBody>
          <a:bodyPr wrap="square" rtlCol="0"/>
          <a:lstStyle>
            <a:lvl1pPr algn="l" indent="0" marL="0">
              <a:buNone/>
              <a:defRPr lang="en-US" sz="3200" b="1" dirty="0">
                <a:solidFill>
                  <a:srgbClr val="16303F"/>
                </a:solidFill>
                <a:latin typeface="Manrope" pitchFamily="34" charset="0"/>
                <a:ea typeface="Manrope" pitchFamily="34" charset="-122"/>
                <a:cs typeface="Manrope" pitchFamily="34" charset="-120"/>
              </a:defRPr>
            </a:lvl1pPr>
          </a:lstStyle>
          <a:p>
            <a:pPr algn="l" indent="0" marL="0">
              <a:buNone/>
            </a:pPr>
            <a:endParaRPr lang="en-US" sz="3200" dirty="0"/>
          </a:p>
        </p:txBody>
      </p:sp>
      <p:sp>
        <p:nvSpPr>
          <p:cNvPr id="25" name="Slide Number Placeholder 0"/>
          <p:cNvSpPr>
            <a:spLocks noGrp="1"/>
          </p:cNvSpPr>
          <p:nvPr>
            <p:ph type="sldNum" sz="quarter" idx="4294967295"/>
          </p:nvPr>
        </p:nvSpPr>
        <p:spPr>
          <a:xfrm>
            <a:off x="10881360" y="6199632"/>
            <a:ext cx="667512" cy="292608"/>
          </a:xfrm>
          <a:prstGeom prst="rect">
            <a:avLst/>
          </a:prstGeom>
          <a:extLst>
            <a:ext uri="{C572A759-6A51-4108-AA02-DFA0A04FC94B}">
              <ma14:wrappingTextBoxFlag xmlns:ma14="http://schemas.microsoft.com/office/mac/drawingml/2011/main" val="0"/>
            </a:ext>
          </a:extLst>
        </p:spPr>
        <p:txBody>
          <a:bodyPr/>
          <a:lstStyle>
            <a:lvl1pPr>
              <a:defRPr sz="1000">
                <a:solidFill>
                  <a:srgbClr val="16303F"/>
                </a:solidFill>
                <a:latin typeface="Manrope"/>
                <a:ea typeface="Manrope"/>
                <a:cs typeface="Manrope"/>
              </a:defRPr>
            </a:lvl1pPr>
          </a:lstStyle>
          <a:p>
            <a:pPr algn="r"/>
            <a:fld id="{F7021451-1387-4CA6-816F-3879F97B5CBC}" type="slidenum">
              <a:rPr b="1" lang="en-US"/>
              <a:t>1005</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CODE">
    <p:bg>
      <p:bgPr>
        <a:solidFill>
          <a:srgbClr val="011627"/>
        </a:solidFill>
      </p:bgPr>
    </p:bg>
    <p:spTree>
      <p:nvGrpSpPr>
        <p:cNvPr id="1" name=""/>
        <p:cNvGrpSpPr/>
        <p:nvPr/>
      </p:nvGrpSpPr>
      <p:grpSpPr>
        <a:xfrm>
          <a:off x="0" y="0"/>
          <a:ext cx="0" cy="0"/>
          <a:chOff x="0" y="0"/>
          <a:chExt cx="0" cy="0"/>
        </a:xfrm>
      </p:grpSpPr>
      <p:sp>
        <p:nvSpPr>
          <p:cNvPr id="2" name="Text 0"/>
          <p:cNvSpPr/>
          <p:nvPr/>
        </p:nvSpPr>
        <p:spPr>
          <a:xfrm>
            <a:off x="640080" y="6199632"/>
            <a:ext cx="5486400" cy="292608"/>
          </a:xfrm>
          <a:prstGeom prst="rect">
            <a:avLst/>
          </a:prstGeom>
          <a:noFill/>
          <a:ln/>
        </p:spPr>
        <p:txBody>
          <a:bodyPr wrap="square" lIns="0" tIns="0" rIns="0" bIns="0" rtlCol="0" anchor="ctr"/>
          <a:lstStyle/>
          <a:p>
            <a:pPr indent="0" marL="0">
              <a:buNone/>
            </a:pPr>
            <a:r>
              <a:rPr lang="en-US" sz="1000" dirty="0">
                <a:solidFill>
                  <a:srgbClr val="3D5A6C"/>
                </a:solidFill>
                <a:latin typeface="Manrope" pitchFamily="34" charset="0"/>
                <a:ea typeface="Manrope" pitchFamily="34" charset="-122"/>
                <a:cs typeface="Manrope" pitchFamily="34" charset="-120"/>
              </a:rPr>
              <a:t>Kevin Griffin · consultwithgriff.com</a:t>
            </a:r>
            <a:endParaRPr lang="en-US" sz="1000" dirty="0"/>
          </a:p>
        </p:txBody>
      </p:sp>
      <p:sp>
        <p:nvSpPr>
          <p:cNvPr id="25" name="Slide Number Placeholder 0"/>
          <p:cNvSpPr>
            <a:spLocks noGrp="1"/>
          </p:cNvSpPr>
          <p:nvPr>
            <p:ph type="sldNum" sz="quarter" idx="4294967295"/>
          </p:nvPr>
        </p:nvSpPr>
        <p:spPr>
          <a:xfrm>
            <a:off x="10881360" y="6199632"/>
            <a:ext cx="667512" cy="292608"/>
          </a:xfrm>
          <a:prstGeom prst="rect">
            <a:avLst/>
          </a:prstGeom>
          <a:extLst>
            <a:ext uri="{C572A759-6A51-4108-AA02-DFA0A04FC94B}">
              <ma14:wrappingTextBoxFlag xmlns:ma14="http://schemas.microsoft.com/office/mac/drawingml/2011/main" val="0"/>
            </a:ext>
          </a:extLst>
        </p:spPr>
        <p:txBody>
          <a:bodyPr/>
          <a:lstStyle>
            <a:lvl1pPr>
              <a:defRPr sz="1000">
                <a:solidFill>
                  <a:srgbClr val="F4C233"/>
                </a:solidFill>
                <a:latin typeface="Manrope"/>
                <a:ea typeface="Manrope"/>
                <a:cs typeface="Manrope"/>
              </a:defRPr>
            </a:lvl1pPr>
          </a:lstStyle>
          <a:p>
            <a:pPr algn="r"/>
            <a:fld id="{F7021451-1387-4CA6-816F-3879F97B5CBC}" type="slidenum">
              <a:rPr b="1" lang="en-US"/>
              <a:t>1006</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ROADMAP">
    <p:bg>
      <p:bgPr>
        <a:solidFill>
          <a:srgbClr val="F7F6F3"/>
        </a:solidFill>
      </p:bgPr>
    </p:bg>
    <p:spTree>
      <p:nvGrpSpPr>
        <p:cNvPr id="1" name=""/>
        <p:cNvGrpSpPr/>
        <p:nvPr/>
      </p:nvGrpSpPr>
      <p:grpSpPr>
        <a:xfrm>
          <a:off x="0" y="0"/>
          <a:ext cx="0" cy="0"/>
          <a:chOff x="0" y="0"/>
          <a:chExt cx="0" cy="0"/>
        </a:xfrm>
      </p:grpSpPr>
      <p:sp>
        <p:nvSpPr>
          <p:cNvPr id="2" name="Shape 0"/>
          <p:cNvSpPr/>
          <p:nvPr/>
        </p:nvSpPr>
        <p:spPr>
          <a:xfrm>
            <a:off x="0" y="0"/>
            <a:ext cx="4206240" cy="6858000"/>
          </a:xfrm>
          <a:prstGeom prst="rect">
            <a:avLst/>
          </a:prstGeom>
          <a:solidFill>
            <a:srgbClr val="16303F"/>
          </a:solidFill>
          <a:ln/>
        </p:spPr>
      </p:sp>
      <p:sp>
        <p:nvSpPr>
          <p:cNvPr id="3" name="Shape 1"/>
          <p:cNvSpPr/>
          <p:nvPr/>
        </p:nvSpPr>
        <p:spPr>
          <a:xfrm>
            <a:off x="640080" y="2395728"/>
            <a:ext cx="658368" cy="50292"/>
          </a:xfrm>
          <a:prstGeom prst="rect">
            <a:avLst/>
          </a:prstGeom>
          <a:solidFill>
            <a:srgbClr val="F4C233"/>
          </a:solidFill>
          <a:ln/>
        </p:spPr>
      </p:sp>
      <p:sp>
        <p:nvSpPr>
          <p:cNvPr id="4" name="Text 2"/>
          <p:cNvSpPr/>
          <p:nvPr/>
        </p:nvSpPr>
        <p:spPr>
          <a:xfrm>
            <a:off x="4937760" y="6199632"/>
            <a:ext cx="5486400" cy="292608"/>
          </a:xfrm>
          <a:prstGeom prst="rect">
            <a:avLst/>
          </a:prstGeom>
          <a:noFill/>
          <a:ln/>
        </p:spPr>
        <p:txBody>
          <a:bodyPr wrap="square" lIns="0" tIns="0" rIns="0" bIns="0" rtlCol="0" anchor="ctr"/>
          <a:lstStyle/>
          <a:p>
            <a:pPr indent="0" marL="0">
              <a:buNone/>
            </a:pPr>
            <a:r>
              <a:rPr lang="en-US" sz="1000" dirty="0">
                <a:solidFill>
                  <a:srgbClr val="8A9299"/>
                </a:solidFill>
                <a:latin typeface="Manrope" pitchFamily="34" charset="0"/>
                <a:ea typeface="Manrope" pitchFamily="34" charset="-122"/>
                <a:cs typeface="Manrope" pitchFamily="34" charset="-120"/>
              </a:rPr>
              <a:t>Kevin Griffin · consultwithgriff.com</a:t>
            </a:r>
            <a:endParaRPr lang="en-US" sz="1000" dirty="0"/>
          </a:p>
        </p:txBody>
      </p:sp>
      <p:sp>
        <p:nvSpPr>
          <p:cNvPr id="5" name="Text 3"/>
          <p:cNvSpPr/>
          <p:nvPr>
            <p:ph idx="103" type="body" hasCustomPrompt="1"/>
          </p:nvPr>
        </p:nvSpPr>
        <p:spPr>
          <a:xfrm>
            <a:off x="640080" y="1938528"/>
            <a:ext cx="3108960" cy="365760"/>
          </a:xfrm>
          <a:prstGeom prst="rect">
            <a:avLst/>
          </a:prstGeom>
          <a:noFill/>
          <a:ln/>
        </p:spPr>
        <p:txBody>
          <a:bodyPr wrap="square" rtlCol="0"/>
          <a:lstStyle>
            <a:lvl1pPr indent="0" marL="0">
              <a:buNone/>
              <a:defRPr lang="en-US" sz="1400" b="1" spc="200" kern="0" dirty="0">
                <a:solidFill>
                  <a:srgbClr val="F4C233"/>
                </a:solidFill>
                <a:latin typeface="Manrope" pitchFamily="34" charset="0"/>
                <a:ea typeface="Manrope" pitchFamily="34" charset="-122"/>
                <a:cs typeface="Manrope" pitchFamily="34" charset="-120"/>
              </a:defRPr>
            </a:lvl1pPr>
          </a:lstStyle>
          <a:p>
            <a:pPr indent="0" marL="0">
              <a:buNone/>
            </a:pPr>
            <a:endParaRPr lang="en-US" sz="1400" dirty="0"/>
          </a:p>
        </p:txBody>
      </p:sp>
      <p:sp>
        <p:nvSpPr>
          <p:cNvPr id="6" name="Text 3"/>
          <p:cNvSpPr/>
          <p:nvPr>
            <p:ph idx="104" type="title" hasCustomPrompt="1"/>
          </p:nvPr>
        </p:nvSpPr>
        <p:spPr>
          <a:xfrm>
            <a:off x="640080" y="2651760"/>
            <a:ext cx="3108960" cy="1828800"/>
          </a:xfrm>
          <a:prstGeom prst="rect">
            <a:avLst/>
          </a:prstGeom>
          <a:noFill/>
          <a:ln/>
        </p:spPr>
        <p:txBody>
          <a:bodyPr wrap="square" rtlCol="0"/>
          <a:lstStyle>
            <a:lvl1pPr algn="l" indent="0" marL="0">
              <a:buNone/>
              <a:defRPr lang="en-US" sz="3400" b="1" dirty="0">
                <a:solidFill>
                  <a:srgbClr val="FFFFFF"/>
                </a:solidFill>
                <a:latin typeface="Manrope" pitchFamily="34" charset="0"/>
                <a:ea typeface="Manrope" pitchFamily="34" charset="-122"/>
                <a:cs typeface="Manrope" pitchFamily="34" charset="-120"/>
              </a:defRPr>
            </a:lvl1pPr>
          </a:lstStyle>
          <a:p>
            <a:pPr algn="l" indent="0" marL="0">
              <a:buNone/>
            </a:pPr>
            <a:endParaRPr lang="en-US" sz="3400" dirty="0"/>
          </a:p>
        </p:txBody>
      </p:sp>
      <p:sp>
        <p:nvSpPr>
          <p:cNvPr id="7" name="Text 3"/>
          <p:cNvSpPr/>
          <p:nvPr>
            <p:ph idx="105" type="body" hasCustomPrompt="1"/>
          </p:nvPr>
        </p:nvSpPr>
        <p:spPr>
          <a:xfrm>
            <a:off x="4937760" y="1188720"/>
            <a:ext cx="6675120" cy="4754880"/>
          </a:xfrm>
          <a:prstGeom prst="rect">
            <a:avLst/>
          </a:prstGeom>
          <a:noFill/>
          <a:ln/>
        </p:spPr>
        <p:txBody>
          <a:bodyPr wrap="square" rtlCol="0"/>
          <a:lstStyle>
            <a:lvl1pPr indent="0" marL="0">
              <a:buNone/>
              <a:defRPr lang="en-US" sz="1600" dirty="0">
                <a:solidFill>
                  <a:srgbClr val="16303F"/>
                </a:solidFill>
                <a:latin typeface="Manrope" pitchFamily="34" charset="0"/>
                <a:ea typeface="Manrope" pitchFamily="34" charset="-122"/>
                <a:cs typeface="Manrope" pitchFamily="34" charset="-120"/>
              </a:defRPr>
            </a:lvl1pPr>
          </a:lstStyle>
          <a:p>
            <a:pPr indent="0" marL="0">
              <a:buNone/>
            </a:pPr>
            <a:endParaRPr lang="en-US" sz="1600" dirty="0"/>
          </a:p>
        </p:txBody>
      </p:sp>
      <p:sp>
        <p:nvSpPr>
          <p:cNvPr id="25" name="Slide Number Placeholder 0"/>
          <p:cNvSpPr>
            <a:spLocks noGrp="1"/>
          </p:cNvSpPr>
          <p:nvPr>
            <p:ph type="sldNum" sz="quarter" idx="4294967295"/>
          </p:nvPr>
        </p:nvSpPr>
        <p:spPr>
          <a:xfrm>
            <a:off x="10881360" y="6199632"/>
            <a:ext cx="667512" cy="292608"/>
          </a:xfrm>
          <a:prstGeom prst="rect">
            <a:avLst/>
          </a:prstGeom>
          <a:extLst>
            <a:ext uri="{C572A759-6A51-4108-AA02-DFA0A04FC94B}">
              <ma14:wrappingTextBoxFlag xmlns:ma14="http://schemas.microsoft.com/office/mac/drawingml/2011/main" val="0"/>
            </a:ext>
          </a:extLst>
        </p:spPr>
        <p:txBody>
          <a:bodyPr/>
          <a:lstStyle>
            <a:lvl1pPr>
              <a:defRPr sz="1000">
                <a:solidFill>
                  <a:srgbClr val="16303F"/>
                </a:solidFill>
                <a:latin typeface="Manrope"/>
                <a:ea typeface="Manrope"/>
                <a:cs typeface="Manrope"/>
              </a:defRPr>
            </a:lvl1pPr>
          </a:lstStyle>
          <a:p>
            <a:pPr algn="r"/>
            <a:fld id="{F7021451-1387-4CA6-816F-3879F97B5CBC}" type="slidenum">
              <a:rPr b="1" lang="en-US"/>
              <a:t>1007</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0881360" y="6199632"/>
            <a:ext cx="667512" cy="292608"/>
          </a:xfrm>
          <a:prstGeom prst="rect">
            <a:avLst/>
          </a:prstGeom>
          <a:extLst>
            <a:ext uri="{C572A759-6A51-4108-AA02-DFA0A04FC94B}">
              <ma14:wrappingTextBoxFlag xmlns:ma14="http://schemas.microsoft.com/office/mac/drawingml/2011/main" val="0"/>
            </a:ext>
          </a:extLst>
        </p:spPr>
        <p:txBody>
          <a:bodyPr/>
          <a:lstStyle>
            <a:lvl1pPr>
              <a:defRPr sz="1000">
                <a:solidFill>
                  <a:srgbClr val="16303F"/>
                </a:solidFill>
                <a:latin typeface="Manrope"/>
                <a:ea typeface="Manrope"/>
                <a:cs typeface="Manrope"/>
              </a:defRPr>
            </a:lvl1pPr>
          </a:lstStyle>
          <a:p>
            <a:pPr algn="r"/>
            <a:fld id="{F7021451-1387-4CA6-816F-3879F97B5CBC}" type="slidenum">
              <a:rPr b="1"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6.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6.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6.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5.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6.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6.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6.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image" Target="../media/image-22-2.png"/><Relationship Id="rId3" Type="http://schemas.openxmlformats.org/officeDocument/2006/relationships/slideLayout" Target="../slideLayouts/slideLayout5.xml"/><Relationship Id="rId4"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6.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6.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6.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4.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C:\Users\kevin\AppData\Local\Temp\claude\G---talks-modern-dotnet-configuration\168b4f6d-c720-4fc0-8834-81425d739f7e\scratchpad\deck/../carbon/00-coldopen.png">    </p:cNvPr>
          <p:cNvPicPr>
            <a:picLocks noChangeAspect="1"/>
          </p:cNvPicPr>
          <p:nvPr/>
        </p:nvPicPr>
        <p:blipFill>
          <a:blip r:embed="rId1"/>
          <a:stretch>
            <a:fillRect/>
          </a:stretch>
        </p:blipFill>
        <p:spPr>
          <a:xfrm>
            <a:off x="2214110" y="548640"/>
            <a:ext cx="7760733" cy="5760720"/>
          </a:xfrm>
          <a:prstGeom prst="rect">
            <a:avLst/>
          </a:prstGeom>
        </p:spPr>
      </p:pic>
      <p:sp>
        <p:nvSpPr>
          <p:cNvPr id="25" name="Slide Number Placeholder 0"/>
          <p:cNvSpPr>
            <a:spLocks noGrp="1"/>
          </p:cNvSpPr>
          <p:nvPr>
            <p:ph type="sldNum" sz="quarter" idx="4294967295"/>
          </p:nvPr>
        </p:nvSpPr>
        <p:spPr>
          <a:xfrm>
            <a:off x="10881360" y="6199632"/>
            <a:ext cx="667512" cy="292608"/>
          </a:xfrm>
          <a:prstGeom prst="rect">
            <a:avLst/>
          </a:prstGeom>
          <a:extLst>
            <a:ext uri="{C572A759-6A51-4108-AA02-DFA0A04FC94B}">
              <ma14:wrappingTextBoxFlag xmlns:ma14="http://schemas.microsoft.com/office/mac/drawingml/2011/main" val="0"/>
            </a:ext>
          </a:extLst>
        </p:spPr>
        <p:txBody>
          <a:bodyPr/>
          <a:lstStyle>
            <a:lvl1pPr>
              <a:defRPr sz="1000">
                <a:solidFill>
                  <a:srgbClr val="F4C233"/>
                </a:solidFill>
                <a:latin typeface="Manrope"/>
                <a:ea typeface="Manrope"/>
                <a:cs typeface="Manrope"/>
              </a:defRPr>
            </a:lvl1pPr>
          </a:lstStyle>
          <a:p>
            <a:pPr algn="r"/>
            <a:fld id="{F7021451-1387-4CA6-816F-3879F97B5CBC}" type="slidenum">
              <a:rPr b="1"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descr="C:\Users\kevin\AppData\Local\Temp\claude\G---talks-modern-dotnet-configuration\168b4f6d-c720-4fc0-8834-81425d739f7e\scratchpad\deck/../carbon/14-debugview-dump.png">    </p:cNvPr>
          <p:cNvPicPr>
            <a:picLocks noChangeAspect="1"/>
          </p:cNvPicPr>
          <p:nvPr/>
        </p:nvPicPr>
        <p:blipFill>
          <a:blip r:embed="rId1"/>
          <a:stretch>
            <a:fillRect/>
          </a:stretch>
        </p:blipFill>
        <p:spPr>
          <a:xfrm>
            <a:off x="516636" y="1450473"/>
            <a:ext cx="11155680" cy="3957054"/>
          </a:xfrm>
          <a:prstGeom prst="rect">
            <a:avLst/>
          </a:prstGeom>
        </p:spPr>
      </p:pic>
      <p:sp>
        <p:nvSpPr>
          <p:cNvPr id="25" name="Slide Number Placeholder 0"/>
          <p:cNvSpPr>
            <a:spLocks noGrp="1"/>
          </p:cNvSpPr>
          <p:nvPr>
            <p:ph type="sldNum" sz="quarter" idx="4294967295"/>
          </p:nvPr>
        </p:nvSpPr>
        <p:spPr>
          <a:xfrm>
            <a:off x="10881360" y="6199632"/>
            <a:ext cx="667512" cy="292608"/>
          </a:xfrm>
          <a:prstGeom prst="rect">
            <a:avLst/>
          </a:prstGeom>
          <a:extLst>
            <a:ext uri="{C572A759-6A51-4108-AA02-DFA0A04FC94B}">
              <ma14:wrappingTextBoxFlag xmlns:ma14="http://schemas.microsoft.com/office/mac/drawingml/2011/main" val="0"/>
            </a:ext>
          </a:extLst>
        </p:spPr>
        <p:txBody>
          <a:bodyPr/>
          <a:lstStyle>
            <a:lvl1pPr>
              <a:defRPr sz="1000">
                <a:solidFill>
                  <a:srgbClr val="F4C233"/>
                </a:solidFill>
                <a:latin typeface="Manrope"/>
                <a:ea typeface="Manrope"/>
                <a:cs typeface="Manrope"/>
              </a:defRPr>
            </a:lvl1pPr>
          </a:lstStyle>
          <a:p>
            <a:pPr algn="r"/>
            <a:fld id="{F7021451-1387-4CA6-816F-3879F97B5CBC}" type="slidenum">
              <a:rPr b="1"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2"/>
          <p:cNvSpPr/>
          <p:nvPr>
            <p:ph idx="104" type="title" hasCustomPrompt="1"/>
          </p:nvPr>
        </p:nvSpPr>
        <p:spPr>
          <a:xfrm>
            <a:off x="640080" y="2651760"/>
            <a:ext cx="6583680" cy="1737360"/>
          </a:xfrm>
          <a:prstGeom prst="rect">
            <a:avLst/>
          </a:prstGeom>
          <a:noFill/>
          <a:ln/>
        </p:spPr>
        <p:txBody>
          <a:bodyPr wrap="square" lIns="0" tIns="0" rIns="0" bIns="0" rtlCol="0"/>
          <a:lstStyle/>
          <a:p>
            <a:pPr algn="l" indent="0" marL="0">
              <a:buNone/>
            </a:pPr>
            <a:r>
              <a:rPr lang="en-US" sz="4000" b="1" dirty="0">
                <a:solidFill>
                  <a:srgbClr val="FFFFFF"/>
                </a:solidFill>
                <a:latin typeface="Manrope" pitchFamily="34" charset="0"/>
                <a:ea typeface="Manrope" pitchFamily="34" charset="-122"/>
                <a:cs typeface="Manrope" pitchFamily="34" charset="-120"/>
              </a:rPr>
              <a:t>Modern .NET</a:t>
            </a:r>
            <a:endParaRPr lang="en-US" sz="4000" dirty="0"/>
          </a:p>
          <a:p>
            <a:pPr algn="l" indent="0" marL="0">
              <a:buNone/>
            </a:pPr>
            <a:r>
              <a:rPr lang="en-US" sz="4000" b="1" dirty="0">
                <a:solidFill>
                  <a:srgbClr val="FFFFFF"/>
                </a:solidFill>
                <a:latin typeface="Manrope" pitchFamily="34" charset="0"/>
                <a:ea typeface="Manrope" pitchFamily="34" charset="-122"/>
                <a:cs typeface="Manrope" pitchFamily="34" charset="-120"/>
              </a:rPr>
              <a:t>Configuration</a:t>
            </a:r>
            <a:endParaRPr lang="en-US" sz="4000" dirty="0"/>
          </a:p>
        </p:txBody>
      </p:sp>
      <p:sp>
        <p:nvSpPr>
          <p:cNvPr id="3" name="Text 2"/>
          <p:cNvSpPr/>
          <p:nvPr>
            <p:ph idx="106" type="body" hasCustomPrompt="1"/>
          </p:nvPr>
        </p:nvSpPr>
        <p:spPr>
          <a:xfrm>
            <a:off x="640080" y="5852160"/>
            <a:ext cx="6583680" cy="365760"/>
          </a:xfrm>
          <a:prstGeom prst="rect">
            <a:avLst/>
          </a:prstGeom>
          <a:noFill/>
          <a:ln/>
        </p:spPr>
        <p:txBody>
          <a:bodyPr wrap="square" lIns="0" tIns="0" rIns="0" bIns="0" rtlCol="0"/>
          <a:lstStyle/>
          <a:p>
            <a:pPr indent="0" marL="0">
              <a:buNone/>
            </a:pPr>
            <a:r>
              <a:rPr lang="en-US" sz="1200" b="1" dirty="0">
                <a:solidFill>
                  <a:srgbClr val="FFFFFF"/>
                </a:solidFill>
                <a:latin typeface="Manrope" pitchFamily="34" charset="0"/>
                <a:ea typeface="Manrope" pitchFamily="34" charset="-122"/>
                <a:cs typeface="Manrope" pitchFamily="34" charset="-120"/>
              </a:rPr>
              <a:t>Kevin Griffin</a:t>
            </a:r>
            <a:pPr indent="0" marL="0">
              <a:buNone/>
            </a:pPr>
            <a:r>
              <a:rPr lang="en-US" sz="1200" dirty="0">
                <a:solidFill>
                  <a:srgbClr val="9FB0BA"/>
                </a:solidFill>
                <a:latin typeface="Manrope" pitchFamily="34" charset="0"/>
                <a:ea typeface="Manrope" pitchFamily="34" charset="-122"/>
                <a:cs typeface="Manrope" pitchFamily="34" charset="-120"/>
              </a:rPr>
              <a:t>  ·  Microsoft MVP  ·  .NET 10 / C# 14</a:t>
            </a:r>
            <a:endParaRPr lang="en-US" sz="1200" dirty="0"/>
          </a:p>
        </p:txBody>
      </p:sp>
      <p:sp>
        <p:nvSpPr>
          <p:cNvPr id="5" name="Text 2"/>
          <p:cNvSpPr/>
          <p:nvPr>
            <p:ph idx="103" type="body" hasCustomPrompt="1"/>
          </p:nvPr>
        </p:nvSpPr>
        <p:spPr>
          <a:xfrm>
            <a:off x="640080" y="1938528"/>
            <a:ext cx="6583680" cy="365760"/>
          </a:xfrm>
          <a:prstGeom prst="rect">
            <a:avLst/>
          </a:prstGeom>
          <a:noFill/>
          <a:ln/>
        </p:spPr>
        <p:txBody>
          <a:bodyPr wrap="square" lIns="0" tIns="0" rIns="0" bIns="0" rtlCol="0"/>
          <a:lstStyle/>
          <a:p>
            <a:pPr indent="0" marL="0">
              <a:buNone/>
            </a:pPr>
            <a:endParaRPr lang="en-US" sz="1400" dirty="0"/>
          </a:p>
        </p:txBody>
      </p:sp>
      <p:sp>
        <p:nvSpPr>
          <p:cNvPr id="6" name="Text 2"/>
          <p:cNvSpPr/>
          <p:nvPr>
            <p:ph idx="105" type="body" hasCustomPrompt="1"/>
          </p:nvPr>
        </p:nvSpPr>
        <p:spPr>
          <a:xfrm>
            <a:off x="640080" y="4343400"/>
            <a:ext cx="6583680" cy="1371600"/>
          </a:xfrm>
          <a:prstGeom prst="rect">
            <a:avLst/>
          </a:prstGeom>
          <a:noFill/>
          <a:ln/>
        </p:spPr>
        <p:txBody>
          <a:bodyPr wrap="square" lIns="0" tIns="0" rIns="0" bIns="0" rtlCol="0"/>
          <a:lstStyle/>
          <a:p>
            <a:pPr indent="0" marL="0">
              <a:buNone/>
            </a:pPr>
            <a:endParaRPr lang="en-US" sz="15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2"/>
          <p:cNvSpPr/>
          <p:nvPr>
            <p:ph idx="104" type="title" hasCustomPrompt="1"/>
          </p:nvPr>
        </p:nvSpPr>
        <p:spPr>
          <a:xfrm>
            <a:off x="640080" y="2651760"/>
            <a:ext cx="6583680" cy="1737360"/>
          </a:xfrm>
          <a:prstGeom prst="rect">
            <a:avLst/>
          </a:prstGeom>
          <a:noFill/>
          <a:ln/>
        </p:spPr>
        <p:txBody>
          <a:bodyPr wrap="square" lIns="0" tIns="0" rIns="0" bIns="0" rtlCol="0"/>
          <a:lstStyle/>
          <a:p>
            <a:pPr algn="l" indent="0" marL="0">
              <a:buNone/>
            </a:pPr>
            <a:r>
              <a:rPr lang="en-US" sz="4000" b="1" dirty="0">
                <a:solidFill>
                  <a:srgbClr val="FFFFFF"/>
                </a:solidFill>
                <a:latin typeface="Manrope" pitchFamily="34" charset="0"/>
                <a:ea typeface="Manrope" pitchFamily="34" charset="-122"/>
                <a:cs typeface="Manrope" pitchFamily="34" charset="-120"/>
              </a:rPr>
              <a:t>Kevin Griffin</a:t>
            </a:r>
            <a:endParaRPr lang="en-US" sz="4000" dirty="0"/>
          </a:p>
        </p:txBody>
      </p:sp>
      <p:sp>
        <p:nvSpPr>
          <p:cNvPr id="3" name="Text 2"/>
          <p:cNvSpPr/>
          <p:nvPr>
            <p:ph idx="105" type="body" hasCustomPrompt="1"/>
          </p:nvPr>
        </p:nvSpPr>
        <p:spPr>
          <a:xfrm>
            <a:off x="640080" y="4343400"/>
            <a:ext cx="6583680" cy="1371600"/>
          </a:xfrm>
          <a:prstGeom prst="rect">
            <a:avLst/>
          </a:prstGeom>
          <a:noFill/>
          <a:ln/>
        </p:spPr>
        <p:txBody>
          <a:bodyPr wrap="square" lIns="0" tIns="0" rIns="0" bIns="0" rtlCol="0"/>
          <a:lstStyle/>
          <a:p>
            <a:pPr marL="342900" indent="-342900">
              <a:spcAft>
                <a:spcPts val="1400"/>
              </a:spcAft>
              <a:buSzPct val="100000"/>
              <a:buChar char="▪"/>
            </a:pPr>
            <a:r>
              <a:rPr lang="en-US" sz="1500" dirty="0">
                <a:solidFill>
                  <a:srgbClr val="F4C233"/>
                </a:solidFill>
                <a:latin typeface="Manrope" pitchFamily="34" charset="0"/>
                <a:ea typeface="Manrope" pitchFamily="34" charset="-122"/>
                <a:cs typeface="Manrope" pitchFamily="34" charset="-120"/>
              </a:rPr>
              <a:t>Software consultant. .NET and Azure.</a:t>
            </a:r>
            <a:endParaRPr lang="en-US" sz="1500" dirty="0"/>
          </a:p>
          <a:p>
            <a:pPr marL="342900" indent="-342900">
              <a:spcAft>
                <a:spcPts val="1400"/>
              </a:spcAft>
              <a:buSzPct val="100000"/>
              <a:buChar char="▪"/>
            </a:pPr>
            <a:r>
              <a:rPr lang="en-US" sz="1500" dirty="0">
                <a:solidFill>
                  <a:srgbClr val="F4C233"/>
                </a:solidFill>
                <a:latin typeface="Manrope" pitchFamily="34" charset="0"/>
                <a:ea typeface="Manrope" pitchFamily="34" charset="-122"/>
                <a:cs typeface="Manrope" pitchFamily="34" charset="-120"/>
              </a:rPr>
              <a:t>Microsoft MVP</a:t>
            </a:r>
            <a:endParaRPr lang="en-US" sz="1500" dirty="0"/>
          </a:p>
          <a:p>
            <a:pPr marL="342900" indent="-342900">
              <a:spcAft>
                <a:spcPts val="1400"/>
              </a:spcAft>
              <a:buSzPct val="100000"/>
              <a:buChar char="▪"/>
            </a:pPr>
            <a:r>
              <a:rPr lang="en-US" sz="1500" dirty="0">
                <a:solidFill>
                  <a:srgbClr val="F4C233"/>
                </a:solidFill>
                <a:latin typeface="Manrope" pitchFamily="34" charset="0"/>
                <a:ea typeface="Manrope" pitchFamily="34" charset="-122"/>
                <a:cs typeface="Manrope" pitchFamily="34" charset="-120"/>
              </a:rPr>
              <a:t>I build and run Shows On Sale</a:t>
            </a:r>
            <a:endParaRPr lang="en-US" sz="1500" dirty="0"/>
          </a:p>
          <a:p>
            <a:pPr marL="342900" indent="-342900">
              <a:spcAft>
                <a:spcPts val="1400"/>
              </a:spcAft>
              <a:buSzPct val="100000"/>
              <a:buChar char="▪"/>
            </a:pPr>
            <a:r>
              <a:rPr lang="en-US" sz="1500" dirty="0">
                <a:solidFill>
                  <a:srgbClr val="F4C233"/>
                </a:solidFill>
                <a:latin typeface="Manrope" pitchFamily="34" charset="0"/>
                <a:ea typeface="Manrope" pitchFamily="34" charset="-122"/>
                <a:cs typeface="Manrope" pitchFamily="34" charset="-120"/>
              </a:rPr>
              <a:t>consultwithgriff.com</a:t>
            </a:r>
            <a:endParaRPr lang="en-US" sz="1500" dirty="0"/>
          </a:p>
        </p:txBody>
      </p:sp>
      <p:sp>
        <p:nvSpPr>
          <p:cNvPr id="5" name="Text 2"/>
          <p:cNvSpPr/>
          <p:nvPr>
            <p:ph idx="103" type="body" hasCustomPrompt="1"/>
          </p:nvPr>
        </p:nvSpPr>
        <p:spPr>
          <a:xfrm>
            <a:off x="640080" y="1938528"/>
            <a:ext cx="6583680" cy="365760"/>
          </a:xfrm>
          <a:prstGeom prst="rect">
            <a:avLst/>
          </a:prstGeom>
          <a:noFill/>
          <a:ln/>
        </p:spPr>
        <p:txBody>
          <a:bodyPr wrap="square" lIns="0" tIns="0" rIns="0" bIns="0" rtlCol="0"/>
          <a:lstStyle/>
          <a:p>
            <a:pPr indent="0" marL="0">
              <a:buNone/>
            </a:pPr>
            <a:endParaRPr lang="en-US" sz="1400" dirty="0"/>
          </a:p>
        </p:txBody>
      </p:sp>
      <p:sp>
        <p:nvSpPr>
          <p:cNvPr id="6" name="Text 2"/>
          <p:cNvSpPr/>
          <p:nvPr>
            <p:ph idx="106" type="body" hasCustomPrompt="1"/>
          </p:nvPr>
        </p:nvSpPr>
        <p:spPr>
          <a:xfrm>
            <a:off x="640080" y="5852160"/>
            <a:ext cx="6583680" cy="365760"/>
          </a:xfrm>
          <a:prstGeom prst="rect">
            <a:avLst/>
          </a:prstGeom>
          <a:noFill/>
          <a:ln/>
        </p:spPr>
        <p:txBody>
          <a:bodyPr wrap="square" lIns="0" tIns="0" rIns="0" bIns="0" rtlCol="0"/>
          <a:lstStyle/>
          <a:p>
            <a:pPr indent="0" marL="0">
              <a:buNone/>
            </a:pP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3"/>
          <p:cNvSpPr/>
          <p:nvPr>
            <p:ph idx="104" type="title" hasCustomPrompt="1"/>
          </p:nvPr>
        </p:nvSpPr>
        <p:spPr>
          <a:xfrm>
            <a:off x="640080" y="2651760"/>
            <a:ext cx="3108960" cy="1828800"/>
          </a:xfrm>
          <a:prstGeom prst="rect">
            <a:avLst/>
          </a:prstGeom>
          <a:noFill/>
          <a:ln/>
        </p:spPr>
        <p:txBody>
          <a:bodyPr wrap="square" lIns="0" tIns="0" rIns="0" bIns="0" rtlCol="0"/>
          <a:lstStyle/>
          <a:p>
            <a:pPr algn="l" indent="0" marL="0">
              <a:buNone/>
            </a:pPr>
            <a:r>
              <a:rPr lang="en-US" sz="3400" b="1" dirty="0">
                <a:solidFill>
                  <a:srgbClr val="FFFFFF"/>
                </a:solidFill>
                <a:latin typeface="Manrope" pitchFamily="34" charset="0"/>
                <a:ea typeface="Manrope" pitchFamily="34" charset="-122"/>
                <a:cs typeface="Manrope" pitchFamily="34" charset="-120"/>
              </a:rPr>
              <a:t>What we'll</a:t>
            </a:r>
            <a:endParaRPr lang="en-US" sz="3400" dirty="0"/>
          </a:p>
          <a:p>
            <a:pPr algn="l" indent="0" marL="0">
              <a:buNone/>
            </a:pPr>
            <a:r>
              <a:rPr lang="en-US" sz="3400" b="1" dirty="0">
                <a:solidFill>
                  <a:srgbClr val="FFFFFF"/>
                </a:solidFill>
                <a:latin typeface="Manrope" pitchFamily="34" charset="0"/>
                <a:ea typeface="Manrope" pitchFamily="34" charset="-122"/>
                <a:cs typeface="Manrope" pitchFamily="34" charset="-120"/>
              </a:rPr>
              <a:t>cover</a:t>
            </a:r>
            <a:endParaRPr lang="en-US" sz="3400" dirty="0"/>
          </a:p>
        </p:txBody>
      </p:sp>
      <p:sp>
        <p:nvSpPr>
          <p:cNvPr id="3" name="Text 3"/>
          <p:cNvSpPr/>
          <p:nvPr>
            <p:ph idx="105" type="body" hasCustomPrompt="1"/>
          </p:nvPr>
        </p:nvSpPr>
        <p:spPr>
          <a:xfrm>
            <a:off x="4937760" y="1188720"/>
            <a:ext cx="6675120" cy="4754880"/>
          </a:xfrm>
          <a:prstGeom prst="rect">
            <a:avLst/>
          </a:prstGeom>
          <a:noFill/>
          <a:ln/>
        </p:spPr>
        <p:txBody>
          <a:bodyPr wrap="square" lIns="0" tIns="0" rIns="0" bIns="0" rtlCol="0"/>
          <a:lstStyle/>
          <a:p>
            <a:pPr indent="0" marL="0">
              <a:spcAft>
                <a:spcPts val="2000"/>
              </a:spcAft>
              <a:buNone/>
            </a:pPr>
            <a:r>
              <a:rPr lang="en-US" sz="1800" b="1" dirty="0">
                <a:solidFill>
                  <a:srgbClr val="F4C233"/>
                </a:solidFill>
                <a:latin typeface="Manrope" pitchFamily="34" charset="0"/>
                <a:ea typeface="Manrope" pitchFamily="34" charset="-122"/>
                <a:cs typeface="Manrope" pitchFamily="34" charset="-120"/>
              </a:rPr>
              <a:t>01</a:t>
            </a:r>
            <a:pPr indent="0" marL="0">
              <a:spcAft>
                <a:spcPts val="2000"/>
              </a:spcAft>
              <a:buNone/>
            </a:pPr>
            <a:r>
              <a:rPr lang="en-US" sz="1800" b="1" dirty="0">
                <a:solidFill>
                  <a:srgbClr val="16303F"/>
                </a:solidFill>
                <a:latin typeface="Manrope" pitchFamily="34" charset="0"/>
                <a:ea typeface="Manrope" pitchFamily="34" charset="-122"/>
                <a:cs typeface="Manrope" pitchFamily="34" charset="-120"/>
              </a:rPr>
              <a:t>   The provider chain and precedence</a:t>
            </a:r>
            <a:endParaRPr lang="en-US" sz="1600" dirty="0"/>
          </a:p>
          <a:p>
            <a:pPr indent="0" marL="0">
              <a:spcAft>
                <a:spcPts val="2000"/>
              </a:spcAft>
              <a:buNone/>
            </a:pPr>
            <a:r>
              <a:rPr lang="en-US" sz="1800" b="1" dirty="0">
                <a:solidFill>
                  <a:srgbClr val="F4C233"/>
                </a:solidFill>
                <a:latin typeface="Manrope" pitchFamily="34" charset="0"/>
                <a:ea typeface="Manrope" pitchFamily="34" charset="-122"/>
                <a:cs typeface="Manrope" pitchFamily="34" charset="-120"/>
              </a:rPr>
              <a:t>02</a:t>
            </a:r>
            <a:pPr indent="0" marL="0">
              <a:spcAft>
                <a:spcPts val="2000"/>
              </a:spcAft>
              <a:buNone/>
            </a:pPr>
            <a:r>
              <a:rPr lang="en-US" sz="1800" b="1" dirty="0">
                <a:solidFill>
                  <a:srgbClr val="16303F"/>
                </a:solidFill>
                <a:latin typeface="Manrope" pitchFamily="34" charset="0"/>
                <a:ea typeface="Manrope" pitchFamily="34" charset="-122"/>
                <a:cs typeface="Manrope" pitchFamily="34" charset="-120"/>
              </a:rPr>
              <a:t>   Local dev → deployment → shared</a:t>
            </a:r>
            <a:endParaRPr lang="en-US" sz="1600" dirty="0"/>
          </a:p>
          <a:p>
            <a:pPr indent="0" marL="0">
              <a:spcAft>
                <a:spcPts val="2000"/>
              </a:spcAft>
              <a:buNone/>
            </a:pPr>
            <a:r>
              <a:rPr lang="en-US" sz="1800" b="1" dirty="0">
                <a:solidFill>
                  <a:srgbClr val="F4C233"/>
                </a:solidFill>
                <a:latin typeface="Manrope" pitchFamily="34" charset="0"/>
                <a:ea typeface="Manrope" pitchFamily="34" charset="-122"/>
                <a:cs typeface="Manrope" pitchFamily="34" charset="-120"/>
              </a:rPr>
              <a:t>03</a:t>
            </a:r>
            <a:pPr indent="0" marL="0">
              <a:spcAft>
                <a:spcPts val="2000"/>
              </a:spcAft>
              <a:buNone/>
            </a:pPr>
            <a:r>
              <a:rPr lang="en-US" sz="1800" b="1" dirty="0">
                <a:solidFill>
                  <a:srgbClr val="16303F"/>
                </a:solidFill>
                <a:latin typeface="Manrope" pitchFamily="34" charset="0"/>
                <a:ea typeface="Manrope" pitchFamily="34" charset="-122"/>
                <a:cs typeface="Manrope" pitchFamily="34" charset="-120"/>
              </a:rPr>
              <a:t>   Binding, options, and validation</a:t>
            </a:r>
            <a:endParaRPr lang="en-US" sz="1600" dirty="0"/>
          </a:p>
          <a:p>
            <a:pPr indent="0" marL="0">
              <a:spcAft>
                <a:spcPts val="2000"/>
              </a:spcAft>
              <a:buNone/>
            </a:pPr>
            <a:r>
              <a:rPr lang="en-US" sz="1800" b="1" dirty="0">
                <a:solidFill>
                  <a:srgbClr val="F4C233"/>
                </a:solidFill>
                <a:latin typeface="Manrope" pitchFamily="34" charset="0"/>
                <a:ea typeface="Manrope" pitchFamily="34" charset="-122"/>
                <a:cs typeface="Manrope" pitchFamily="34" charset="-120"/>
              </a:rPr>
              <a:t>04</a:t>
            </a:r>
            <a:pPr indent="0" marL="0">
              <a:spcAft>
                <a:spcPts val="2000"/>
              </a:spcAft>
              <a:buNone/>
            </a:pPr>
            <a:r>
              <a:rPr lang="en-US" sz="1800" b="1" dirty="0">
                <a:solidFill>
                  <a:srgbClr val="16303F"/>
                </a:solidFill>
                <a:latin typeface="Manrope" pitchFamily="34" charset="0"/>
                <a:ea typeface="Manrope" pitchFamily="34" charset="-122"/>
                <a:cs typeface="Manrope" pitchFamily="34" charset="-120"/>
              </a:rPr>
              <a:t>   Feature flags and flag debt</a:t>
            </a:r>
            <a:endParaRPr lang="en-US" sz="1600" dirty="0"/>
          </a:p>
          <a:p>
            <a:pPr indent="0" marL="0">
              <a:spcAft>
                <a:spcPts val="2000"/>
              </a:spcAft>
              <a:buNone/>
            </a:pPr>
            <a:r>
              <a:rPr lang="en-US" sz="1800" b="1" dirty="0">
                <a:solidFill>
                  <a:srgbClr val="F4C233"/>
                </a:solidFill>
                <a:latin typeface="Manrope" pitchFamily="34" charset="0"/>
                <a:ea typeface="Manrope" pitchFamily="34" charset="-122"/>
                <a:cs typeface="Manrope" pitchFamily="34" charset="-120"/>
              </a:rPr>
              <a:t>05</a:t>
            </a:r>
            <a:pPr indent="0" marL="0">
              <a:spcAft>
                <a:spcPts val="2000"/>
              </a:spcAft>
              <a:buNone/>
            </a:pPr>
            <a:r>
              <a:rPr lang="en-US" sz="1800" b="1" dirty="0">
                <a:solidFill>
                  <a:srgbClr val="16303F"/>
                </a:solidFill>
                <a:latin typeface="Manrope" pitchFamily="34" charset="0"/>
                <a:ea typeface="Manrope" pitchFamily="34" charset="-122"/>
                <a:cs typeface="Manrope" pitchFamily="34" charset="-120"/>
              </a:rPr>
              <a:t>   Choosing a strategy</a:t>
            </a:r>
            <a:endParaRPr lang="en-US" sz="1600" dirty="0"/>
          </a:p>
        </p:txBody>
      </p:sp>
      <p:sp>
        <p:nvSpPr>
          <p:cNvPr id="5" name="Text 3"/>
          <p:cNvSpPr/>
          <p:nvPr>
            <p:ph idx="103" type="body" hasCustomPrompt="1"/>
          </p:nvPr>
        </p:nvSpPr>
        <p:spPr>
          <a:xfrm>
            <a:off x="640080" y="1938528"/>
            <a:ext cx="3108960" cy="365760"/>
          </a:xfrm>
          <a:prstGeom prst="rect">
            <a:avLst/>
          </a:prstGeom>
          <a:noFill/>
          <a:ln/>
        </p:spPr>
        <p:txBody>
          <a:bodyPr wrap="square" lIns="0" tIns="0" rIns="0" bIns="0" rtlCol="0"/>
          <a:lstStyle/>
          <a:p>
            <a:pPr indent="0" marL="0">
              <a:buNone/>
            </a:pPr>
            <a:endParaRPr lang="en-US" sz="1400" dirty="0"/>
          </a:p>
        </p:txBody>
      </p:sp>
      <p:sp>
        <p:nvSpPr>
          <p:cNvPr id="25" name="Slide Number Placeholder 0"/>
          <p:cNvSpPr>
            <a:spLocks noGrp="1"/>
          </p:cNvSpPr>
          <p:nvPr>
            <p:ph type="sldNum" sz="quarter" idx="4294967295"/>
          </p:nvPr>
        </p:nvSpPr>
        <p:spPr>
          <a:xfrm>
            <a:off x="10881360" y="6199632"/>
            <a:ext cx="667512" cy="292608"/>
          </a:xfrm>
          <a:prstGeom prst="rect">
            <a:avLst/>
          </a:prstGeom>
          <a:extLst>
            <a:ext uri="{C572A759-6A51-4108-AA02-DFA0A04FC94B}">
              <ma14:wrappingTextBoxFlag xmlns:ma14="http://schemas.microsoft.com/office/mac/drawingml/2011/main" val="0"/>
            </a:ext>
          </a:extLst>
        </p:spPr>
        <p:txBody>
          <a:bodyPr/>
          <a:lstStyle>
            <a:lvl1pPr>
              <a:defRPr sz="1000">
                <a:solidFill>
                  <a:srgbClr val="16303F"/>
                </a:solidFill>
                <a:latin typeface="Manrope"/>
                <a:ea typeface="Manrope"/>
                <a:cs typeface="Manrope"/>
              </a:defRPr>
            </a:lvl1pPr>
          </a:lstStyle>
          <a:p>
            <a:pPr algn="r"/>
            <a:fld id="{F7021451-1387-4CA6-816F-3879F97B5CBC}" type="slidenum">
              <a:rPr b="1"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2"/>
          <p:cNvSpPr/>
          <p:nvPr>
            <p:ph idx="102" type="title" hasCustomPrompt="1"/>
          </p:nvPr>
        </p:nvSpPr>
        <p:spPr>
          <a:xfrm>
            <a:off x="640080" y="841248"/>
            <a:ext cx="10881360" cy="822960"/>
          </a:xfrm>
          <a:prstGeom prst="rect">
            <a:avLst/>
          </a:prstGeom>
          <a:noFill/>
          <a:ln/>
        </p:spPr>
        <p:txBody>
          <a:bodyPr wrap="square" lIns="0" tIns="0" rIns="0" bIns="0" rtlCol="0"/>
          <a:lstStyle/>
          <a:p>
            <a:pPr algn="l" indent="0" marL="0">
              <a:buNone/>
            </a:pPr>
            <a:r>
              <a:rPr lang="en-US" sz="3200" b="1" dirty="0">
                <a:solidFill>
                  <a:srgbClr val="16303F"/>
                </a:solidFill>
                <a:latin typeface="Manrope" pitchFamily="34" charset="0"/>
                <a:ea typeface="Manrope" pitchFamily="34" charset="-122"/>
                <a:cs typeface="Manrope" pitchFamily="34" charset="-120"/>
              </a:rPr>
              <a:t>Why externalize configuration at all?</a:t>
            </a:r>
            <a:endParaRPr lang="en-US" sz="3200" dirty="0"/>
          </a:p>
        </p:txBody>
      </p:sp>
      <p:sp>
        <p:nvSpPr>
          <p:cNvPr id="4" name="Shape 1"/>
          <p:cNvSpPr/>
          <p:nvPr/>
        </p:nvSpPr>
        <p:spPr>
          <a:xfrm>
            <a:off x="640080" y="2468880"/>
            <a:ext cx="1998878" cy="1874520"/>
          </a:xfrm>
          <a:prstGeom prst="rect">
            <a:avLst/>
          </a:prstGeom>
          <a:solidFill>
            <a:srgbClr val="FFFFFF"/>
          </a:solidFill>
          <a:ln w="12700">
            <a:solidFill>
              <a:srgbClr val="E4E0D8"/>
            </a:solidFill>
            <a:prstDash val="solid"/>
          </a:ln>
        </p:spPr>
      </p:sp>
      <p:sp>
        <p:nvSpPr>
          <p:cNvPr id="5" name="Text 2"/>
          <p:cNvSpPr txBox="1"/>
          <p:nvPr/>
        </p:nvSpPr>
        <p:spPr>
          <a:xfrm>
            <a:off x="640080" y="2724912"/>
            <a:ext cx="1998878" cy="457200"/>
          </a:xfrm>
          <a:prstGeom prst="rect">
            <a:avLst/>
          </a:prstGeom>
          <a:noFill/>
          <a:ln/>
        </p:spPr>
        <p:txBody>
          <a:bodyPr wrap="square" lIns="0" tIns="0" rIns="0" bIns="0" rtlCol="0" anchor="ctr"/>
          <a:lstStyle/>
          <a:p>
            <a:pPr algn="ctr" indent="0" marL="0">
              <a:buNone/>
            </a:pPr>
            <a:r>
              <a:rPr lang="en-US" sz="2000" b="1" dirty="0">
                <a:solidFill>
                  <a:srgbClr val="C3BDB2"/>
                </a:solidFill>
                <a:latin typeface="Manrope" pitchFamily="34" charset="0"/>
                <a:ea typeface="Manrope" pitchFamily="34" charset="-122"/>
                <a:cs typeface="Manrope" pitchFamily="34" charset="-120"/>
              </a:rPr>
              <a:t>01</a:t>
            </a:r>
            <a:endParaRPr lang="en-US" sz="2000" dirty="0"/>
          </a:p>
        </p:txBody>
      </p:sp>
      <p:sp>
        <p:nvSpPr>
          <p:cNvPr id="6" name="Text 3"/>
          <p:cNvSpPr txBox="1"/>
          <p:nvPr/>
        </p:nvSpPr>
        <p:spPr>
          <a:xfrm>
            <a:off x="777240" y="3310128"/>
            <a:ext cx="1724558" cy="868680"/>
          </a:xfrm>
          <a:prstGeom prst="rect">
            <a:avLst/>
          </a:prstGeom>
          <a:noFill/>
          <a:ln/>
        </p:spPr>
        <p:txBody>
          <a:bodyPr wrap="square" lIns="0" tIns="0" rIns="0" bIns="0" rtlCol="0" anchor="t"/>
          <a:lstStyle/>
          <a:p>
            <a:pPr algn="ctr" indent="0" marL="0">
              <a:lnSpc>
                <a:spcPct val="115000"/>
              </a:lnSpc>
              <a:buNone/>
            </a:pPr>
            <a:r>
              <a:rPr lang="en-US" sz="1600" b="1" dirty="0">
                <a:solidFill>
                  <a:srgbClr val="16303F"/>
                </a:solidFill>
                <a:latin typeface="Manrope" pitchFamily="34" charset="0"/>
                <a:ea typeface="Manrope" pitchFamily="34" charset="-122"/>
                <a:cs typeface="Manrope" pitchFamily="34" charset="-120"/>
              </a:rPr>
              <a:t>No</a:t>
            </a:r>
            <a:endParaRPr lang="en-US" sz="1600" dirty="0"/>
          </a:p>
          <a:p>
            <a:pPr algn="ctr" indent="0" marL="0">
              <a:lnSpc>
                <a:spcPct val="115000"/>
              </a:lnSpc>
              <a:buNone/>
            </a:pPr>
            <a:r>
              <a:rPr lang="en-US" sz="1600" b="1" dirty="0">
                <a:solidFill>
                  <a:srgbClr val="16303F"/>
                </a:solidFill>
                <a:latin typeface="Manrope" pitchFamily="34" charset="0"/>
                <a:ea typeface="Manrope" pitchFamily="34" charset="-122"/>
                <a:cs typeface="Manrope" pitchFamily="34" charset="-120"/>
              </a:rPr>
              <a:t>hard-coding</a:t>
            </a:r>
            <a:endParaRPr lang="en-US" sz="1600" dirty="0"/>
          </a:p>
        </p:txBody>
      </p:sp>
      <p:sp>
        <p:nvSpPr>
          <p:cNvPr id="7" name="Shape 4"/>
          <p:cNvSpPr/>
          <p:nvPr/>
        </p:nvSpPr>
        <p:spPr>
          <a:xfrm>
            <a:off x="2867558" y="2468880"/>
            <a:ext cx="1998878" cy="1874520"/>
          </a:xfrm>
          <a:prstGeom prst="rect">
            <a:avLst/>
          </a:prstGeom>
          <a:solidFill>
            <a:srgbClr val="FFFFFF"/>
          </a:solidFill>
          <a:ln w="12700">
            <a:solidFill>
              <a:srgbClr val="E4E0D8"/>
            </a:solidFill>
            <a:prstDash val="solid"/>
          </a:ln>
        </p:spPr>
      </p:sp>
      <p:sp>
        <p:nvSpPr>
          <p:cNvPr id="8" name="Text 5"/>
          <p:cNvSpPr txBox="1"/>
          <p:nvPr/>
        </p:nvSpPr>
        <p:spPr>
          <a:xfrm>
            <a:off x="2867558" y="2724912"/>
            <a:ext cx="1998878" cy="457200"/>
          </a:xfrm>
          <a:prstGeom prst="rect">
            <a:avLst/>
          </a:prstGeom>
          <a:noFill/>
          <a:ln/>
        </p:spPr>
        <p:txBody>
          <a:bodyPr wrap="square" lIns="0" tIns="0" rIns="0" bIns="0" rtlCol="0" anchor="ctr"/>
          <a:lstStyle/>
          <a:p>
            <a:pPr algn="ctr" indent="0" marL="0">
              <a:buNone/>
            </a:pPr>
            <a:r>
              <a:rPr lang="en-US" sz="2000" b="1" dirty="0">
                <a:solidFill>
                  <a:srgbClr val="C3BDB2"/>
                </a:solidFill>
                <a:latin typeface="Manrope" pitchFamily="34" charset="0"/>
                <a:ea typeface="Manrope" pitchFamily="34" charset="-122"/>
                <a:cs typeface="Manrope" pitchFamily="34" charset="-120"/>
              </a:rPr>
              <a:t>02</a:t>
            </a:r>
            <a:endParaRPr lang="en-US" sz="2000" dirty="0"/>
          </a:p>
        </p:txBody>
      </p:sp>
      <p:sp>
        <p:nvSpPr>
          <p:cNvPr id="9" name="Text 6"/>
          <p:cNvSpPr txBox="1"/>
          <p:nvPr/>
        </p:nvSpPr>
        <p:spPr>
          <a:xfrm>
            <a:off x="3004718" y="3310128"/>
            <a:ext cx="1724558" cy="868680"/>
          </a:xfrm>
          <a:prstGeom prst="rect">
            <a:avLst/>
          </a:prstGeom>
          <a:noFill/>
          <a:ln/>
        </p:spPr>
        <p:txBody>
          <a:bodyPr wrap="square" lIns="0" tIns="0" rIns="0" bIns="0" rtlCol="0" anchor="t"/>
          <a:lstStyle/>
          <a:p>
            <a:pPr algn="ctr" indent="0" marL="0">
              <a:lnSpc>
                <a:spcPct val="115000"/>
              </a:lnSpc>
              <a:buNone/>
            </a:pPr>
            <a:r>
              <a:rPr lang="en-US" sz="1600" b="1" dirty="0">
                <a:solidFill>
                  <a:srgbClr val="16303F"/>
                </a:solidFill>
                <a:latin typeface="Manrope" pitchFamily="34" charset="0"/>
                <a:ea typeface="Manrope" pitchFamily="34" charset="-122"/>
                <a:cs typeface="Manrope" pitchFamily="34" charset="-120"/>
              </a:rPr>
              <a:t>Varies by</a:t>
            </a:r>
            <a:endParaRPr lang="en-US" sz="1600" dirty="0"/>
          </a:p>
          <a:p>
            <a:pPr algn="ctr" indent="0" marL="0">
              <a:lnSpc>
                <a:spcPct val="115000"/>
              </a:lnSpc>
              <a:buNone/>
            </a:pPr>
            <a:r>
              <a:rPr lang="en-US" sz="1600" b="1" dirty="0">
                <a:solidFill>
                  <a:srgbClr val="16303F"/>
                </a:solidFill>
                <a:latin typeface="Manrope" pitchFamily="34" charset="0"/>
                <a:ea typeface="Manrope" pitchFamily="34" charset="-122"/>
                <a:cs typeface="Manrope" pitchFamily="34" charset="-120"/>
              </a:rPr>
              <a:t>environment</a:t>
            </a:r>
            <a:endParaRPr lang="en-US" sz="1600" dirty="0"/>
          </a:p>
        </p:txBody>
      </p:sp>
      <p:sp>
        <p:nvSpPr>
          <p:cNvPr id="10" name="Shape 7"/>
          <p:cNvSpPr/>
          <p:nvPr/>
        </p:nvSpPr>
        <p:spPr>
          <a:xfrm>
            <a:off x="5095037" y="2468880"/>
            <a:ext cx="1998878" cy="1874520"/>
          </a:xfrm>
          <a:prstGeom prst="rect">
            <a:avLst/>
          </a:prstGeom>
          <a:solidFill>
            <a:srgbClr val="FFFFFF"/>
          </a:solidFill>
          <a:ln w="12700">
            <a:solidFill>
              <a:srgbClr val="E4E0D8"/>
            </a:solidFill>
            <a:prstDash val="solid"/>
          </a:ln>
        </p:spPr>
      </p:sp>
      <p:sp>
        <p:nvSpPr>
          <p:cNvPr id="11" name="Text 8"/>
          <p:cNvSpPr txBox="1"/>
          <p:nvPr/>
        </p:nvSpPr>
        <p:spPr>
          <a:xfrm>
            <a:off x="5095037" y="2724912"/>
            <a:ext cx="1998878" cy="457200"/>
          </a:xfrm>
          <a:prstGeom prst="rect">
            <a:avLst/>
          </a:prstGeom>
          <a:noFill/>
          <a:ln/>
        </p:spPr>
        <p:txBody>
          <a:bodyPr wrap="square" lIns="0" tIns="0" rIns="0" bIns="0" rtlCol="0" anchor="ctr"/>
          <a:lstStyle/>
          <a:p>
            <a:pPr algn="ctr" indent="0" marL="0">
              <a:buNone/>
            </a:pPr>
            <a:r>
              <a:rPr lang="en-US" sz="2000" b="1" dirty="0">
                <a:solidFill>
                  <a:srgbClr val="C3BDB2"/>
                </a:solidFill>
                <a:latin typeface="Manrope" pitchFamily="34" charset="0"/>
                <a:ea typeface="Manrope" pitchFamily="34" charset="-122"/>
                <a:cs typeface="Manrope" pitchFamily="34" charset="-120"/>
              </a:rPr>
              <a:t>03</a:t>
            </a:r>
            <a:endParaRPr lang="en-US" sz="2000" dirty="0"/>
          </a:p>
        </p:txBody>
      </p:sp>
      <p:sp>
        <p:nvSpPr>
          <p:cNvPr id="12" name="Text 9"/>
          <p:cNvSpPr txBox="1"/>
          <p:nvPr/>
        </p:nvSpPr>
        <p:spPr>
          <a:xfrm>
            <a:off x="5232197" y="3310128"/>
            <a:ext cx="1724558" cy="868680"/>
          </a:xfrm>
          <a:prstGeom prst="rect">
            <a:avLst/>
          </a:prstGeom>
          <a:noFill/>
          <a:ln/>
        </p:spPr>
        <p:txBody>
          <a:bodyPr wrap="square" lIns="0" tIns="0" rIns="0" bIns="0" rtlCol="0" anchor="t"/>
          <a:lstStyle/>
          <a:p>
            <a:pPr algn="ctr" indent="0" marL="0">
              <a:lnSpc>
                <a:spcPct val="115000"/>
              </a:lnSpc>
              <a:buNone/>
            </a:pPr>
            <a:r>
              <a:rPr lang="en-US" sz="1600" b="1" dirty="0">
                <a:solidFill>
                  <a:srgbClr val="16303F"/>
                </a:solidFill>
                <a:latin typeface="Manrope" pitchFamily="34" charset="0"/>
                <a:ea typeface="Manrope" pitchFamily="34" charset="-122"/>
                <a:cs typeface="Manrope" pitchFamily="34" charset="-120"/>
              </a:rPr>
              <a:t>Change it</a:t>
            </a:r>
            <a:endParaRPr lang="en-US" sz="1600" dirty="0"/>
          </a:p>
          <a:p>
            <a:pPr algn="ctr" indent="0" marL="0">
              <a:lnSpc>
                <a:spcPct val="115000"/>
              </a:lnSpc>
              <a:buNone/>
            </a:pPr>
            <a:r>
              <a:rPr lang="en-US" sz="1600" b="1" dirty="0">
                <a:solidFill>
                  <a:srgbClr val="16303F"/>
                </a:solidFill>
                <a:latin typeface="Manrope" pitchFamily="34" charset="0"/>
                <a:ea typeface="Manrope" pitchFamily="34" charset="-122"/>
                <a:cs typeface="Manrope" pitchFamily="34" charset="-120"/>
              </a:rPr>
              <a:t>on the fly</a:t>
            </a:r>
            <a:endParaRPr lang="en-US" sz="1600" dirty="0"/>
          </a:p>
        </p:txBody>
      </p:sp>
      <p:sp>
        <p:nvSpPr>
          <p:cNvPr id="13" name="Shape 10"/>
          <p:cNvSpPr/>
          <p:nvPr/>
        </p:nvSpPr>
        <p:spPr>
          <a:xfrm>
            <a:off x="7322515" y="2468880"/>
            <a:ext cx="1998878" cy="1874520"/>
          </a:xfrm>
          <a:prstGeom prst="rect">
            <a:avLst/>
          </a:prstGeom>
          <a:solidFill>
            <a:srgbClr val="16303F"/>
          </a:solidFill>
          <a:ln w="12700">
            <a:solidFill>
              <a:srgbClr val="16303F"/>
            </a:solidFill>
            <a:prstDash val="solid"/>
          </a:ln>
        </p:spPr>
      </p:sp>
      <p:sp>
        <p:nvSpPr>
          <p:cNvPr id="14" name="Text 11"/>
          <p:cNvSpPr txBox="1"/>
          <p:nvPr/>
        </p:nvSpPr>
        <p:spPr>
          <a:xfrm>
            <a:off x="7322515" y="2724912"/>
            <a:ext cx="1998878" cy="457200"/>
          </a:xfrm>
          <a:prstGeom prst="rect">
            <a:avLst/>
          </a:prstGeom>
          <a:noFill/>
          <a:ln/>
        </p:spPr>
        <p:txBody>
          <a:bodyPr wrap="square" lIns="0" tIns="0" rIns="0" bIns="0" rtlCol="0" anchor="ctr"/>
          <a:lstStyle/>
          <a:p>
            <a:pPr algn="ctr" indent="0" marL="0">
              <a:buNone/>
            </a:pPr>
            <a:r>
              <a:rPr lang="en-US" sz="2000" b="1" dirty="0">
                <a:solidFill>
                  <a:srgbClr val="F4C233"/>
                </a:solidFill>
                <a:latin typeface="Manrope" pitchFamily="34" charset="0"/>
                <a:ea typeface="Manrope" pitchFamily="34" charset="-122"/>
                <a:cs typeface="Manrope" pitchFamily="34" charset="-120"/>
              </a:rPr>
              <a:t>04</a:t>
            </a:r>
            <a:endParaRPr lang="en-US" sz="2000" dirty="0"/>
          </a:p>
        </p:txBody>
      </p:sp>
      <p:sp>
        <p:nvSpPr>
          <p:cNvPr id="15" name="Text 12"/>
          <p:cNvSpPr txBox="1"/>
          <p:nvPr/>
        </p:nvSpPr>
        <p:spPr>
          <a:xfrm>
            <a:off x="7459675" y="3310128"/>
            <a:ext cx="1724558" cy="868680"/>
          </a:xfrm>
          <a:prstGeom prst="rect">
            <a:avLst/>
          </a:prstGeom>
          <a:noFill/>
          <a:ln/>
        </p:spPr>
        <p:txBody>
          <a:bodyPr wrap="square" lIns="0" tIns="0" rIns="0" bIns="0" rtlCol="0" anchor="t"/>
          <a:lstStyle/>
          <a:p>
            <a:pPr algn="ctr" indent="0" marL="0">
              <a:lnSpc>
                <a:spcPct val="115000"/>
              </a:lnSpc>
              <a:buNone/>
            </a:pPr>
            <a:r>
              <a:rPr lang="en-US" sz="1600" b="1" dirty="0">
                <a:solidFill>
                  <a:srgbClr val="FFFFFF"/>
                </a:solidFill>
                <a:latin typeface="Manrope" pitchFamily="34" charset="0"/>
                <a:ea typeface="Manrope" pitchFamily="34" charset="-122"/>
                <a:cs typeface="Manrope" pitchFamily="34" charset="-120"/>
              </a:rPr>
              <a:t>Trust</a:t>
            </a:r>
            <a:endParaRPr lang="en-US" sz="1600" dirty="0"/>
          </a:p>
        </p:txBody>
      </p:sp>
      <p:sp>
        <p:nvSpPr>
          <p:cNvPr id="16" name="Shape 13"/>
          <p:cNvSpPr/>
          <p:nvPr/>
        </p:nvSpPr>
        <p:spPr>
          <a:xfrm>
            <a:off x="9549994" y="2468880"/>
            <a:ext cx="1998878" cy="1874520"/>
          </a:xfrm>
          <a:prstGeom prst="rect">
            <a:avLst/>
          </a:prstGeom>
          <a:solidFill>
            <a:srgbClr val="16303F"/>
          </a:solidFill>
          <a:ln w="12700">
            <a:solidFill>
              <a:srgbClr val="16303F"/>
            </a:solidFill>
            <a:prstDash val="solid"/>
          </a:ln>
        </p:spPr>
      </p:sp>
      <p:sp>
        <p:nvSpPr>
          <p:cNvPr id="17" name="Text 14"/>
          <p:cNvSpPr txBox="1"/>
          <p:nvPr/>
        </p:nvSpPr>
        <p:spPr>
          <a:xfrm>
            <a:off x="9549994" y="2724912"/>
            <a:ext cx="1998878" cy="457200"/>
          </a:xfrm>
          <a:prstGeom prst="rect">
            <a:avLst/>
          </a:prstGeom>
          <a:noFill/>
          <a:ln/>
        </p:spPr>
        <p:txBody>
          <a:bodyPr wrap="square" lIns="0" tIns="0" rIns="0" bIns="0" rtlCol="0" anchor="ctr"/>
          <a:lstStyle/>
          <a:p>
            <a:pPr algn="ctr" indent="0" marL="0">
              <a:buNone/>
            </a:pPr>
            <a:r>
              <a:rPr lang="en-US" sz="2000" b="1" dirty="0">
                <a:solidFill>
                  <a:srgbClr val="F4C233"/>
                </a:solidFill>
                <a:latin typeface="Manrope" pitchFamily="34" charset="0"/>
                <a:ea typeface="Manrope" pitchFamily="34" charset="-122"/>
                <a:cs typeface="Manrope" pitchFamily="34" charset="-120"/>
              </a:rPr>
              <a:t>05</a:t>
            </a:r>
            <a:endParaRPr lang="en-US" sz="2000" dirty="0"/>
          </a:p>
        </p:txBody>
      </p:sp>
      <p:sp>
        <p:nvSpPr>
          <p:cNvPr id="18" name="Text 15"/>
          <p:cNvSpPr txBox="1"/>
          <p:nvPr/>
        </p:nvSpPr>
        <p:spPr>
          <a:xfrm>
            <a:off x="9687154" y="3310128"/>
            <a:ext cx="1724558" cy="868680"/>
          </a:xfrm>
          <a:prstGeom prst="rect">
            <a:avLst/>
          </a:prstGeom>
          <a:noFill/>
          <a:ln/>
        </p:spPr>
        <p:txBody>
          <a:bodyPr wrap="square" lIns="0" tIns="0" rIns="0" bIns="0" rtlCol="0" anchor="t"/>
          <a:lstStyle/>
          <a:p>
            <a:pPr algn="ctr" indent="0" marL="0">
              <a:lnSpc>
                <a:spcPct val="115000"/>
              </a:lnSpc>
              <a:buNone/>
            </a:pPr>
            <a:r>
              <a:rPr lang="en-US" sz="1600" b="1" dirty="0">
                <a:solidFill>
                  <a:srgbClr val="FFFFFF"/>
                </a:solidFill>
                <a:latin typeface="Manrope" pitchFamily="34" charset="0"/>
                <a:ea typeface="Manrope" pitchFamily="34" charset="-122"/>
                <a:cs typeface="Manrope" pitchFamily="34" charset="-120"/>
              </a:rPr>
              <a:t>Ownership</a:t>
            </a:r>
            <a:endParaRPr lang="en-US" sz="1600" dirty="0"/>
          </a:p>
        </p:txBody>
      </p:sp>
      <p:sp>
        <p:nvSpPr>
          <p:cNvPr id="25" name="Slide Number Placeholder 0"/>
          <p:cNvSpPr>
            <a:spLocks noGrp="1"/>
          </p:cNvSpPr>
          <p:nvPr>
            <p:ph type="sldNum" sz="quarter" idx="4294967295"/>
          </p:nvPr>
        </p:nvSpPr>
        <p:spPr>
          <a:xfrm>
            <a:off x="10881360" y="6199632"/>
            <a:ext cx="667512" cy="292608"/>
          </a:xfrm>
          <a:prstGeom prst="rect">
            <a:avLst/>
          </a:prstGeom>
          <a:extLst>
            <a:ext uri="{C572A759-6A51-4108-AA02-DFA0A04FC94B}">
              <ma14:wrappingTextBoxFlag xmlns:ma14="http://schemas.microsoft.com/office/mac/drawingml/2011/main" val="0"/>
            </a:ext>
          </a:extLst>
        </p:spPr>
        <p:txBody>
          <a:bodyPr/>
          <a:lstStyle>
            <a:lvl1pPr>
              <a:defRPr sz="1000">
                <a:solidFill>
                  <a:srgbClr val="16303F"/>
                </a:solidFill>
                <a:latin typeface="Manrope"/>
                <a:ea typeface="Manrope"/>
                <a:cs typeface="Manrope"/>
              </a:defRPr>
            </a:lvl1pPr>
          </a:lstStyle>
          <a:p>
            <a:pPr algn="r"/>
            <a:fld id="{F7021451-1387-4CA6-816F-3879F97B5CBC}" type="slidenum">
              <a:rPr b="1"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2" name="Image 0" descr="C:\Users\kevin\AppData\Local\Temp\claude\G---talks-modern-dotnet-configuration\168b4f6d-c720-4fc0-8834-81425d739f7e\scratchpad\deck/../carbon/06-eras.png">    </p:cNvPr>
          <p:cNvPicPr>
            <a:picLocks noChangeAspect="1"/>
          </p:cNvPicPr>
          <p:nvPr/>
        </p:nvPicPr>
        <p:blipFill>
          <a:blip r:embed="rId1"/>
          <a:stretch>
            <a:fillRect/>
          </a:stretch>
        </p:blipFill>
        <p:spPr>
          <a:xfrm>
            <a:off x="2079429" y="548640"/>
            <a:ext cx="8030095" cy="5760720"/>
          </a:xfrm>
          <a:prstGeom prst="rect">
            <a:avLst/>
          </a:prstGeom>
        </p:spPr>
      </p:pic>
      <p:sp>
        <p:nvSpPr>
          <p:cNvPr id="25" name="Slide Number Placeholder 0"/>
          <p:cNvSpPr>
            <a:spLocks noGrp="1"/>
          </p:cNvSpPr>
          <p:nvPr>
            <p:ph type="sldNum" sz="quarter" idx="4294967295"/>
          </p:nvPr>
        </p:nvSpPr>
        <p:spPr>
          <a:xfrm>
            <a:off x="10881360" y="6199632"/>
            <a:ext cx="667512" cy="292608"/>
          </a:xfrm>
          <a:prstGeom prst="rect">
            <a:avLst/>
          </a:prstGeom>
          <a:extLst>
            <a:ext uri="{C572A759-6A51-4108-AA02-DFA0A04FC94B}">
              <ma14:wrappingTextBoxFlag xmlns:ma14="http://schemas.microsoft.com/office/mac/drawingml/2011/main" val="0"/>
            </a:ext>
          </a:extLst>
        </p:spPr>
        <p:txBody>
          <a:bodyPr/>
          <a:lstStyle>
            <a:lvl1pPr>
              <a:defRPr sz="1000">
                <a:solidFill>
                  <a:srgbClr val="F4C233"/>
                </a:solidFill>
                <a:latin typeface="Manrope"/>
                <a:ea typeface="Manrope"/>
                <a:cs typeface="Manrope"/>
              </a:defRPr>
            </a:lvl1pPr>
          </a:lstStyle>
          <a:p>
            <a:pPr algn="r"/>
            <a:fld id="{F7021451-1387-4CA6-816F-3879F97B5CBC}" type="slidenum">
              <a:rPr b="1"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2"/>
          <p:cNvSpPr/>
          <p:nvPr>
            <p:ph idx="102" type="title" hasCustomPrompt="1"/>
          </p:nvPr>
        </p:nvSpPr>
        <p:spPr>
          <a:xfrm>
            <a:off x="640080" y="2286000"/>
            <a:ext cx="10881360" cy="1371600"/>
          </a:xfrm>
          <a:prstGeom prst="rect">
            <a:avLst/>
          </a:prstGeom>
          <a:noFill/>
          <a:ln/>
        </p:spPr>
        <p:txBody>
          <a:bodyPr wrap="square" lIns="0" tIns="0" rIns="0" bIns="0" rtlCol="0"/>
          <a:lstStyle/>
          <a:p>
            <a:pPr algn="l" indent="0" marL="0">
              <a:buNone/>
            </a:pPr>
            <a:r>
              <a:rPr lang="en-US" sz="3800" b="1" dirty="0">
                <a:solidFill>
                  <a:srgbClr val="16303F"/>
                </a:solidFill>
                <a:latin typeface="Manrope" pitchFamily="34" charset="0"/>
                <a:ea typeface="Manrope" pitchFamily="34" charset="-122"/>
                <a:cs typeface="Manrope" pitchFamily="34" charset="-120"/>
              </a:rPr>
              <a:t>We traded a build-time decision</a:t>
            </a:r>
            <a:endParaRPr lang="en-US" sz="3800" dirty="0"/>
          </a:p>
          <a:p>
            <a:pPr algn="l" indent="0" marL="0">
              <a:buNone/>
            </a:pPr>
            <a:r>
              <a:rPr lang="en-US" sz="3800" b="1" dirty="0">
                <a:solidFill>
                  <a:srgbClr val="16303F"/>
                </a:solidFill>
                <a:latin typeface="Manrope" pitchFamily="34" charset="0"/>
                <a:ea typeface="Manrope" pitchFamily="34" charset="-122"/>
                <a:cs typeface="Manrope" pitchFamily="34" charset="-120"/>
              </a:rPr>
              <a:t>for a runtime one.</a:t>
            </a:r>
            <a:endParaRPr lang="en-US" sz="3800" dirty="0"/>
          </a:p>
        </p:txBody>
      </p:sp>
      <p:sp>
        <p:nvSpPr>
          <p:cNvPr id="25" name="Slide Number Placeholder 0"/>
          <p:cNvSpPr>
            <a:spLocks noGrp="1"/>
          </p:cNvSpPr>
          <p:nvPr>
            <p:ph type="sldNum" sz="quarter" idx="4294967295"/>
          </p:nvPr>
        </p:nvSpPr>
        <p:spPr>
          <a:xfrm>
            <a:off x="10881360" y="6199632"/>
            <a:ext cx="667512" cy="292608"/>
          </a:xfrm>
          <a:prstGeom prst="rect">
            <a:avLst/>
          </a:prstGeom>
          <a:extLst>
            <a:ext uri="{C572A759-6A51-4108-AA02-DFA0A04FC94B}">
              <ma14:wrappingTextBoxFlag xmlns:ma14="http://schemas.microsoft.com/office/mac/drawingml/2011/main" val="0"/>
            </a:ext>
          </a:extLst>
        </p:spPr>
        <p:txBody>
          <a:bodyPr/>
          <a:lstStyle>
            <a:lvl1pPr>
              <a:defRPr sz="1000">
                <a:solidFill>
                  <a:srgbClr val="16303F"/>
                </a:solidFill>
                <a:latin typeface="Manrope"/>
                <a:ea typeface="Manrope"/>
                <a:cs typeface="Manrope"/>
              </a:defRPr>
            </a:lvl1pPr>
          </a:lstStyle>
          <a:p>
            <a:pPr algn="r"/>
            <a:fld id="{F7021451-1387-4CA6-816F-3879F97B5CBC}" type="slidenum">
              <a:rPr b="1"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2"/>
          <p:cNvSpPr/>
          <p:nvPr>
            <p:ph idx="102" type="title" hasCustomPrompt="1"/>
          </p:nvPr>
        </p:nvSpPr>
        <p:spPr>
          <a:xfrm>
            <a:off x="640080" y="2286000"/>
            <a:ext cx="10881360" cy="1371600"/>
          </a:xfrm>
          <a:prstGeom prst="rect">
            <a:avLst/>
          </a:prstGeom>
          <a:noFill/>
          <a:ln/>
        </p:spPr>
        <p:txBody>
          <a:bodyPr wrap="square" lIns="0" tIns="0" rIns="0" bIns="0" rtlCol="0"/>
          <a:lstStyle/>
          <a:p>
            <a:pPr algn="l" indent="0" marL="0">
              <a:buNone/>
            </a:pPr>
            <a:r>
              <a:rPr lang="en-US" sz="3800" b="1" dirty="0">
                <a:solidFill>
                  <a:srgbClr val="16303F"/>
                </a:solidFill>
                <a:latin typeface="Manrope" pitchFamily="34" charset="0"/>
                <a:ea typeface="Manrope" pitchFamily="34" charset="-122"/>
                <a:cs typeface="Manrope" pitchFamily="34" charset="-120"/>
              </a:rPr>
              <a:t>If it could ever differ, it belongs in configuration.</a:t>
            </a:r>
            <a:endParaRPr lang="en-US" sz="3800" dirty="0"/>
          </a:p>
          <a:p>
            <a:pPr algn="l" indent="0" marL="0">
              <a:buNone/>
            </a:pPr>
            <a:r>
              <a:rPr lang="en-US" sz="3800" b="1" dirty="0">
                <a:solidFill>
                  <a:srgbClr val="16303F"/>
                </a:solidFill>
                <a:latin typeface="Manrope" pitchFamily="34" charset="0"/>
                <a:ea typeface="Manrope" pitchFamily="34" charset="-122"/>
                <a:cs typeface="Manrope" pitchFamily="34" charset="-120"/>
              </a:rPr>
              <a:t>If it could ever change without a deploy, it belongs behind a flag.</a:t>
            </a:r>
            <a:endParaRPr lang="en-US" sz="3800" dirty="0"/>
          </a:p>
        </p:txBody>
      </p:sp>
      <p:sp>
        <p:nvSpPr>
          <p:cNvPr id="25" name="Slide Number Placeholder 0"/>
          <p:cNvSpPr>
            <a:spLocks noGrp="1"/>
          </p:cNvSpPr>
          <p:nvPr>
            <p:ph type="sldNum" sz="quarter" idx="4294967295"/>
          </p:nvPr>
        </p:nvSpPr>
        <p:spPr>
          <a:xfrm>
            <a:off x="10881360" y="6199632"/>
            <a:ext cx="667512" cy="292608"/>
          </a:xfrm>
          <a:prstGeom prst="rect">
            <a:avLst/>
          </a:prstGeom>
          <a:extLst>
            <a:ext uri="{C572A759-6A51-4108-AA02-DFA0A04FC94B}">
              <ma14:wrappingTextBoxFlag xmlns:ma14="http://schemas.microsoft.com/office/mac/drawingml/2011/main" val="0"/>
            </a:ext>
          </a:extLst>
        </p:spPr>
        <p:txBody>
          <a:bodyPr/>
          <a:lstStyle>
            <a:lvl1pPr>
              <a:defRPr sz="1000">
                <a:solidFill>
                  <a:srgbClr val="16303F"/>
                </a:solidFill>
                <a:latin typeface="Manrope"/>
                <a:ea typeface="Manrope"/>
                <a:cs typeface="Manrope"/>
              </a:defRPr>
            </a:lvl1pPr>
          </a:lstStyle>
          <a:p>
            <a:pPr algn="r"/>
            <a:fld id="{F7021451-1387-4CA6-816F-3879F97B5CBC}" type="slidenum">
              <a:rPr b="1"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2"/>
          <p:cNvSpPr/>
          <p:nvPr>
            <p:ph idx="102" type="body" hasCustomPrompt="1"/>
          </p:nvPr>
        </p:nvSpPr>
        <p:spPr>
          <a:xfrm>
            <a:off x="640080" y="2331720"/>
            <a:ext cx="10881360" cy="365760"/>
          </a:xfrm>
          <a:prstGeom prst="rect">
            <a:avLst/>
          </a:prstGeom>
          <a:noFill/>
          <a:ln/>
        </p:spPr>
        <p:txBody>
          <a:bodyPr wrap="square" lIns="0" tIns="0" rIns="0" bIns="0" rtlCol="0"/>
          <a:lstStyle/>
          <a:p>
            <a:pPr indent="0" marL="0">
              <a:buNone/>
            </a:pPr>
            <a:r>
              <a:rPr lang="en-US" sz="1400" b="1" spc="200" kern="0" dirty="0">
                <a:solidFill>
                  <a:srgbClr val="F4C233"/>
                </a:solidFill>
                <a:latin typeface="Manrope" pitchFamily="34" charset="0"/>
                <a:ea typeface="Manrope" pitchFamily="34" charset="-122"/>
                <a:cs typeface="Manrope" pitchFamily="34" charset="-120"/>
              </a:rPr>
              <a:t>THE SPINE</a:t>
            </a:r>
            <a:endParaRPr lang="en-US" sz="1400" dirty="0"/>
          </a:p>
        </p:txBody>
      </p:sp>
      <p:sp>
        <p:nvSpPr>
          <p:cNvPr id="3" name="Text 2"/>
          <p:cNvSpPr/>
          <p:nvPr>
            <p:ph idx="103" type="title" hasCustomPrompt="1"/>
          </p:nvPr>
        </p:nvSpPr>
        <p:spPr>
          <a:xfrm>
            <a:off x="640080" y="3017520"/>
            <a:ext cx="10881360" cy="1371600"/>
          </a:xfrm>
          <a:prstGeom prst="rect">
            <a:avLst/>
          </a:prstGeom>
          <a:noFill/>
          <a:ln/>
        </p:spPr>
        <p:txBody>
          <a:bodyPr wrap="square" lIns="0" tIns="0" rIns="0" bIns="0" rtlCol="0"/>
          <a:lstStyle/>
          <a:p>
            <a:pPr algn="l" indent="0" marL="0">
              <a:buNone/>
            </a:pPr>
            <a:r>
              <a:rPr lang="en-US" sz="4400" b="1" dirty="0">
                <a:solidFill>
                  <a:srgbClr val="FFFFFF"/>
                </a:solidFill>
                <a:latin typeface="Manrope" pitchFamily="34" charset="0"/>
                <a:ea typeface="Manrope" pitchFamily="34" charset="-122"/>
                <a:cs typeface="Manrope" pitchFamily="34" charset="-120"/>
              </a:rPr>
              <a:t>local dev → deployment → shared</a:t>
            </a:r>
            <a:endParaRPr lang="en-US" sz="4400" dirty="0"/>
          </a:p>
        </p:txBody>
      </p:sp>
      <p:sp>
        <p:nvSpPr>
          <p:cNvPr id="25" name="Slide Number Placeholder 0"/>
          <p:cNvSpPr>
            <a:spLocks noGrp="1"/>
          </p:cNvSpPr>
          <p:nvPr>
            <p:ph type="sldNum" sz="quarter" idx="4294967295"/>
          </p:nvPr>
        </p:nvSpPr>
        <p:spPr>
          <a:xfrm>
            <a:off x="10881360" y="6199632"/>
            <a:ext cx="667512" cy="292608"/>
          </a:xfrm>
          <a:prstGeom prst="rect">
            <a:avLst/>
          </a:prstGeom>
          <a:extLst>
            <a:ext uri="{C572A759-6A51-4108-AA02-DFA0A04FC94B}">
              <ma14:wrappingTextBoxFlag xmlns:ma14="http://schemas.microsoft.com/office/mac/drawingml/2011/main" val="0"/>
            </a:ext>
          </a:extLst>
        </p:spPr>
        <p:txBody>
          <a:bodyPr/>
          <a:lstStyle>
            <a:lvl1pPr>
              <a:defRPr sz="1000">
                <a:solidFill>
                  <a:srgbClr val="F4C233"/>
                </a:solidFill>
                <a:latin typeface="Manrope"/>
                <a:ea typeface="Manrope"/>
                <a:cs typeface="Manrope"/>
              </a:defRPr>
            </a:lvl1pPr>
          </a:lstStyle>
          <a:p>
            <a:pPr algn="r"/>
            <a:fld id="{F7021451-1387-4CA6-816F-3879F97B5CBC}" type="slidenum">
              <a:rPr b="1"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2"/>
          <p:cNvSpPr/>
          <p:nvPr>
            <p:ph idx="102" type="title" hasCustomPrompt="1"/>
          </p:nvPr>
        </p:nvSpPr>
        <p:spPr>
          <a:xfrm>
            <a:off x="640080" y="841248"/>
            <a:ext cx="10881360" cy="822960"/>
          </a:xfrm>
          <a:prstGeom prst="rect">
            <a:avLst/>
          </a:prstGeom>
          <a:noFill/>
          <a:ln/>
        </p:spPr>
        <p:txBody>
          <a:bodyPr wrap="square" lIns="0" tIns="0" rIns="0" bIns="0" rtlCol="0"/>
          <a:lstStyle/>
          <a:p>
            <a:pPr algn="l" indent="0" marL="0">
              <a:buNone/>
            </a:pPr>
            <a:r>
              <a:rPr lang="en-US" sz="3200" b="1" dirty="0">
                <a:solidFill>
                  <a:srgbClr val="16303F"/>
                </a:solidFill>
                <a:latin typeface="Manrope" pitchFamily="34" charset="0"/>
                <a:ea typeface="Manrope" pitchFamily="34" charset="-122"/>
                <a:cs typeface="Manrope" pitchFamily="34" charset="-120"/>
              </a:rPr>
              <a:t>Almost every config bug is one of four things</a:t>
            </a:r>
            <a:endParaRPr lang="en-US" sz="3200" dirty="0"/>
          </a:p>
        </p:txBody>
      </p:sp>
      <p:sp>
        <p:nvSpPr>
          <p:cNvPr id="4" name="Shape 1"/>
          <p:cNvSpPr/>
          <p:nvPr/>
        </p:nvSpPr>
        <p:spPr>
          <a:xfrm>
            <a:off x="640080" y="2194560"/>
            <a:ext cx="5303520" cy="1691640"/>
          </a:xfrm>
          <a:prstGeom prst="rect">
            <a:avLst/>
          </a:prstGeom>
          <a:solidFill>
            <a:srgbClr val="FFFFFF"/>
          </a:solidFill>
          <a:ln w="12700">
            <a:solidFill>
              <a:srgbClr val="E4E0D8"/>
            </a:solidFill>
            <a:prstDash val="solid"/>
          </a:ln>
        </p:spPr>
      </p:sp>
      <p:sp>
        <p:nvSpPr>
          <p:cNvPr id="5" name="Text 2"/>
          <p:cNvSpPr txBox="1"/>
          <p:nvPr/>
        </p:nvSpPr>
        <p:spPr>
          <a:xfrm>
            <a:off x="1051560" y="2523744"/>
            <a:ext cx="4480560" cy="411480"/>
          </a:xfrm>
          <a:prstGeom prst="rect">
            <a:avLst/>
          </a:prstGeom>
          <a:noFill/>
          <a:ln/>
        </p:spPr>
        <p:txBody>
          <a:bodyPr wrap="square" lIns="0" tIns="0" rIns="0" bIns="0" rtlCol="0" anchor="ctr"/>
          <a:lstStyle/>
          <a:p>
            <a:pPr indent="0" marL="0">
              <a:buNone/>
            </a:pPr>
            <a:r>
              <a:rPr lang="en-US" sz="1900" b="1" spc="150" kern="0" dirty="0">
                <a:solidFill>
                  <a:srgbClr val="16303F"/>
                </a:solidFill>
                <a:latin typeface="Manrope" pitchFamily="34" charset="0"/>
                <a:ea typeface="Manrope" pitchFamily="34" charset="-122"/>
                <a:cs typeface="Manrope" pitchFamily="34" charset="-120"/>
              </a:rPr>
              <a:t>ORDER</a:t>
            </a:r>
            <a:endParaRPr lang="en-US" sz="1900" dirty="0"/>
          </a:p>
        </p:txBody>
      </p:sp>
      <p:sp>
        <p:nvSpPr>
          <p:cNvPr id="6" name="Text 3"/>
          <p:cNvSpPr txBox="1"/>
          <p:nvPr/>
        </p:nvSpPr>
        <p:spPr>
          <a:xfrm>
            <a:off x="1051560" y="3035808"/>
            <a:ext cx="4480560" cy="640080"/>
          </a:xfrm>
          <a:prstGeom prst="rect">
            <a:avLst/>
          </a:prstGeom>
          <a:noFill/>
          <a:ln/>
        </p:spPr>
        <p:txBody>
          <a:bodyPr wrap="square" lIns="0" tIns="0" rIns="0" bIns="0" rtlCol="0" anchor="ctr"/>
          <a:lstStyle/>
          <a:p>
            <a:pPr indent="0" marL="0">
              <a:lnSpc>
                <a:spcPct val="120000"/>
              </a:lnSpc>
              <a:buNone/>
            </a:pPr>
            <a:r>
              <a:rPr lang="en-US" sz="1300" dirty="0">
                <a:solidFill>
                  <a:srgbClr val="8A9299"/>
                </a:solidFill>
                <a:latin typeface="Manrope" pitchFamily="34" charset="0"/>
                <a:ea typeface="Manrope" pitchFamily="34" charset="-122"/>
                <a:cs typeface="Manrope" pitchFamily="34" charset="-120"/>
              </a:rPr>
              <a:t>A provider you forgot about is winning.</a:t>
            </a:r>
            <a:endParaRPr lang="en-US" sz="1300" dirty="0"/>
          </a:p>
        </p:txBody>
      </p:sp>
      <p:sp>
        <p:nvSpPr>
          <p:cNvPr id="7" name="Shape 4"/>
          <p:cNvSpPr/>
          <p:nvPr/>
        </p:nvSpPr>
        <p:spPr>
          <a:xfrm>
            <a:off x="6245352" y="2194560"/>
            <a:ext cx="5303520" cy="1691640"/>
          </a:xfrm>
          <a:prstGeom prst="rect">
            <a:avLst/>
          </a:prstGeom>
          <a:solidFill>
            <a:srgbClr val="FFFFFF"/>
          </a:solidFill>
          <a:ln w="12700">
            <a:solidFill>
              <a:srgbClr val="E4E0D8"/>
            </a:solidFill>
            <a:prstDash val="solid"/>
          </a:ln>
        </p:spPr>
      </p:sp>
      <p:sp>
        <p:nvSpPr>
          <p:cNvPr id="8" name="Text 5"/>
          <p:cNvSpPr txBox="1"/>
          <p:nvPr/>
        </p:nvSpPr>
        <p:spPr>
          <a:xfrm>
            <a:off x="6656832" y="2523744"/>
            <a:ext cx="4480560" cy="411480"/>
          </a:xfrm>
          <a:prstGeom prst="rect">
            <a:avLst/>
          </a:prstGeom>
          <a:noFill/>
          <a:ln/>
        </p:spPr>
        <p:txBody>
          <a:bodyPr wrap="square" lIns="0" tIns="0" rIns="0" bIns="0" rtlCol="0" anchor="ctr"/>
          <a:lstStyle/>
          <a:p>
            <a:pPr indent="0" marL="0">
              <a:buNone/>
            </a:pPr>
            <a:r>
              <a:rPr lang="en-US" sz="1900" b="1" spc="150" kern="0" dirty="0">
                <a:solidFill>
                  <a:srgbClr val="16303F"/>
                </a:solidFill>
                <a:latin typeface="Manrope" pitchFamily="34" charset="0"/>
                <a:ea typeface="Manrope" pitchFamily="34" charset="-122"/>
                <a:cs typeface="Manrope" pitchFamily="34" charset="-120"/>
              </a:rPr>
              <a:t>SHAPE</a:t>
            </a:r>
            <a:endParaRPr lang="en-US" sz="1900" dirty="0"/>
          </a:p>
        </p:txBody>
      </p:sp>
      <p:sp>
        <p:nvSpPr>
          <p:cNvPr id="9" name="Text 6"/>
          <p:cNvSpPr txBox="1"/>
          <p:nvPr/>
        </p:nvSpPr>
        <p:spPr>
          <a:xfrm>
            <a:off x="6656832" y="3035808"/>
            <a:ext cx="4480560" cy="640080"/>
          </a:xfrm>
          <a:prstGeom prst="rect">
            <a:avLst/>
          </a:prstGeom>
          <a:noFill/>
          <a:ln/>
        </p:spPr>
        <p:txBody>
          <a:bodyPr wrap="square" lIns="0" tIns="0" rIns="0" bIns="0" rtlCol="0" anchor="ctr"/>
          <a:lstStyle/>
          <a:p>
            <a:pPr indent="0" marL="0">
              <a:lnSpc>
                <a:spcPct val="120000"/>
              </a:lnSpc>
              <a:buNone/>
            </a:pPr>
            <a:r>
              <a:rPr lang="en-US" sz="1300" dirty="0">
                <a:solidFill>
                  <a:srgbClr val="8A9299"/>
                </a:solidFill>
                <a:latin typeface="Manrope" pitchFamily="34" charset="0"/>
                <a:ea typeface="Manrope" pitchFamily="34" charset="-122"/>
                <a:cs typeface="Manrope" pitchFamily="34" charset="-120"/>
              </a:rPr>
              <a:t>The key you set isn't the key the binder wants.</a:t>
            </a:r>
            <a:endParaRPr lang="en-US" sz="1300" dirty="0"/>
          </a:p>
        </p:txBody>
      </p:sp>
      <p:sp>
        <p:nvSpPr>
          <p:cNvPr id="10" name="Shape 7"/>
          <p:cNvSpPr/>
          <p:nvPr/>
        </p:nvSpPr>
        <p:spPr>
          <a:xfrm>
            <a:off x="640080" y="4160520"/>
            <a:ext cx="5303520" cy="1691640"/>
          </a:xfrm>
          <a:prstGeom prst="rect">
            <a:avLst/>
          </a:prstGeom>
          <a:solidFill>
            <a:srgbClr val="FFFFFF"/>
          </a:solidFill>
          <a:ln w="12700">
            <a:solidFill>
              <a:srgbClr val="E4E0D8"/>
            </a:solidFill>
            <a:prstDash val="solid"/>
          </a:ln>
        </p:spPr>
      </p:sp>
      <p:sp>
        <p:nvSpPr>
          <p:cNvPr id="11" name="Text 8"/>
          <p:cNvSpPr txBox="1"/>
          <p:nvPr/>
        </p:nvSpPr>
        <p:spPr>
          <a:xfrm>
            <a:off x="1051560" y="4489704"/>
            <a:ext cx="4480560" cy="411480"/>
          </a:xfrm>
          <a:prstGeom prst="rect">
            <a:avLst/>
          </a:prstGeom>
          <a:noFill/>
          <a:ln/>
        </p:spPr>
        <p:txBody>
          <a:bodyPr wrap="square" lIns="0" tIns="0" rIns="0" bIns="0" rtlCol="0" anchor="ctr"/>
          <a:lstStyle/>
          <a:p>
            <a:pPr indent="0" marL="0">
              <a:buNone/>
            </a:pPr>
            <a:r>
              <a:rPr lang="en-US" sz="1900" b="1" spc="150" kern="0" dirty="0">
                <a:solidFill>
                  <a:srgbClr val="16303F"/>
                </a:solidFill>
                <a:latin typeface="Manrope" pitchFamily="34" charset="0"/>
                <a:ea typeface="Manrope" pitchFamily="34" charset="-122"/>
                <a:cs typeface="Manrope" pitchFamily="34" charset="-120"/>
              </a:rPr>
              <a:t>LIFETIME</a:t>
            </a:r>
            <a:endParaRPr lang="en-US" sz="1900" dirty="0"/>
          </a:p>
        </p:txBody>
      </p:sp>
      <p:sp>
        <p:nvSpPr>
          <p:cNvPr id="12" name="Text 9"/>
          <p:cNvSpPr txBox="1"/>
          <p:nvPr/>
        </p:nvSpPr>
        <p:spPr>
          <a:xfrm>
            <a:off x="1051560" y="5001768"/>
            <a:ext cx="4480560" cy="640080"/>
          </a:xfrm>
          <a:prstGeom prst="rect">
            <a:avLst/>
          </a:prstGeom>
          <a:noFill/>
          <a:ln/>
        </p:spPr>
        <p:txBody>
          <a:bodyPr wrap="square" lIns="0" tIns="0" rIns="0" bIns="0" rtlCol="0" anchor="ctr"/>
          <a:lstStyle/>
          <a:p>
            <a:pPr indent="0" marL="0">
              <a:lnSpc>
                <a:spcPct val="120000"/>
              </a:lnSpc>
              <a:buNone/>
            </a:pPr>
            <a:r>
              <a:rPr lang="en-US" sz="1300" dirty="0">
                <a:solidFill>
                  <a:srgbClr val="8A9299"/>
                </a:solidFill>
                <a:latin typeface="Manrope" pitchFamily="34" charset="0"/>
                <a:ea typeface="Manrope" pitchFamily="34" charset="-122"/>
                <a:cs typeface="Manrope" pitchFamily="34" charset="-120"/>
              </a:rPr>
              <a:t>You cached what should change — or didn't cache what shouldn't.</a:t>
            </a:r>
            <a:endParaRPr lang="en-US" sz="1300" dirty="0"/>
          </a:p>
        </p:txBody>
      </p:sp>
      <p:sp>
        <p:nvSpPr>
          <p:cNvPr id="13" name="Shape 10"/>
          <p:cNvSpPr/>
          <p:nvPr/>
        </p:nvSpPr>
        <p:spPr>
          <a:xfrm>
            <a:off x="6245352" y="4160520"/>
            <a:ext cx="5303520" cy="1691640"/>
          </a:xfrm>
          <a:prstGeom prst="rect">
            <a:avLst/>
          </a:prstGeom>
          <a:solidFill>
            <a:srgbClr val="FFFFFF"/>
          </a:solidFill>
          <a:ln w="12700">
            <a:solidFill>
              <a:srgbClr val="E4E0D8"/>
            </a:solidFill>
            <a:prstDash val="solid"/>
          </a:ln>
        </p:spPr>
      </p:sp>
      <p:sp>
        <p:nvSpPr>
          <p:cNvPr id="14" name="Text 11"/>
          <p:cNvSpPr txBox="1"/>
          <p:nvPr/>
        </p:nvSpPr>
        <p:spPr>
          <a:xfrm>
            <a:off x="6656832" y="4489704"/>
            <a:ext cx="4480560" cy="411480"/>
          </a:xfrm>
          <a:prstGeom prst="rect">
            <a:avLst/>
          </a:prstGeom>
          <a:noFill/>
          <a:ln/>
        </p:spPr>
        <p:txBody>
          <a:bodyPr wrap="square" lIns="0" tIns="0" rIns="0" bIns="0" rtlCol="0" anchor="ctr"/>
          <a:lstStyle/>
          <a:p>
            <a:pPr indent="0" marL="0">
              <a:buNone/>
            </a:pPr>
            <a:r>
              <a:rPr lang="en-US" sz="1900" b="1" spc="150" kern="0" dirty="0">
                <a:solidFill>
                  <a:srgbClr val="16303F"/>
                </a:solidFill>
                <a:latin typeface="Manrope" pitchFamily="34" charset="0"/>
                <a:ea typeface="Manrope" pitchFamily="34" charset="-122"/>
                <a:cs typeface="Manrope" pitchFamily="34" charset="-120"/>
              </a:rPr>
              <a:t>TRUST</a:t>
            </a:r>
            <a:endParaRPr lang="en-US" sz="1900" dirty="0"/>
          </a:p>
        </p:txBody>
      </p:sp>
      <p:sp>
        <p:nvSpPr>
          <p:cNvPr id="15" name="Text 12"/>
          <p:cNvSpPr txBox="1"/>
          <p:nvPr/>
        </p:nvSpPr>
        <p:spPr>
          <a:xfrm>
            <a:off x="6656832" y="5001768"/>
            <a:ext cx="4480560" cy="640080"/>
          </a:xfrm>
          <a:prstGeom prst="rect">
            <a:avLst/>
          </a:prstGeom>
          <a:noFill/>
          <a:ln/>
        </p:spPr>
        <p:txBody>
          <a:bodyPr wrap="square" lIns="0" tIns="0" rIns="0" bIns="0" rtlCol="0" anchor="ctr"/>
          <a:lstStyle/>
          <a:p>
            <a:pPr indent="0" marL="0">
              <a:lnSpc>
                <a:spcPct val="120000"/>
              </a:lnSpc>
              <a:buNone/>
            </a:pPr>
            <a:r>
              <a:rPr lang="en-US" sz="1300" dirty="0">
                <a:solidFill>
                  <a:srgbClr val="8A9299"/>
                </a:solidFill>
                <a:latin typeface="Manrope" pitchFamily="34" charset="0"/>
                <a:ea typeface="Manrope" pitchFamily="34" charset="-122"/>
                <a:cs typeface="Manrope" pitchFamily="34" charset="-120"/>
              </a:rPr>
              <a:t>A secret is sitting in a file that ships.</a:t>
            </a:r>
            <a:endParaRPr lang="en-US" sz="1300" dirty="0"/>
          </a:p>
        </p:txBody>
      </p:sp>
      <p:sp>
        <p:nvSpPr>
          <p:cNvPr id="25" name="Slide Number Placeholder 0"/>
          <p:cNvSpPr>
            <a:spLocks noGrp="1"/>
          </p:cNvSpPr>
          <p:nvPr>
            <p:ph type="sldNum" sz="quarter" idx="4294967295"/>
          </p:nvPr>
        </p:nvSpPr>
        <p:spPr>
          <a:xfrm>
            <a:off x="10881360" y="6199632"/>
            <a:ext cx="667512" cy="292608"/>
          </a:xfrm>
          <a:prstGeom prst="rect">
            <a:avLst/>
          </a:prstGeom>
          <a:extLst>
            <a:ext uri="{C572A759-6A51-4108-AA02-DFA0A04FC94B}">
              <ma14:wrappingTextBoxFlag xmlns:ma14="http://schemas.microsoft.com/office/mac/drawingml/2011/main" val="0"/>
            </a:ext>
          </a:extLst>
        </p:spPr>
        <p:txBody>
          <a:bodyPr/>
          <a:lstStyle>
            <a:lvl1pPr>
              <a:defRPr sz="1000">
                <a:solidFill>
                  <a:srgbClr val="16303F"/>
                </a:solidFill>
                <a:latin typeface="Manrope"/>
                <a:ea typeface="Manrope"/>
                <a:cs typeface="Manrope"/>
              </a:defRPr>
            </a:lvl1pPr>
          </a:lstStyle>
          <a:p>
            <a:pPr algn="r"/>
            <a:fld id="{F7021451-1387-4CA6-816F-3879F97B5CBC}" type="slidenum">
              <a:rPr b="1"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2"/>
          <p:cNvSpPr/>
          <p:nvPr>
            <p:ph idx="102" type="title" hasCustomPrompt="1"/>
          </p:nvPr>
        </p:nvSpPr>
        <p:spPr>
          <a:xfrm>
            <a:off x="640080" y="841248"/>
            <a:ext cx="10881360" cy="822960"/>
          </a:xfrm>
          <a:prstGeom prst="rect">
            <a:avLst/>
          </a:prstGeom>
          <a:noFill/>
          <a:ln/>
        </p:spPr>
        <p:txBody>
          <a:bodyPr wrap="square" lIns="0" tIns="0" rIns="0" bIns="0" rtlCol="0"/>
          <a:lstStyle/>
          <a:p>
            <a:pPr algn="l" indent="0" marL="0">
              <a:buNone/>
            </a:pPr>
            <a:r>
              <a:rPr lang="en-US" sz="3200" b="1" dirty="0">
                <a:solidFill>
                  <a:srgbClr val="16303F"/>
                </a:solidFill>
                <a:latin typeface="Manrope" pitchFamily="34" charset="0"/>
                <a:ea typeface="Manrope" pitchFamily="34" charset="-122"/>
                <a:cs typeface="Manrope" pitchFamily="34" charset="-120"/>
              </a:rPr>
              <a:t>It's one flat dictionary</a:t>
            </a:r>
            <a:endParaRPr lang="en-US" sz="3200" dirty="0"/>
          </a:p>
        </p:txBody>
      </p:sp>
      <p:sp>
        <p:nvSpPr>
          <p:cNvPr id="4" name="Text 1"/>
          <p:cNvSpPr txBox="1"/>
          <p:nvPr/>
        </p:nvSpPr>
        <p:spPr>
          <a:xfrm>
            <a:off x="640080" y="1938528"/>
            <a:ext cx="5029200" cy="292608"/>
          </a:xfrm>
          <a:prstGeom prst="rect">
            <a:avLst/>
          </a:prstGeom>
          <a:noFill/>
          <a:ln/>
        </p:spPr>
        <p:txBody>
          <a:bodyPr wrap="square" lIns="0" tIns="0" rIns="0" bIns="0" rtlCol="0" anchor="ctr"/>
          <a:lstStyle/>
          <a:p>
            <a:pPr indent="0" marL="0">
              <a:buNone/>
            </a:pPr>
            <a:r>
              <a:rPr lang="en-US" sz="1100" b="1" spc="150" kern="0" dirty="0">
                <a:solidFill>
                  <a:srgbClr val="8A9299"/>
                </a:solidFill>
                <a:latin typeface="Manrope" pitchFamily="34" charset="0"/>
                <a:ea typeface="Manrope" pitchFamily="34" charset="-122"/>
                <a:cs typeface="Manrope" pitchFamily="34" charset="-120"/>
              </a:rPr>
              <a:t>WHAT YOU WROTE</a:t>
            </a:r>
            <a:endParaRPr lang="en-US" sz="1100" dirty="0"/>
          </a:p>
        </p:txBody>
      </p:sp>
      <p:pic>
        <p:nvPicPr>
          <p:cNvPr id="5" name="Image 0" descr="C:\Users\kevin\AppData\Local\Temp\claude\G---talks-modern-dotnet-configuration\168b4f6d-c720-4fc0-8834-81425d739f7e\scratchpad\deck/../carbon/11-json.png">    </p:cNvPr>
          <p:cNvPicPr>
            <a:picLocks noChangeAspect="1"/>
          </p:cNvPicPr>
          <p:nvPr/>
        </p:nvPicPr>
        <p:blipFill>
          <a:blip r:embed="rId1"/>
          <a:stretch>
            <a:fillRect/>
          </a:stretch>
        </p:blipFill>
        <p:spPr>
          <a:xfrm>
            <a:off x="640080" y="2331720"/>
            <a:ext cx="4429719" cy="3017520"/>
          </a:xfrm>
          <a:prstGeom prst="rect">
            <a:avLst/>
          </a:prstGeom>
        </p:spPr>
      </p:pic>
      <p:sp>
        <p:nvSpPr>
          <p:cNvPr id="6" name="Text 2"/>
          <p:cNvSpPr txBox="1"/>
          <p:nvPr/>
        </p:nvSpPr>
        <p:spPr>
          <a:xfrm>
            <a:off x="5669280" y="3474720"/>
            <a:ext cx="850392" cy="731520"/>
          </a:xfrm>
          <a:prstGeom prst="rect">
            <a:avLst/>
          </a:prstGeom>
          <a:noFill/>
          <a:ln/>
        </p:spPr>
        <p:txBody>
          <a:bodyPr wrap="square" lIns="0" tIns="0" rIns="0" bIns="0" rtlCol="0" anchor="ctr"/>
          <a:lstStyle/>
          <a:p>
            <a:pPr algn="ctr" indent="0" marL="0">
              <a:buNone/>
            </a:pPr>
            <a:r>
              <a:rPr lang="en-US" sz="3000" b="1" dirty="0">
                <a:solidFill>
                  <a:srgbClr val="F4C233"/>
                </a:solidFill>
                <a:latin typeface="Manrope" pitchFamily="34" charset="0"/>
                <a:ea typeface="Manrope" pitchFamily="34" charset="-122"/>
                <a:cs typeface="Manrope" pitchFamily="34" charset="-120"/>
              </a:rPr>
              <a:t>→</a:t>
            </a:r>
            <a:endParaRPr lang="en-US" sz="3000" dirty="0"/>
          </a:p>
        </p:txBody>
      </p:sp>
      <p:sp>
        <p:nvSpPr>
          <p:cNvPr id="7" name="Text 3"/>
          <p:cNvSpPr txBox="1"/>
          <p:nvPr/>
        </p:nvSpPr>
        <p:spPr>
          <a:xfrm>
            <a:off x="6519672" y="1938528"/>
            <a:ext cx="5029200" cy="292608"/>
          </a:xfrm>
          <a:prstGeom prst="rect">
            <a:avLst/>
          </a:prstGeom>
          <a:noFill/>
          <a:ln/>
        </p:spPr>
        <p:txBody>
          <a:bodyPr wrap="square" lIns="0" tIns="0" rIns="0" bIns="0" rtlCol="0" anchor="ctr"/>
          <a:lstStyle/>
          <a:p>
            <a:pPr indent="0" marL="0">
              <a:buNone/>
            </a:pPr>
            <a:r>
              <a:rPr lang="en-US" sz="1100" b="1" spc="150" kern="0" dirty="0">
                <a:solidFill>
                  <a:srgbClr val="8A9299"/>
                </a:solidFill>
                <a:latin typeface="Manrope" pitchFamily="34" charset="0"/>
                <a:ea typeface="Manrope" pitchFamily="34" charset="-122"/>
                <a:cs typeface="Manrope" pitchFamily="34" charset="-120"/>
              </a:rPr>
              <a:t>WHAT ACTUALLY EXISTS</a:t>
            </a:r>
            <a:endParaRPr lang="en-US" sz="1100" dirty="0"/>
          </a:p>
        </p:txBody>
      </p:sp>
      <p:sp>
        <p:nvSpPr>
          <p:cNvPr id="8" name="Shape 4"/>
          <p:cNvSpPr/>
          <p:nvPr/>
        </p:nvSpPr>
        <p:spPr>
          <a:xfrm>
            <a:off x="6519672" y="2331720"/>
            <a:ext cx="5029200" cy="3017520"/>
          </a:xfrm>
          <a:prstGeom prst="rect">
            <a:avLst/>
          </a:prstGeom>
          <a:solidFill>
            <a:srgbClr val="FFFFFF"/>
          </a:solidFill>
          <a:ln w="12700">
            <a:solidFill>
              <a:srgbClr val="E4E0D8"/>
            </a:solidFill>
            <a:prstDash val="solid"/>
          </a:ln>
        </p:spPr>
      </p:sp>
      <p:sp>
        <p:nvSpPr>
          <p:cNvPr id="9" name="Text 5"/>
          <p:cNvSpPr txBox="1"/>
          <p:nvPr/>
        </p:nvSpPr>
        <p:spPr>
          <a:xfrm>
            <a:off x="6839712" y="2898648"/>
            <a:ext cx="4389120" cy="411480"/>
          </a:xfrm>
          <a:prstGeom prst="rect">
            <a:avLst/>
          </a:prstGeom>
          <a:noFill/>
          <a:ln/>
        </p:spPr>
        <p:txBody>
          <a:bodyPr wrap="square" lIns="0" tIns="0" rIns="0" bIns="0" rtlCol="0" anchor="ctr"/>
          <a:lstStyle/>
          <a:p>
            <a:pPr indent="0" marL="0">
              <a:buNone/>
            </a:pPr>
            <a:r>
              <a:rPr lang="en-US" sz="1400" b="1" dirty="0">
                <a:solidFill>
                  <a:srgbClr val="16303F"/>
                </a:solidFill>
                <a:latin typeface="JetBrains Mono" pitchFamily="34" charset="0"/>
                <a:ea typeface="JetBrains Mono" pitchFamily="34" charset="-122"/>
                <a:cs typeface="JetBrains Mono" pitchFamily="34" charset="-120"/>
              </a:rPr>
              <a:t>Weather:Timeout   </a:t>
            </a:r>
            <a:pPr indent="0" marL="0">
              <a:buNone/>
            </a:pPr>
            <a:r>
              <a:rPr lang="en-US" sz="1400" dirty="0">
                <a:solidFill>
                  <a:srgbClr val="B08900"/>
                </a:solidFill>
                <a:latin typeface="JetBrains Mono" pitchFamily="34" charset="0"/>
                <a:ea typeface="JetBrains Mono" pitchFamily="34" charset="-122"/>
                <a:cs typeface="JetBrains Mono" pitchFamily="34" charset="-120"/>
              </a:rPr>
              <a:t>"30"</a:t>
            </a:r>
            <a:endParaRPr lang="en-US" sz="1400" dirty="0"/>
          </a:p>
        </p:txBody>
      </p:sp>
      <p:sp>
        <p:nvSpPr>
          <p:cNvPr id="10" name="Text 6"/>
          <p:cNvSpPr txBox="1"/>
          <p:nvPr/>
        </p:nvSpPr>
        <p:spPr>
          <a:xfrm>
            <a:off x="6839712" y="3465576"/>
            <a:ext cx="4389120" cy="411480"/>
          </a:xfrm>
          <a:prstGeom prst="rect">
            <a:avLst/>
          </a:prstGeom>
          <a:noFill/>
          <a:ln/>
        </p:spPr>
        <p:txBody>
          <a:bodyPr wrap="square" lIns="0" tIns="0" rIns="0" bIns="0" rtlCol="0" anchor="ctr"/>
          <a:lstStyle/>
          <a:p>
            <a:pPr indent="0" marL="0">
              <a:buNone/>
            </a:pPr>
            <a:r>
              <a:rPr lang="en-US" sz="1400" b="1" dirty="0">
                <a:solidFill>
                  <a:srgbClr val="16303F"/>
                </a:solidFill>
                <a:latin typeface="JetBrains Mono" pitchFamily="34" charset="0"/>
                <a:ea typeface="JetBrains Mono" pitchFamily="34" charset="-122"/>
                <a:cs typeface="JetBrains Mono" pitchFamily="34" charset="-120"/>
              </a:rPr>
              <a:t>Weather:Hosts:0   </a:t>
            </a:r>
            <a:pPr indent="0" marL="0">
              <a:buNone/>
            </a:pPr>
            <a:r>
              <a:rPr lang="en-US" sz="1400" dirty="0">
                <a:solidFill>
                  <a:srgbClr val="B08900"/>
                </a:solidFill>
                <a:latin typeface="JetBrains Mono" pitchFamily="34" charset="0"/>
                <a:ea typeface="JetBrains Mono" pitchFamily="34" charset="-122"/>
                <a:cs typeface="JetBrains Mono" pitchFamily="34" charset="-120"/>
              </a:rPr>
              <a:t>"a"</a:t>
            </a:r>
            <a:endParaRPr lang="en-US" sz="1400" dirty="0"/>
          </a:p>
        </p:txBody>
      </p:sp>
      <p:sp>
        <p:nvSpPr>
          <p:cNvPr id="11" name="Text 7"/>
          <p:cNvSpPr txBox="1"/>
          <p:nvPr/>
        </p:nvSpPr>
        <p:spPr>
          <a:xfrm>
            <a:off x="6839712" y="4032504"/>
            <a:ext cx="4389120" cy="411480"/>
          </a:xfrm>
          <a:prstGeom prst="rect">
            <a:avLst/>
          </a:prstGeom>
          <a:noFill/>
          <a:ln/>
        </p:spPr>
        <p:txBody>
          <a:bodyPr wrap="square" lIns="0" tIns="0" rIns="0" bIns="0" rtlCol="0" anchor="ctr"/>
          <a:lstStyle/>
          <a:p>
            <a:pPr indent="0" marL="0">
              <a:buNone/>
            </a:pPr>
            <a:r>
              <a:rPr lang="en-US" sz="1400" b="1" dirty="0">
                <a:solidFill>
                  <a:srgbClr val="16303F"/>
                </a:solidFill>
                <a:latin typeface="JetBrains Mono" pitchFamily="34" charset="0"/>
                <a:ea typeface="JetBrains Mono" pitchFamily="34" charset="-122"/>
                <a:cs typeface="JetBrains Mono" pitchFamily="34" charset="-120"/>
              </a:rPr>
              <a:t>Weather:Hosts:1   </a:t>
            </a:r>
            <a:pPr indent="0" marL="0">
              <a:buNone/>
            </a:pPr>
            <a:r>
              <a:rPr lang="en-US" sz="1400" dirty="0">
                <a:solidFill>
                  <a:srgbClr val="B08900"/>
                </a:solidFill>
                <a:latin typeface="JetBrains Mono" pitchFamily="34" charset="0"/>
                <a:ea typeface="JetBrains Mono" pitchFamily="34" charset="-122"/>
                <a:cs typeface="JetBrains Mono" pitchFamily="34" charset="-120"/>
              </a:rPr>
              <a:t>"b"</a:t>
            </a:r>
            <a:endParaRPr lang="en-US" sz="1400" dirty="0"/>
          </a:p>
        </p:txBody>
      </p:sp>
      <p:sp>
        <p:nvSpPr>
          <p:cNvPr id="12" name="Text 8"/>
          <p:cNvSpPr txBox="1"/>
          <p:nvPr/>
        </p:nvSpPr>
        <p:spPr>
          <a:xfrm>
            <a:off x="6839712" y="4663440"/>
            <a:ext cx="4389120" cy="365760"/>
          </a:xfrm>
          <a:prstGeom prst="rect">
            <a:avLst/>
          </a:prstGeom>
          <a:noFill/>
          <a:ln/>
        </p:spPr>
        <p:txBody>
          <a:bodyPr wrap="square" lIns="0" tIns="0" rIns="0" bIns="0" rtlCol="0" anchor="ctr"/>
          <a:lstStyle/>
          <a:p>
            <a:pPr indent="0" marL="0">
              <a:buNone/>
            </a:pPr>
            <a:r>
              <a:rPr lang="en-US" sz="1200" i="1" dirty="0">
                <a:solidFill>
                  <a:srgbClr val="8A9299"/>
                </a:solidFill>
                <a:latin typeface="Manrope" pitchFamily="34" charset="0"/>
                <a:ea typeface="Manrope" pitchFamily="34" charset="-122"/>
                <a:cs typeface="Manrope" pitchFamily="34" charset="-120"/>
              </a:rPr>
              <a:t>Case-insensitive. ':' is the only hierarchy there is.</a:t>
            </a:r>
            <a:endParaRPr lang="en-US" sz="1200" dirty="0"/>
          </a:p>
        </p:txBody>
      </p:sp>
      <p:sp>
        <p:nvSpPr>
          <p:cNvPr id="25" name="Slide Number Placeholder 0"/>
          <p:cNvSpPr>
            <a:spLocks noGrp="1"/>
          </p:cNvSpPr>
          <p:nvPr>
            <p:ph type="sldNum" sz="quarter" idx="4294967295"/>
          </p:nvPr>
        </p:nvSpPr>
        <p:spPr>
          <a:xfrm>
            <a:off x="10881360" y="6199632"/>
            <a:ext cx="667512" cy="292608"/>
          </a:xfrm>
          <a:prstGeom prst="rect">
            <a:avLst/>
          </a:prstGeom>
          <a:extLst>
            <a:ext uri="{C572A759-6A51-4108-AA02-DFA0A04FC94B}">
              <ma14:wrappingTextBoxFlag xmlns:ma14="http://schemas.microsoft.com/office/mac/drawingml/2011/main" val="0"/>
            </a:ext>
          </a:extLst>
        </p:spPr>
        <p:txBody>
          <a:bodyPr/>
          <a:lstStyle>
            <a:lvl1pPr>
              <a:defRPr sz="1000">
                <a:solidFill>
                  <a:srgbClr val="16303F"/>
                </a:solidFill>
                <a:latin typeface="Manrope"/>
                <a:ea typeface="Manrope"/>
                <a:cs typeface="Manrope"/>
              </a:defRPr>
            </a:lvl1pPr>
          </a:lstStyle>
          <a:p>
            <a:pPr algn="r"/>
            <a:fld id="{F7021451-1387-4CA6-816F-3879F97B5CBC}" type="slidenum">
              <a:rPr b="1"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2"/>
          <p:cNvSpPr/>
          <p:nvPr>
            <p:ph idx="102" type="title" hasCustomPrompt="1"/>
          </p:nvPr>
        </p:nvSpPr>
        <p:spPr>
          <a:xfrm>
            <a:off x="640080" y="2286000"/>
            <a:ext cx="10881360" cy="1371600"/>
          </a:xfrm>
          <a:prstGeom prst="rect">
            <a:avLst/>
          </a:prstGeom>
          <a:noFill/>
          <a:ln/>
        </p:spPr>
        <p:txBody>
          <a:bodyPr wrap="square" lIns="0" tIns="0" rIns="0" bIns="0" rtlCol="0"/>
          <a:lstStyle/>
          <a:p>
            <a:pPr algn="l" indent="0" marL="0">
              <a:buNone/>
            </a:pPr>
            <a:r>
              <a:rPr lang="en-US" sz="3800" b="1" dirty="0">
                <a:solidFill>
                  <a:srgbClr val="16303F"/>
                </a:solidFill>
                <a:latin typeface="Manrope" pitchFamily="34" charset="0"/>
                <a:ea typeface="Manrope" pitchFamily="34" charset="-122"/>
                <a:cs typeface="Manrope" pitchFamily="34" charset="-120"/>
              </a:rPr>
              <a:t>Every value is a string.</a:t>
            </a:r>
            <a:endParaRPr lang="en-US" sz="3800" dirty="0"/>
          </a:p>
        </p:txBody>
      </p:sp>
      <p:sp>
        <p:nvSpPr>
          <p:cNvPr id="25" name="Slide Number Placeholder 0"/>
          <p:cNvSpPr>
            <a:spLocks noGrp="1"/>
          </p:cNvSpPr>
          <p:nvPr>
            <p:ph type="sldNum" sz="quarter" idx="4294967295"/>
          </p:nvPr>
        </p:nvSpPr>
        <p:spPr>
          <a:xfrm>
            <a:off x="10881360" y="6199632"/>
            <a:ext cx="667512" cy="292608"/>
          </a:xfrm>
          <a:prstGeom prst="rect">
            <a:avLst/>
          </a:prstGeom>
          <a:extLst>
            <a:ext uri="{C572A759-6A51-4108-AA02-DFA0A04FC94B}">
              <ma14:wrappingTextBoxFlag xmlns:ma14="http://schemas.microsoft.com/office/mac/drawingml/2011/main" val="0"/>
            </a:ext>
          </a:extLst>
        </p:spPr>
        <p:txBody>
          <a:bodyPr/>
          <a:lstStyle>
            <a:lvl1pPr>
              <a:defRPr sz="1000">
                <a:solidFill>
                  <a:srgbClr val="16303F"/>
                </a:solidFill>
                <a:latin typeface="Manrope"/>
                <a:ea typeface="Manrope"/>
                <a:cs typeface="Manrope"/>
              </a:defRPr>
            </a:lvl1pPr>
          </a:lstStyle>
          <a:p>
            <a:pPr algn="r"/>
            <a:fld id="{F7021451-1387-4CA6-816F-3879F97B5CBC}" type="slidenum">
              <a:rPr b="1"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pic>
        <p:nvPicPr>
          <p:cNvPr id="2" name="Image 0" descr="C:\Users\kevin\AppData\Local\Temp\claude\G---talks-modern-dotnet-configuration\168b4f6d-c720-4fc0-8834-81425d739f7e\scratchpad\deck/../carbon/13-debugview-code.png">    </p:cNvPr>
          <p:cNvPicPr>
            <a:picLocks noChangeAspect="1"/>
          </p:cNvPicPr>
          <p:nvPr/>
        </p:nvPicPr>
        <p:blipFill>
          <a:blip r:embed="rId1"/>
          <a:stretch>
            <a:fillRect/>
          </a:stretch>
        </p:blipFill>
        <p:spPr>
          <a:xfrm>
            <a:off x="516636" y="1655372"/>
            <a:ext cx="11155680" cy="3547256"/>
          </a:xfrm>
          <a:prstGeom prst="rect">
            <a:avLst/>
          </a:prstGeom>
        </p:spPr>
      </p:pic>
      <p:sp>
        <p:nvSpPr>
          <p:cNvPr id="25" name="Slide Number Placeholder 0"/>
          <p:cNvSpPr>
            <a:spLocks noGrp="1"/>
          </p:cNvSpPr>
          <p:nvPr>
            <p:ph type="sldNum" sz="quarter" idx="4294967295"/>
          </p:nvPr>
        </p:nvSpPr>
        <p:spPr>
          <a:xfrm>
            <a:off x="10881360" y="6199632"/>
            <a:ext cx="667512" cy="292608"/>
          </a:xfrm>
          <a:prstGeom prst="rect">
            <a:avLst/>
          </a:prstGeom>
          <a:extLst>
            <a:ext uri="{C572A759-6A51-4108-AA02-DFA0A04FC94B}">
              <ma14:wrappingTextBoxFlag xmlns:ma14="http://schemas.microsoft.com/office/mac/drawingml/2011/main" val="0"/>
            </a:ext>
          </a:extLst>
        </p:spPr>
        <p:txBody>
          <a:bodyPr/>
          <a:lstStyle>
            <a:lvl1pPr>
              <a:defRPr sz="1000">
                <a:solidFill>
                  <a:srgbClr val="F4C233"/>
                </a:solidFill>
                <a:latin typeface="Manrope"/>
                <a:ea typeface="Manrope"/>
                <a:cs typeface="Manrope"/>
              </a:defRPr>
            </a:lvl1pPr>
          </a:lstStyle>
          <a:p>
            <a:pPr algn="r"/>
            <a:fld id="{F7021451-1387-4CA6-816F-3879F97B5CBC}" type="slidenum">
              <a:rPr b="1"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pic>
        <p:nvPicPr>
          <p:cNvPr id="2" name="Image 0" descr="C:\Users\kevin\AppData\Local\Temp\claude\G---talks-modern-dotnet-configuration\168b4f6d-c720-4fc0-8834-81425d739f7e\scratchpad\deck/../carbon/14-debugview-dump.png">    </p:cNvPr>
          <p:cNvPicPr>
            <a:picLocks noChangeAspect="1"/>
          </p:cNvPicPr>
          <p:nvPr/>
        </p:nvPicPr>
        <p:blipFill>
          <a:blip r:embed="rId1"/>
          <a:stretch>
            <a:fillRect/>
          </a:stretch>
        </p:blipFill>
        <p:spPr>
          <a:xfrm>
            <a:off x="882396" y="1580089"/>
            <a:ext cx="10424160" cy="3697822"/>
          </a:xfrm>
          <a:prstGeom prst="rect">
            <a:avLst/>
          </a:prstGeom>
        </p:spPr>
      </p:pic>
      <p:sp>
        <p:nvSpPr>
          <p:cNvPr id="3" name="Shape 0"/>
          <p:cNvSpPr/>
          <p:nvPr/>
        </p:nvSpPr>
        <p:spPr>
          <a:xfrm>
            <a:off x="571500" y="3634435"/>
            <a:ext cx="64008" cy="821738"/>
          </a:xfrm>
          <a:prstGeom prst="rect">
            <a:avLst/>
          </a:prstGeom>
          <a:solidFill>
            <a:srgbClr val="F4C233"/>
          </a:solidFill>
          <a:ln/>
        </p:spPr>
      </p:sp>
      <p:sp>
        <p:nvSpPr>
          <p:cNvPr id="25" name="Slide Number Placeholder 0"/>
          <p:cNvSpPr>
            <a:spLocks noGrp="1"/>
          </p:cNvSpPr>
          <p:nvPr>
            <p:ph type="sldNum" sz="quarter" idx="4294967295"/>
          </p:nvPr>
        </p:nvSpPr>
        <p:spPr>
          <a:xfrm>
            <a:off x="10881360" y="6199632"/>
            <a:ext cx="667512" cy="292608"/>
          </a:xfrm>
          <a:prstGeom prst="rect">
            <a:avLst/>
          </a:prstGeom>
          <a:extLst>
            <a:ext uri="{C572A759-6A51-4108-AA02-DFA0A04FC94B}">
              <ma14:wrappingTextBoxFlag xmlns:ma14="http://schemas.microsoft.com/office/mac/drawingml/2011/main" val="0"/>
            </a:ext>
          </a:extLst>
        </p:spPr>
        <p:txBody>
          <a:bodyPr/>
          <a:lstStyle>
            <a:lvl1pPr>
              <a:defRPr sz="1000">
                <a:solidFill>
                  <a:srgbClr val="F4C233"/>
                </a:solidFill>
                <a:latin typeface="Manrope"/>
                <a:ea typeface="Manrope"/>
                <a:cs typeface="Manrope"/>
              </a:defRPr>
            </a:lvl1pPr>
          </a:lstStyle>
          <a:p>
            <a:pPr algn="r"/>
            <a:fld id="{F7021451-1387-4CA6-816F-3879F97B5CBC}" type="slidenum">
              <a:rPr b="1"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2"/>
          <p:cNvSpPr/>
          <p:nvPr>
            <p:ph idx="102" type="title" hasCustomPrompt="1"/>
          </p:nvPr>
        </p:nvSpPr>
        <p:spPr>
          <a:xfrm>
            <a:off x="640080" y="841248"/>
            <a:ext cx="10881360" cy="822960"/>
          </a:xfrm>
          <a:prstGeom prst="rect">
            <a:avLst/>
          </a:prstGeom>
          <a:noFill/>
          <a:ln/>
        </p:spPr>
        <p:txBody>
          <a:bodyPr wrap="square" lIns="0" tIns="0" rIns="0" bIns="0" rtlCol="0"/>
          <a:lstStyle/>
          <a:p>
            <a:pPr algn="l" indent="0" marL="0">
              <a:buNone/>
            </a:pPr>
            <a:r>
              <a:rPr lang="en-US" sz="3200" b="1" dirty="0">
                <a:solidFill>
                  <a:srgbClr val="16303F"/>
                </a:solidFill>
                <a:latin typeface="Manrope" pitchFamily="34" charset="0"/>
                <a:ea typeface="Manrope" pitchFamily="34" charset="-122"/>
                <a:cs typeface="Manrope" pitchFamily="34" charset="-120"/>
              </a:rPr>
              <a:t>Default provider order</a:t>
            </a:r>
            <a:endParaRPr lang="en-US" sz="3200" dirty="0"/>
          </a:p>
        </p:txBody>
      </p:sp>
      <p:sp>
        <p:nvSpPr>
          <p:cNvPr id="4" name="Text 1"/>
          <p:cNvSpPr txBox="1"/>
          <p:nvPr/>
        </p:nvSpPr>
        <p:spPr>
          <a:xfrm>
            <a:off x="640080" y="1783080"/>
            <a:ext cx="5486400" cy="274320"/>
          </a:xfrm>
          <a:prstGeom prst="rect">
            <a:avLst/>
          </a:prstGeom>
          <a:noFill/>
          <a:ln/>
        </p:spPr>
        <p:txBody>
          <a:bodyPr wrap="square" lIns="0" tIns="0" rIns="0" bIns="0" rtlCol="0" anchor="ctr"/>
          <a:lstStyle/>
          <a:p>
            <a:pPr indent="0" marL="0">
              <a:buNone/>
            </a:pPr>
            <a:r>
              <a:rPr lang="en-US" sz="1000" b="1" spc="150" kern="0" dirty="0">
                <a:solidFill>
                  <a:srgbClr val="8A9299"/>
                </a:solidFill>
                <a:latin typeface="Manrope" pitchFamily="34" charset="0"/>
                <a:ea typeface="Manrope" pitchFamily="34" charset="-122"/>
                <a:cs typeface="Manrope" pitchFamily="34" charset="-120"/>
              </a:rPr>
              <a:t>HIGHEST PRIORITY FIRST</a:t>
            </a:r>
            <a:endParaRPr lang="en-US" sz="1000" dirty="0"/>
          </a:p>
        </p:txBody>
      </p:sp>
      <p:sp>
        <p:nvSpPr>
          <p:cNvPr id="5" name="Shape 2"/>
          <p:cNvSpPr/>
          <p:nvPr/>
        </p:nvSpPr>
        <p:spPr>
          <a:xfrm>
            <a:off x="640080" y="2148840"/>
            <a:ext cx="10908792" cy="457200"/>
          </a:xfrm>
          <a:prstGeom prst="rect">
            <a:avLst/>
          </a:prstGeom>
          <a:solidFill>
            <a:srgbClr val="FFFFFF"/>
          </a:solidFill>
          <a:ln/>
        </p:spPr>
      </p:sp>
      <p:sp>
        <p:nvSpPr>
          <p:cNvPr id="6" name="Text 3"/>
          <p:cNvSpPr txBox="1"/>
          <p:nvPr/>
        </p:nvSpPr>
        <p:spPr>
          <a:xfrm>
            <a:off x="868680" y="2148840"/>
            <a:ext cx="457200" cy="457200"/>
          </a:xfrm>
          <a:prstGeom prst="rect">
            <a:avLst/>
          </a:prstGeom>
          <a:noFill/>
          <a:ln/>
        </p:spPr>
        <p:txBody>
          <a:bodyPr wrap="square" lIns="0" tIns="0" rIns="0" bIns="0" rtlCol="0" anchor="ctr"/>
          <a:lstStyle/>
          <a:p>
            <a:pPr indent="0" marL="0">
              <a:buNone/>
            </a:pPr>
            <a:r>
              <a:rPr lang="en-US" sz="1500" b="1" dirty="0">
                <a:solidFill>
                  <a:srgbClr val="F4C233"/>
                </a:solidFill>
                <a:latin typeface="Manrope" pitchFamily="34" charset="0"/>
                <a:ea typeface="Manrope" pitchFamily="34" charset="-122"/>
                <a:cs typeface="Manrope" pitchFamily="34" charset="-120"/>
              </a:rPr>
              <a:t>1</a:t>
            </a:r>
            <a:endParaRPr lang="en-US" sz="1500" dirty="0"/>
          </a:p>
        </p:txBody>
      </p:sp>
      <p:sp>
        <p:nvSpPr>
          <p:cNvPr id="7" name="Text 4"/>
          <p:cNvSpPr txBox="1"/>
          <p:nvPr/>
        </p:nvSpPr>
        <p:spPr>
          <a:xfrm>
            <a:off x="1463040" y="2148840"/>
            <a:ext cx="6583680" cy="457200"/>
          </a:xfrm>
          <a:prstGeom prst="rect">
            <a:avLst/>
          </a:prstGeom>
          <a:noFill/>
          <a:ln/>
        </p:spPr>
        <p:txBody>
          <a:bodyPr wrap="square" lIns="0" tIns="0" rIns="0" bIns="0" rtlCol="0" anchor="ctr"/>
          <a:lstStyle/>
          <a:p>
            <a:pPr indent="0" marL="0">
              <a:buNone/>
            </a:pPr>
            <a:r>
              <a:rPr lang="en-US" sz="1400" dirty="0">
                <a:solidFill>
                  <a:srgbClr val="16303F"/>
                </a:solidFill>
                <a:latin typeface="JetBrains Mono" pitchFamily="34" charset="0"/>
                <a:ea typeface="JetBrains Mono" pitchFamily="34" charset="-122"/>
                <a:cs typeface="JetBrains Mono" pitchFamily="34" charset="-120"/>
              </a:rPr>
              <a:t>Host / chained configuration</a:t>
            </a:r>
            <a:endParaRPr lang="en-US" sz="1400" dirty="0"/>
          </a:p>
        </p:txBody>
      </p:sp>
      <p:sp>
        <p:nvSpPr>
          <p:cNvPr id="8" name="Text 5"/>
          <p:cNvSpPr txBox="1"/>
          <p:nvPr/>
        </p:nvSpPr>
        <p:spPr>
          <a:xfrm>
            <a:off x="8138160" y="2148840"/>
            <a:ext cx="3291840" cy="457200"/>
          </a:xfrm>
          <a:prstGeom prst="rect">
            <a:avLst/>
          </a:prstGeom>
          <a:noFill/>
          <a:ln/>
        </p:spPr>
        <p:txBody>
          <a:bodyPr wrap="square" lIns="0" tIns="0" rIns="0" bIns="0" rtlCol="0" anchor="ctr"/>
          <a:lstStyle/>
          <a:p>
            <a:pPr indent="0" marL="0">
              <a:buNone/>
            </a:pPr>
            <a:r>
              <a:rPr lang="en-US" sz="1200" i="1" dirty="0">
                <a:solidFill>
                  <a:srgbClr val="8A9299"/>
                </a:solidFill>
                <a:latin typeface="Manrope" pitchFamily="34" charset="0"/>
                <a:ea typeface="Manrope" pitchFamily="34" charset="-122"/>
                <a:cs typeface="Manrope" pitchFamily="34" charset="-120"/>
              </a:rPr>
              <a:t>added LAST, so it wins</a:t>
            </a:r>
            <a:endParaRPr lang="en-US" sz="1200" dirty="0"/>
          </a:p>
        </p:txBody>
      </p:sp>
      <p:sp>
        <p:nvSpPr>
          <p:cNvPr id="9" name="Text 6"/>
          <p:cNvSpPr txBox="1"/>
          <p:nvPr/>
        </p:nvSpPr>
        <p:spPr>
          <a:xfrm>
            <a:off x="868680" y="2606040"/>
            <a:ext cx="457200" cy="457200"/>
          </a:xfrm>
          <a:prstGeom prst="rect">
            <a:avLst/>
          </a:prstGeom>
          <a:noFill/>
          <a:ln/>
        </p:spPr>
        <p:txBody>
          <a:bodyPr wrap="square" lIns="0" tIns="0" rIns="0" bIns="0" rtlCol="0" anchor="ctr"/>
          <a:lstStyle/>
          <a:p>
            <a:pPr indent="0" marL="0">
              <a:buNone/>
            </a:pPr>
            <a:r>
              <a:rPr lang="en-US" sz="1500" b="1" dirty="0">
                <a:solidFill>
                  <a:srgbClr val="F4C233"/>
                </a:solidFill>
                <a:latin typeface="Manrope" pitchFamily="34" charset="0"/>
                <a:ea typeface="Manrope" pitchFamily="34" charset="-122"/>
                <a:cs typeface="Manrope" pitchFamily="34" charset="-120"/>
              </a:rPr>
              <a:t>2</a:t>
            </a:r>
            <a:endParaRPr lang="en-US" sz="1500" dirty="0"/>
          </a:p>
        </p:txBody>
      </p:sp>
      <p:sp>
        <p:nvSpPr>
          <p:cNvPr id="10" name="Text 7"/>
          <p:cNvSpPr txBox="1"/>
          <p:nvPr/>
        </p:nvSpPr>
        <p:spPr>
          <a:xfrm>
            <a:off x="1463040" y="2606040"/>
            <a:ext cx="6583680" cy="457200"/>
          </a:xfrm>
          <a:prstGeom prst="rect">
            <a:avLst/>
          </a:prstGeom>
          <a:noFill/>
          <a:ln/>
        </p:spPr>
        <p:txBody>
          <a:bodyPr wrap="square" lIns="0" tIns="0" rIns="0" bIns="0" rtlCol="0" anchor="ctr"/>
          <a:lstStyle/>
          <a:p>
            <a:pPr indent="0" marL="0">
              <a:buNone/>
            </a:pPr>
            <a:r>
              <a:rPr lang="en-US" sz="1400" dirty="0">
                <a:solidFill>
                  <a:srgbClr val="16303F"/>
                </a:solidFill>
                <a:latin typeface="JetBrains Mono" pitchFamily="34" charset="0"/>
                <a:ea typeface="JetBrains Mono" pitchFamily="34" charset="-122"/>
                <a:cs typeface="JetBrains Mono" pitchFamily="34" charset="-120"/>
              </a:rPr>
              <a:t>Command-line arguments</a:t>
            </a:r>
            <a:endParaRPr lang="en-US" sz="1400" dirty="0"/>
          </a:p>
        </p:txBody>
      </p:sp>
      <p:sp>
        <p:nvSpPr>
          <p:cNvPr id="11" name="Text 8"/>
          <p:cNvSpPr txBox="1"/>
          <p:nvPr/>
        </p:nvSpPr>
        <p:spPr>
          <a:xfrm>
            <a:off x="8138160" y="2606040"/>
            <a:ext cx="3291840" cy="457200"/>
          </a:xfrm>
          <a:prstGeom prst="rect">
            <a:avLst/>
          </a:prstGeom>
          <a:noFill/>
          <a:ln/>
        </p:spPr>
        <p:txBody>
          <a:bodyPr wrap="square" lIns="0" tIns="0" rIns="0" bIns="0" rtlCol="0" anchor="ctr"/>
          <a:lstStyle/>
          <a:p>
            <a:pPr indent="0" marL="0">
              <a:buNone/>
            </a:pPr>
            <a:r>
              <a:rPr lang="en-US" sz="1200" i="1" dirty="0">
                <a:solidFill>
                  <a:srgbClr val="8A9299"/>
                </a:solidFill>
                <a:latin typeface="Manrope" pitchFamily="34" charset="0"/>
                <a:ea typeface="Manrope" pitchFamily="34" charset="-122"/>
                <a:cs typeface="Manrope" pitchFamily="34" charset="-120"/>
              </a:rPr>
              <a:t>the provider runs twice</a:t>
            </a:r>
            <a:endParaRPr lang="en-US" sz="1200" dirty="0"/>
          </a:p>
        </p:txBody>
      </p:sp>
      <p:sp>
        <p:nvSpPr>
          <p:cNvPr id="12" name="Shape 9"/>
          <p:cNvSpPr/>
          <p:nvPr/>
        </p:nvSpPr>
        <p:spPr>
          <a:xfrm>
            <a:off x="640080" y="3063240"/>
            <a:ext cx="10908792" cy="457200"/>
          </a:xfrm>
          <a:prstGeom prst="rect">
            <a:avLst/>
          </a:prstGeom>
          <a:solidFill>
            <a:srgbClr val="FFFFFF"/>
          </a:solidFill>
          <a:ln/>
        </p:spPr>
      </p:sp>
      <p:sp>
        <p:nvSpPr>
          <p:cNvPr id="13" name="Text 10"/>
          <p:cNvSpPr txBox="1"/>
          <p:nvPr/>
        </p:nvSpPr>
        <p:spPr>
          <a:xfrm>
            <a:off x="868680" y="3063240"/>
            <a:ext cx="457200" cy="457200"/>
          </a:xfrm>
          <a:prstGeom prst="rect">
            <a:avLst/>
          </a:prstGeom>
          <a:noFill/>
          <a:ln/>
        </p:spPr>
        <p:txBody>
          <a:bodyPr wrap="square" lIns="0" tIns="0" rIns="0" bIns="0" rtlCol="0" anchor="ctr"/>
          <a:lstStyle/>
          <a:p>
            <a:pPr indent="0" marL="0">
              <a:buNone/>
            </a:pPr>
            <a:r>
              <a:rPr lang="en-US" sz="1500" b="1" dirty="0">
                <a:solidFill>
                  <a:srgbClr val="F4C233"/>
                </a:solidFill>
                <a:latin typeface="Manrope" pitchFamily="34" charset="0"/>
                <a:ea typeface="Manrope" pitchFamily="34" charset="-122"/>
                <a:cs typeface="Manrope" pitchFamily="34" charset="-120"/>
              </a:rPr>
              <a:t>3</a:t>
            </a:r>
            <a:endParaRPr lang="en-US" sz="1500" dirty="0"/>
          </a:p>
        </p:txBody>
      </p:sp>
      <p:sp>
        <p:nvSpPr>
          <p:cNvPr id="14" name="Text 11"/>
          <p:cNvSpPr txBox="1"/>
          <p:nvPr/>
        </p:nvSpPr>
        <p:spPr>
          <a:xfrm>
            <a:off x="1463040" y="3063240"/>
            <a:ext cx="6583680" cy="457200"/>
          </a:xfrm>
          <a:prstGeom prst="rect">
            <a:avLst/>
          </a:prstGeom>
          <a:noFill/>
          <a:ln/>
        </p:spPr>
        <p:txBody>
          <a:bodyPr wrap="square" lIns="0" tIns="0" rIns="0" bIns="0" rtlCol="0" anchor="ctr"/>
          <a:lstStyle/>
          <a:p>
            <a:pPr indent="0" marL="0">
              <a:buNone/>
            </a:pPr>
            <a:r>
              <a:rPr lang="en-US" sz="1400" dirty="0">
                <a:solidFill>
                  <a:srgbClr val="16303F"/>
                </a:solidFill>
                <a:latin typeface="JetBrains Mono" pitchFamily="34" charset="0"/>
                <a:ea typeface="JetBrains Mono" pitchFamily="34" charset="-122"/>
                <a:cs typeface="JetBrains Mono" pitchFamily="34" charset="-120"/>
              </a:rPr>
              <a:t>Environment variables</a:t>
            </a:r>
            <a:endParaRPr lang="en-US" sz="1400" dirty="0"/>
          </a:p>
        </p:txBody>
      </p:sp>
      <p:sp>
        <p:nvSpPr>
          <p:cNvPr id="15" name="Text 12"/>
          <p:cNvSpPr txBox="1"/>
          <p:nvPr/>
        </p:nvSpPr>
        <p:spPr>
          <a:xfrm>
            <a:off x="8138160" y="3063240"/>
            <a:ext cx="3291840" cy="457200"/>
          </a:xfrm>
          <a:prstGeom prst="rect">
            <a:avLst/>
          </a:prstGeom>
          <a:noFill/>
          <a:ln/>
        </p:spPr>
        <p:txBody>
          <a:bodyPr wrap="square" lIns="0" tIns="0" rIns="0" bIns="0" rtlCol="0" anchor="ctr"/>
          <a:lstStyle/>
          <a:p>
            <a:pPr indent="0" marL="0">
              <a:buNone/>
            </a:pPr>
            <a:r>
              <a:rPr lang="en-US" sz="1200" i="1" dirty="0">
                <a:solidFill>
                  <a:srgbClr val="8A9299"/>
                </a:solidFill>
                <a:latin typeface="Manrope" pitchFamily="34" charset="0"/>
                <a:ea typeface="Manrope" pitchFamily="34" charset="-122"/>
                <a:cs typeface="Manrope" pitchFamily="34" charset="-120"/>
              </a:rPr>
              <a:t>unprefixed</a:t>
            </a:r>
            <a:endParaRPr lang="en-US" sz="1200" dirty="0"/>
          </a:p>
        </p:txBody>
      </p:sp>
      <p:sp>
        <p:nvSpPr>
          <p:cNvPr id="16" name="Text 13"/>
          <p:cNvSpPr txBox="1"/>
          <p:nvPr/>
        </p:nvSpPr>
        <p:spPr>
          <a:xfrm>
            <a:off x="868680" y="3520440"/>
            <a:ext cx="457200" cy="457200"/>
          </a:xfrm>
          <a:prstGeom prst="rect">
            <a:avLst/>
          </a:prstGeom>
          <a:noFill/>
          <a:ln/>
        </p:spPr>
        <p:txBody>
          <a:bodyPr wrap="square" lIns="0" tIns="0" rIns="0" bIns="0" rtlCol="0" anchor="ctr"/>
          <a:lstStyle/>
          <a:p>
            <a:pPr indent="0" marL="0">
              <a:buNone/>
            </a:pPr>
            <a:r>
              <a:rPr lang="en-US" sz="1500" b="1" dirty="0">
                <a:solidFill>
                  <a:srgbClr val="F4C233"/>
                </a:solidFill>
                <a:latin typeface="Manrope" pitchFamily="34" charset="0"/>
                <a:ea typeface="Manrope" pitchFamily="34" charset="-122"/>
                <a:cs typeface="Manrope" pitchFamily="34" charset="-120"/>
              </a:rPr>
              <a:t>4</a:t>
            </a:r>
            <a:endParaRPr lang="en-US" sz="1500" dirty="0"/>
          </a:p>
        </p:txBody>
      </p:sp>
      <p:sp>
        <p:nvSpPr>
          <p:cNvPr id="17" name="Text 14"/>
          <p:cNvSpPr txBox="1"/>
          <p:nvPr/>
        </p:nvSpPr>
        <p:spPr>
          <a:xfrm>
            <a:off x="1463040" y="3520440"/>
            <a:ext cx="6583680" cy="457200"/>
          </a:xfrm>
          <a:prstGeom prst="rect">
            <a:avLst/>
          </a:prstGeom>
          <a:noFill/>
          <a:ln/>
        </p:spPr>
        <p:txBody>
          <a:bodyPr wrap="square" lIns="0" tIns="0" rIns="0" bIns="0" rtlCol="0" anchor="ctr"/>
          <a:lstStyle/>
          <a:p>
            <a:pPr indent="0" marL="0">
              <a:buNone/>
            </a:pPr>
            <a:r>
              <a:rPr lang="en-US" sz="1400" dirty="0">
                <a:solidFill>
                  <a:srgbClr val="16303F"/>
                </a:solidFill>
                <a:latin typeface="JetBrains Mono" pitchFamily="34" charset="0"/>
                <a:ea typeface="JetBrains Mono" pitchFamily="34" charset="-122"/>
                <a:cs typeface="JetBrains Mono" pitchFamily="34" charset="-120"/>
              </a:rPr>
              <a:t>User secrets</a:t>
            </a:r>
            <a:endParaRPr lang="en-US" sz="1400" dirty="0"/>
          </a:p>
        </p:txBody>
      </p:sp>
      <p:sp>
        <p:nvSpPr>
          <p:cNvPr id="18" name="Text 15"/>
          <p:cNvSpPr txBox="1"/>
          <p:nvPr/>
        </p:nvSpPr>
        <p:spPr>
          <a:xfrm>
            <a:off x="8138160" y="3520440"/>
            <a:ext cx="3291840" cy="457200"/>
          </a:xfrm>
          <a:prstGeom prst="rect">
            <a:avLst/>
          </a:prstGeom>
          <a:noFill/>
          <a:ln/>
        </p:spPr>
        <p:txBody>
          <a:bodyPr wrap="square" lIns="0" tIns="0" rIns="0" bIns="0" rtlCol="0" anchor="ctr"/>
          <a:lstStyle/>
          <a:p>
            <a:pPr indent="0" marL="0">
              <a:buNone/>
            </a:pPr>
            <a:r>
              <a:rPr lang="en-US" sz="1200" i="1" dirty="0">
                <a:solidFill>
                  <a:srgbClr val="8A9299"/>
                </a:solidFill>
                <a:latin typeface="Manrope" pitchFamily="34" charset="0"/>
                <a:ea typeface="Manrope" pitchFamily="34" charset="-122"/>
                <a:cs typeface="Manrope" pitchFamily="34" charset="-120"/>
              </a:rPr>
              <a:t>Development only</a:t>
            </a:r>
            <a:endParaRPr lang="en-US" sz="1200" dirty="0"/>
          </a:p>
        </p:txBody>
      </p:sp>
      <p:sp>
        <p:nvSpPr>
          <p:cNvPr id="19" name="Shape 16"/>
          <p:cNvSpPr/>
          <p:nvPr/>
        </p:nvSpPr>
        <p:spPr>
          <a:xfrm>
            <a:off x="640080" y="3977640"/>
            <a:ext cx="10908792" cy="457200"/>
          </a:xfrm>
          <a:prstGeom prst="rect">
            <a:avLst/>
          </a:prstGeom>
          <a:solidFill>
            <a:srgbClr val="FFFFFF"/>
          </a:solidFill>
          <a:ln/>
        </p:spPr>
      </p:sp>
      <p:sp>
        <p:nvSpPr>
          <p:cNvPr id="20" name="Text 17"/>
          <p:cNvSpPr txBox="1"/>
          <p:nvPr/>
        </p:nvSpPr>
        <p:spPr>
          <a:xfrm>
            <a:off x="868680" y="3977640"/>
            <a:ext cx="457200" cy="457200"/>
          </a:xfrm>
          <a:prstGeom prst="rect">
            <a:avLst/>
          </a:prstGeom>
          <a:noFill/>
          <a:ln/>
        </p:spPr>
        <p:txBody>
          <a:bodyPr wrap="square" lIns="0" tIns="0" rIns="0" bIns="0" rtlCol="0" anchor="ctr"/>
          <a:lstStyle/>
          <a:p>
            <a:pPr indent="0" marL="0">
              <a:buNone/>
            </a:pPr>
            <a:r>
              <a:rPr lang="en-US" sz="1500" b="1" dirty="0">
                <a:solidFill>
                  <a:srgbClr val="F4C233"/>
                </a:solidFill>
                <a:latin typeface="Manrope" pitchFamily="34" charset="0"/>
                <a:ea typeface="Manrope" pitchFamily="34" charset="-122"/>
                <a:cs typeface="Manrope" pitchFamily="34" charset="-120"/>
              </a:rPr>
              <a:t>5</a:t>
            </a:r>
            <a:endParaRPr lang="en-US" sz="1500" dirty="0"/>
          </a:p>
        </p:txBody>
      </p:sp>
      <p:sp>
        <p:nvSpPr>
          <p:cNvPr id="21" name="Text 18"/>
          <p:cNvSpPr txBox="1"/>
          <p:nvPr/>
        </p:nvSpPr>
        <p:spPr>
          <a:xfrm>
            <a:off x="1463040" y="3977640"/>
            <a:ext cx="6583680" cy="457200"/>
          </a:xfrm>
          <a:prstGeom prst="rect">
            <a:avLst/>
          </a:prstGeom>
          <a:noFill/>
          <a:ln/>
        </p:spPr>
        <p:txBody>
          <a:bodyPr wrap="square" lIns="0" tIns="0" rIns="0" bIns="0" rtlCol="0" anchor="ctr"/>
          <a:lstStyle/>
          <a:p>
            <a:pPr indent="0" marL="0">
              <a:buNone/>
            </a:pPr>
            <a:r>
              <a:rPr lang="en-US" sz="1400" dirty="0">
                <a:solidFill>
                  <a:srgbClr val="16303F"/>
                </a:solidFill>
                <a:latin typeface="JetBrains Mono" pitchFamily="34" charset="0"/>
                <a:ea typeface="JetBrains Mono" pitchFamily="34" charset="-122"/>
                <a:cs typeface="JetBrains Mono" pitchFamily="34" charset="-120"/>
              </a:rPr>
              <a:t>{ApplicationName}.settings.{Environment}.json</a:t>
            </a:r>
            <a:endParaRPr lang="en-US" sz="1400" dirty="0"/>
          </a:p>
        </p:txBody>
      </p:sp>
      <p:sp>
        <p:nvSpPr>
          <p:cNvPr id="22" name="Text 19"/>
          <p:cNvSpPr txBox="1"/>
          <p:nvPr/>
        </p:nvSpPr>
        <p:spPr>
          <a:xfrm>
            <a:off x="868680" y="4434840"/>
            <a:ext cx="457200" cy="457200"/>
          </a:xfrm>
          <a:prstGeom prst="rect">
            <a:avLst/>
          </a:prstGeom>
          <a:noFill/>
          <a:ln/>
        </p:spPr>
        <p:txBody>
          <a:bodyPr wrap="square" lIns="0" tIns="0" rIns="0" bIns="0" rtlCol="0" anchor="ctr"/>
          <a:lstStyle/>
          <a:p>
            <a:pPr indent="0" marL="0">
              <a:buNone/>
            </a:pPr>
            <a:r>
              <a:rPr lang="en-US" sz="1500" b="1" dirty="0">
                <a:solidFill>
                  <a:srgbClr val="F4C233"/>
                </a:solidFill>
                <a:latin typeface="Manrope" pitchFamily="34" charset="0"/>
                <a:ea typeface="Manrope" pitchFamily="34" charset="-122"/>
                <a:cs typeface="Manrope" pitchFamily="34" charset="-120"/>
              </a:rPr>
              <a:t>6</a:t>
            </a:r>
            <a:endParaRPr lang="en-US" sz="1500" dirty="0"/>
          </a:p>
        </p:txBody>
      </p:sp>
      <p:sp>
        <p:nvSpPr>
          <p:cNvPr id="23" name="Text 20"/>
          <p:cNvSpPr txBox="1"/>
          <p:nvPr/>
        </p:nvSpPr>
        <p:spPr>
          <a:xfrm>
            <a:off x="1463040" y="4434840"/>
            <a:ext cx="6583680" cy="457200"/>
          </a:xfrm>
          <a:prstGeom prst="rect">
            <a:avLst/>
          </a:prstGeom>
          <a:noFill/>
          <a:ln/>
        </p:spPr>
        <p:txBody>
          <a:bodyPr wrap="square" lIns="0" tIns="0" rIns="0" bIns="0" rtlCol="0" anchor="ctr"/>
          <a:lstStyle/>
          <a:p>
            <a:pPr indent="0" marL="0">
              <a:buNone/>
            </a:pPr>
            <a:r>
              <a:rPr lang="en-US" sz="1400" dirty="0">
                <a:solidFill>
                  <a:srgbClr val="16303F"/>
                </a:solidFill>
                <a:latin typeface="JetBrains Mono" pitchFamily="34" charset="0"/>
                <a:ea typeface="JetBrains Mono" pitchFamily="34" charset="-122"/>
                <a:cs typeface="JetBrains Mono" pitchFamily="34" charset="-120"/>
              </a:rPr>
              <a:t>{ApplicationName}.settings.json</a:t>
            </a:r>
            <a:endParaRPr lang="en-US" sz="1400" dirty="0"/>
          </a:p>
        </p:txBody>
      </p:sp>
      <p:sp>
        <p:nvSpPr>
          <p:cNvPr id="24" name="Shape 21"/>
          <p:cNvSpPr/>
          <p:nvPr/>
        </p:nvSpPr>
        <p:spPr>
          <a:xfrm>
            <a:off x="640080" y="4892040"/>
            <a:ext cx="10908792" cy="457200"/>
          </a:xfrm>
          <a:prstGeom prst="rect">
            <a:avLst/>
          </a:prstGeom>
          <a:solidFill>
            <a:srgbClr val="FFFFFF"/>
          </a:solidFill>
          <a:ln/>
        </p:spPr>
      </p:sp>
      <p:sp>
        <p:nvSpPr>
          <p:cNvPr id="25" name="Text 22"/>
          <p:cNvSpPr txBox="1"/>
          <p:nvPr/>
        </p:nvSpPr>
        <p:spPr>
          <a:xfrm>
            <a:off x="868680" y="4892040"/>
            <a:ext cx="457200" cy="457200"/>
          </a:xfrm>
          <a:prstGeom prst="rect">
            <a:avLst/>
          </a:prstGeom>
          <a:noFill/>
          <a:ln/>
        </p:spPr>
        <p:txBody>
          <a:bodyPr wrap="square" lIns="0" tIns="0" rIns="0" bIns="0" rtlCol="0" anchor="ctr"/>
          <a:lstStyle/>
          <a:p>
            <a:pPr indent="0" marL="0">
              <a:buNone/>
            </a:pPr>
            <a:r>
              <a:rPr lang="en-US" sz="1500" b="1" dirty="0">
                <a:solidFill>
                  <a:srgbClr val="F4C233"/>
                </a:solidFill>
                <a:latin typeface="Manrope" pitchFamily="34" charset="0"/>
                <a:ea typeface="Manrope" pitchFamily="34" charset="-122"/>
                <a:cs typeface="Manrope" pitchFamily="34" charset="-120"/>
              </a:rPr>
              <a:t>7</a:t>
            </a:r>
            <a:endParaRPr lang="en-US" sz="1500" dirty="0"/>
          </a:p>
        </p:txBody>
      </p:sp>
      <p:sp>
        <p:nvSpPr>
          <p:cNvPr id="26" name="Text 23"/>
          <p:cNvSpPr txBox="1"/>
          <p:nvPr/>
        </p:nvSpPr>
        <p:spPr>
          <a:xfrm>
            <a:off x="1463040" y="4892040"/>
            <a:ext cx="6583680" cy="457200"/>
          </a:xfrm>
          <a:prstGeom prst="rect">
            <a:avLst/>
          </a:prstGeom>
          <a:noFill/>
          <a:ln/>
        </p:spPr>
        <p:txBody>
          <a:bodyPr wrap="square" lIns="0" tIns="0" rIns="0" bIns="0" rtlCol="0" anchor="ctr"/>
          <a:lstStyle/>
          <a:p>
            <a:pPr indent="0" marL="0">
              <a:buNone/>
            </a:pPr>
            <a:r>
              <a:rPr lang="en-US" sz="1400" dirty="0">
                <a:solidFill>
                  <a:srgbClr val="16303F"/>
                </a:solidFill>
                <a:latin typeface="JetBrains Mono" pitchFamily="34" charset="0"/>
                <a:ea typeface="JetBrains Mono" pitchFamily="34" charset="-122"/>
                <a:cs typeface="JetBrains Mono" pitchFamily="34" charset="-120"/>
              </a:rPr>
              <a:t>appsettings.{Environment}.json</a:t>
            </a:r>
            <a:endParaRPr lang="en-US" sz="1400" dirty="0"/>
          </a:p>
        </p:txBody>
      </p:sp>
      <p:sp>
        <p:nvSpPr>
          <p:cNvPr id="27" name="Text 24"/>
          <p:cNvSpPr txBox="1"/>
          <p:nvPr/>
        </p:nvSpPr>
        <p:spPr>
          <a:xfrm>
            <a:off x="868680" y="5349240"/>
            <a:ext cx="457200" cy="457200"/>
          </a:xfrm>
          <a:prstGeom prst="rect">
            <a:avLst/>
          </a:prstGeom>
          <a:noFill/>
          <a:ln/>
        </p:spPr>
        <p:txBody>
          <a:bodyPr wrap="square" lIns="0" tIns="0" rIns="0" bIns="0" rtlCol="0" anchor="ctr"/>
          <a:lstStyle/>
          <a:p>
            <a:pPr indent="0" marL="0">
              <a:buNone/>
            </a:pPr>
            <a:r>
              <a:rPr lang="en-US" sz="1500" b="1" dirty="0">
                <a:solidFill>
                  <a:srgbClr val="F4C233"/>
                </a:solidFill>
                <a:latin typeface="Manrope" pitchFamily="34" charset="0"/>
                <a:ea typeface="Manrope" pitchFamily="34" charset="-122"/>
                <a:cs typeface="Manrope" pitchFamily="34" charset="-120"/>
              </a:rPr>
              <a:t>8</a:t>
            </a:r>
            <a:endParaRPr lang="en-US" sz="1500" dirty="0"/>
          </a:p>
        </p:txBody>
      </p:sp>
      <p:sp>
        <p:nvSpPr>
          <p:cNvPr id="28" name="Text 25"/>
          <p:cNvSpPr txBox="1"/>
          <p:nvPr/>
        </p:nvSpPr>
        <p:spPr>
          <a:xfrm>
            <a:off x="1463040" y="5349240"/>
            <a:ext cx="6583680" cy="457200"/>
          </a:xfrm>
          <a:prstGeom prst="rect">
            <a:avLst/>
          </a:prstGeom>
          <a:noFill/>
          <a:ln/>
        </p:spPr>
        <p:txBody>
          <a:bodyPr wrap="square" lIns="0" tIns="0" rIns="0" bIns="0" rtlCol="0" anchor="ctr"/>
          <a:lstStyle/>
          <a:p>
            <a:pPr indent="0" marL="0">
              <a:buNone/>
            </a:pPr>
            <a:r>
              <a:rPr lang="en-US" sz="1400" dirty="0">
                <a:solidFill>
                  <a:srgbClr val="16303F"/>
                </a:solidFill>
                <a:latin typeface="JetBrains Mono" pitchFamily="34" charset="0"/>
                <a:ea typeface="JetBrains Mono" pitchFamily="34" charset="-122"/>
                <a:cs typeface="JetBrains Mono" pitchFamily="34" charset="-120"/>
              </a:rPr>
              <a:t>appsettings.json</a:t>
            </a:r>
            <a:endParaRPr lang="en-US" sz="1400" dirty="0"/>
          </a:p>
        </p:txBody>
      </p:sp>
      <p:sp>
        <p:nvSpPr>
          <p:cNvPr id="25" name="Slide Number Placeholder 0"/>
          <p:cNvSpPr>
            <a:spLocks noGrp="1"/>
          </p:cNvSpPr>
          <p:nvPr>
            <p:ph type="sldNum" sz="quarter" idx="4294967295"/>
          </p:nvPr>
        </p:nvSpPr>
        <p:spPr>
          <a:xfrm>
            <a:off x="10881360" y="6199632"/>
            <a:ext cx="667512" cy="292608"/>
          </a:xfrm>
          <a:prstGeom prst="rect">
            <a:avLst/>
          </a:prstGeom>
          <a:extLst>
            <a:ext uri="{C572A759-6A51-4108-AA02-DFA0A04FC94B}">
              <ma14:wrappingTextBoxFlag xmlns:ma14="http://schemas.microsoft.com/office/mac/drawingml/2011/main" val="0"/>
            </a:ext>
          </a:extLst>
        </p:spPr>
        <p:txBody>
          <a:bodyPr/>
          <a:lstStyle>
            <a:lvl1pPr>
              <a:defRPr sz="1000">
                <a:solidFill>
                  <a:srgbClr val="16303F"/>
                </a:solidFill>
                <a:latin typeface="Manrope"/>
                <a:ea typeface="Manrope"/>
                <a:cs typeface="Manrope"/>
              </a:defRPr>
            </a:lvl1pPr>
          </a:lstStyle>
          <a:p>
            <a:pPr algn="r"/>
            <a:fld id="{F7021451-1387-4CA6-816F-3879F97B5CBC}" type="slidenum">
              <a:rPr b="1"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pic>
        <p:nvPicPr>
          <p:cNvPr id="2" name="Image 0" descr="C:\Users\kevin\AppData\Local\Temp\claude\G---talks-modern-dotnet-configuration\168b4f6d-c720-4fc0-8834-81425d739f7e\scratchpad\deck/../carbon/15-twopass.png">    </p:cNvPr>
          <p:cNvPicPr>
            <a:picLocks noChangeAspect="1"/>
          </p:cNvPicPr>
          <p:nvPr/>
        </p:nvPicPr>
        <p:blipFill>
          <a:blip r:embed="rId1"/>
          <a:stretch>
            <a:fillRect/>
          </a:stretch>
        </p:blipFill>
        <p:spPr>
          <a:xfrm>
            <a:off x="516636" y="1231280"/>
            <a:ext cx="11155680" cy="4395441"/>
          </a:xfrm>
          <a:prstGeom prst="rect">
            <a:avLst/>
          </a:prstGeom>
        </p:spPr>
      </p:pic>
      <p:sp>
        <p:nvSpPr>
          <p:cNvPr id="25" name="Slide Number Placeholder 0"/>
          <p:cNvSpPr>
            <a:spLocks noGrp="1"/>
          </p:cNvSpPr>
          <p:nvPr>
            <p:ph type="sldNum" sz="quarter" idx="4294967295"/>
          </p:nvPr>
        </p:nvSpPr>
        <p:spPr>
          <a:xfrm>
            <a:off x="10881360" y="6199632"/>
            <a:ext cx="667512" cy="292608"/>
          </a:xfrm>
          <a:prstGeom prst="rect">
            <a:avLst/>
          </a:prstGeom>
          <a:extLst>
            <a:ext uri="{C572A759-6A51-4108-AA02-DFA0A04FC94B}">
              <ma14:wrappingTextBoxFlag xmlns:ma14="http://schemas.microsoft.com/office/mac/drawingml/2011/main" val="0"/>
            </a:ext>
          </a:extLst>
        </p:spPr>
        <p:txBody>
          <a:bodyPr/>
          <a:lstStyle>
            <a:lvl1pPr>
              <a:defRPr sz="1000">
                <a:solidFill>
                  <a:srgbClr val="F4C233"/>
                </a:solidFill>
                <a:latin typeface="Manrope"/>
                <a:ea typeface="Manrope"/>
                <a:cs typeface="Manrope"/>
              </a:defRPr>
            </a:lvl1pPr>
          </a:lstStyle>
          <a:p>
            <a:pPr algn="r"/>
            <a:fld id="{F7021451-1387-4CA6-816F-3879F97B5CBC}" type="slidenum">
              <a:rPr b="1"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2"/>
          <p:cNvSpPr/>
          <p:nvPr>
            <p:ph idx="102" type="title" hasCustomPrompt="1"/>
          </p:nvPr>
        </p:nvSpPr>
        <p:spPr>
          <a:xfrm>
            <a:off x="640080" y="841248"/>
            <a:ext cx="10881360" cy="822960"/>
          </a:xfrm>
          <a:prstGeom prst="rect">
            <a:avLst/>
          </a:prstGeom>
          <a:noFill/>
          <a:ln/>
        </p:spPr>
        <p:txBody>
          <a:bodyPr wrap="square" lIns="0" tIns="0" rIns="0" bIns="0" rtlCol="0"/>
          <a:lstStyle/>
          <a:p>
            <a:pPr algn="l" indent="0" marL="0">
              <a:buNone/>
            </a:pPr>
            <a:r>
              <a:rPr lang="en-US" sz="3200" b="1" dirty="0">
                <a:solidFill>
                  <a:srgbClr val="16303F"/>
                </a:solidFill>
                <a:latin typeface="Manrope" pitchFamily="34" charset="0"/>
                <a:ea typeface="Manrope" pitchFamily="34" charset="-122"/>
                <a:cs typeface="Manrope" pitchFamily="34" charset="-120"/>
              </a:rPr>
              <a:t>Same key. Four winners.</a:t>
            </a:r>
            <a:endParaRPr lang="en-US" sz="3200" dirty="0"/>
          </a:p>
        </p:txBody>
      </p:sp>
      <p:sp>
        <p:nvSpPr>
          <p:cNvPr id="4" name="Shape 1"/>
          <p:cNvSpPr/>
          <p:nvPr/>
        </p:nvSpPr>
        <p:spPr>
          <a:xfrm>
            <a:off x="9646920" y="457200"/>
            <a:ext cx="1901952" cy="420624"/>
          </a:xfrm>
          <a:prstGeom prst="roundRect">
            <a:avLst>
              <a:gd name="adj" fmla="val 13043"/>
            </a:avLst>
          </a:prstGeom>
          <a:solidFill>
            <a:srgbClr val="16303F"/>
          </a:solidFill>
          <a:ln/>
        </p:spPr>
      </p:sp>
      <p:sp>
        <p:nvSpPr>
          <p:cNvPr id="5" name="Text 2"/>
          <p:cNvSpPr txBox="1"/>
          <p:nvPr/>
        </p:nvSpPr>
        <p:spPr>
          <a:xfrm>
            <a:off x="9646920" y="457200"/>
            <a:ext cx="1901952" cy="420624"/>
          </a:xfrm>
          <a:prstGeom prst="rect">
            <a:avLst/>
          </a:prstGeom>
          <a:noFill/>
          <a:ln/>
        </p:spPr>
        <p:txBody>
          <a:bodyPr wrap="square" lIns="0" tIns="0" rIns="0" bIns="0" rtlCol="0" anchor="ctr"/>
          <a:lstStyle/>
          <a:p>
            <a:pPr algn="ctr" indent="0" marL="0">
              <a:buNone/>
            </a:pPr>
            <a:r>
              <a:rPr lang="en-US" sz="1100" b="1" spc="150" kern="0" dirty="0">
                <a:solidFill>
                  <a:srgbClr val="F4C233"/>
                </a:solidFill>
                <a:latin typeface="Manrope" pitchFamily="34" charset="0"/>
                <a:ea typeface="Manrope" pitchFamily="34" charset="-122"/>
                <a:cs typeface="Manrope" pitchFamily="34" charset="-120"/>
              </a:rPr>
              <a:t>ORDER</a:t>
            </a:r>
            <a:endParaRPr lang="en-US" sz="1100" dirty="0"/>
          </a:p>
        </p:txBody>
      </p:sp>
      <p:sp>
        <p:nvSpPr>
          <p:cNvPr id="6" name="Text 3"/>
          <p:cNvSpPr txBox="1"/>
          <p:nvPr/>
        </p:nvSpPr>
        <p:spPr>
          <a:xfrm>
            <a:off x="1005840" y="2331720"/>
            <a:ext cx="6766560" cy="749808"/>
          </a:xfrm>
          <a:prstGeom prst="rect">
            <a:avLst/>
          </a:prstGeom>
          <a:noFill/>
          <a:ln/>
        </p:spPr>
        <p:txBody>
          <a:bodyPr wrap="square" lIns="0" tIns="0" rIns="0" bIns="0" rtlCol="0" anchor="ctr"/>
          <a:lstStyle/>
          <a:p>
            <a:pPr indent="0" marL="0">
              <a:buNone/>
            </a:pPr>
            <a:r>
              <a:rPr lang="en-US" sz="1700" dirty="0">
                <a:solidFill>
                  <a:srgbClr val="5C6B73"/>
                </a:solidFill>
                <a:latin typeface="JetBrains Mono" pitchFamily="34" charset="0"/>
                <a:ea typeface="JetBrains Mono" pitchFamily="34" charset="-122"/>
                <a:cs typeface="JetBrains Mono" pitchFamily="34" charset="-120"/>
              </a:rPr>
              <a:t>appsettings.json</a:t>
            </a:r>
            <a:endParaRPr lang="en-US" sz="1700" dirty="0"/>
          </a:p>
        </p:txBody>
      </p:sp>
      <p:sp>
        <p:nvSpPr>
          <p:cNvPr id="7" name="Text 4"/>
          <p:cNvSpPr txBox="1"/>
          <p:nvPr/>
        </p:nvSpPr>
        <p:spPr>
          <a:xfrm>
            <a:off x="8046720" y="2331720"/>
            <a:ext cx="1463040" cy="749808"/>
          </a:xfrm>
          <a:prstGeom prst="rect">
            <a:avLst/>
          </a:prstGeom>
          <a:noFill/>
          <a:ln/>
        </p:spPr>
        <p:txBody>
          <a:bodyPr wrap="square" lIns="0" tIns="0" rIns="0" bIns="0" rtlCol="0" anchor="ctr"/>
          <a:lstStyle/>
          <a:p>
            <a:pPr algn="r" indent="0" marL="0">
              <a:buNone/>
            </a:pPr>
            <a:r>
              <a:rPr lang="en-US" sz="2400" b="1" dirty="0">
                <a:solidFill>
                  <a:srgbClr val="9AA7AE"/>
                </a:solidFill>
                <a:latin typeface="JetBrains Mono" pitchFamily="34" charset="0"/>
                <a:ea typeface="JetBrains Mono" pitchFamily="34" charset="-122"/>
                <a:cs typeface="JetBrains Mono" pitchFamily="34" charset="-120"/>
              </a:rPr>
              <a:t>30</a:t>
            </a:r>
            <a:endParaRPr lang="en-US" sz="2400" dirty="0"/>
          </a:p>
        </p:txBody>
      </p:sp>
      <p:sp>
        <p:nvSpPr>
          <p:cNvPr id="8" name="Text 5"/>
          <p:cNvSpPr txBox="1"/>
          <p:nvPr/>
        </p:nvSpPr>
        <p:spPr>
          <a:xfrm>
            <a:off x="1005840" y="3081528"/>
            <a:ext cx="6766560" cy="749808"/>
          </a:xfrm>
          <a:prstGeom prst="rect">
            <a:avLst/>
          </a:prstGeom>
          <a:noFill/>
          <a:ln/>
        </p:spPr>
        <p:txBody>
          <a:bodyPr wrap="square" lIns="0" tIns="0" rIns="0" bIns="0" rtlCol="0" anchor="ctr"/>
          <a:lstStyle/>
          <a:p>
            <a:pPr indent="0" marL="0">
              <a:buNone/>
            </a:pPr>
            <a:r>
              <a:rPr lang="en-US" sz="1700" dirty="0">
                <a:solidFill>
                  <a:srgbClr val="5C6B73"/>
                </a:solidFill>
                <a:latin typeface="JetBrains Mono" pitchFamily="34" charset="0"/>
                <a:ea typeface="JetBrains Mono" pitchFamily="34" charset="-122"/>
                <a:cs typeface="JetBrains Mono" pitchFamily="34" charset="-120"/>
              </a:rPr>
              <a:t>appsettings.Development.json</a:t>
            </a:r>
            <a:endParaRPr lang="en-US" sz="1700" dirty="0"/>
          </a:p>
        </p:txBody>
      </p:sp>
      <p:sp>
        <p:nvSpPr>
          <p:cNvPr id="9" name="Text 6"/>
          <p:cNvSpPr txBox="1"/>
          <p:nvPr/>
        </p:nvSpPr>
        <p:spPr>
          <a:xfrm>
            <a:off x="8046720" y="3081528"/>
            <a:ext cx="1463040" cy="749808"/>
          </a:xfrm>
          <a:prstGeom prst="rect">
            <a:avLst/>
          </a:prstGeom>
          <a:noFill/>
          <a:ln/>
        </p:spPr>
        <p:txBody>
          <a:bodyPr wrap="square" lIns="0" tIns="0" rIns="0" bIns="0" rtlCol="0" anchor="ctr"/>
          <a:lstStyle/>
          <a:p>
            <a:pPr algn="r" indent="0" marL="0">
              <a:buNone/>
            </a:pPr>
            <a:r>
              <a:rPr lang="en-US" sz="2400" b="1" dirty="0">
                <a:solidFill>
                  <a:srgbClr val="9AA7AE"/>
                </a:solidFill>
                <a:latin typeface="JetBrains Mono" pitchFamily="34" charset="0"/>
                <a:ea typeface="JetBrains Mono" pitchFamily="34" charset="-122"/>
                <a:cs typeface="JetBrains Mono" pitchFamily="34" charset="-120"/>
              </a:rPr>
              <a:t>120</a:t>
            </a:r>
            <a:endParaRPr lang="en-US" sz="2400" dirty="0"/>
          </a:p>
        </p:txBody>
      </p:sp>
      <p:sp>
        <p:nvSpPr>
          <p:cNvPr id="10" name="Text 7"/>
          <p:cNvSpPr txBox="1"/>
          <p:nvPr/>
        </p:nvSpPr>
        <p:spPr>
          <a:xfrm>
            <a:off x="1005840" y="3831336"/>
            <a:ext cx="6766560" cy="749808"/>
          </a:xfrm>
          <a:prstGeom prst="rect">
            <a:avLst/>
          </a:prstGeom>
          <a:noFill/>
          <a:ln/>
        </p:spPr>
        <p:txBody>
          <a:bodyPr wrap="square" lIns="0" tIns="0" rIns="0" bIns="0" rtlCol="0" anchor="ctr"/>
          <a:lstStyle/>
          <a:p>
            <a:pPr indent="0" marL="0">
              <a:buNone/>
            </a:pPr>
            <a:r>
              <a:rPr lang="en-US" sz="1700" dirty="0">
                <a:solidFill>
                  <a:srgbClr val="5C6B73"/>
                </a:solidFill>
                <a:latin typeface="JetBrains Mono" pitchFamily="34" charset="0"/>
                <a:ea typeface="JetBrains Mono" pitchFamily="34" charset="-122"/>
                <a:cs typeface="JetBrains Mono" pitchFamily="34" charset="-120"/>
              </a:rPr>
              <a:t>Weather__TimeoutSeconds</a:t>
            </a:r>
            <a:endParaRPr lang="en-US" sz="1700" dirty="0"/>
          </a:p>
        </p:txBody>
      </p:sp>
      <p:sp>
        <p:nvSpPr>
          <p:cNvPr id="11" name="Text 8"/>
          <p:cNvSpPr txBox="1"/>
          <p:nvPr/>
        </p:nvSpPr>
        <p:spPr>
          <a:xfrm>
            <a:off x="8046720" y="3831336"/>
            <a:ext cx="1463040" cy="749808"/>
          </a:xfrm>
          <a:prstGeom prst="rect">
            <a:avLst/>
          </a:prstGeom>
          <a:noFill/>
          <a:ln/>
        </p:spPr>
        <p:txBody>
          <a:bodyPr wrap="square" lIns="0" tIns="0" rIns="0" bIns="0" rtlCol="0" anchor="ctr"/>
          <a:lstStyle/>
          <a:p>
            <a:pPr algn="r" indent="0" marL="0">
              <a:buNone/>
            </a:pPr>
            <a:r>
              <a:rPr lang="en-US" sz="2400" b="1" dirty="0">
                <a:solidFill>
                  <a:srgbClr val="9AA7AE"/>
                </a:solidFill>
                <a:latin typeface="JetBrains Mono" pitchFamily="34" charset="0"/>
                <a:ea typeface="JetBrains Mono" pitchFamily="34" charset="-122"/>
                <a:cs typeface="JetBrains Mono" pitchFamily="34" charset="-120"/>
              </a:rPr>
              <a:t>10</a:t>
            </a:r>
            <a:endParaRPr lang="en-US" sz="2400" dirty="0"/>
          </a:p>
        </p:txBody>
      </p:sp>
      <p:sp>
        <p:nvSpPr>
          <p:cNvPr id="12" name="Text 9"/>
          <p:cNvSpPr txBox="1"/>
          <p:nvPr/>
        </p:nvSpPr>
        <p:spPr>
          <a:xfrm>
            <a:off x="1005840" y="4581144"/>
            <a:ext cx="6766560" cy="749808"/>
          </a:xfrm>
          <a:prstGeom prst="rect">
            <a:avLst/>
          </a:prstGeom>
          <a:noFill/>
          <a:ln/>
        </p:spPr>
        <p:txBody>
          <a:bodyPr wrap="square" lIns="0" tIns="0" rIns="0" bIns="0" rtlCol="0" anchor="ctr"/>
          <a:lstStyle/>
          <a:p>
            <a:pPr indent="0" marL="0">
              <a:buNone/>
            </a:pPr>
            <a:r>
              <a:rPr lang="en-US" sz="1700" b="1" dirty="0">
                <a:solidFill>
                  <a:srgbClr val="16303F"/>
                </a:solidFill>
                <a:latin typeface="JetBrains Mono" pitchFamily="34" charset="0"/>
                <a:ea typeface="JetBrains Mono" pitchFamily="34" charset="-122"/>
                <a:cs typeface="JetBrains Mono" pitchFamily="34" charset="-120"/>
              </a:rPr>
              <a:t>--Weather:TimeoutSeconds</a:t>
            </a:r>
            <a:endParaRPr lang="en-US" sz="1700" dirty="0"/>
          </a:p>
        </p:txBody>
      </p:sp>
      <p:sp>
        <p:nvSpPr>
          <p:cNvPr id="13" name="Text 10"/>
          <p:cNvSpPr txBox="1"/>
          <p:nvPr/>
        </p:nvSpPr>
        <p:spPr>
          <a:xfrm>
            <a:off x="8046720" y="4581144"/>
            <a:ext cx="1463040" cy="749808"/>
          </a:xfrm>
          <a:prstGeom prst="rect">
            <a:avLst/>
          </a:prstGeom>
          <a:noFill/>
          <a:ln/>
        </p:spPr>
        <p:txBody>
          <a:bodyPr wrap="square" lIns="0" tIns="0" rIns="0" bIns="0" rtlCol="0" anchor="ctr"/>
          <a:lstStyle/>
          <a:p>
            <a:pPr algn="r" indent="0" marL="0">
              <a:buNone/>
            </a:pPr>
            <a:r>
              <a:rPr lang="en-US" sz="3000" b="1" dirty="0">
                <a:solidFill>
                  <a:srgbClr val="F4C233"/>
                </a:solidFill>
                <a:latin typeface="JetBrains Mono" pitchFamily="34" charset="0"/>
                <a:ea typeface="JetBrains Mono" pitchFamily="34" charset="-122"/>
                <a:cs typeface="JetBrains Mono" pitchFamily="34" charset="-120"/>
              </a:rPr>
              <a:t>5</a:t>
            </a:r>
            <a:endParaRPr lang="en-US" sz="3000" dirty="0"/>
          </a:p>
        </p:txBody>
      </p:sp>
      <p:sp>
        <p:nvSpPr>
          <p:cNvPr id="14" name="Text 11"/>
          <p:cNvSpPr txBox="1"/>
          <p:nvPr/>
        </p:nvSpPr>
        <p:spPr>
          <a:xfrm>
            <a:off x="8046720" y="5422392"/>
            <a:ext cx="2926080" cy="365760"/>
          </a:xfrm>
          <a:prstGeom prst="rect">
            <a:avLst/>
          </a:prstGeom>
          <a:noFill/>
          <a:ln/>
        </p:spPr>
        <p:txBody>
          <a:bodyPr wrap="square" lIns="0" tIns="0" rIns="0" bIns="0" rtlCol="0" anchor="ctr"/>
          <a:lstStyle/>
          <a:p>
            <a:pPr algn="r" indent="0" marL="0">
              <a:buNone/>
            </a:pPr>
            <a:r>
              <a:rPr lang="en-US" sz="1300" i="1" dirty="0">
                <a:solidFill>
                  <a:srgbClr val="8A9299"/>
                </a:solidFill>
                <a:latin typeface="Manrope" pitchFamily="34" charset="0"/>
                <a:ea typeface="Manrope" pitchFamily="34" charset="-122"/>
                <a:cs typeface="Manrope" pitchFamily="34" charset="-120"/>
              </a:rPr>
              <a:t>last one wins</a:t>
            </a:r>
            <a:endParaRPr lang="en-US" sz="1300" dirty="0"/>
          </a:p>
        </p:txBody>
      </p:sp>
      <p:sp>
        <p:nvSpPr>
          <p:cNvPr id="25" name="Slide Number Placeholder 0"/>
          <p:cNvSpPr>
            <a:spLocks noGrp="1"/>
          </p:cNvSpPr>
          <p:nvPr>
            <p:ph type="sldNum" sz="quarter" idx="4294967295"/>
          </p:nvPr>
        </p:nvSpPr>
        <p:spPr>
          <a:xfrm>
            <a:off x="10881360" y="6199632"/>
            <a:ext cx="667512" cy="292608"/>
          </a:xfrm>
          <a:prstGeom prst="rect">
            <a:avLst/>
          </a:prstGeom>
          <a:extLst>
            <a:ext uri="{C572A759-6A51-4108-AA02-DFA0A04FC94B}">
              <ma14:wrappingTextBoxFlag xmlns:ma14="http://schemas.microsoft.com/office/mac/drawingml/2011/main" val="0"/>
            </a:ext>
          </a:extLst>
        </p:spPr>
        <p:txBody>
          <a:bodyPr/>
          <a:lstStyle>
            <a:lvl1pPr>
              <a:defRPr sz="1000">
                <a:solidFill>
                  <a:srgbClr val="16303F"/>
                </a:solidFill>
                <a:latin typeface="Manrope"/>
                <a:ea typeface="Manrope"/>
                <a:cs typeface="Manrope"/>
              </a:defRPr>
            </a:lvl1pPr>
          </a:lstStyle>
          <a:p>
            <a:pPr algn="r"/>
            <a:fld id="{F7021451-1387-4CA6-816F-3879F97B5CBC}" type="slidenum">
              <a:rPr b="1"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2"/>
          <p:cNvSpPr/>
          <p:nvPr>
            <p:ph idx="102" type="body" hasCustomPrompt="1"/>
          </p:nvPr>
        </p:nvSpPr>
        <p:spPr>
          <a:xfrm>
            <a:off x="640080" y="2331720"/>
            <a:ext cx="10881360" cy="365760"/>
          </a:xfrm>
          <a:prstGeom prst="rect">
            <a:avLst/>
          </a:prstGeom>
          <a:noFill/>
          <a:ln/>
        </p:spPr>
        <p:txBody>
          <a:bodyPr wrap="square" lIns="0" tIns="0" rIns="0" bIns="0" rtlCol="0"/>
          <a:lstStyle/>
          <a:p>
            <a:pPr indent="0" marL="0">
              <a:buNone/>
            </a:pPr>
            <a:r>
              <a:rPr lang="en-US" sz="1400" b="1" spc="200" kern="0" dirty="0">
                <a:solidFill>
                  <a:srgbClr val="F4C233"/>
                </a:solidFill>
                <a:latin typeface="Manrope" pitchFamily="34" charset="0"/>
                <a:ea typeface="Manrope" pitchFamily="34" charset="-122"/>
                <a:cs typeface="Manrope" pitchFamily="34" charset="-120"/>
              </a:rPr>
              <a:t>STAGE 1</a:t>
            </a:r>
            <a:endParaRPr lang="en-US" sz="1400" dirty="0"/>
          </a:p>
        </p:txBody>
      </p:sp>
      <p:sp>
        <p:nvSpPr>
          <p:cNvPr id="3" name="Text 2"/>
          <p:cNvSpPr/>
          <p:nvPr>
            <p:ph idx="103" type="title" hasCustomPrompt="1"/>
          </p:nvPr>
        </p:nvSpPr>
        <p:spPr>
          <a:xfrm>
            <a:off x="640080" y="3017520"/>
            <a:ext cx="10881360" cy="1371600"/>
          </a:xfrm>
          <a:prstGeom prst="rect">
            <a:avLst/>
          </a:prstGeom>
          <a:noFill/>
          <a:ln/>
        </p:spPr>
        <p:txBody>
          <a:bodyPr wrap="square" lIns="0" tIns="0" rIns="0" bIns="0" rtlCol="0"/>
          <a:lstStyle/>
          <a:p>
            <a:pPr algn="l" indent="0" marL="0">
              <a:buNone/>
            </a:pPr>
            <a:r>
              <a:rPr lang="en-US" sz="4400" b="1" dirty="0">
                <a:solidFill>
                  <a:srgbClr val="FFFFFF"/>
                </a:solidFill>
                <a:latin typeface="Manrope" pitchFamily="34" charset="0"/>
                <a:ea typeface="Manrope" pitchFamily="34" charset="-122"/>
                <a:cs typeface="Manrope" pitchFamily="34" charset="-120"/>
              </a:rPr>
              <a:t>Local dev</a:t>
            </a:r>
            <a:endParaRPr lang="en-US" sz="4400" dirty="0"/>
          </a:p>
        </p:txBody>
      </p:sp>
      <p:sp>
        <p:nvSpPr>
          <p:cNvPr id="25" name="Slide Number Placeholder 0"/>
          <p:cNvSpPr>
            <a:spLocks noGrp="1"/>
          </p:cNvSpPr>
          <p:nvPr>
            <p:ph type="sldNum" sz="quarter" idx="4294967295"/>
          </p:nvPr>
        </p:nvSpPr>
        <p:spPr>
          <a:xfrm>
            <a:off x="10881360" y="6199632"/>
            <a:ext cx="667512" cy="292608"/>
          </a:xfrm>
          <a:prstGeom prst="rect">
            <a:avLst/>
          </a:prstGeom>
          <a:extLst>
            <a:ext uri="{C572A759-6A51-4108-AA02-DFA0A04FC94B}">
              <ma14:wrappingTextBoxFlag xmlns:ma14="http://schemas.microsoft.com/office/mac/drawingml/2011/main" val="0"/>
            </a:ext>
          </a:extLst>
        </p:spPr>
        <p:txBody>
          <a:bodyPr/>
          <a:lstStyle>
            <a:lvl1pPr>
              <a:defRPr sz="1000">
                <a:solidFill>
                  <a:srgbClr val="F4C233"/>
                </a:solidFill>
                <a:latin typeface="Manrope"/>
                <a:ea typeface="Manrope"/>
                <a:cs typeface="Manrope"/>
              </a:defRPr>
            </a:lvl1pPr>
          </a:lstStyle>
          <a:p>
            <a:pPr algn="r"/>
            <a:fld id="{F7021451-1387-4CA6-816F-3879F97B5CBC}" type="slidenum">
              <a:rPr b="1"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2"/>
          <p:cNvSpPr/>
          <p:nvPr>
            <p:ph idx="102" type="title" hasCustomPrompt="1"/>
          </p:nvPr>
        </p:nvSpPr>
        <p:spPr>
          <a:xfrm>
            <a:off x="640080" y="841248"/>
            <a:ext cx="10881360" cy="822960"/>
          </a:xfrm>
          <a:prstGeom prst="rect">
            <a:avLst/>
          </a:prstGeom>
          <a:noFill/>
          <a:ln/>
        </p:spPr>
        <p:txBody>
          <a:bodyPr wrap="square" lIns="0" tIns="0" rIns="0" bIns="0" rtlCol="0"/>
          <a:lstStyle/>
          <a:p>
            <a:pPr algn="l" indent="0" marL="0">
              <a:buNone/>
            </a:pPr>
            <a:r>
              <a:rPr lang="en-US" sz="3200" b="1" dirty="0">
                <a:solidFill>
                  <a:srgbClr val="16303F"/>
                </a:solidFill>
                <a:latin typeface="Manrope" pitchFamily="34" charset="0"/>
                <a:ea typeface="Manrope" pitchFamily="34" charset="-122"/>
                <a:cs typeface="Manrope" pitchFamily="34" charset="-120"/>
              </a:rPr>
              <a:t>The environment file merges. Key by key.</a:t>
            </a:r>
            <a:endParaRPr lang="en-US" sz="3200" dirty="0"/>
          </a:p>
        </p:txBody>
      </p:sp>
      <p:sp>
        <p:nvSpPr>
          <p:cNvPr id="4" name="Text 1"/>
          <p:cNvSpPr txBox="1"/>
          <p:nvPr/>
        </p:nvSpPr>
        <p:spPr>
          <a:xfrm>
            <a:off x="640080" y="2130552"/>
            <a:ext cx="3392424" cy="292608"/>
          </a:xfrm>
          <a:prstGeom prst="rect">
            <a:avLst/>
          </a:prstGeom>
          <a:noFill/>
          <a:ln/>
        </p:spPr>
        <p:txBody>
          <a:bodyPr wrap="square" lIns="0" tIns="0" rIns="0" bIns="0" rtlCol="0" anchor="ctr"/>
          <a:lstStyle/>
          <a:p>
            <a:pPr indent="0" marL="0">
              <a:buNone/>
            </a:pPr>
            <a:r>
              <a:rPr lang="en-US" sz="1000" b="1" spc="120" kern="0" dirty="0">
                <a:solidFill>
                  <a:srgbClr val="8A9299"/>
                </a:solidFill>
                <a:latin typeface="Manrope" pitchFamily="34" charset="0"/>
                <a:ea typeface="Manrope" pitchFamily="34" charset="-122"/>
                <a:cs typeface="Manrope" pitchFamily="34" charset="-120"/>
              </a:rPr>
              <a:t>appsettings.json</a:t>
            </a:r>
            <a:endParaRPr lang="en-US" sz="1000" dirty="0"/>
          </a:p>
        </p:txBody>
      </p:sp>
      <p:sp>
        <p:nvSpPr>
          <p:cNvPr id="5" name="Shape 2"/>
          <p:cNvSpPr/>
          <p:nvPr/>
        </p:nvSpPr>
        <p:spPr>
          <a:xfrm>
            <a:off x="640080" y="2514600"/>
            <a:ext cx="3392424" cy="2514600"/>
          </a:xfrm>
          <a:prstGeom prst="rect">
            <a:avLst/>
          </a:prstGeom>
          <a:solidFill>
            <a:srgbClr val="FFFFFF"/>
          </a:solidFill>
          <a:ln w="12700">
            <a:solidFill>
              <a:srgbClr val="E4E0D8"/>
            </a:solidFill>
            <a:prstDash val="solid"/>
          </a:ln>
        </p:spPr>
      </p:sp>
      <p:sp>
        <p:nvSpPr>
          <p:cNvPr id="6" name="Text 3"/>
          <p:cNvSpPr txBox="1"/>
          <p:nvPr/>
        </p:nvSpPr>
        <p:spPr>
          <a:xfrm>
            <a:off x="896112" y="2898648"/>
            <a:ext cx="2880360" cy="219456"/>
          </a:xfrm>
          <a:prstGeom prst="rect">
            <a:avLst/>
          </a:prstGeom>
          <a:noFill/>
          <a:ln/>
        </p:spPr>
        <p:txBody>
          <a:bodyPr wrap="square" lIns="0" tIns="0" rIns="0" bIns="0" rtlCol="0" anchor="ctr"/>
          <a:lstStyle/>
          <a:p>
            <a:pPr indent="0" marL="0">
              <a:buNone/>
            </a:pPr>
            <a:r>
              <a:rPr lang="en-US" sz="1000" dirty="0">
                <a:solidFill>
                  <a:srgbClr val="8A9299"/>
                </a:solidFill>
                <a:latin typeface="Manrope" pitchFamily="34" charset="0"/>
                <a:ea typeface="Manrope" pitchFamily="34" charset="-122"/>
                <a:cs typeface="Manrope" pitchFamily="34" charset="-120"/>
              </a:rPr>
              <a:t>ApiBaseUrl</a:t>
            </a:r>
            <a:endParaRPr lang="en-US" sz="1000" dirty="0"/>
          </a:p>
        </p:txBody>
      </p:sp>
      <p:sp>
        <p:nvSpPr>
          <p:cNvPr id="7" name="Text 4"/>
          <p:cNvSpPr txBox="1"/>
          <p:nvPr/>
        </p:nvSpPr>
        <p:spPr>
          <a:xfrm>
            <a:off x="896112" y="3118104"/>
            <a:ext cx="2880360" cy="310896"/>
          </a:xfrm>
          <a:prstGeom prst="rect">
            <a:avLst/>
          </a:prstGeom>
          <a:noFill/>
          <a:ln/>
        </p:spPr>
        <p:txBody>
          <a:bodyPr wrap="square" lIns="0" tIns="0" rIns="0" bIns="0" rtlCol="0" anchor="ctr"/>
          <a:lstStyle/>
          <a:p>
            <a:pPr indent="0" marL="0">
              <a:buNone/>
            </a:pPr>
            <a:r>
              <a:rPr lang="en-US" sz="1400" b="1" dirty="0">
                <a:solidFill>
                  <a:srgbClr val="16303F"/>
                </a:solidFill>
                <a:latin typeface="JetBrains Mono" pitchFamily="34" charset="0"/>
                <a:ea typeface="JetBrains Mono" pitchFamily="34" charset="-122"/>
                <a:cs typeface="JetBrains Mono" pitchFamily="34" charset="-120"/>
              </a:rPr>
              <a:t>api.example.com</a:t>
            </a:r>
            <a:endParaRPr lang="en-US" sz="1400" dirty="0"/>
          </a:p>
        </p:txBody>
      </p:sp>
      <p:sp>
        <p:nvSpPr>
          <p:cNvPr id="8" name="Text 5"/>
          <p:cNvSpPr txBox="1"/>
          <p:nvPr/>
        </p:nvSpPr>
        <p:spPr>
          <a:xfrm>
            <a:off x="896112" y="3520440"/>
            <a:ext cx="2880360" cy="219456"/>
          </a:xfrm>
          <a:prstGeom prst="rect">
            <a:avLst/>
          </a:prstGeom>
          <a:noFill/>
          <a:ln/>
        </p:spPr>
        <p:txBody>
          <a:bodyPr wrap="square" lIns="0" tIns="0" rIns="0" bIns="0" rtlCol="0" anchor="ctr"/>
          <a:lstStyle/>
          <a:p>
            <a:pPr indent="0" marL="0">
              <a:buNone/>
            </a:pPr>
            <a:r>
              <a:rPr lang="en-US" sz="1000" dirty="0">
                <a:solidFill>
                  <a:srgbClr val="8A9299"/>
                </a:solidFill>
                <a:latin typeface="Manrope" pitchFamily="34" charset="0"/>
                <a:ea typeface="Manrope" pitchFamily="34" charset="-122"/>
                <a:cs typeface="Manrope" pitchFamily="34" charset="-120"/>
              </a:rPr>
              <a:t>TimeoutSeconds</a:t>
            </a:r>
            <a:endParaRPr lang="en-US" sz="1000" dirty="0"/>
          </a:p>
        </p:txBody>
      </p:sp>
      <p:sp>
        <p:nvSpPr>
          <p:cNvPr id="9" name="Text 6"/>
          <p:cNvSpPr txBox="1"/>
          <p:nvPr/>
        </p:nvSpPr>
        <p:spPr>
          <a:xfrm>
            <a:off x="896112" y="3739896"/>
            <a:ext cx="2880360" cy="310896"/>
          </a:xfrm>
          <a:prstGeom prst="rect">
            <a:avLst/>
          </a:prstGeom>
          <a:noFill/>
          <a:ln/>
        </p:spPr>
        <p:txBody>
          <a:bodyPr wrap="square" lIns="0" tIns="0" rIns="0" bIns="0" rtlCol="0" anchor="ctr"/>
          <a:lstStyle/>
          <a:p>
            <a:pPr indent="0" marL="0">
              <a:buNone/>
            </a:pPr>
            <a:r>
              <a:rPr lang="en-US" sz="1400" b="1" dirty="0">
                <a:solidFill>
                  <a:srgbClr val="16303F"/>
                </a:solidFill>
                <a:latin typeface="JetBrains Mono" pitchFamily="34" charset="0"/>
                <a:ea typeface="JetBrains Mono" pitchFamily="34" charset="-122"/>
                <a:cs typeface="JetBrains Mono" pitchFamily="34" charset="-120"/>
              </a:rPr>
              <a:t>30</a:t>
            </a:r>
            <a:endParaRPr lang="en-US" sz="1400" dirty="0"/>
          </a:p>
        </p:txBody>
      </p:sp>
      <p:sp>
        <p:nvSpPr>
          <p:cNvPr id="10" name="Text 7"/>
          <p:cNvSpPr txBox="1"/>
          <p:nvPr/>
        </p:nvSpPr>
        <p:spPr>
          <a:xfrm>
            <a:off x="896112" y="4142232"/>
            <a:ext cx="2880360" cy="219456"/>
          </a:xfrm>
          <a:prstGeom prst="rect">
            <a:avLst/>
          </a:prstGeom>
          <a:noFill/>
          <a:ln/>
        </p:spPr>
        <p:txBody>
          <a:bodyPr wrap="square" lIns="0" tIns="0" rIns="0" bIns="0" rtlCol="0" anchor="ctr"/>
          <a:lstStyle/>
          <a:p>
            <a:pPr indent="0" marL="0">
              <a:buNone/>
            </a:pPr>
            <a:r>
              <a:rPr lang="en-US" sz="1000" dirty="0">
                <a:solidFill>
                  <a:srgbClr val="8A9299"/>
                </a:solidFill>
                <a:latin typeface="Manrope" pitchFamily="34" charset="0"/>
                <a:ea typeface="Manrope" pitchFamily="34" charset="-122"/>
                <a:cs typeface="Manrope" pitchFamily="34" charset="-120"/>
              </a:rPr>
              <a:t>Retries</a:t>
            </a:r>
            <a:endParaRPr lang="en-US" sz="1000" dirty="0"/>
          </a:p>
        </p:txBody>
      </p:sp>
      <p:sp>
        <p:nvSpPr>
          <p:cNvPr id="11" name="Text 8"/>
          <p:cNvSpPr txBox="1"/>
          <p:nvPr/>
        </p:nvSpPr>
        <p:spPr>
          <a:xfrm>
            <a:off x="896112" y="4361688"/>
            <a:ext cx="2880360" cy="310896"/>
          </a:xfrm>
          <a:prstGeom prst="rect">
            <a:avLst/>
          </a:prstGeom>
          <a:noFill/>
          <a:ln/>
        </p:spPr>
        <p:txBody>
          <a:bodyPr wrap="square" lIns="0" tIns="0" rIns="0" bIns="0" rtlCol="0" anchor="ctr"/>
          <a:lstStyle/>
          <a:p>
            <a:pPr indent="0" marL="0">
              <a:buNone/>
            </a:pPr>
            <a:r>
              <a:rPr lang="en-US" sz="1400" b="1" dirty="0">
                <a:solidFill>
                  <a:srgbClr val="16303F"/>
                </a:solidFill>
                <a:latin typeface="JetBrains Mono" pitchFamily="34" charset="0"/>
                <a:ea typeface="JetBrains Mono" pitchFamily="34" charset="-122"/>
                <a:cs typeface="JetBrains Mono" pitchFamily="34" charset="-120"/>
              </a:rPr>
              <a:t>3</a:t>
            </a:r>
            <a:endParaRPr lang="en-US" sz="1400" dirty="0"/>
          </a:p>
        </p:txBody>
      </p:sp>
      <p:sp>
        <p:nvSpPr>
          <p:cNvPr id="12" name="Text 9"/>
          <p:cNvSpPr txBox="1"/>
          <p:nvPr/>
        </p:nvSpPr>
        <p:spPr>
          <a:xfrm>
            <a:off x="4398264" y="2130552"/>
            <a:ext cx="3392424" cy="292608"/>
          </a:xfrm>
          <a:prstGeom prst="rect">
            <a:avLst/>
          </a:prstGeom>
          <a:noFill/>
          <a:ln/>
        </p:spPr>
        <p:txBody>
          <a:bodyPr wrap="square" lIns="0" tIns="0" rIns="0" bIns="0" rtlCol="0" anchor="ctr"/>
          <a:lstStyle/>
          <a:p>
            <a:pPr indent="0" marL="0">
              <a:buNone/>
            </a:pPr>
            <a:r>
              <a:rPr lang="en-US" sz="1000" b="1" spc="120" kern="0" dirty="0">
                <a:solidFill>
                  <a:srgbClr val="8A9299"/>
                </a:solidFill>
                <a:latin typeface="Manrope" pitchFamily="34" charset="0"/>
                <a:ea typeface="Manrope" pitchFamily="34" charset="-122"/>
                <a:cs typeface="Manrope" pitchFamily="34" charset="-120"/>
              </a:rPr>
              <a:t>appsettings.Development.json</a:t>
            </a:r>
            <a:endParaRPr lang="en-US" sz="1000" dirty="0"/>
          </a:p>
        </p:txBody>
      </p:sp>
      <p:sp>
        <p:nvSpPr>
          <p:cNvPr id="13" name="Shape 10"/>
          <p:cNvSpPr/>
          <p:nvPr/>
        </p:nvSpPr>
        <p:spPr>
          <a:xfrm>
            <a:off x="4398264" y="2514600"/>
            <a:ext cx="3392424" cy="2514600"/>
          </a:xfrm>
          <a:prstGeom prst="rect">
            <a:avLst/>
          </a:prstGeom>
          <a:solidFill>
            <a:srgbClr val="FFFFFF"/>
          </a:solidFill>
          <a:ln w="12700">
            <a:solidFill>
              <a:srgbClr val="E4E0D8"/>
            </a:solidFill>
            <a:prstDash val="solid"/>
          </a:ln>
        </p:spPr>
      </p:sp>
      <p:sp>
        <p:nvSpPr>
          <p:cNvPr id="14" name="Text 11"/>
          <p:cNvSpPr txBox="1"/>
          <p:nvPr/>
        </p:nvSpPr>
        <p:spPr>
          <a:xfrm>
            <a:off x="4654296" y="2898648"/>
            <a:ext cx="2880360" cy="219456"/>
          </a:xfrm>
          <a:prstGeom prst="rect">
            <a:avLst/>
          </a:prstGeom>
          <a:noFill/>
          <a:ln/>
        </p:spPr>
        <p:txBody>
          <a:bodyPr wrap="square" lIns="0" tIns="0" rIns="0" bIns="0" rtlCol="0" anchor="ctr"/>
          <a:lstStyle/>
          <a:p>
            <a:pPr indent="0" marL="0">
              <a:buNone/>
            </a:pPr>
            <a:r>
              <a:rPr lang="en-US" sz="1000" dirty="0">
                <a:solidFill>
                  <a:srgbClr val="8A9299"/>
                </a:solidFill>
                <a:latin typeface="Manrope" pitchFamily="34" charset="0"/>
                <a:ea typeface="Manrope" pitchFamily="34" charset="-122"/>
                <a:cs typeface="Manrope" pitchFamily="34" charset="-120"/>
              </a:rPr>
              <a:t>ApiBaseUrl</a:t>
            </a:r>
            <a:endParaRPr lang="en-US" sz="1000" dirty="0"/>
          </a:p>
        </p:txBody>
      </p:sp>
      <p:sp>
        <p:nvSpPr>
          <p:cNvPr id="15" name="Text 12"/>
          <p:cNvSpPr txBox="1"/>
          <p:nvPr/>
        </p:nvSpPr>
        <p:spPr>
          <a:xfrm>
            <a:off x="4654296" y="3118104"/>
            <a:ext cx="2880360" cy="310896"/>
          </a:xfrm>
          <a:prstGeom prst="rect">
            <a:avLst/>
          </a:prstGeom>
          <a:noFill/>
          <a:ln/>
        </p:spPr>
        <p:txBody>
          <a:bodyPr wrap="square" lIns="0" tIns="0" rIns="0" bIns="0" rtlCol="0" anchor="ctr"/>
          <a:lstStyle/>
          <a:p>
            <a:pPr indent="0" marL="0">
              <a:buNone/>
            </a:pPr>
            <a:r>
              <a:rPr lang="en-US" sz="1400" b="1" dirty="0">
                <a:solidFill>
                  <a:srgbClr val="16303F"/>
                </a:solidFill>
                <a:latin typeface="JetBrains Mono" pitchFamily="34" charset="0"/>
                <a:ea typeface="JetBrains Mono" pitchFamily="34" charset="-122"/>
                <a:cs typeface="JetBrains Mono" pitchFamily="34" charset="-120"/>
              </a:rPr>
              <a:t>localhost:7104</a:t>
            </a:r>
            <a:endParaRPr lang="en-US" sz="1400" dirty="0"/>
          </a:p>
        </p:txBody>
      </p:sp>
      <p:sp>
        <p:nvSpPr>
          <p:cNvPr id="16" name="Text 13"/>
          <p:cNvSpPr txBox="1"/>
          <p:nvPr/>
        </p:nvSpPr>
        <p:spPr>
          <a:xfrm>
            <a:off x="4654296" y="3520440"/>
            <a:ext cx="2880360" cy="219456"/>
          </a:xfrm>
          <a:prstGeom prst="rect">
            <a:avLst/>
          </a:prstGeom>
          <a:noFill/>
          <a:ln/>
        </p:spPr>
        <p:txBody>
          <a:bodyPr wrap="square" lIns="0" tIns="0" rIns="0" bIns="0" rtlCol="0" anchor="ctr"/>
          <a:lstStyle/>
          <a:p>
            <a:pPr indent="0" marL="0">
              <a:buNone/>
            </a:pPr>
            <a:r>
              <a:rPr lang="en-US" sz="1000" dirty="0">
                <a:solidFill>
                  <a:srgbClr val="8A9299"/>
                </a:solidFill>
                <a:latin typeface="Manrope" pitchFamily="34" charset="0"/>
                <a:ea typeface="Manrope" pitchFamily="34" charset="-122"/>
                <a:cs typeface="Manrope" pitchFamily="34" charset="-120"/>
              </a:rPr>
              <a:t>TimeoutSeconds</a:t>
            </a:r>
            <a:endParaRPr lang="en-US" sz="1000" dirty="0"/>
          </a:p>
        </p:txBody>
      </p:sp>
      <p:sp>
        <p:nvSpPr>
          <p:cNvPr id="17" name="Text 14"/>
          <p:cNvSpPr txBox="1"/>
          <p:nvPr/>
        </p:nvSpPr>
        <p:spPr>
          <a:xfrm>
            <a:off x="4654296" y="3739896"/>
            <a:ext cx="2880360" cy="310896"/>
          </a:xfrm>
          <a:prstGeom prst="rect">
            <a:avLst/>
          </a:prstGeom>
          <a:noFill/>
          <a:ln/>
        </p:spPr>
        <p:txBody>
          <a:bodyPr wrap="square" lIns="0" tIns="0" rIns="0" bIns="0" rtlCol="0" anchor="ctr"/>
          <a:lstStyle/>
          <a:p>
            <a:pPr indent="0" marL="0">
              <a:buNone/>
            </a:pPr>
            <a:r>
              <a:rPr lang="en-US" sz="1400" b="1" dirty="0">
                <a:solidFill>
                  <a:srgbClr val="B9C2C7"/>
                </a:solidFill>
                <a:latin typeface="JetBrains Mono" pitchFamily="34" charset="0"/>
                <a:ea typeface="JetBrains Mono" pitchFamily="34" charset="-122"/>
                <a:cs typeface="JetBrains Mono" pitchFamily="34" charset="-120"/>
              </a:rPr>
              <a:t>—</a:t>
            </a:r>
            <a:endParaRPr lang="en-US" sz="1400" dirty="0"/>
          </a:p>
        </p:txBody>
      </p:sp>
      <p:sp>
        <p:nvSpPr>
          <p:cNvPr id="18" name="Text 15"/>
          <p:cNvSpPr txBox="1"/>
          <p:nvPr/>
        </p:nvSpPr>
        <p:spPr>
          <a:xfrm>
            <a:off x="4654296" y="4142232"/>
            <a:ext cx="2880360" cy="219456"/>
          </a:xfrm>
          <a:prstGeom prst="rect">
            <a:avLst/>
          </a:prstGeom>
          <a:noFill/>
          <a:ln/>
        </p:spPr>
        <p:txBody>
          <a:bodyPr wrap="square" lIns="0" tIns="0" rIns="0" bIns="0" rtlCol="0" anchor="ctr"/>
          <a:lstStyle/>
          <a:p>
            <a:pPr indent="0" marL="0">
              <a:buNone/>
            </a:pPr>
            <a:r>
              <a:rPr lang="en-US" sz="1000" dirty="0">
                <a:solidFill>
                  <a:srgbClr val="8A9299"/>
                </a:solidFill>
                <a:latin typeface="Manrope" pitchFamily="34" charset="0"/>
                <a:ea typeface="Manrope" pitchFamily="34" charset="-122"/>
                <a:cs typeface="Manrope" pitchFamily="34" charset="-120"/>
              </a:rPr>
              <a:t>Retries</a:t>
            </a:r>
            <a:endParaRPr lang="en-US" sz="1000" dirty="0"/>
          </a:p>
        </p:txBody>
      </p:sp>
      <p:sp>
        <p:nvSpPr>
          <p:cNvPr id="19" name="Text 16"/>
          <p:cNvSpPr txBox="1"/>
          <p:nvPr/>
        </p:nvSpPr>
        <p:spPr>
          <a:xfrm>
            <a:off x="4654296" y="4361688"/>
            <a:ext cx="2880360" cy="310896"/>
          </a:xfrm>
          <a:prstGeom prst="rect">
            <a:avLst/>
          </a:prstGeom>
          <a:noFill/>
          <a:ln/>
        </p:spPr>
        <p:txBody>
          <a:bodyPr wrap="square" lIns="0" tIns="0" rIns="0" bIns="0" rtlCol="0" anchor="ctr"/>
          <a:lstStyle/>
          <a:p>
            <a:pPr indent="0" marL="0">
              <a:buNone/>
            </a:pPr>
            <a:r>
              <a:rPr lang="en-US" sz="1400" b="1" dirty="0">
                <a:solidFill>
                  <a:srgbClr val="16303F"/>
                </a:solidFill>
                <a:latin typeface="JetBrains Mono" pitchFamily="34" charset="0"/>
                <a:ea typeface="JetBrains Mono" pitchFamily="34" charset="-122"/>
                <a:cs typeface="JetBrains Mono" pitchFamily="34" charset="-120"/>
              </a:rPr>
              <a:t>1</a:t>
            </a:r>
            <a:endParaRPr lang="en-US" sz="1400" dirty="0"/>
          </a:p>
        </p:txBody>
      </p:sp>
      <p:sp>
        <p:nvSpPr>
          <p:cNvPr id="20" name="Text 17"/>
          <p:cNvSpPr txBox="1"/>
          <p:nvPr/>
        </p:nvSpPr>
        <p:spPr>
          <a:xfrm>
            <a:off x="8156448" y="2130552"/>
            <a:ext cx="3392424" cy="292608"/>
          </a:xfrm>
          <a:prstGeom prst="rect">
            <a:avLst/>
          </a:prstGeom>
          <a:noFill/>
          <a:ln/>
        </p:spPr>
        <p:txBody>
          <a:bodyPr wrap="square" lIns="0" tIns="0" rIns="0" bIns="0" rtlCol="0" anchor="ctr"/>
          <a:lstStyle/>
          <a:p>
            <a:pPr indent="0" marL="0">
              <a:buNone/>
            </a:pPr>
            <a:r>
              <a:rPr lang="en-US" sz="1000" b="1" spc="120" kern="0" dirty="0">
                <a:solidFill>
                  <a:srgbClr val="16303F"/>
                </a:solidFill>
                <a:latin typeface="Manrope" pitchFamily="34" charset="0"/>
                <a:ea typeface="Manrope" pitchFamily="34" charset="-122"/>
                <a:cs typeface="Manrope" pitchFamily="34" charset="-120"/>
              </a:rPr>
              <a:t>what the app sees</a:t>
            </a:r>
            <a:endParaRPr lang="en-US" sz="1000" dirty="0"/>
          </a:p>
        </p:txBody>
      </p:sp>
      <p:sp>
        <p:nvSpPr>
          <p:cNvPr id="21" name="Shape 18"/>
          <p:cNvSpPr/>
          <p:nvPr/>
        </p:nvSpPr>
        <p:spPr>
          <a:xfrm>
            <a:off x="8156448" y="2514600"/>
            <a:ext cx="3392424" cy="2514600"/>
          </a:xfrm>
          <a:prstGeom prst="rect">
            <a:avLst/>
          </a:prstGeom>
          <a:solidFill>
            <a:srgbClr val="16303F"/>
          </a:solidFill>
          <a:ln w="12700">
            <a:solidFill>
              <a:srgbClr val="16303F"/>
            </a:solidFill>
            <a:prstDash val="solid"/>
          </a:ln>
        </p:spPr>
      </p:sp>
      <p:sp>
        <p:nvSpPr>
          <p:cNvPr id="22" name="Text 19"/>
          <p:cNvSpPr txBox="1"/>
          <p:nvPr/>
        </p:nvSpPr>
        <p:spPr>
          <a:xfrm>
            <a:off x="8412480" y="2898648"/>
            <a:ext cx="2880360" cy="219456"/>
          </a:xfrm>
          <a:prstGeom prst="rect">
            <a:avLst/>
          </a:prstGeom>
          <a:noFill/>
          <a:ln/>
        </p:spPr>
        <p:txBody>
          <a:bodyPr wrap="square" lIns="0" tIns="0" rIns="0" bIns="0" rtlCol="0" anchor="ctr"/>
          <a:lstStyle/>
          <a:p>
            <a:pPr indent="0" marL="0">
              <a:buNone/>
            </a:pPr>
            <a:r>
              <a:rPr lang="en-US" sz="1000" dirty="0">
                <a:solidFill>
                  <a:srgbClr val="8FA6B2"/>
                </a:solidFill>
                <a:latin typeface="Manrope" pitchFamily="34" charset="0"/>
                <a:ea typeface="Manrope" pitchFamily="34" charset="-122"/>
                <a:cs typeface="Manrope" pitchFamily="34" charset="-120"/>
              </a:rPr>
              <a:t>ApiBaseUrl</a:t>
            </a:r>
            <a:endParaRPr lang="en-US" sz="1000" dirty="0"/>
          </a:p>
        </p:txBody>
      </p:sp>
      <p:sp>
        <p:nvSpPr>
          <p:cNvPr id="23" name="Text 20"/>
          <p:cNvSpPr txBox="1"/>
          <p:nvPr/>
        </p:nvSpPr>
        <p:spPr>
          <a:xfrm>
            <a:off x="8412480" y="3118104"/>
            <a:ext cx="2880360" cy="310896"/>
          </a:xfrm>
          <a:prstGeom prst="rect">
            <a:avLst/>
          </a:prstGeom>
          <a:noFill/>
          <a:ln/>
        </p:spPr>
        <p:txBody>
          <a:bodyPr wrap="square" lIns="0" tIns="0" rIns="0" bIns="0" rtlCol="0" anchor="ctr"/>
          <a:lstStyle/>
          <a:p>
            <a:pPr indent="0" marL="0">
              <a:buNone/>
            </a:pPr>
            <a:r>
              <a:rPr lang="en-US" sz="1400" b="1" dirty="0">
                <a:solidFill>
                  <a:srgbClr val="F4C233"/>
                </a:solidFill>
                <a:latin typeface="JetBrains Mono" pitchFamily="34" charset="0"/>
                <a:ea typeface="JetBrains Mono" pitchFamily="34" charset="-122"/>
                <a:cs typeface="JetBrains Mono" pitchFamily="34" charset="-120"/>
              </a:rPr>
              <a:t>localhost:7104</a:t>
            </a:r>
            <a:endParaRPr lang="en-US" sz="1400" dirty="0"/>
          </a:p>
        </p:txBody>
      </p:sp>
      <p:sp>
        <p:nvSpPr>
          <p:cNvPr id="24" name="Text 21"/>
          <p:cNvSpPr txBox="1"/>
          <p:nvPr/>
        </p:nvSpPr>
        <p:spPr>
          <a:xfrm>
            <a:off x="8412480" y="3520440"/>
            <a:ext cx="2880360" cy="219456"/>
          </a:xfrm>
          <a:prstGeom prst="rect">
            <a:avLst/>
          </a:prstGeom>
          <a:noFill/>
          <a:ln/>
        </p:spPr>
        <p:txBody>
          <a:bodyPr wrap="square" lIns="0" tIns="0" rIns="0" bIns="0" rtlCol="0" anchor="ctr"/>
          <a:lstStyle/>
          <a:p>
            <a:pPr indent="0" marL="0">
              <a:buNone/>
            </a:pPr>
            <a:r>
              <a:rPr lang="en-US" sz="1000" dirty="0">
                <a:solidFill>
                  <a:srgbClr val="8FA6B2"/>
                </a:solidFill>
                <a:latin typeface="Manrope" pitchFamily="34" charset="0"/>
                <a:ea typeface="Manrope" pitchFamily="34" charset="-122"/>
                <a:cs typeface="Manrope" pitchFamily="34" charset="-120"/>
              </a:rPr>
              <a:t>TimeoutSeconds</a:t>
            </a:r>
            <a:endParaRPr lang="en-US" sz="1000" dirty="0"/>
          </a:p>
        </p:txBody>
      </p:sp>
      <p:sp>
        <p:nvSpPr>
          <p:cNvPr id="25" name="Text 22"/>
          <p:cNvSpPr txBox="1"/>
          <p:nvPr/>
        </p:nvSpPr>
        <p:spPr>
          <a:xfrm>
            <a:off x="8412480" y="3739896"/>
            <a:ext cx="2880360" cy="310896"/>
          </a:xfrm>
          <a:prstGeom prst="rect">
            <a:avLst/>
          </a:prstGeom>
          <a:noFill/>
          <a:ln/>
        </p:spPr>
        <p:txBody>
          <a:bodyPr wrap="square" lIns="0" tIns="0" rIns="0" bIns="0" rtlCol="0" anchor="ctr"/>
          <a:lstStyle/>
          <a:p>
            <a:pPr indent="0" marL="0">
              <a:buNone/>
            </a:pPr>
            <a:r>
              <a:rPr lang="en-US" sz="1400" b="1" dirty="0">
                <a:solidFill>
                  <a:srgbClr val="FFFFFF"/>
                </a:solidFill>
                <a:latin typeface="JetBrains Mono" pitchFamily="34" charset="0"/>
                <a:ea typeface="JetBrains Mono" pitchFamily="34" charset="-122"/>
                <a:cs typeface="JetBrains Mono" pitchFamily="34" charset="-120"/>
              </a:rPr>
              <a:t>30</a:t>
            </a:r>
            <a:endParaRPr lang="en-US" sz="1400" dirty="0"/>
          </a:p>
        </p:txBody>
      </p:sp>
      <p:sp>
        <p:nvSpPr>
          <p:cNvPr id="26" name="Text 23"/>
          <p:cNvSpPr txBox="1"/>
          <p:nvPr/>
        </p:nvSpPr>
        <p:spPr>
          <a:xfrm>
            <a:off x="8412480" y="4142232"/>
            <a:ext cx="2880360" cy="219456"/>
          </a:xfrm>
          <a:prstGeom prst="rect">
            <a:avLst/>
          </a:prstGeom>
          <a:noFill/>
          <a:ln/>
        </p:spPr>
        <p:txBody>
          <a:bodyPr wrap="square" lIns="0" tIns="0" rIns="0" bIns="0" rtlCol="0" anchor="ctr"/>
          <a:lstStyle/>
          <a:p>
            <a:pPr indent="0" marL="0">
              <a:buNone/>
            </a:pPr>
            <a:r>
              <a:rPr lang="en-US" sz="1000" dirty="0">
                <a:solidFill>
                  <a:srgbClr val="8FA6B2"/>
                </a:solidFill>
                <a:latin typeface="Manrope" pitchFamily="34" charset="0"/>
                <a:ea typeface="Manrope" pitchFamily="34" charset="-122"/>
                <a:cs typeface="Manrope" pitchFamily="34" charset="-120"/>
              </a:rPr>
              <a:t>Retries</a:t>
            </a:r>
            <a:endParaRPr lang="en-US" sz="1000" dirty="0"/>
          </a:p>
        </p:txBody>
      </p:sp>
      <p:sp>
        <p:nvSpPr>
          <p:cNvPr id="27" name="Text 24"/>
          <p:cNvSpPr txBox="1"/>
          <p:nvPr/>
        </p:nvSpPr>
        <p:spPr>
          <a:xfrm>
            <a:off x="8412480" y="4361688"/>
            <a:ext cx="2880360" cy="310896"/>
          </a:xfrm>
          <a:prstGeom prst="rect">
            <a:avLst/>
          </a:prstGeom>
          <a:noFill/>
          <a:ln/>
        </p:spPr>
        <p:txBody>
          <a:bodyPr wrap="square" lIns="0" tIns="0" rIns="0" bIns="0" rtlCol="0" anchor="ctr"/>
          <a:lstStyle/>
          <a:p>
            <a:pPr indent="0" marL="0">
              <a:buNone/>
            </a:pPr>
            <a:r>
              <a:rPr lang="en-US" sz="1400" b="1" dirty="0">
                <a:solidFill>
                  <a:srgbClr val="F4C233"/>
                </a:solidFill>
                <a:latin typeface="JetBrains Mono" pitchFamily="34" charset="0"/>
                <a:ea typeface="JetBrains Mono" pitchFamily="34" charset="-122"/>
                <a:cs typeface="JetBrains Mono" pitchFamily="34" charset="-120"/>
              </a:rPr>
              <a:t>1</a:t>
            </a:r>
            <a:endParaRPr lang="en-US" sz="1400" dirty="0"/>
          </a:p>
        </p:txBody>
      </p:sp>
      <p:sp>
        <p:nvSpPr>
          <p:cNvPr id="28" name="Text 25"/>
          <p:cNvSpPr txBox="1"/>
          <p:nvPr/>
        </p:nvSpPr>
        <p:spPr>
          <a:xfrm>
            <a:off x="8156448" y="5175504"/>
            <a:ext cx="3392424" cy="274320"/>
          </a:xfrm>
          <a:prstGeom prst="rect">
            <a:avLst/>
          </a:prstGeom>
          <a:noFill/>
          <a:ln/>
        </p:spPr>
        <p:txBody>
          <a:bodyPr wrap="square" lIns="0" tIns="0" rIns="0" bIns="0" rtlCol="0" anchor="ctr"/>
          <a:lstStyle/>
          <a:p>
            <a:pPr indent="0" marL="0">
              <a:buNone/>
            </a:pPr>
            <a:r>
              <a:rPr lang="en-US" sz="1100" i="1" dirty="0">
                <a:solidFill>
                  <a:srgbClr val="8A9299"/>
                </a:solidFill>
                <a:latin typeface="Manrope" pitchFamily="34" charset="0"/>
                <a:ea typeface="Manrope" pitchFamily="34" charset="-122"/>
                <a:cs typeface="Manrope" pitchFamily="34" charset="-120"/>
              </a:rPr>
              <a:t>gold = came from the environment file</a:t>
            </a:r>
            <a:endParaRPr lang="en-US" sz="1100" dirty="0"/>
          </a:p>
        </p:txBody>
      </p:sp>
      <p:sp>
        <p:nvSpPr>
          <p:cNvPr id="25" name="Slide Number Placeholder 0"/>
          <p:cNvSpPr>
            <a:spLocks noGrp="1"/>
          </p:cNvSpPr>
          <p:nvPr>
            <p:ph type="sldNum" sz="quarter" idx="4294967295"/>
          </p:nvPr>
        </p:nvSpPr>
        <p:spPr>
          <a:xfrm>
            <a:off x="10881360" y="6199632"/>
            <a:ext cx="667512" cy="292608"/>
          </a:xfrm>
          <a:prstGeom prst="rect">
            <a:avLst/>
          </a:prstGeom>
          <a:extLst>
            <a:ext uri="{C572A759-6A51-4108-AA02-DFA0A04FC94B}">
              <ma14:wrappingTextBoxFlag xmlns:ma14="http://schemas.microsoft.com/office/mac/drawingml/2011/main" val="0"/>
            </a:ext>
          </a:extLst>
        </p:spPr>
        <p:txBody>
          <a:bodyPr/>
          <a:lstStyle>
            <a:lvl1pPr>
              <a:defRPr sz="1000">
                <a:solidFill>
                  <a:srgbClr val="16303F"/>
                </a:solidFill>
                <a:latin typeface="Manrope"/>
                <a:ea typeface="Manrope"/>
                <a:cs typeface="Manrope"/>
              </a:defRPr>
            </a:lvl1pPr>
          </a:lstStyle>
          <a:p>
            <a:pPr algn="r"/>
            <a:fld id="{F7021451-1387-4CA6-816F-3879F97B5CBC}" type="slidenum">
              <a:rPr b="1"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2"/>
          <p:cNvSpPr/>
          <p:nvPr>
            <p:ph idx="102" type="title" hasCustomPrompt="1"/>
          </p:nvPr>
        </p:nvSpPr>
        <p:spPr>
          <a:xfrm>
            <a:off x="640080" y="841248"/>
            <a:ext cx="10881360" cy="822960"/>
          </a:xfrm>
          <a:prstGeom prst="rect">
            <a:avLst/>
          </a:prstGeom>
          <a:noFill/>
          <a:ln/>
        </p:spPr>
        <p:txBody>
          <a:bodyPr wrap="square" lIns="0" tIns="0" rIns="0" bIns="0" rtlCol="0"/>
          <a:lstStyle/>
          <a:p>
            <a:pPr algn="l" indent="0" marL="0">
              <a:buNone/>
            </a:pPr>
            <a:r>
              <a:rPr lang="en-US" sz="3200" b="1" dirty="0">
                <a:solidFill>
                  <a:srgbClr val="16303F"/>
                </a:solidFill>
                <a:latin typeface="Manrope" pitchFamily="34" charset="0"/>
                <a:ea typeface="Manrope" pitchFamily="34" charset="-122"/>
                <a:cs typeface="Manrope" pitchFamily="34" charset="-120"/>
              </a:rPr>
              <a:t>Arrays overlay. They don't replace.</a:t>
            </a:r>
            <a:endParaRPr lang="en-US" sz="3200" dirty="0"/>
          </a:p>
        </p:txBody>
      </p:sp>
      <p:sp>
        <p:nvSpPr>
          <p:cNvPr id="4" name="Text 1"/>
          <p:cNvSpPr txBox="1"/>
          <p:nvPr/>
        </p:nvSpPr>
        <p:spPr>
          <a:xfrm>
            <a:off x="640080" y="2468880"/>
            <a:ext cx="3291840" cy="457200"/>
          </a:xfrm>
          <a:prstGeom prst="rect">
            <a:avLst/>
          </a:prstGeom>
          <a:noFill/>
          <a:ln/>
        </p:spPr>
        <p:txBody>
          <a:bodyPr wrap="square" lIns="0" tIns="0" rIns="0" bIns="0" rtlCol="0" anchor="ctr"/>
          <a:lstStyle/>
          <a:p>
            <a:pPr indent="0" marL="0">
              <a:buNone/>
            </a:pPr>
            <a:r>
              <a:rPr lang="en-US" sz="1200" dirty="0">
                <a:solidFill>
                  <a:srgbClr val="8A9299"/>
                </a:solidFill>
                <a:latin typeface="Manrope" pitchFamily="34" charset="0"/>
                <a:ea typeface="Manrope" pitchFamily="34" charset="-122"/>
                <a:cs typeface="Manrope" pitchFamily="34" charset="-120"/>
              </a:rPr>
              <a:t>appsettings.json</a:t>
            </a:r>
            <a:endParaRPr lang="en-US" sz="1200" dirty="0"/>
          </a:p>
        </p:txBody>
      </p:sp>
      <p:sp>
        <p:nvSpPr>
          <p:cNvPr id="5" name="Text 2"/>
          <p:cNvSpPr txBox="1"/>
          <p:nvPr/>
        </p:nvSpPr>
        <p:spPr>
          <a:xfrm>
            <a:off x="4023360" y="2468880"/>
            <a:ext cx="3108960" cy="457200"/>
          </a:xfrm>
          <a:prstGeom prst="rect">
            <a:avLst/>
          </a:prstGeom>
          <a:noFill/>
          <a:ln/>
        </p:spPr>
        <p:txBody>
          <a:bodyPr wrap="square" lIns="0" tIns="0" rIns="0" bIns="0" rtlCol="0" anchor="ctr"/>
          <a:lstStyle/>
          <a:p>
            <a:pPr indent="0" marL="0">
              <a:buNone/>
            </a:pPr>
            <a:r>
              <a:rPr lang="en-US" sz="1800" dirty="0">
                <a:solidFill>
                  <a:srgbClr val="16303F"/>
                </a:solidFill>
                <a:latin typeface="JetBrains Mono" pitchFamily="34" charset="0"/>
                <a:ea typeface="JetBrains Mono" pitchFamily="34" charset="-122"/>
                <a:cs typeface="JetBrains Mono" pitchFamily="34" charset="-120"/>
              </a:rPr>
              <a:t>[ "a", "b", "c" ]</a:t>
            </a:r>
            <a:endParaRPr lang="en-US" sz="1800" dirty="0"/>
          </a:p>
        </p:txBody>
      </p:sp>
      <p:sp>
        <p:nvSpPr>
          <p:cNvPr id="6" name="Text 3"/>
          <p:cNvSpPr txBox="1"/>
          <p:nvPr/>
        </p:nvSpPr>
        <p:spPr>
          <a:xfrm>
            <a:off x="640080" y="3383280"/>
            <a:ext cx="3291840" cy="457200"/>
          </a:xfrm>
          <a:prstGeom prst="rect">
            <a:avLst/>
          </a:prstGeom>
          <a:noFill/>
          <a:ln/>
        </p:spPr>
        <p:txBody>
          <a:bodyPr wrap="square" lIns="0" tIns="0" rIns="0" bIns="0" rtlCol="0" anchor="ctr"/>
          <a:lstStyle/>
          <a:p>
            <a:pPr indent="0" marL="0">
              <a:buNone/>
            </a:pPr>
            <a:r>
              <a:rPr lang="en-US" sz="1200" dirty="0">
                <a:solidFill>
                  <a:srgbClr val="8A9299"/>
                </a:solidFill>
                <a:latin typeface="Manrope" pitchFamily="34" charset="0"/>
                <a:ea typeface="Manrope" pitchFamily="34" charset="-122"/>
                <a:cs typeface="Manrope" pitchFamily="34" charset="-120"/>
              </a:rPr>
              <a:t>appsettings.Development.json</a:t>
            </a:r>
            <a:endParaRPr lang="en-US" sz="1200" dirty="0"/>
          </a:p>
        </p:txBody>
      </p:sp>
      <p:sp>
        <p:nvSpPr>
          <p:cNvPr id="7" name="Text 4"/>
          <p:cNvSpPr txBox="1"/>
          <p:nvPr/>
        </p:nvSpPr>
        <p:spPr>
          <a:xfrm>
            <a:off x="4023360" y="3383280"/>
            <a:ext cx="3108960" cy="457200"/>
          </a:xfrm>
          <a:prstGeom prst="rect">
            <a:avLst/>
          </a:prstGeom>
          <a:noFill/>
          <a:ln/>
        </p:spPr>
        <p:txBody>
          <a:bodyPr wrap="square" lIns="0" tIns="0" rIns="0" bIns="0" rtlCol="0" anchor="ctr"/>
          <a:lstStyle/>
          <a:p>
            <a:pPr indent="0" marL="0">
              <a:buNone/>
            </a:pPr>
            <a:r>
              <a:rPr lang="en-US" sz="1800" dirty="0">
                <a:solidFill>
                  <a:srgbClr val="16303F"/>
                </a:solidFill>
                <a:latin typeface="JetBrains Mono" pitchFamily="34" charset="0"/>
                <a:ea typeface="JetBrains Mono" pitchFamily="34" charset="-122"/>
                <a:cs typeface="JetBrains Mono" pitchFamily="34" charset="-120"/>
              </a:rPr>
              <a:t>[ "x" ]</a:t>
            </a:r>
            <a:endParaRPr lang="en-US" sz="1800" dirty="0"/>
          </a:p>
        </p:txBody>
      </p:sp>
      <p:sp>
        <p:nvSpPr>
          <p:cNvPr id="8" name="Text 5"/>
          <p:cNvSpPr txBox="1"/>
          <p:nvPr/>
        </p:nvSpPr>
        <p:spPr>
          <a:xfrm>
            <a:off x="640080" y="4526280"/>
            <a:ext cx="3291840" cy="457200"/>
          </a:xfrm>
          <a:prstGeom prst="rect">
            <a:avLst/>
          </a:prstGeom>
          <a:noFill/>
          <a:ln/>
        </p:spPr>
        <p:txBody>
          <a:bodyPr wrap="square" lIns="0" tIns="0" rIns="0" bIns="0" rtlCol="0" anchor="ctr"/>
          <a:lstStyle/>
          <a:p>
            <a:pPr indent="0" marL="0">
              <a:buNone/>
            </a:pPr>
            <a:r>
              <a:rPr lang="en-US" sz="1200" dirty="0">
                <a:solidFill>
                  <a:srgbClr val="8A9299"/>
                </a:solidFill>
                <a:latin typeface="Manrope" pitchFamily="34" charset="0"/>
                <a:ea typeface="Manrope" pitchFamily="34" charset="-122"/>
                <a:cs typeface="Manrope" pitchFamily="34" charset="-120"/>
              </a:rPr>
              <a:t>what the app sees</a:t>
            </a:r>
            <a:endParaRPr lang="en-US" sz="1200" dirty="0"/>
          </a:p>
        </p:txBody>
      </p:sp>
      <p:sp>
        <p:nvSpPr>
          <p:cNvPr id="9" name="Text 6"/>
          <p:cNvSpPr txBox="1"/>
          <p:nvPr/>
        </p:nvSpPr>
        <p:spPr>
          <a:xfrm>
            <a:off x="4023360" y="4526280"/>
            <a:ext cx="3108960" cy="457200"/>
          </a:xfrm>
          <a:prstGeom prst="rect">
            <a:avLst/>
          </a:prstGeom>
          <a:noFill/>
          <a:ln/>
        </p:spPr>
        <p:txBody>
          <a:bodyPr wrap="square" lIns="0" tIns="0" rIns="0" bIns="0" rtlCol="0" anchor="ctr"/>
          <a:lstStyle/>
          <a:p>
            <a:pPr indent="0" marL="0">
              <a:buNone/>
            </a:pPr>
            <a:r>
              <a:rPr lang="en-US" sz="2100" b="1" dirty="0">
                <a:solidFill>
                  <a:srgbClr val="F4C233"/>
                </a:solidFill>
                <a:latin typeface="JetBrains Mono" pitchFamily="34" charset="0"/>
                <a:ea typeface="JetBrains Mono" pitchFamily="34" charset="-122"/>
                <a:cs typeface="JetBrains Mono" pitchFamily="34" charset="-120"/>
              </a:rPr>
              <a:t>[ "x", "b", "c" ]</a:t>
            </a:r>
            <a:endParaRPr lang="en-US" sz="2100" dirty="0"/>
          </a:p>
        </p:txBody>
      </p:sp>
      <p:sp>
        <p:nvSpPr>
          <p:cNvPr id="10" name="Shape 7"/>
          <p:cNvSpPr/>
          <p:nvPr/>
        </p:nvSpPr>
        <p:spPr>
          <a:xfrm>
            <a:off x="640080" y="4224528"/>
            <a:ext cx="6492240" cy="18288"/>
          </a:xfrm>
          <a:prstGeom prst="rect">
            <a:avLst/>
          </a:prstGeom>
          <a:solidFill>
            <a:srgbClr val="D8D3C8"/>
          </a:solidFill>
          <a:ln/>
        </p:spPr>
      </p:sp>
      <p:sp>
        <p:nvSpPr>
          <p:cNvPr id="11" name="Shape 8"/>
          <p:cNvSpPr/>
          <p:nvPr/>
        </p:nvSpPr>
        <p:spPr>
          <a:xfrm>
            <a:off x="7680960" y="2377440"/>
            <a:ext cx="3867912" cy="2697480"/>
          </a:xfrm>
          <a:prstGeom prst="rect">
            <a:avLst/>
          </a:prstGeom>
          <a:solidFill>
            <a:srgbClr val="16303F"/>
          </a:solidFill>
          <a:ln/>
        </p:spPr>
      </p:sp>
      <p:sp>
        <p:nvSpPr>
          <p:cNvPr id="12" name="Text 9"/>
          <p:cNvSpPr txBox="1"/>
          <p:nvPr/>
        </p:nvSpPr>
        <p:spPr>
          <a:xfrm>
            <a:off x="8001000" y="2651760"/>
            <a:ext cx="3291840" cy="274320"/>
          </a:xfrm>
          <a:prstGeom prst="rect">
            <a:avLst/>
          </a:prstGeom>
          <a:noFill/>
          <a:ln/>
        </p:spPr>
        <p:txBody>
          <a:bodyPr wrap="square" lIns="0" tIns="0" rIns="0" bIns="0" rtlCol="0" anchor="ctr"/>
          <a:lstStyle/>
          <a:p>
            <a:pPr indent="0" marL="0">
              <a:buNone/>
            </a:pPr>
            <a:r>
              <a:rPr lang="en-US" sz="900" b="1" spc="120" kern="0" dirty="0">
                <a:solidFill>
                  <a:srgbClr val="8FA6B2"/>
                </a:solidFill>
                <a:latin typeface="Manrope" pitchFamily="34" charset="0"/>
                <a:ea typeface="Manrope" pitchFamily="34" charset="-122"/>
                <a:cs typeface="Manrope" pitchFamily="34" charset="-120"/>
              </a:rPr>
              <a:t>BECAUSE ARRAY ELEMENTS ARE KEYS</a:t>
            </a:r>
            <a:endParaRPr lang="en-US" sz="900" dirty="0"/>
          </a:p>
        </p:txBody>
      </p:sp>
      <p:sp>
        <p:nvSpPr>
          <p:cNvPr id="13" name="Text 10"/>
          <p:cNvSpPr txBox="1"/>
          <p:nvPr/>
        </p:nvSpPr>
        <p:spPr>
          <a:xfrm>
            <a:off x="8001000" y="3108960"/>
            <a:ext cx="1371600" cy="365760"/>
          </a:xfrm>
          <a:prstGeom prst="rect">
            <a:avLst/>
          </a:prstGeom>
          <a:noFill/>
          <a:ln/>
        </p:spPr>
        <p:txBody>
          <a:bodyPr wrap="square" lIns="0" tIns="0" rIns="0" bIns="0" rtlCol="0" anchor="ctr"/>
          <a:lstStyle/>
          <a:p>
            <a:pPr indent="0" marL="0">
              <a:buNone/>
            </a:pPr>
            <a:r>
              <a:rPr lang="en-US" sz="1300" dirty="0">
                <a:solidFill>
                  <a:srgbClr val="FFFFFF"/>
                </a:solidFill>
                <a:latin typeface="JetBrains Mono" pitchFamily="34" charset="0"/>
                <a:ea typeface="JetBrains Mono" pitchFamily="34" charset="-122"/>
                <a:cs typeface="JetBrains Mono" pitchFamily="34" charset="-120"/>
              </a:rPr>
              <a:t>Hosts:0</a:t>
            </a:r>
            <a:endParaRPr lang="en-US" sz="1300" dirty="0"/>
          </a:p>
        </p:txBody>
      </p:sp>
      <p:sp>
        <p:nvSpPr>
          <p:cNvPr id="14" name="Text 11"/>
          <p:cNvSpPr txBox="1"/>
          <p:nvPr/>
        </p:nvSpPr>
        <p:spPr>
          <a:xfrm>
            <a:off x="9326880" y="3108960"/>
            <a:ext cx="640080" cy="365760"/>
          </a:xfrm>
          <a:prstGeom prst="rect">
            <a:avLst/>
          </a:prstGeom>
          <a:noFill/>
          <a:ln/>
        </p:spPr>
        <p:txBody>
          <a:bodyPr wrap="square" lIns="0" tIns="0" rIns="0" bIns="0" rtlCol="0" anchor="ctr"/>
          <a:lstStyle/>
          <a:p>
            <a:pPr indent="0" marL="0">
              <a:buNone/>
            </a:pPr>
            <a:r>
              <a:rPr lang="en-US" sz="1300" b="1" dirty="0">
                <a:solidFill>
                  <a:srgbClr val="F4C233"/>
                </a:solidFill>
                <a:latin typeface="JetBrains Mono" pitchFamily="34" charset="0"/>
                <a:ea typeface="JetBrains Mono" pitchFamily="34" charset="-122"/>
                <a:cs typeface="JetBrains Mono" pitchFamily="34" charset="-120"/>
              </a:rPr>
              <a:t>"x"</a:t>
            </a:r>
            <a:endParaRPr lang="en-US" sz="1300" dirty="0"/>
          </a:p>
        </p:txBody>
      </p:sp>
      <p:sp>
        <p:nvSpPr>
          <p:cNvPr id="15" name="Text 12"/>
          <p:cNvSpPr txBox="1"/>
          <p:nvPr/>
        </p:nvSpPr>
        <p:spPr>
          <a:xfrm>
            <a:off x="10012680" y="3108960"/>
            <a:ext cx="1463040" cy="365760"/>
          </a:xfrm>
          <a:prstGeom prst="rect">
            <a:avLst/>
          </a:prstGeom>
          <a:noFill/>
          <a:ln/>
        </p:spPr>
        <p:txBody>
          <a:bodyPr wrap="square" lIns="0" tIns="0" rIns="0" bIns="0" rtlCol="0" anchor="ctr"/>
          <a:lstStyle/>
          <a:p>
            <a:pPr indent="0" marL="0">
              <a:buNone/>
            </a:pPr>
            <a:r>
              <a:rPr lang="en-US" sz="1000" i="1" dirty="0">
                <a:solidFill>
                  <a:srgbClr val="F4C233"/>
                </a:solidFill>
                <a:latin typeface="Manrope" pitchFamily="34" charset="0"/>
                <a:ea typeface="Manrope" pitchFamily="34" charset="-122"/>
                <a:cs typeface="Manrope" pitchFamily="34" charset="-120"/>
              </a:rPr>
              <a:t>overwritten</a:t>
            </a:r>
            <a:endParaRPr lang="en-US" sz="1000" dirty="0"/>
          </a:p>
        </p:txBody>
      </p:sp>
      <p:sp>
        <p:nvSpPr>
          <p:cNvPr id="16" name="Text 13"/>
          <p:cNvSpPr txBox="1"/>
          <p:nvPr/>
        </p:nvSpPr>
        <p:spPr>
          <a:xfrm>
            <a:off x="8001000" y="3712464"/>
            <a:ext cx="1371600" cy="365760"/>
          </a:xfrm>
          <a:prstGeom prst="rect">
            <a:avLst/>
          </a:prstGeom>
          <a:noFill/>
          <a:ln/>
        </p:spPr>
        <p:txBody>
          <a:bodyPr wrap="square" lIns="0" tIns="0" rIns="0" bIns="0" rtlCol="0" anchor="ctr"/>
          <a:lstStyle/>
          <a:p>
            <a:pPr indent="0" marL="0">
              <a:buNone/>
            </a:pPr>
            <a:r>
              <a:rPr lang="en-US" sz="1300" dirty="0">
                <a:solidFill>
                  <a:srgbClr val="FFFFFF"/>
                </a:solidFill>
                <a:latin typeface="JetBrains Mono" pitchFamily="34" charset="0"/>
                <a:ea typeface="JetBrains Mono" pitchFamily="34" charset="-122"/>
                <a:cs typeface="JetBrains Mono" pitchFamily="34" charset="-120"/>
              </a:rPr>
              <a:t>Hosts:1</a:t>
            </a:r>
            <a:endParaRPr lang="en-US" sz="1300" dirty="0"/>
          </a:p>
        </p:txBody>
      </p:sp>
      <p:sp>
        <p:nvSpPr>
          <p:cNvPr id="17" name="Text 14"/>
          <p:cNvSpPr txBox="1"/>
          <p:nvPr/>
        </p:nvSpPr>
        <p:spPr>
          <a:xfrm>
            <a:off x="9326880" y="3712464"/>
            <a:ext cx="640080" cy="365760"/>
          </a:xfrm>
          <a:prstGeom prst="rect">
            <a:avLst/>
          </a:prstGeom>
          <a:noFill/>
          <a:ln/>
        </p:spPr>
        <p:txBody>
          <a:bodyPr wrap="square" lIns="0" tIns="0" rIns="0" bIns="0" rtlCol="0" anchor="ctr"/>
          <a:lstStyle/>
          <a:p>
            <a:pPr indent="0" marL="0">
              <a:buNone/>
            </a:pPr>
            <a:r>
              <a:rPr lang="en-US" sz="1300" b="1" dirty="0">
                <a:solidFill>
                  <a:srgbClr val="FFFFFF"/>
                </a:solidFill>
                <a:latin typeface="JetBrains Mono" pitchFamily="34" charset="0"/>
                <a:ea typeface="JetBrains Mono" pitchFamily="34" charset="-122"/>
                <a:cs typeface="JetBrains Mono" pitchFamily="34" charset="-120"/>
              </a:rPr>
              <a:t>"b"</a:t>
            </a:r>
            <a:endParaRPr lang="en-US" sz="1300" dirty="0"/>
          </a:p>
        </p:txBody>
      </p:sp>
      <p:sp>
        <p:nvSpPr>
          <p:cNvPr id="18" name="Text 15"/>
          <p:cNvSpPr txBox="1"/>
          <p:nvPr/>
        </p:nvSpPr>
        <p:spPr>
          <a:xfrm>
            <a:off x="10012680" y="3712464"/>
            <a:ext cx="1463040" cy="365760"/>
          </a:xfrm>
          <a:prstGeom prst="rect">
            <a:avLst/>
          </a:prstGeom>
          <a:noFill/>
          <a:ln/>
        </p:spPr>
        <p:txBody>
          <a:bodyPr wrap="square" lIns="0" tIns="0" rIns="0" bIns="0" rtlCol="0" anchor="ctr"/>
          <a:lstStyle/>
          <a:p>
            <a:pPr indent="0" marL="0">
              <a:buNone/>
            </a:pPr>
            <a:r>
              <a:rPr lang="en-US" sz="1000" i="1" dirty="0">
                <a:solidFill>
                  <a:srgbClr val="8FA6B2"/>
                </a:solidFill>
                <a:latin typeface="Manrope" pitchFamily="34" charset="0"/>
                <a:ea typeface="Manrope" pitchFamily="34" charset="-122"/>
                <a:cs typeface="Manrope" pitchFamily="34" charset="-120"/>
              </a:rPr>
              <a:t>survives</a:t>
            </a:r>
            <a:endParaRPr lang="en-US" sz="1000" dirty="0"/>
          </a:p>
        </p:txBody>
      </p:sp>
      <p:sp>
        <p:nvSpPr>
          <p:cNvPr id="19" name="Text 16"/>
          <p:cNvSpPr txBox="1"/>
          <p:nvPr/>
        </p:nvSpPr>
        <p:spPr>
          <a:xfrm>
            <a:off x="8001000" y="4315968"/>
            <a:ext cx="1371600" cy="365760"/>
          </a:xfrm>
          <a:prstGeom prst="rect">
            <a:avLst/>
          </a:prstGeom>
          <a:noFill/>
          <a:ln/>
        </p:spPr>
        <p:txBody>
          <a:bodyPr wrap="square" lIns="0" tIns="0" rIns="0" bIns="0" rtlCol="0" anchor="ctr"/>
          <a:lstStyle/>
          <a:p>
            <a:pPr indent="0" marL="0">
              <a:buNone/>
            </a:pPr>
            <a:r>
              <a:rPr lang="en-US" sz="1300" dirty="0">
                <a:solidFill>
                  <a:srgbClr val="FFFFFF"/>
                </a:solidFill>
                <a:latin typeface="JetBrains Mono" pitchFamily="34" charset="0"/>
                <a:ea typeface="JetBrains Mono" pitchFamily="34" charset="-122"/>
                <a:cs typeface="JetBrains Mono" pitchFamily="34" charset="-120"/>
              </a:rPr>
              <a:t>Hosts:2</a:t>
            </a:r>
            <a:endParaRPr lang="en-US" sz="1300" dirty="0"/>
          </a:p>
        </p:txBody>
      </p:sp>
      <p:sp>
        <p:nvSpPr>
          <p:cNvPr id="20" name="Text 17"/>
          <p:cNvSpPr txBox="1"/>
          <p:nvPr/>
        </p:nvSpPr>
        <p:spPr>
          <a:xfrm>
            <a:off x="9326880" y="4315968"/>
            <a:ext cx="640080" cy="365760"/>
          </a:xfrm>
          <a:prstGeom prst="rect">
            <a:avLst/>
          </a:prstGeom>
          <a:noFill/>
          <a:ln/>
        </p:spPr>
        <p:txBody>
          <a:bodyPr wrap="square" lIns="0" tIns="0" rIns="0" bIns="0" rtlCol="0" anchor="ctr"/>
          <a:lstStyle/>
          <a:p>
            <a:pPr indent="0" marL="0">
              <a:buNone/>
            </a:pPr>
            <a:r>
              <a:rPr lang="en-US" sz="1300" b="1" dirty="0">
                <a:solidFill>
                  <a:srgbClr val="FFFFFF"/>
                </a:solidFill>
                <a:latin typeface="JetBrains Mono" pitchFamily="34" charset="0"/>
                <a:ea typeface="JetBrains Mono" pitchFamily="34" charset="-122"/>
                <a:cs typeface="JetBrains Mono" pitchFamily="34" charset="-120"/>
              </a:rPr>
              <a:t>"c"</a:t>
            </a:r>
            <a:endParaRPr lang="en-US" sz="1300" dirty="0"/>
          </a:p>
        </p:txBody>
      </p:sp>
      <p:sp>
        <p:nvSpPr>
          <p:cNvPr id="21" name="Text 18"/>
          <p:cNvSpPr txBox="1"/>
          <p:nvPr/>
        </p:nvSpPr>
        <p:spPr>
          <a:xfrm>
            <a:off x="10012680" y="4315968"/>
            <a:ext cx="1463040" cy="365760"/>
          </a:xfrm>
          <a:prstGeom prst="rect">
            <a:avLst/>
          </a:prstGeom>
          <a:noFill/>
          <a:ln/>
        </p:spPr>
        <p:txBody>
          <a:bodyPr wrap="square" lIns="0" tIns="0" rIns="0" bIns="0" rtlCol="0" anchor="ctr"/>
          <a:lstStyle/>
          <a:p>
            <a:pPr indent="0" marL="0">
              <a:buNone/>
            </a:pPr>
            <a:r>
              <a:rPr lang="en-US" sz="1000" i="1" dirty="0">
                <a:solidFill>
                  <a:srgbClr val="8FA6B2"/>
                </a:solidFill>
                <a:latin typeface="Manrope" pitchFamily="34" charset="0"/>
                <a:ea typeface="Manrope" pitchFamily="34" charset="-122"/>
                <a:cs typeface="Manrope" pitchFamily="34" charset="-120"/>
              </a:rPr>
              <a:t>survives</a:t>
            </a:r>
            <a:endParaRPr lang="en-US" sz="1000" dirty="0"/>
          </a:p>
        </p:txBody>
      </p:sp>
      <p:sp>
        <p:nvSpPr>
          <p:cNvPr id="25" name="Slide Number Placeholder 0"/>
          <p:cNvSpPr>
            <a:spLocks noGrp="1"/>
          </p:cNvSpPr>
          <p:nvPr>
            <p:ph type="sldNum" sz="quarter" idx="4294967295"/>
          </p:nvPr>
        </p:nvSpPr>
        <p:spPr>
          <a:xfrm>
            <a:off x="10881360" y="6199632"/>
            <a:ext cx="667512" cy="292608"/>
          </a:xfrm>
          <a:prstGeom prst="rect">
            <a:avLst/>
          </a:prstGeom>
          <a:extLst>
            <a:ext uri="{C572A759-6A51-4108-AA02-DFA0A04FC94B}">
              <ma14:wrappingTextBoxFlag xmlns:ma14="http://schemas.microsoft.com/office/mac/drawingml/2011/main" val="0"/>
            </a:ext>
          </a:extLst>
        </p:spPr>
        <p:txBody>
          <a:bodyPr/>
          <a:lstStyle>
            <a:lvl1pPr>
              <a:defRPr sz="1000">
                <a:solidFill>
                  <a:srgbClr val="16303F"/>
                </a:solidFill>
                <a:latin typeface="Manrope"/>
                <a:ea typeface="Manrope"/>
                <a:cs typeface="Manrope"/>
              </a:defRPr>
            </a:lvl1pPr>
          </a:lstStyle>
          <a:p>
            <a:pPr algn="r"/>
            <a:fld id="{F7021451-1387-4CA6-816F-3879F97B5CBC}" type="slidenum">
              <a:rPr b="1"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2"/>
          <p:cNvSpPr/>
          <p:nvPr>
            <p:ph idx="102" type="title" hasCustomPrompt="1"/>
          </p:nvPr>
        </p:nvSpPr>
        <p:spPr>
          <a:xfrm>
            <a:off x="640080" y="841248"/>
            <a:ext cx="10881360" cy="822960"/>
          </a:xfrm>
          <a:prstGeom prst="rect">
            <a:avLst/>
          </a:prstGeom>
          <a:noFill/>
          <a:ln/>
        </p:spPr>
        <p:txBody>
          <a:bodyPr wrap="square" lIns="0" tIns="0" rIns="0" bIns="0" rtlCol="0"/>
          <a:lstStyle/>
          <a:p>
            <a:pPr algn="l" indent="0" marL="0">
              <a:buNone/>
            </a:pPr>
            <a:r>
              <a:rPr lang="en-US" sz="3200" b="1" dirty="0">
                <a:solidFill>
                  <a:srgbClr val="16303F"/>
                </a:solidFill>
                <a:latin typeface="Manrope" pitchFamily="34" charset="0"/>
                <a:ea typeface="Manrope" pitchFamily="34" charset="-122"/>
                <a:cs typeface="Manrope" pitchFamily="34" charset="-120"/>
              </a:rPr>
              <a:t>Not encrypted. Not a vault.</a:t>
            </a:r>
            <a:endParaRPr lang="en-US" sz="3200" dirty="0"/>
          </a:p>
        </p:txBody>
      </p:sp>
      <p:sp>
        <p:nvSpPr>
          <p:cNvPr id="4" name="Shape 1"/>
          <p:cNvSpPr/>
          <p:nvPr/>
        </p:nvSpPr>
        <p:spPr>
          <a:xfrm>
            <a:off x="9646920" y="457200"/>
            <a:ext cx="1901952" cy="420624"/>
          </a:xfrm>
          <a:prstGeom prst="roundRect">
            <a:avLst>
              <a:gd name="adj" fmla="val 13043"/>
            </a:avLst>
          </a:prstGeom>
          <a:solidFill>
            <a:srgbClr val="16303F"/>
          </a:solidFill>
          <a:ln/>
        </p:spPr>
      </p:sp>
      <p:sp>
        <p:nvSpPr>
          <p:cNvPr id="5" name="Text 2"/>
          <p:cNvSpPr txBox="1"/>
          <p:nvPr/>
        </p:nvSpPr>
        <p:spPr>
          <a:xfrm>
            <a:off x="9646920" y="457200"/>
            <a:ext cx="1901952" cy="420624"/>
          </a:xfrm>
          <a:prstGeom prst="rect">
            <a:avLst/>
          </a:prstGeom>
          <a:noFill/>
          <a:ln/>
        </p:spPr>
        <p:txBody>
          <a:bodyPr wrap="square" lIns="0" tIns="0" rIns="0" bIns="0" rtlCol="0" anchor="ctr"/>
          <a:lstStyle/>
          <a:p>
            <a:pPr algn="ctr" indent="0" marL="0">
              <a:buNone/>
            </a:pPr>
            <a:r>
              <a:rPr lang="en-US" sz="1100" b="1" spc="150" kern="0" dirty="0">
                <a:solidFill>
                  <a:srgbClr val="F4C233"/>
                </a:solidFill>
                <a:latin typeface="Manrope" pitchFamily="34" charset="0"/>
                <a:ea typeface="Manrope" pitchFamily="34" charset="-122"/>
                <a:cs typeface="Manrope" pitchFamily="34" charset="-120"/>
              </a:rPr>
              <a:t>TRUST</a:t>
            </a:r>
            <a:endParaRPr lang="en-US" sz="1100" dirty="0"/>
          </a:p>
        </p:txBody>
      </p:sp>
      <p:sp>
        <p:nvSpPr>
          <p:cNvPr id="6" name="Text 3"/>
          <p:cNvSpPr txBox="1"/>
          <p:nvPr/>
        </p:nvSpPr>
        <p:spPr>
          <a:xfrm>
            <a:off x="640080" y="1965960"/>
            <a:ext cx="5303520" cy="274320"/>
          </a:xfrm>
          <a:prstGeom prst="rect">
            <a:avLst/>
          </a:prstGeom>
          <a:noFill/>
          <a:ln/>
        </p:spPr>
        <p:txBody>
          <a:bodyPr wrap="square" lIns="0" tIns="0" rIns="0" bIns="0" rtlCol="0" anchor="ctr"/>
          <a:lstStyle/>
          <a:p>
            <a:pPr indent="0" marL="0">
              <a:buNone/>
            </a:pPr>
            <a:r>
              <a:rPr lang="en-US" sz="1100" b="1" spc="150" kern="0" dirty="0">
                <a:solidFill>
                  <a:srgbClr val="8A9299"/>
                </a:solidFill>
                <a:latin typeface="Manrope" pitchFamily="34" charset="0"/>
                <a:ea typeface="Manrope" pitchFamily="34" charset="-122"/>
                <a:cs typeface="Manrope" pitchFamily="34" charset="-120"/>
              </a:rPr>
              <a:t>IN THE REPO</a:t>
            </a:r>
            <a:endParaRPr lang="en-US" sz="1100" dirty="0"/>
          </a:p>
        </p:txBody>
      </p:sp>
      <p:sp>
        <p:nvSpPr>
          <p:cNvPr id="7" name="Text 4"/>
          <p:cNvSpPr txBox="1"/>
          <p:nvPr/>
        </p:nvSpPr>
        <p:spPr>
          <a:xfrm>
            <a:off x="640080" y="2267712"/>
            <a:ext cx="5303520" cy="310896"/>
          </a:xfrm>
          <a:prstGeom prst="rect">
            <a:avLst/>
          </a:prstGeom>
          <a:noFill/>
          <a:ln/>
        </p:spPr>
        <p:txBody>
          <a:bodyPr wrap="square" lIns="0" tIns="0" rIns="0" bIns="0" rtlCol="0" anchor="ctr"/>
          <a:lstStyle/>
          <a:p>
            <a:pPr indent="0" marL="0">
              <a:buNone/>
            </a:pPr>
            <a:r>
              <a:rPr lang="en-US" sz="1200" dirty="0">
                <a:solidFill>
                  <a:srgbClr val="16303F"/>
                </a:solidFill>
                <a:latin typeface="JetBrains Mono" pitchFamily="34" charset="0"/>
                <a:ea typeface="JetBrains Mono" pitchFamily="34" charset="-122"/>
                <a:cs typeface="JetBrains Mono" pitchFamily="34" charset="-120"/>
              </a:rPr>
              <a:t>Weather.csproj</a:t>
            </a:r>
            <a:endParaRPr lang="en-US" sz="1200" dirty="0"/>
          </a:p>
        </p:txBody>
      </p:sp>
      <p:pic>
        <p:nvPicPr>
          <p:cNvPr id="8" name="Image 0" descr="C:\Users\kevin\AppData\Local\Temp\claude\G---talks-modern-dotnet-configuration\168b4f6d-c720-4fc0-8834-81425d739f7e\scratchpad\deck/../carbon/22-repo.png">    </p:cNvPr>
          <p:cNvPicPr>
            <a:picLocks noChangeAspect="1"/>
          </p:cNvPicPr>
          <p:nvPr/>
        </p:nvPicPr>
        <p:blipFill>
          <a:blip r:embed="rId1"/>
          <a:stretch>
            <a:fillRect/>
          </a:stretch>
        </p:blipFill>
        <p:spPr>
          <a:xfrm>
            <a:off x="640080" y="2697480"/>
            <a:ext cx="4131076" cy="2240280"/>
          </a:xfrm>
          <a:prstGeom prst="rect">
            <a:avLst/>
          </a:prstGeom>
        </p:spPr>
      </p:pic>
      <p:sp>
        <p:nvSpPr>
          <p:cNvPr id="9" name="Text 5"/>
          <p:cNvSpPr txBox="1"/>
          <p:nvPr/>
        </p:nvSpPr>
        <p:spPr>
          <a:xfrm>
            <a:off x="6245352" y="1965960"/>
            <a:ext cx="5303520" cy="274320"/>
          </a:xfrm>
          <a:prstGeom prst="rect">
            <a:avLst/>
          </a:prstGeom>
          <a:noFill/>
          <a:ln/>
        </p:spPr>
        <p:txBody>
          <a:bodyPr wrap="square" lIns="0" tIns="0" rIns="0" bIns="0" rtlCol="0" anchor="ctr"/>
          <a:lstStyle/>
          <a:p>
            <a:pPr indent="0" marL="0">
              <a:buNone/>
            </a:pPr>
            <a:r>
              <a:rPr lang="en-US" sz="1100" b="1" spc="150" kern="0" dirty="0">
                <a:solidFill>
                  <a:srgbClr val="8A9299"/>
                </a:solidFill>
                <a:latin typeface="Manrope" pitchFamily="34" charset="0"/>
                <a:ea typeface="Manrope" pitchFamily="34" charset="-122"/>
                <a:cs typeface="Manrope" pitchFamily="34" charset="-120"/>
              </a:rPr>
              <a:t>ON YOUR MACHINE</a:t>
            </a:r>
            <a:endParaRPr lang="en-US" sz="1100" dirty="0"/>
          </a:p>
        </p:txBody>
      </p:sp>
      <p:sp>
        <p:nvSpPr>
          <p:cNvPr id="10" name="Text 6"/>
          <p:cNvSpPr txBox="1"/>
          <p:nvPr/>
        </p:nvSpPr>
        <p:spPr>
          <a:xfrm>
            <a:off x="6245352" y="2267712"/>
            <a:ext cx="5303520" cy="310896"/>
          </a:xfrm>
          <a:prstGeom prst="rect">
            <a:avLst/>
          </a:prstGeom>
          <a:noFill/>
          <a:ln/>
        </p:spPr>
        <p:txBody>
          <a:bodyPr wrap="square" lIns="0" tIns="0" rIns="0" bIns="0" rtlCol="0" anchor="ctr"/>
          <a:lstStyle/>
          <a:p>
            <a:pPr indent="0" marL="0">
              <a:buNone/>
            </a:pPr>
            <a:r>
              <a:rPr lang="en-US" sz="1200" dirty="0">
                <a:solidFill>
                  <a:srgbClr val="16303F"/>
                </a:solidFill>
                <a:latin typeface="JetBrains Mono" pitchFamily="34" charset="0"/>
                <a:ea typeface="JetBrains Mono" pitchFamily="34" charset="-122"/>
                <a:cs typeface="JetBrains Mono" pitchFamily="34" charset="-120"/>
              </a:rPr>
              <a:t>...\UserSecrets\&lt;id&gt;\secrets.json</a:t>
            </a:r>
            <a:endParaRPr lang="en-US" sz="1200" dirty="0"/>
          </a:p>
        </p:txBody>
      </p:sp>
      <p:pic>
        <p:nvPicPr>
          <p:cNvPr id="11" name="Image 1" descr="C:\Users\kevin\AppData\Local\Temp\claude\G---talks-modern-dotnet-configuration\168b4f6d-c720-4fc0-8834-81425d739f7e\scratchpad\deck/../carbon/22-machine.png">    </p:cNvPr>
          <p:cNvPicPr>
            <a:picLocks noChangeAspect="1"/>
          </p:cNvPicPr>
          <p:nvPr/>
        </p:nvPicPr>
        <p:blipFill>
          <a:blip r:embed="rId2"/>
          <a:stretch>
            <a:fillRect/>
          </a:stretch>
        </p:blipFill>
        <p:spPr>
          <a:xfrm>
            <a:off x="6245352" y="2697480"/>
            <a:ext cx="5110079" cy="2240280"/>
          </a:xfrm>
          <a:prstGeom prst="rect">
            <a:avLst/>
          </a:prstGeom>
        </p:spPr>
      </p:pic>
      <p:sp>
        <p:nvSpPr>
          <p:cNvPr id="12" name="Text 7"/>
          <p:cNvSpPr txBox="1"/>
          <p:nvPr/>
        </p:nvSpPr>
        <p:spPr>
          <a:xfrm>
            <a:off x="640080" y="5047488"/>
            <a:ext cx="5303520" cy="310896"/>
          </a:xfrm>
          <a:prstGeom prst="rect">
            <a:avLst/>
          </a:prstGeom>
          <a:noFill/>
          <a:ln/>
        </p:spPr>
        <p:txBody>
          <a:bodyPr wrap="square" lIns="0" tIns="0" rIns="0" bIns="0" rtlCol="0" anchor="ctr"/>
          <a:lstStyle/>
          <a:p>
            <a:pPr indent="0" marL="0">
              <a:buNone/>
            </a:pPr>
            <a:r>
              <a:rPr lang="en-US" sz="1300" i="1" dirty="0">
                <a:solidFill>
                  <a:srgbClr val="8A9299"/>
                </a:solidFill>
                <a:latin typeface="Manrope" pitchFamily="34" charset="0"/>
                <a:ea typeface="Manrope" pitchFamily="34" charset="-122"/>
                <a:cs typeface="Manrope" pitchFamily="34" charset="-120"/>
              </a:rPr>
              <a:t>a pointer, and nothing else</a:t>
            </a:r>
            <a:endParaRPr lang="en-US" sz="1300" dirty="0"/>
          </a:p>
        </p:txBody>
      </p:sp>
      <p:sp>
        <p:nvSpPr>
          <p:cNvPr id="13" name="Text 8"/>
          <p:cNvSpPr txBox="1"/>
          <p:nvPr/>
        </p:nvSpPr>
        <p:spPr>
          <a:xfrm>
            <a:off x="6245352" y="5047488"/>
            <a:ext cx="5303520" cy="310896"/>
          </a:xfrm>
          <a:prstGeom prst="rect">
            <a:avLst/>
          </a:prstGeom>
          <a:noFill/>
          <a:ln/>
        </p:spPr>
        <p:txBody>
          <a:bodyPr wrap="square" lIns="0" tIns="0" rIns="0" bIns="0" rtlCol="0" anchor="ctr"/>
          <a:lstStyle/>
          <a:p>
            <a:pPr indent="0" marL="0">
              <a:buNone/>
            </a:pPr>
            <a:r>
              <a:rPr lang="en-US" sz="1300" b="1" i="1" dirty="0">
                <a:solidFill>
                  <a:srgbClr val="B08900"/>
                </a:solidFill>
                <a:latin typeface="Manrope" pitchFamily="34" charset="0"/>
                <a:ea typeface="Manrope" pitchFamily="34" charset="-122"/>
                <a:cs typeface="Manrope" pitchFamily="34" charset="-120"/>
              </a:rPr>
              <a:t>plaintext, on disk, unencrypted</a:t>
            </a:r>
            <a:endParaRPr lang="en-US" sz="1300" dirty="0"/>
          </a:p>
        </p:txBody>
      </p:sp>
      <p:sp>
        <p:nvSpPr>
          <p:cNvPr id="25" name="Slide Number Placeholder 0"/>
          <p:cNvSpPr>
            <a:spLocks noGrp="1"/>
          </p:cNvSpPr>
          <p:nvPr>
            <p:ph type="sldNum" sz="quarter" idx="4294967295"/>
          </p:nvPr>
        </p:nvSpPr>
        <p:spPr>
          <a:xfrm>
            <a:off x="10881360" y="6199632"/>
            <a:ext cx="667512" cy="292608"/>
          </a:xfrm>
          <a:prstGeom prst="rect">
            <a:avLst/>
          </a:prstGeom>
          <a:extLst>
            <a:ext uri="{C572A759-6A51-4108-AA02-DFA0A04FC94B}">
              <ma14:wrappingTextBoxFlag xmlns:ma14="http://schemas.microsoft.com/office/mac/drawingml/2011/main" val="0"/>
            </a:ext>
          </a:extLst>
        </p:spPr>
        <p:txBody>
          <a:bodyPr/>
          <a:lstStyle>
            <a:lvl1pPr>
              <a:defRPr sz="1000">
                <a:solidFill>
                  <a:srgbClr val="16303F"/>
                </a:solidFill>
                <a:latin typeface="Manrope"/>
                <a:ea typeface="Manrope"/>
                <a:cs typeface="Manrope"/>
              </a:defRPr>
            </a:lvl1pPr>
          </a:lstStyle>
          <a:p>
            <a:pPr algn="r"/>
            <a:fld id="{F7021451-1387-4CA6-816F-3879F97B5CBC}" type="slidenum">
              <a:rPr b="1"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pic>
        <p:nvPicPr>
          <p:cNvPr id="2" name="Image 0" descr="C:\Users\kevin\AppData\Local\Temp\claude\G---talks-modern-dotnet-configuration\168b4f6d-c720-4fc0-8834-81425d739f7e\scratchpad\deck/../carbon/23-cli.png">    </p:cNvPr>
          <p:cNvPicPr>
            <a:picLocks noChangeAspect="1"/>
          </p:cNvPicPr>
          <p:nvPr/>
        </p:nvPicPr>
        <p:blipFill>
          <a:blip r:embed="rId1"/>
          <a:stretch>
            <a:fillRect/>
          </a:stretch>
        </p:blipFill>
        <p:spPr>
          <a:xfrm>
            <a:off x="516636" y="1409979"/>
            <a:ext cx="11155680" cy="4038042"/>
          </a:xfrm>
          <a:prstGeom prst="rect">
            <a:avLst/>
          </a:prstGeom>
        </p:spPr>
      </p:pic>
      <p:sp>
        <p:nvSpPr>
          <p:cNvPr id="25" name="Slide Number Placeholder 0"/>
          <p:cNvSpPr>
            <a:spLocks noGrp="1"/>
          </p:cNvSpPr>
          <p:nvPr>
            <p:ph type="sldNum" sz="quarter" idx="4294967295"/>
          </p:nvPr>
        </p:nvSpPr>
        <p:spPr>
          <a:xfrm>
            <a:off x="10881360" y="6199632"/>
            <a:ext cx="667512" cy="292608"/>
          </a:xfrm>
          <a:prstGeom prst="rect">
            <a:avLst/>
          </a:prstGeom>
          <a:extLst>
            <a:ext uri="{C572A759-6A51-4108-AA02-DFA0A04FC94B}">
              <ma14:wrappingTextBoxFlag xmlns:ma14="http://schemas.microsoft.com/office/mac/drawingml/2011/main" val="0"/>
            </a:ext>
          </a:extLst>
        </p:spPr>
        <p:txBody>
          <a:bodyPr/>
          <a:lstStyle>
            <a:lvl1pPr>
              <a:defRPr sz="1000">
                <a:solidFill>
                  <a:srgbClr val="F4C233"/>
                </a:solidFill>
                <a:latin typeface="Manrope"/>
                <a:ea typeface="Manrope"/>
                <a:cs typeface="Manrope"/>
              </a:defRPr>
            </a:lvl1pPr>
          </a:lstStyle>
          <a:p>
            <a:pPr algn="r"/>
            <a:fld id="{F7021451-1387-4CA6-816F-3879F97B5CBC}" type="slidenum">
              <a:rPr b="1"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2"/>
          <p:cNvSpPr/>
          <p:nvPr>
            <p:ph idx="102" type="title" hasCustomPrompt="1"/>
          </p:nvPr>
        </p:nvSpPr>
        <p:spPr>
          <a:xfrm>
            <a:off x="640080" y="2286000"/>
            <a:ext cx="10881360" cy="1371600"/>
          </a:xfrm>
          <a:prstGeom prst="rect">
            <a:avLst/>
          </a:prstGeom>
          <a:noFill/>
          <a:ln/>
        </p:spPr>
        <p:txBody>
          <a:bodyPr wrap="square" lIns="0" tIns="0" rIns="0" bIns="0" rtlCol="0"/>
          <a:lstStyle/>
          <a:p>
            <a:pPr algn="l" indent="0" marL="0">
              <a:buNone/>
            </a:pPr>
            <a:r>
              <a:rPr lang="en-US" sz="3800" b="1" dirty="0">
                <a:solidFill>
                  <a:srgbClr val="16303F"/>
                </a:solidFill>
                <a:latin typeface="Manrope" pitchFamily="34" charset="0"/>
                <a:ea typeface="Manrope" pitchFamily="34" charset="-122"/>
                <a:cs typeface="Manrope" pitchFamily="34" charset="-120"/>
              </a:rPr>
              <a:t>The launchSettings trap</a:t>
            </a:r>
            <a:endParaRPr lang="en-US" sz="3800" dirty="0"/>
          </a:p>
        </p:txBody>
      </p:sp>
      <p:sp>
        <p:nvSpPr>
          <p:cNvPr id="25" name="Slide Number Placeholder 0"/>
          <p:cNvSpPr>
            <a:spLocks noGrp="1"/>
          </p:cNvSpPr>
          <p:nvPr>
            <p:ph type="sldNum" sz="quarter" idx="4294967295"/>
          </p:nvPr>
        </p:nvSpPr>
        <p:spPr>
          <a:xfrm>
            <a:off x="10881360" y="6199632"/>
            <a:ext cx="667512" cy="292608"/>
          </a:xfrm>
          <a:prstGeom prst="rect">
            <a:avLst/>
          </a:prstGeom>
          <a:extLst>
            <a:ext uri="{C572A759-6A51-4108-AA02-DFA0A04FC94B}">
              <ma14:wrappingTextBoxFlag xmlns:ma14="http://schemas.microsoft.com/office/mac/drawingml/2011/main" val="0"/>
            </a:ext>
          </a:extLst>
        </p:spPr>
        <p:txBody>
          <a:bodyPr/>
          <a:lstStyle>
            <a:lvl1pPr>
              <a:defRPr sz="1000">
                <a:solidFill>
                  <a:srgbClr val="16303F"/>
                </a:solidFill>
                <a:latin typeface="Manrope"/>
                <a:ea typeface="Manrope"/>
                <a:cs typeface="Manrope"/>
              </a:defRPr>
            </a:lvl1pPr>
          </a:lstStyle>
          <a:p>
            <a:pPr algn="r"/>
            <a:fld id="{F7021451-1387-4CA6-816F-3879F97B5CBC}" type="slidenum">
              <a:rPr b="1"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2"/>
          <p:cNvSpPr/>
          <p:nvPr>
            <p:ph idx="102" type="body" hasCustomPrompt="1"/>
          </p:nvPr>
        </p:nvSpPr>
        <p:spPr>
          <a:xfrm>
            <a:off x="640080" y="2331720"/>
            <a:ext cx="10881360" cy="365760"/>
          </a:xfrm>
          <a:prstGeom prst="rect">
            <a:avLst/>
          </a:prstGeom>
          <a:noFill/>
          <a:ln/>
        </p:spPr>
        <p:txBody>
          <a:bodyPr wrap="square" lIns="0" tIns="0" rIns="0" bIns="0" rtlCol="0"/>
          <a:lstStyle/>
          <a:p>
            <a:pPr indent="0" marL="0">
              <a:buNone/>
            </a:pPr>
            <a:r>
              <a:rPr lang="en-US" sz="1400" b="1" spc="200" kern="0" dirty="0">
                <a:solidFill>
                  <a:srgbClr val="F4C233"/>
                </a:solidFill>
                <a:latin typeface="Manrope" pitchFamily="34" charset="0"/>
                <a:ea typeface="Manrope" pitchFamily="34" charset="-122"/>
                <a:cs typeface="Manrope" pitchFamily="34" charset="-120"/>
              </a:rPr>
              <a:t>OPTIONS</a:t>
            </a:r>
            <a:endParaRPr lang="en-US" sz="1400" dirty="0"/>
          </a:p>
        </p:txBody>
      </p:sp>
      <p:sp>
        <p:nvSpPr>
          <p:cNvPr id="3" name="Text 2"/>
          <p:cNvSpPr/>
          <p:nvPr>
            <p:ph idx="103" type="title" hasCustomPrompt="1"/>
          </p:nvPr>
        </p:nvSpPr>
        <p:spPr>
          <a:xfrm>
            <a:off x="640080" y="3017520"/>
            <a:ext cx="10881360" cy="1371600"/>
          </a:xfrm>
          <a:prstGeom prst="rect">
            <a:avLst/>
          </a:prstGeom>
          <a:noFill/>
          <a:ln/>
        </p:spPr>
        <p:txBody>
          <a:bodyPr wrap="square" lIns="0" tIns="0" rIns="0" bIns="0" rtlCol="0"/>
          <a:lstStyle/>
          <a:p>
            <a:pPr algn="l" indent="0" marL="0">
              <a:buNone/>
            </a:pPr>
            <a:r>
              <a:rPr lang="en-US" sz="4400" b="1" dirty="0">
                <a:solidFill>
                  <a:srgbClr val="FFFFFF"/>
                </a:solidFill>
                <a:latin typeface="Manrope" pitchFamily="34" charset="0"/>
                <a:ea typeface="Manrope" pitchFamily="34" charset="-122"/>
                <a:cs typeface="Manrope" pitchFamily="34" charset="-120"/>
              </a:rPr>
              <a:t>Binding, and the three interfaces</a:t>
            </a:r>
            <a:endParaRPr lang="en-US" sz="4400" dirty="0"/>
          </a:p>
        </p:txBody>
      </p:sp>
      <p:sp>
        <p:nvSpPr>
          <p:cNvPr id="25" name="Slide Number Placeholder 0"/>
          <p:cNvSpPr>
            <a:spLocks noGrp="1"/>
          </p:cNvSpPr>
          <p:nvPr>
            <p:ph type="sldNum" sz="quarter" idx="4294967295"/>
          </p:nvPr>
        </p:nvSpPr>
        <p:spPr>
          <a:xfrm>
            <a:off x="10881360" y="6199632"/>
            <a:ext cx="667512" cy="292608"/>
          </a:xfrm>
          <a:prstGeom prst="rect">
            <a:avLst/>
          </a:prstGeom>
          <a:extLst>
            <a:ext uri="{C572A759-6A51-4108-AA02-DFA0A04FC94B}">
              <ma14:wrappingTextBoxFlag xmlns:ma14="http://schemas.microsoft.com/office/mac/drawingml/2011/main" val="0"/>
            </a:ext>
          </a:extLst>
        </p:spPr>
        <p:txBody>
          <a:bodyPr/>
          <a:lstStyle>
            <a:lvl1pPr>
              <a:defRPr sz="1000">
                <a:solidFill>
                  <a:srgbClr val="F4C233"/>
                </a:solidFill>
                <a:latin typeface="Manrope"/>
                <a:ea typeface="Manrope"/>
                <a:cs typeface="Manrope"/>
              </a:defRPr>
            </a:lvl1pPr>
          </a:lstStyle>
          <a:p>
            <a:pPr algn="r"/>
            <a:fld id="{F7021451-1387-4CA6-816F-3879F97B5CBC}" type="slidenum">
              <a:rPr b="1"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2"/>
          <p:cNvSpPr/>
          <p:nvPr>
            <p:ph idx="102" type="title" hasCustomPrompt="1"/>
          </p:nvPr>
        </p:nvSpPr>
        <p:spPr>
          <a:xfrm>
            <a:off x="640080" y="2286000"/>
            <a:ext cx="10881360" cy="1371600"/>
          </a:xfrm>
          <a:prstGeom prst="rect">
            <a:avLst/>
          </a:prstGeom>
          <a:noFill/>
          <a:ln/>
        </p:spPr>
        <p:txBody>
          <a:bodyPr wrap="square" lIns="0" tIns="0" rIns="0" bIns="0" rtlCol="0"/>
          <a:lstStyle/>
          <a:p>
            <a:pPr algn="l" indent="0" marL="0">
              <a:buNone/>
            </a:pPr>
            <a:r>
              <a:rPr lang="en-US" sz="3800" b="1" dirty="0">
                <a:solidFill>
                  <a:srgbClr val="16303F"/>
                </a:solidFill>
                <a:latin typeface="Manrope" pitchFamily="34" charset="0"/>
                <a:ea typeface="Manrope" pitchFamily="34" charset="-122"/>
                <a:cs typeface="Manrope" pitchFamily="34" charset="-120"/>
              </a:rPr>
              <a:t>Stop injecting IConfiguration</a:t>
            </a:r>
            <a:endParaRPr lang="en-US" sz="3800" dirty="0"/>
          </a:p>
        </p:txBody>
      </p:sp>
      <p:sp>
        <p:nvSpPr>
          <p:cNvPr id="25" name="Slide Number Placeholder 0"/>
          <p:cNvSpPr>
            <a:spLocks noGrp="1"/>
          </p:cNvSpPr>
          <p:nvPr>
            <p:ph type="sldNum" sz="quarter" idx="4294967295"/>
          </p:nvPr>
        </p:nvSpPr>
        <p:spPr>
          <a:xfrm>
            <a:off x="10881360" y="6199632"/>
            <a:ext cx="667512" cy="292608"/>
          </a:xfrm>
          <a:prstGeom prst="rect">
            <a:avLst/>
          </a:prstGeom>
          <a:extLst>
            <a:ext uri="{C572A759-6A51-4108-AA02-DFA0A04FC94B}">
              <ma14:wrappingTextBoxFlag xmlns:ma14="http://schemas.microsoft.com/office/mac/drawingml/2011/main" val="0"/>
            </a:ext>
          </a:extLst>
        </p:spPr>
        <p:txBody>
          <a:bodyPr/>
          <a:lstStyle>
            <a:lvl1pPr>
              <a:defRPr sz="1000">
                <a:solidFill>
                  <a:srgbClr val="16303F"/>
                </a:solidFill>
                <a:latin typeface="Manrope"/>
                <a:ea typeface="Manrope"/>
                <a:cs typeface="Manrope"/>
              </a:defRPr>
            </a:lvl1pPr>
          </a:lstStyle>
          <a:p>
            <a:pPr algn="r"/>
            <a:fld id="{F7021451-1387-4CA6-816F-3879F97B5CBC}" type="slidenum">
              <a:rPr b="1"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2"/>
          <p:cNvSpPr/>
          <p:nvPr>
            <p:ph idx="102" type="title" hasCustomPrompt="1"/>
          </p:nvPr>
        </p:nvSpPr>
        <p:spPr>
          <a:xfrm>
            <a:off x="640080" y="2286000"/>
            <a:ext cx="10881360" cy="1371600"/>
          </a:xfrm>
          <a:prstGeom prst="rect">
            <a:avLst/>
          </a:prstGeom>
          <a:noFill/>
          <a:ln/>
        </p:spPr>
        <p:txBody>
          <a:bodyPr wrap="square" lIns="0" tIns="0" rIns="0" bIns="0" rtlCol="0"/>
          <a:lstStyle/>
          <a:p>
            <a:pPr algn="l" indent="0" marL="0">
              <a:buNone/>
            </a:pPr>
            <a:r>
              <a:rPr lang="en-US" sz="3800" b="1" dirty="0">
                <a:solidFill>
                  <a:srgbClr val="16303F"/>
                </a:solidFill>
                <a:latin typeface="Manrope" pitchFamily="34" charset="0"/>
                <a:ea typeface="Manrope" pitchFamily="34" charset="-122"/>
                <a:cs typeface="Manrope" pitchFamily="34" charset="-120"/>
              </a:rPr>
              <a:t>Binding and registration</a:t>
            </a:r>
            <a:endParaRPr lang="en-US" sz="3800" dirty="0"/>
          </a:p>
        </p:txBody>
      </p:sp>
      <p:sp>
        <p:nvSpPr>
          <p:cNvPr id="25" name="Slide Number Placeholder 0"/>
          <p:cNvSpPr>
            <a:spLocks noGrp="1"/>
          </p:cNvSpPr>
          <p:nvPr>
            <p:ph type="sldNum" sz="quarter" idx="4294967295"/>
          </p:nvPr>
        </p:nvSpPr>
        <p:spPr>
          <a:xfrm>
            <a:off x="10881360" y="6199632"/>
            <a:ext cx="667512" cy="292608"/>
          </a:xfrm>
          <a:prstGeom prst="rect">
            <a:avLst/>
          </a:prstGeom>
          <a:extLst>
            <a:ext uri="{C572A759-6A51-4108-AA02-DFA0A04FC94B}">
              <ma14:wrappingTextBoxFlag xmlns:ma14="http://schemas.microsoft.com/office/mac/drawingml/2011/main" val="0"/>
            </a:ext>
          </a:extLst>
        </p:spPr>
        <p:txBody>
          <a:bodyPr/>
          <a:lstStyle>
            <a:lvl1pPr>
              <a:defRPr sz="1000">
                <a:solidFill>
                  <a:srgbClr val="16303F"/>
                </a:solidFill>
                <a:latin typeface="Manrope"/>
                <a:ea typeface="Manrope"/>
                <a:cs typeface="Manrope"/>
              </a:defRPr>
            </a:lvl1pPr>
          </a:lstStyle>
          <a:p>
            <a:pPr algn="r"/>
            <a:fld id="{F7021451-1387-4CA6-816F-3879F97B5CBC}" type="slidenum">
              <a:rPr b="1"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2"/>
          <p:cNvSpPr/>
          <p:nvPr>
            <p:ph idx="102" type="title" hasCustomPrompt="1"/>
          </p:nvPr>
        </p:nvSpPr>
        <p:spPr>
          <a:xfrm>
            <a:off x="640080" y="2286000"/>
            <a:ext cx="10881360" cy="1371600"/>
          </a:xfrm>
          <a:prstGeom prst="rect">
            <a:avLst/>
          </a:prstGeom>
          <a:noFill/>
          <a:ln/>
        </p:spPr>
        <p:txBody>
          <a:bodyPr wrap="square" lIns="0" tIns="0" rIns="0" bIns="0" rtlCol="0"/>
          <a:lstStyle/>
          <a:p>
            <a:pPr algn="l" indent="0" marL="0">
              <a:buNone/>
            </a:pPr>
            <a:r>
              <a:rPr lang="en-US" sz="3800" b="1" dirty="0">
                <a:solidFill>
                  <a:srgbClr val="16303F"/>
                </a:solidFill>
                <a:latin typeface="Manrope" pitchFamily="34" charset="0"/>
                <a:ea typeface="Manrope" pitchFamily="34" charset="-122"/>
                <a:cs typeface="Manrope" pitchFamily="34" charset="-120"/>
              </a:rPr>
              <a:t>IOptions, IOptionsSnapshot, IOptionsMonitor</a:t>
            </a:r>
            <a:endParaRPr lang="en-US" sz="3800" dirty="0"/>
          </a:p>
        </p:txBody>
      </p:sp>
      <p:sp>
        <p:nvSpPr>
          <p:cNvPr id="4" name="Shape 1"/>
          <p:cNvSpPr/>
          <p:nvPr/>
        </p:nvSpPr>
        <p:spPr>
          <a:xfrm>
            <a:off x="9646920" y="457200"/>
            <a:ext cx="1901952" cy="420624"/>
          </a:xfrm>
          <a:prstGeom prst="roundRect">
            <a:avLst>
              <a:gd name="adj" fmla="val 13043"/>
            </a:avLst>
          </a:prstGeom>
          <a:solidFill>
            <a:srgbClr val="16303F"/>
          </a:solidFill>
          <a:ln/>
        </p:spPr>
      </p:sp>
      <p:sp>
        <p:nvSpPr>
          <p:cNvPr id="5" name="Text 2"/>
          <p:cNvSpPr txBox="1"/>
          <p:nvPr/>
        </p:nvSpPr>
        <p:spPr>
          <a:xfrm>
            <a:off x="9646920" y="457200"/>
            <a:ext cx="1901952" cy="420624"/>
          </a:xfrm>
          <a:prstGeom prst="rect">
            <a:avLst/>
          </a:prstGeom>
          <a:noFill/>
          <a:ln/>
        </p:spPr>
        <p:txBody>
          <a:bodyPr wrap="square" lIns="0" tIns="0" rIns="0" bIns="0" rtlCol="0" anchor="ctr"/>
          <a:lstStyle/>
          <a:p>
            <a:pPr algn="ctr" indent="0" marL="0">
              <a:buNone/>
            </a:pPr>
            <a:r>
              <a:rPr lang="en-US" sz="1100" b="1" spc="150" kern="0" dirty="0">
                <a:solidFill>
                  <a:srgbClr val="F4C233"/>
                </a:solidFill>
                <a:latin typeface="Manrope" pitchFamily="34" charset="0"/>
                <a:ea typeface="Manrope" pitchFamily="34" charset="-122"/>
                <a:cs typeface="Manrope" pitchFamily="34" charset="-120"/>
              </a:rPr>
              <a:t>LIFETIME</a:t>
            </a:r>
            <a:endParaRPr lang="en-US" sz="1100" dirty="0"/>
          </a:p>
        </p:txBody>
      </p:sp>
      <p:sp>
        <p:nvSpPr>
          <p:cNvPr id="25" name="Slide Number Placeholder 0"/>
          <p:cNvSpPr>
            <a:spLocks noGrp="1"/>
          </p:cNvSpPr>
          <p:nvPr>
            <p:ph type="sldNum" sz="quarter" idx="4294967295"/>
          </p:nvPr>
        </p:nvSpPr>
        <p:spPr>
          <a:xfrm>
            <a:off x="10881360" y="6199632"/>
            <a:ext cx="667512" cy="292608"/>
          </a:xfrm>
          <a:prstGeom prst="rect">
            <a:avLst/>
          </a:prstGeom>
          <a:extLst>
            <a:ext uri="{C572A759-6A51-4108-AA02-DFA0A04FC94B}">
              <ma14:wrappingTextBoxFlag xmlns:ma14="http://schemas.microsoft.com/office/mac/drawingml/2011/main" val="0"/>
            </a:ext>
          </a:extLst>
        </p:spPr>
        <p:txBody>
          <a:bodyPr/>
          <a:lstStyle>
            <a:lvl1pPr>
              <a:defRPr sz="1000">
                <a:solidFill>
                  <a:srgbClr val="16303F"/>
                </a:solidFill>
                <a:latin typeface="Manrope"/>
                <a:ea typeface="Manrope"/>
                <a:cs typeface="Manrope"/>
              </a:defRPr>
            </a:lvl1pPr>
          </a:lstStyle>
          <a:p>
            <a:pPr algn="r"/>
            <a:fld id="{F7021451-1387-4CA6-816F-3879F97B5CBC}" type="slidenum">
              <a:rPr b="1"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2"/>
          <p:cNvSpPr/>
          <p:nvPr>
            <p:ph idx="102" type="title" hasCustomPrompt="1"/>
          </p:nvPr>
        </p:nvSpPr>
        <p:spPr>
          <a:xfrm>
            <a:off x="640080" y="2286000"/>
            <a:ext cx="10881360" cy="1371600"/>
          </a:xfrm>
          <a:prstGeom prst="rect">
            <a:avLst/>
          </a:prstGeom>
          <a:noFill/>
          <a:ln/>
        </p:spPr>
        <p:txBody>
          <a:bodyPr wrap="square" lIns="0" tIns="0" rIns="0" bIns="0" rtlCol="0"/>
          <a:lstStyle/>
          <a:p>
            <a:pPr algn="l" indent="0" marL="0">
              <a:buNone/>
            </a:pPr>
            <a:r>
              <a:rPr lang="en-US" sz="3800" b="1" dirty="0">
                <a:solidFill>
                  <a:srgbClr val="16303F"/>
                </a:solidFill>
                <a:latin typeface="Manrope" pitchFamily="34" charset="0"/>
                <a:ea typeface="Manrope" pitchFamily="34" charset="-122"/>
                <a:cs typeface="Manrope" pitchFamily="34" charset="-120"/>
              </a:rPr>
              <a:t>Validate at startup</a:t>
            </a:r>
            <a:endParaRPr lang="en-US" sz="3800" dirty="0"/>
          </a:p>
        </p:txBody>
      </p:sp>
      <p:sp>
        <p:nvSpPr>
          <p:cNvPr id="25" name="Slide Number Placeholder 0"/>
          <p:cNvSpPr>
            <a:spLocks noGrp="1"/>
          </p:cNvSpPr>
          <p:nvPr>
            <p:ph type="sldNum" sz="quarter" idx="4294967295"/>
          </p:nvPr>
        </p:nvSpPr>
        <p:spPr>
          <a:xfrm>
            <a:off x="10881360" y="6199632"/>
            <a:ext cx="667512" cy="292608"/>
          </a:xfrm>
          <a:prstGeom prst="rect">
            <a:avLst/>
          </a:prstGeom>
          <a:extLst>
            <a:ext uri="{C572A759-6A51-4108-AA02-DFA0A04FC94B}">
              <ma14:wrappingTextBoxFlag xmlns:ma14="http://schemas.microsoft.com/office/mac/drawingml/2011/main" val="0"/>
            </a:ext>
          </a:extLst>
        </p:spPr>
        <p:txBody>
          <a:bodyPr/>
          <a:lstStyle>
            <a:lvl1pPr>
              <a:defRPr sz="1000">
                <a:solidFill>
                  <a:srgbClr val="16303F"/>
                </a:solidFill>
                <a:latin typeface="Manrope"/>
                <a:ea typeface="Manrope"/>
                <a:cs typeface="Manrope"/>
              </a:defRPr>
            </a:lvl1pPr>
          </a:lstStyle>
          <a:p>
            <a:pPr algn="r"/>
            <a:fld id="{F7021451-1387-4CA6-816F-3879F97B5CBC}" type="slidenum">
              <a:rPr b="1"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2"/>
          <p:cNvSpPr/>
          <p:nvPr>
            <p:ph idx="102" type="title" hasCustomPrompt="1"/>
          </p:nvPr>
        </p:nvSpPr>
        <p:spPr>
          <a:xfrm>
            <a:off x="640080" y="2286000"/>
            <a:ext cx="10881360" cy="1371600"/>
          </a:xfrm>
          <a:prstGeom prst="rect">
            <a:avLst/>
          </a:prstGeom>
          <a:noFill/>
          <a:ln/>
        </p:spPr>
        <p:txBody>
          <a:bodyPr wrap="square" lIns="0" tIns="0" rIns="0" bIns="0" rtlCol="0"/>
          <a:lstStyle/>
          <a:p>
            <a:pPr algn="l" indent="0" marL="0">
              <a:buNone/>
            </a:pPr>
            <a:r>
              <a:rPr lang="en-US" sz="3800" b="1" dirty="0">
                <a:solidFill>
                  <a:srgbClr val="16303F"/>
                </a:solidFill>
                <a:latin typeface="Manrope" pitchFamily="34" charset="0"/>
                <a:ea typeface="Manrope" pitchFamily="34" charset="-122"/>
                <a:cs typeface="Manrope" pitchFamily="34" charset="-120"/>
              </a:rPr>
              <a:t>Named options and source generators</a:t>
            </a:r>
            <a:endParaRPr lang="en-US" sz="3800" dirty="0"/>
          </a:p>
        </p:txBody>
      </p:sp>
      <p:sp>
        <p:nvSpPr>
          <p:cNvPr id="25" name="Slide Number Placeholder 0"/>
          <p:cNvSpPr>
            <a:spLocks noGrp="1"/>
          </p:cNvSpPr>
          <p:nvPr>
            <p:ph type="sldNum" sz="quarter" idx="4294967295"/>
          </p:nvPr>
        </p:nvSpPr>
        <p:spPr>
          <a:xfrm>
            <a:off x="10881360" y="6199632"/>
            <a:ext cx="667512" cy="292608"/>
          </a:xfrm>
          <a:prstGeom prst="rect">
            <a:avLst/>
          </a:prstGeom>
          <a:extLst>
            <a:ext uri="{C572A759-6A51-4108-AA02-DFA0A04FC94B}">
              <ma14:wrappingTextBoxFlag xmlns:ma14="http://schemas.microsoft.com/office/mac/drawingml/2011/main" val="0"/>
            </a:ext>
          </a:extLst>
        </p:spPr>
        <p:txBody>
          <a:bodyPr/>
          <a:lstStyle>
            <a:lvl1pPr>
              <a:defRPr sz="1000">
                <a:solidFill>
                  <a:srgbClr val="16303F"/>
                </a:solidFill>
                <a:latin typeface="Manrope"/>
                <a:ea typeface="Manrope"/>
                <a:cs typeface="Manrope"/>
              </a:defRPr>
            </a:lvl1pPr>
          </a:lstStyle>
          <a:p>
            <a:pPr algn="r"/>
            <a:fld id="{F7021451-1387-4CA6-816F-3879F97B5CBC}" type="slidenum">
              <a:rPr b="1"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2"/>
          <p:cNvSpPr/>
          <p:nvPr>
            <p:ph idx="102" type="body" hasCustomPrompt="1"/>
          </p:nvPr>
        </p:nvSpPr>
        <p:spPr>
          <a:xfrm>
            <a:off x="640080" y="2331720"/>
            <a:ext cx="10881360" cy="365760"/>
          </a:xfrm>
          <a:prstGeom prst="rect">
            <a:avLst/>
          </a:prstGeom>
          <a:noFill/>
          <a:ln/>
        </p:spPr>
        <p:txBody>
          <a:bodyPr wrap="square" lIns="0" tIns="0" rIns="0" bIns="0" rtlCol="0"/>
          <a:lstStyle/>
          <a:p>
            <a:pPr indent="0" marL="0">
              <a:buNone/>
            </a:pPr>
            <a:r>
              <a:rPr lang="en-US" sz="1400" b="1" spc="200" kern="0" dirty="0">
                <a:solidFill>
                  <a:srgbClr val="F4C233"/>
                </a:solidFill>
                <a:latin typeface="Manrope" pitchFamily="34" charset="0"/>
                <a:ea typeface="Manrope" pitchFamily="34" charset="-122"/>
                <a:cs typeface="Manrope" pitchFamily="34" charset="-120"/>
              </a:rPr>
              <a:t>STAGE 2</a:t>
            </a:r>
            <a:endParaRPr lang="en-US" sz="1400" dirty="0"/>
          </a:p>
        </p:txBody>
      </p:sp>
      <p:sp>
        <p:nvSpPr>
          <p:cNvPr id="3" name="Text 2"/>
          <p:cNvSpPr/>
          <p:nvPr>
            <p:ph idx="103" type="title" hasCustomPrompt="1"/>
          </p:nvPr>
        </p:nvSpPr>
        <p:spPr>
          <a:xfrm>
            <a:off x="640080" y="3017520"/>
            <a:ext cx="10881360" cy="1371600"/>
          </a:xfrm>
          <a:prstGeom prst="rect">
            <a:avLst/>
          </a:prstGeom>
          <a:noFill/>
          <a:ln/>
        </p:spPr>
        <p:txBody>
          <a:bodyPr wrap="square" lIns="0" tIns="0" rIns="0" bIns="0" rtlCol="0"/>
          <a:lstStyle/>
          <a:p>
            <a:pPr algn="l" indent="0" marL="0">
              <a:buNone/>
            </a:pPr>
            <a:r>
              <a:rPr lang="en-US" sz="4400" b="1" dirty="0">
                <a:solidFill>
                  <a:srgbClr val="FFFFFF"/>
                </a:solidFill>
                <a:latin typeface="Manrope" pitchFamily="34" charset="0"/>
                <a:ea typeface="Manrope" pitchFamily="34" charset="-122"/>
                <a:cs typeface="Manrope" pitchFamily="34" charset="-120"/>
              </a:rPr>
              <a:t>Deployment</a:t>
            </a:r>
            <a:endParaRPr lang="en-US" sz="4400" dirty="0"/>
          </a:p>
        </p:txBody>
      </p:sp>
      <p:sp>
        <p:nvSpPr>
          <p:cNvPr id="25" name="Slide Number Placeholder 0"/>
          <p:cNvSpPr>
            <a:spLocks noGrp="1"/>
          </p:cNvSpPr>
          <p:nvPr>
            <p:ph type="sldNum" sz="quarter" idx="4294967295"/>
          </p:nvPr>
        </p:nvSpPr>
        <p:spPr>
          <a:xfrm>
            <a:off x="10881360" y="6199632"/>
            <a:ext cx="667512" cy="292608"/>
          </a:xfrm>
          <a:prstGeom prst="rect">
            <a:avLst/>
          </a:prstGeom>
          <a:extLst>
            <a:ext uri="{C572A759-6A51-4108-AA02-DFA0A04FC94B}">
              <ma14:wrappingTextBoxFlag xmlns:ma14="http://schemas.microsoft.com/office/mac/drawingml/2011/main" val="0"/>
            </a:ext>
          </a:extLst>
        </p:spPr>
        <p:txBody>
          <a:bodyPr/>
          <a:lstStyle>
            <a:lvl1pPr>
              <a:defRPr sz="1000">
                <a:solidFill>
                  <a:srgbClr val="F4C233"/>
                </a:solidFill>
                <a:latin typeface="Manrope"/>
                <a:ea typeface="Manrope"/>
                <a:cs typeface="Manrope"/>
              </a:defRPr>
            </a:lvl1pPr>
          </a:lstStyle>
          <a:p>
            <a:pPr algn="r"/>
            <a:fld id="{F7021451-1387-4CA6-816F-3879F97B5CBC}" type="slidenum">
              <a:rPr b="1"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2"/>
          <p:cNvSpPr/>
          <p:nvPr>
            <p:ph idx="102" type="title" hasCustomPrompt="1"/>
          </p:nvPr>
        </p:nvSpPr>
        <p:spPr>
          <a:xfrm>
            <a:off x="640080" y="2286000"/>
            <a:ext cx="10881360" cy="1371600"/>
          </a:xfrm>
          <a:prstGeom prst="rect">
            <a:avLst/>
          </a:prstGeom>
          <a:noFill/>
          <a:ln/>
        </p:spPr>
        <p:txBody>
          <a:bodyPr wrap="square" lIns="0" tIns="0" rIns="0" bIns="0" rtlCol="0"/>
          <a:lstStyle/>
          <a:p>
            <a:pPr algn="l" indent="0" marL="0">
              <a:buNone/>
            </a:pPr>
            <a:r>
              <a:rPr lang="en-US" sz="3800" b="1" dirty="0">
                <a:solidFill>
                  <a:srgbClr val="16303F"/>
                </a:solidFill>
                <a:latin typeface="Manrope" pitchFamily="34" charset="0"/>
                <a:ea typeface="Manrope" pitchFamily="34" charset="-122"/>
                <a:cs typeface="Manrope" pitchFamily="34" charset="-120"/>
              </a:rPr>
              <a:t>Environment variables</a:t>
            </a:r>
            <a:endParaRPr lang="en-US" sz="3800" dirty="0"/>
          </a:p>
        </p:txBody>
      </p:sp>
      <p:sp>
        <p:nvSpPr>
          <p:cNvPr id="4" name="Shape 1"/>
          <p:cNvSpPr/>
          <p:nvPr/>
        </p:nvSpPr>
        <p:spPr>
          <a:xfrm>
            <a:off x="9646920" y="457200"/>
            <a:ext cx="1901952" cy="420624"/>
          </a:xfrm>
          <a:prstGeom prst="roundRect">
            <a:avLst>
              <a:gd name="adj" fmla="val 13043"/>
            </a:avLst>
          </a:prstGeom>
          <a:solidFill>
            <a:srgbClr val="16303F"/>
          </a:solidFill>
          <a:ln/>
        </p:spPr>
      </p:sp>
      <p:sp>
        <p:nvSpPr>
          <p:cNvPr id="5" name="Text 2"/>
          <p:cNvSpPr txBox="1"/>
          <p:nvPr/>
        </p:nvSpPr>
        <p:spPr>
          <a:xfrm>
            <a:off x="9646920" y="457200"/>
            <a:ext cx="1901952" cy="420624"/>
          </a:xfrm>
          <a:prstGeom prst="rect">
            <a:avLst/>
          </a:prstGeom>
          <a:noFill/>
          <a:ln/>
        </p:spPr>
        <p:txBody>
          <a:bodyPr wrap="square" lIns="0" tIns="0" rIns="0" bIns="0" rtlCol="0" anchor="ctr"/>
          <a:lstStyle/>
          <a:p>
            <a:pPr algn="ctr" indent="0" marL="0">
              <a:buNone/>
            </a:pPr>
            <a:r>
              <a:rPr lang="en-US" sz="1100" b="1" spc="150" kern="0" dirty="0">
                <a:solidFill>
                  <a:srgbClr val="F4C233"/>
                </a:solidFill>
                <a:latin typeface="Manrope" pitchFamily="34" charset="0"/>
                <a:ea typeface="Manrope" pitchFamily="34" charset="-122"/>
                <a:cs typeface="Manrope" pitchFamily="34" charset="-120"/>
              </a:rPr>
              <a:t>SHAPE</a:t>
            </a:r>
            <a:endParaRPr lang="en-US" sz="1100" dirty="0"/>
          </a:p>
        </p:txBody>
      </p:sp>
      <p:sp>
        <p:nvSpPr>
          <p:cNvPr id="25" name="Slide Number Placeholder 0"/>
          <p:cNvSpPr>
            <a:spLocks noGrp="1"/>
          </p:cNvSpPr>
          <p:nvPr>
            <p:ph type="sldNum" sz="quarter" idx="4294967295"/>
          </p:nvPr>
        </p:nvSpPr>
        <p:spPr>
          <a:xfrm>
            <a:off x="10881360" y="6199632"/>
            <a:ext cx="667512" cy="292608"/>
          </a:xfrm>
          <a:prstGeom prst="rect">
            <a:avLst/>
          </a:prstGeom>
          <a:extLst>
            <a:ext uri="{C572A759-6A51-4108-AA02-DFA0A04FC94B}">
              <ma14:wrappingTextBoxFlag xmlns:ma14="http://schemas.microsoft.com/office/mac/drawingml/2011/main" val="0"/>
            </a:ext>
          </a:extLst>
        </p:spPr>
        <p:txBody>
          <a:bodyPr/>
          <a:lstStyle>
            <a:lvl1pPr>
              <a:defRPr sz="1000">
                <a:solidFill>
                  <a:srgbClr val="16303F"/>
                </a:solidFill>
                <a:latin typeface="Manrope"/>
                <a:ea typeface="Manrope"/>
                <a:cs typeface="Manrope"/>
              </a:defRPr>
            </a:lvl1pPr>
          </a:lstStyle>
          <a:p>
            <a:pPr algn="r"/>
            <a:fld id="{F7021451-1387-4CA6-816F-3879F97B5CBC}" type="slidenum">
              <a:rPr b="1"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2"/>
          <p:cNvSpPr/>
          <p:nvPr>
            <p:ph idx="102" type="title" hasCustomPrompt="1"/>
          </p:nvPr>
        </p:nvSpPr>
        <p:spPr>
          <a:xfrm>
            <a:off x="640080" y="2286000"/>
            <a:ext cx="10881360" cy="1371600"/>
          </a:xfrm>
          <a:prstGeom prst="rect">
            <a:avLst/>
          </a:prstGeom>
          <a:noFill/>
          <a:ln/>
        </p:spPr>
        <p:txBody>
          <a:bodyPr wrap="square" lIns="0" tIns="0" rIns="0" bIns="0" rtlCol="0"/>
          <a:lstStyle/>
          <a:p>
            <a:pPr algn="l" indent="0" marL="0">
              <a:buNone/>
            </a:pPr>
            <a:r>
              <a:rPr lang="en-US" sz="3800" b="1" dirty="0">
                <a:solidFill>
                  <a:srgbClr val="16303F"/>
                </a:solidFill>
                <a:latin typeface="Manrope" pitchFamily="34" charset="0"/>
                <a:ea typeface="Manrope" pitchFamily="34" charset="-122"/>
                <a:cs typeface="Manrope" pitchFamily="34" charset="-120"/>
              </a:rPr>
              <a:t>Connection-string prefixes</a:t>
            </a:r>
            <a:endParaRPr lang="en-US" sz="3800" dirty="0"/>
          </a:p>
        </p:txBody>
      </p:sp>
      <p:sp>
        <p:nvSpPr>
          <p:cNvPr id="25" name="Slide Number Placeholder 0"/>
          <p:cNvSpPr>
            <a:spLocks noGrp="1"/>
          </p:cNvSpPr>
          <p:nvPr>
            <p:ph type="sldNum" sz="quarter" idx="4294967295"/>
          </p:nvPr>
        </p:nvSpPr>
        <p:spPr>
          <a:xfrm>
            <a:off x="10881360" y="6199632"/>
            <a:ext cx="667512" cy="292608"/>
          </a:xfrm>
          <a:prstGeom prst="rect">
            <a:avLst/>
          </a:prstGeom>
          <a:extLst>
            <a:ext uri="{C572A759-6A51-4108-AA02-DFA0A04FC94B}">
              <ma14:wrappingTextBoxFlag xmlns:ma14="http://schemas.microsoft.com/office/mac/drawingml/2011/main" val="0"/>
            </a:ext>
          </a:extLst>
        </p:spPr>
        <p:txBody>
          <a:bodyPr/>
          <a:lstStyle>
            <a:lvl1pPr>
              <a:defRPr sz="1000">
                <a:solidFill>
                  <a:srgbClr val="16303F"/>
                </a:solidFill>
                <a:latin typeface="Manrope"/>
                <a:ea typeface="Manrope"/>
                <a:cs typeface="Manrope"/>
              </a:defRPr>
            </a:lvl1pPr>
          </a:lstStyle>
          <a:p>
            <a:pPr algn="r"/>
            <a:fld id="{F7021451-1387-4CA6-816F-3879F97B5CBC}" type="slidenum">
              <a:rPr b="1"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2"/>
          <p:cNvSpPr/>
          <p:nvPr>
            <p:ph idx="102" type="title" hasCustomPrompt="1"/>
          </p:nvPr>
        </p:nvSpPr>
        <p:spPr>
          <a:xfrm>
            <a:off x="640080" y="2286000"/>
            <a:ext cx="10881360" cy="1371600"/>
          </a:xfrm>
          <a:prstGeom prst="rect">
            <a:avLst/>
          </a:prstGeom>
          <a:noFill/>
          <a:ln/>
        </p:spPr>
        <p:txBody>
          <a:bodyPr wrap="square" lIns="0" tIns="0" rIns="0" bIns="0" rtlCol="0"/>
          <a:lstStyle/>
          <a:p>
            <a:pPr algn="l" indent="0" marL="0">
              <a:buNone/>
            </a:pPr>
            <a:r>
              <a:rPr lang="en-US" sz="3800" b="1" dirty="0">
                <a:solidFill>
                  <a:srgbClr val="16303F"/>
                </a:solidFill>
                <a:latin typeface="Manrope" pitchFamily="34" charset="0"/>
                <a:ea typeface="Manrope" pitchFamily="34" charset="-122"/>
                <a:cs typeface="Manrope" pitchFamily="34" charset="-120"/>
              </a:rPr>
              <a:t>Key-per-file</a:t>
            </a:r>
            <a:endParaRPr lang="en-US" sz="3800" dirty="0"/>
          </a:p>
        </p:txBody>
      </p:sp>
      <p:sp>
        <p:nvSpPr>
          <p:cNvPr id="25" name="Slide Number Placeholder 0"/>
          <p:cNvSpPr>
            <a:spLocks noGrp="1"/>
          </p:cNvSpPr>
          <p:nvPr>
            <p:ph type="sldNum" sz="quarter" idx="4294967295"/>
          </p:nvPr>
        </p:nvSpPr>
        <p:spPr>
          <a:xfrm>
            <a:off x="10881360" y="6199632"/>
            <a:ext cx="667512" cy="292608"/>
          </a:xfrm>
          <a:prstGeom prst="rect">
            <a:avLst/>
          </a:prstGeom>
          <a:extLst>
            <a:ext uri="{C572A759-6A51-4108-AA02-DFA0A04FC94B}">
              <ma14:wrappingTextBoxFlag xmlns:ma14="http://schemas.microsoft.com/office/mac/drawingml/2011/main" val="0"/>
            </a:ext>
          </a:extLst>
        </p:spPr>
        <p:txBody>
          <a:bodyPr/>
          <a:lstStyle>
            <a:lvl1pPr>
              <a:defRPr sz="1000">
                <a:solidFill>
                  <a:srgbClr val="16303F"/>
                </a:solidFill>
                <a:latin typeface="Manrope"/>
                <a:ea typeface="Manrope"/>
                <a:cs typeface="Manrope"/>
              </a:defRPr>
            </a:lvl1pPr>
          </a:lstStyle>
          <a:p>
            <a:pPr algn="r"/>
            <a:fld id="{F7021451-1387-4CA6-816F-3879F97B5CBC}" type="slidenum">
              <a:rPr b="1"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2"/>
          <p:cNvSpPr/>
          <p:nvPr>
            <p:ph idx="102" type="title" hasCustomPrompt="1"/>
          </p:nvPr>
        </p:nvSpPr>
        <p:spPr>
          <a:xfrm>
            <a:off x="640080" y="2286000"/>
            <a:ext cx="10881360" cy="1371600"/>
          </a:xfrm>
          <a:prstGeom prst="rect">
            <a:avLst/>
          </a:prstGeom>
          <a:noFill/>
          <a:ln/>
        </p:spPr>
        <p:txBody>
          <a:bodyPr wrap="square" lIns="0" tIns="0" rIns="0" bIns="0" rtlCol="0"/>
          <a:lstStyle/>
          <a:p>
            <a:pPr algn="l" indent="0" marL="0">
              <a:buNone/>
            </a:pPr>
            <a:r>
              <a:rPr lang="en-US" sz="3800" b="1" dirty="0">
                <a:solidFill>
                  <a:srgbClr val="16303F"/>
                </a:solidFill>
                <a:latin typeface="Manrope" pitchFamily="34" charset="0"/>
                <a:ea typeface="Manrope" pitchFamily="34" charset="-122"/>
                <a:cs typeface="Manrope" pitchFamily="34" charset="-120"/>
              </a:rPr>
              <a:t>Azure Key Vault</a:t>
            </a:r>
            <a:endParaRPr lang="en-US" sz="3800" dirty="0"/>
          </a:p>
        </p:txBody>
      </p:sp>
      <p:sp>
        <p:nvSpPr>
          <p:cNvPr id="25" name="Slide Number Placeholder 0"/>
          <p:cNvSpPr>
            <a:spLocks noGrp="1"/>
          </p:cNvSpPr>
          <p:nvPr>
            <p:ph type="sldNum" sz="quarter" idx="4294967295"/>
          </p:nvPr>
        </p:nvSpPr>
        <p:spPr>
          <a:xfrm>
            <a:off x="10881360" y="6199632"/>
            <a:ext cx="667512" cy="292608"/>
          </a:xfrm>
          <a:prstGeom prst="rect">
            <a:avLst/>
          </a:prstGeom>
          <a:extLst>
            <a:ext uri="{C572A759-6A51-4108-AA02-DFA0A04FC94B}">
              <ma14:wrappingTextBoxFlag xmlns:ma14="http://schemas.microsoft.com/office/mac/drawingml/2011/main" val="0"/>
            </a:ext>
          </a:extLst>
        </p:spPr>
        <p:txBody>
          <a:bodyPr/>
          <a:lstStyle>
            <a:lvl1pPr>
              <a:defRPr sz="1000">
                <a:solidFill>
                  <a:srgbClr val="16303F"/>
                </a:solidFill>
                <a:latin typeface="Manrope"/>
                <a:ea typeface="Manrope"/>
                <a:cs typeface="Manrope"/>
              </a:defRPr>
            </a:lvl1pPr>
          </a:lstStyle>
          <a:p>
            <a:pPr algn="r"/>
            <a:fld id="{F7021451-1387-4CA6-816F-3879F97B5CBC}" type="slidenum">
              <a:rPr b="1"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pic>
        <p:nvPicPr>
          <p:cNvPr id="2" name="Image 0" descr="C:\Users\kevin\AppData\Local\Temp\claude\G---talks-modern-dotnet-configuration\168b4f6d-c720-4fc0-8834-81425d739f7e\scratchpad\deck/../carbon/xx-inmemory.png">    </p:cNvPr>
          <p:cNvPicPr>
            <a:picLocks noChangeAspect="1"/>
          </p:cNvPicPr>
          <p:nvPr/>
        </p:nvPicPr>
        <p:blipFill>
          <a:blip r:embed="rId1"/>
          <a:stretch>
            <a:fillRect/>
          </a:stretch>
        </p:blipFill>
        <p:spPr>
          <a:xfrm>
            <a:off x="516636" y="1433074"/>
            <a:ext cx="11155680" cy="3991852"/>
          </a:xfrm>
          <a:prstGeom prst="rect">
            <a:avLst/>
          </a:prstGeom>
        </p:spPr>
      </p:pic>
      <p:sp>
        <p:nvSpPr>
          <p:cNvPr id="25" name="Slide Number Placeholder 0"/>
          <p:cNvSpPr>
            <a:spLocks noGrp="1"/>
          </p:cNvSpPr>
          <p:nvPr>
            <p:ph type="sldNum" sz="quarter" idx="4294967295"/>
          </p:nvPr>
        </p:nvSpPr>
        <p:spPr>
          <a:xfrm>
            <a:off x="10881360" y="6199632"/>
            <a:ext cx="667512" cy="292608"/>
          </a:xfrm>
          <a:prstGeom prst="rect">
            <a:avLst/>
          </a:prstGeom>
          <a:extLst>
            <a:ext uri="{C572A759-6A51-4108-AA02-DFA0A04FC94B}">
              <ma14:wrappingTextBoxFlag xmlns:ma14="http://schemas.microsoft.com/office/mac/drawingml/2011/main" val="0"/>
            </a:ext>
          </a:extLst>
        </p:spPr>
        <p:txBody>
          <a:bodyPr/>
          <a:lstStyle>
            <a:lvl1pPr>
              <a:defRPr sz="1000">
                <a:solidFill>
                  <a:srgbClr val="F4C233"/>
                </a:solidFill>
                <a:latin typeface="Manrope"/>
                <a:ea typeface="Manrope"/>
                <a:cs typeface="Manrope"/>
              </a:defRPr>
            </a:lvl1pPr>
          </a:lstStyle>
          <a:p>
            <a:pPr algn="r"/>
            <a:fld id="{F7021451-1387-4CA6-816F-3879F97B5CBC}" type="slidenum">
              <a:rPr b="1"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pic>
        <p:nvPicPr>
          <p:cNvPr id="2" name="Image 0" descr="C:\Users\kevin\AppData\Local\Temp\claude\G---talks-modern-dotnet-configuration\168b4f6d-c720-4fc0-8834-81425d739f7e\scratchpad\deck/../carbon/xx-custom.png">    </p:cNvPr>
          <p:cNvPicPr>
            <a:picLocks noChangeAspect="1"/>
          </p:cNvPicPr>
          <p:nvPr/>
        </p:nvPicPr>
        <p:blipFill>
          <a:blip r:embed="rId1"/>
          <a:stretch>
            <a:fillRect/>
          </a:stretch>
        </p:blipFill>
        <p:spPr>
          <a:xfrm>
            <a:off x="516636" y="1157274"/>
            <a:ext cx="11155680" cy="4543452"/>
          </a:xfrm>
          <a:prstGeom prst="rect">
            <a:avLst/>
          </a:prstGeom>
        </p:spPr>
      </p:pic>
      <p:sp>
        <p:nvSpPr>
          <p:cNvPr id="25" name="Slide Number Placeholder 0"/>
          <p:cNvSpPr>
            <a:spLocks noGrp="1"/>
          </p:cNvSpPr>
          <p:nvPr>
            <p:ph type="sldNum" sz="quarter" idx="4294967295"/>
          </p:nvPr>
        </p:nvSpPr>
        <p:spPr>
          <a:xfrm>
            <a:off x="10881360" y="6199632"/>
            <a:ext cx="667512" cy="292608"/>
          </a:xfrm>
          <a:prstGeom prst="rect">
            <a:avLst/>
          </a:prstGeom>
          <a:extLst>
            <a:ext uri="{C572A759-6A51-4108-AA02-DFA0A04FC94B}">
              <ma14:wrappingTextBoxFlag xmlns:ma14="http://schemas.microsoft.com/office/mac/drawingml/2011/main" val="0"/>
            </a:ext>
          </a:extLst>
        </p:spPr>
        <p:txBody>
          <a:bodyPr/>
          <a:lstStyle>
            <a:lvl1pPr>
              <a:defRPr sz="1000">
                <a:solidFill>
                  <a:srgbClr val="F4C233"/>
                </a:solidFill>
                <a:latin typeface="Manrope"/>
                <a:ea typeface="Manrope"/>
                <a:cs typeface="Manrope"/>
              </a:defRPr>
            </a:lvl1pPr>
          </a:lstStyle>
          <a:p>
            <a:pPr algn="r"/>
            <a:fld id="{F7021451-1387-4CA6-816F-3879F97B5CBC}" type="slidenum">
              <a:rPr b="1"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2"/>
          <p:cNvSpPr/>
          <p:nvPr>
            <p:ph idx="102" type="body" hasCustomPrompt="1"/>
          </p:nvPr>
        </p:nvSpPr>
        <p:spPr>
          <a:xfrm>
            <a:off x="640080" y="2331720"/>
            <a:ext cx="10881360" cy="365760"/>
          </a:xfrm>
          <a:prstGeom prst="rect">
            <a:avLst/>
          </a:prstGeom>
          <a:noFill/>
          <a:ln/>
        </p:spPr>
        <p:txBody>
          <a:bodyPr wrap="square" lIns="0" tIns="0" rIns="0" bIns="0" rtlCol="0"/>
          <a:lstStyle/>
          <a:p>
            <a:pPr indent="0" marL="0">
              <a:buNone/>
            </a:pPr>
            <a:r>
              <a:rPr lang="en-US" sz="1400" b="1" spc="200" kern="0" dirty="0">
                <a:solidFill>
                  <a:srgbClr val="F4C233"/>
                </a:solidFill>
                <a:latin typeface="Manrope" pitchFamily="34" charset="0"/>
                <a:ea typeface="Manrope" pitchFamily="34" charset="-122"/>
                <a:cs typeface="Manrope" pitchFamily="34" charset="-120"/>
              </a:rPr>
              <a:t>STAGE 3</a:t>
            </a:r>
            <a:endParaRPr lang="en-US" sz="1400" dirty="0"/>
          </a:p>
        </p:txBody>
      </p:sp>
      <p:sp>
        <p:nvSpPr>
          <p:cNvPr id="3" name="Text 2"/>
          <p:cNvSpPr/>
          <p:nvPr>
            <p:ph idx="103" type="title" hasCustomPrompt="1"/>
          </p:nvPr>
        </p:nvSpPr>
        <p:spPr>
          <a:xfrm>
            <a:off x="640080" y="3017520"/>
            <a:ext cx="10881360" cy="1371600"/>
          </a:xfrm>
          <a:prstGeom prst="rect">
            <a:avLst/>
          </a:prstGeom>
          <a:noFill/>
          <a:ln/>
        </p:spPr>
        <p:txBody>
          <a:bodyPr wrap="square" lIns="0" tIns="0" rIns="0" bIns="0" rtlCol="0"/>
          <a:lstStyle/>
          <a:p>
            <a:pPr algn="l" indent="0" marL="0">
              <a:buNone/>
            </a:pPr>
            <a:r>
              <a:rPr lang="en-US" sz="4400" b="1" dirty="0">
                <a:solidFill>
                  <a:srgbClr val="FFFFFF"/>
                </a:solidFill>
                <a:latin typeface="Manrope" pitchFamily="34" charset="0"/>
                <a:ea typeface="Manrope" pitchFamily="34" charset="-122"/>
                <a:cs typeface="Manrope" pitchFamily="34" charset="-120"/>
              </a:rPr>
              <a:t>Shared</a:t>
            </a:r>
            <a:endParaRPr lang="en-US" sz="4400" dirty="0"/>
          </a:p>
        </p:txBody>
      </p:sp>
      <p:sp>
        <p:nvSpPr>
          <p:cNvPr id="25" name="Slide Number Placeholder 0"/>
          <p:cNvSpPr>
            <a:spLocks noGrp="1"/>
          </p:cNvSpPr>
          <p:nvPr>
            <p:ph type="sldNum" sz="quarter" idx="4294967295"/>
          </p:nvPr>
        </p:nvSpPr>
        <p:spPr>
          <a:xfrm>
            <a:off x="10881360" y="6199632"/>
            <a:ext cx="667512" cy="292608"/>
          </a:xfrm>
          <a:prstGeom prst="rect">
            <a:avLst/>
          </a:prstGeom>
          <a:extLst>
            <a:ext uri="{C572A759-6A51-4108-AA02-DFA0A04FC94B}">
              <ma14:wrappingTextBoxFlag xmlns:ma14="http://schemas.microsoft.com/office/mac/drawingml/2011/main" val="0"/>
            </a:ext>
          </a:extLst>
        </p:spPr>
        <p:txBody>
          <a:bodyPr/>
          <a:lstStyle>
            <a:lvl1pPr>
              <a:defRPr sz="1000">
                <a:solidFill>
                  <a:srgbClr val="F4C233"/>
                </a:solidFill>
                <a:latin typeface="Manrope"/>
                <a:ea typeface="Manrope"/>
                <a:cs typeface="Manrope"/>
              </a:defRPr>
            </a:lvl1pPr>
          </a:lstStyle>
          <a:p>
            <a:pPr algn="r"/>
            <a:fld id="{F7021451-1387-4CA6-816F-3879F97B5CBC}" type="slidenum">
              <a:rPr b="1"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2"/>
          <p:cNvSpPr/>
          <p:nvPr>
            <p:ph idx="102" type="title" hasCustomPrompt="1"/>
          </p:nvPr>
        </p:nvSpPr>
        <p:spPr>
          <a:xfrm>
            <a:off x="640080" y="2286000"/>
            <a:ext cx="10881360" cy="1371600"/>
          </a:xfrm>
          <a:prstGeom prst="rect">
            <a:avLst/>
          </a:prstGeom>
          <a:noFill/>
          <a:ln/>
        </p:spPr>
        <p:txBody>
          <a:bodyPr wrap="square" lIns="0" tIns="0" rIns="0" bIns="0" rtlCol="0"/>
          <a:lstStyle/>
          <a:p>
            <a:pPr algn="l" indent="0" marL="0">
              <a:buNone/>
            </a:pPr>
            <a:r>
              <a:rPr lang="en-US" sz="3800" b="1" dirty="0">
                <a:solidFill>
                  <a:srgbClr val="16303F"/>
                </a:solidFill>
                <a:latin typeface="Manrope" pitchFamily="34" charset="0"/>
                <a:ea typeface="Manrope" pitchFamily="34" charset="-122"/>
                <a:cs typeface="Manrope" pitchFamily="34" charset="-120"/>
              </a:rPr>
              <a:t>Azure App Configuration</a:t>
            </a:r>
            <a:endParaRPr lang="en-US" sz="3800" dirty="0"/>
          </a:p>
        </p:txBody>
      </p:sp>
      <p:sp>
        <p:nvSpPr>
          <p:cNvPr id="25" name="Slide Number Placeholder 0"/>
          <p:cNvSpPr>
            <a:spLocks noGrp="1"/>
          </p:cNvSpPr>
          <p:nvPr>
            <p:ph type="sldNum" sz="quarter" idx="4294967295"/>
          </p:nvPr>
        </p:nvSpPr>
        <p:spPr>
          <a:xfrm>
            <a:off x="10881360" y="6199632"/>
            <a:ext cx="667512" cy="292608"/>
          </a:xfrm>
          <a:prstGeom prst="rect">
            <a:avLst/>
          </a:prstGeom>
          <a:extLst>
            <a:ext uri="{C572A759-6A51-4108-AA02-DFA0A04FC94B}">
              <ma14:wrappingTextBoxFlag xmlns:ma14="http://schemas.microsoft.com/office/mac/drawingml/2011/main" val="0"/>
            </a:ext>
          </a:extLst>
        </p:spPr>
        <p:txBody>
          <a:bodyPr/>
          <a:lstStyle>
            <a:lvl1pPr>
              <a:defRPr sz="1000">
                <a:solidFill>
                  <a:srgbClr val="16303F"/>
                </a:solidFill>
                <a:latin typeface="Manrope"/>
                <a:ea typeface="Manrope"/>
                <a:cs typeface="Manrope"/>
              </a:defRPr>
            </a:lvl1pPr>
          </a:lstStyle>
          <a:p>
            <a:pPr algn="r"/>
            <a:fld id="{F7021451-1387-4CA6-816F-3879F97B5CBC}" type="slidenum">
              <a:rPr b="1"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2"/>
          <p:cNvSpPr/>
          <p:nvPr>
            <p:ph idx="102" type="title" hasCustomPrompt="1"/>
          </p:nvPr>
        </p:nvSpPr>
        <p:spPr>
          <a:xfrm>
            <a:off x="640080" y="2286000"/>
            <a:ext cx="10881360" cy="1371600"/>
          </a:xfrm>
          <a:prstGeom prst="rect">
            <a:avLst/>
          </a:prstGeom>
          <a:noFill/>
          <a:ln/>
        </p:spPr>
        <p:txBody>
          <a:bodyPr wrap="square" lIns="0" tIns="0" rIns="0" bIns="0" rtlCol="0"/>
          <a:lstStyle/>
          <a:p>
            <a:pPr algn="l" indent="0" marL="0">
              <a:buNone/>
            </a:pPr>
            <a:r>
              <a:rPr lang="en-US" sz="3800" b="1" dirty="0">
                <a:solidFill>
                  <a:srgbClr val="16303F"/>
                </a:solidFill>
                <a:latin typeface="Manrope" pitchFamily="34" charset="0"/>
                <a:ea typeface="Manrope" pitchFamily="34" charset="-122"/>
                <a:cs typeface="Manrope" pitchFamily="34" charset="-120"/>
              </a:rPr>
              <a:t>What actually reloads</a:t>
            </a:r>
            <a:endParaRPr lang="en-US" sz="3800" dirty="0"/>
          </a:p>
        </p:txBody>
      </p:sp>
      <p:sp>
        <p:nvSpPr>
          <p:cNvPr id="25" name="Slide Number Placeholder 0"/>
          <p:cNvSpPr>
            <a:spLocks noGrp="1"/>
          </p:cNvSpPr>
          <p:nvPr>
            <p:ph type="sldNum" sz="quarter" idx="4294967295"/>
          </p:nvPr>
        </p:nvSpPr>
        <p:spPr>
          <a:xfrm>
            <a:off x="10881360" y="6199632"/>
            <a:ext cx="667512" cy="292608"/>
          </a:xfrm>
          <a:prstGeom prst="rect">
            <a:avLst/>
          </a:prstGeom>
          <a:extLst>
            <a:ext uri="{C572A759-6A51-4108-AA02-DFA0A04FC94B}">
              <ma14:wrappingTextBoxFlag xmlns:ma14="http://schemas.microsoft.com/office/mac/drawingml/2011/main" val="0"/>
            </a:ext>
          </a:extLst>
        </p:spPr>
        <p:txBody>
          <a:bodyPr/>
          <a:lstStyle>
            <a:lvl1pPr>
              <a:defRPr sz="1000">
                <a:solidFill>
                  <a:srgbClr val="16303F"/>
                </a:solidFill>
                <a:latin typeface="Manrope"/>
                <a:ea typeface="Manrope"/>
                <a:cs typeface="Manrope"/>
              </a:defRPr>
            </a:lvl1pPr>
          </a:lstStyle>
          <a:p>
            <a:pPr algn="r"/>
            <a:fld id="{F7021451-1387-4CA6-816F-3879F97B5CBC}" type="slidenum">
              <a:rPr b="1"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2"/>
          <p:cNvSpPr/>
          <p:nvPr>
            <p:ph idx="102" type="body" hasCustomPrompt="1"/>
          </p:nvPr>
        </p:nvSpPr>
        <p:spPr>
          <a:xfrm>
            <a:off x="640080" y="2331720"/>
            <a:ext cx="10881360" cy="365760"/>
          </a:xfrm>
          <a:prstGeom prst="rect">
            <a:avLst/>
          </a:prstGeom>
          <a:noFill/>
          <a:ln/>
        </p:spPr>
        <p:txBody>
          <a:bodyPr wrap="square" lIns="0" tIns="0" rIns="0" bIns="0" rtlCol="0"/>
          <a:lstStyle/>
          <a:p>
            <a:pPr indent="0" marL="0">
              <a:buNone/>
            </a:pPr>
            <a:r>
              <a:rPr lang="en-US" sz="1400" b="1" spc="200" kern="0" dirty="0">
                <a:solidFill>
                  <a:srgbClr val="F4C233"/>
                </a:solidFill>
                <a:latin typeface="Manrope" pitchFamily="34" charset="0"/>
                <a:ea typeface="Manrope" pitchFamily="34" charset="-122"/>
                <a:cs typeface="Manrope" pitchFamily="34" charset="-120"/>
              </a:rPr>
              <a:t>FEATURE FLAGS</a:t>
            </a:r>
            <a:endParaRPr lang="en-US" sz="1400" dirty="0"/>
          </a:p>
        </p:txBody>
      </p:sp>
      <p:sp>
        <p:nvSpPr>
          <p:cNvPr id="3" name="Text 2"/>
          <p:cNvSpPr/>
          <p:nvPr>
            <p:ph idx="103" type="title" hasCustomPrompt="1"/>
          </p:nvPr>
        </p:nvSpPr>
        <p:spPr>
          <a:xfrm>
            <a:off x="640080" y="3017520"/>
            <a:ext cx="10881360" cy="1371600"/>
          </a:xfrm>
          <a:prstGeom prst="rect">
            <a:avLst/>
          </a:prstGeom>
          <a:noFill/>
          <a:ln/>
        </p:spPr>
        <p:txBody>
          <a:bodyPr wrap="square" lIns="0" tIns="0" rIns="0" bIns="0" rtlCol="0"/>
          <a:lstStyle/>
          <a:p>
            <a:pPr algn="l" indent="0" marL="0">
              <a:buNone/>
            </a:pPr>
            <a:r>
              <a:rPr lang="en-US" sz="4400" b="1" dirty="0">
                <a:solidFill>
                  <a:srgbClr val="FFFFFF"/>
                </a:solidFill>
                <a:latin typeface="Manrope" pitchFamily="34" charset="0"/>
                <a:ea typeface="Manrope" pitchFamily="34" charset="-122"/>
                <a:cs typeface="Manrope" pitchFamily="34" charset="-120"/>
              </a:rPr>
              <a:t>The second half of the thesis</a:t>
            </a:r>
            <a:endParaRPr lang="en-US" sz="4400" dirty="0"/>
          </a:p>
        </p:txBody>
      </p:sp>
      <p:sp>
        <p:nvSpPr>
          <p:cNvPr id="25" name="Slide Number Placeholder 0"/>
          <p:cNvSpPr>
            <a:spLocks noGrp="1"/>
          </p:cNvSpPr>
          <p:nvPr>
            <p:ph type="sldNum" sz="quarter" idx="4294967295"/>
          </p:nvPr>
        </p:nvSpPr>
        <p:spPr>
          <a:xfrm>
            <a:off x="10881360" y="6199632"/>
            <a:ext cx="667512" cy="292608"/>
          </a:xfrm>
          <a:prstGeom prst="rect">
            <a:avLst/>
          </a:prstGeom>
          <a:extLst>
            <a:ext uri="{C572A759-6A51-4108-AA02-DFA0A04FC94B}">
              <ma14:wrappingTextBoxFlag xmlns:ma14="http://schemas.microsoft.com/office/mac/drawingml/2011/main" val="0"/>
            </a:ext>
          </a:extLst>
        </p:spPr>
        <p:txBody>
          <a:bodyPr/>
          <a:lstStyle>
            <a:lvl1pPr>
              <a:defRPr sz="1000">
                <a:solidFill>
                  <a:srgbClr val="F4C233"/>
                </a:solidFill>
                <a:latin typeface="Manrope"/>
                <a:ea typeface="Manrope"/>
                <a:cs typeface="Manrope"/>
              </a:defRPr>
            </a:lvl1pPr>
          </a:lstStyle>
          <a:p>
            <a:pPr algn="r"/>
            <a:fld id="{F7021451-1387-4CA6-816F-3879F97B5CBC}" type="slidenum">
              <a:rPr b="1"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2"/>
          <p:cNvSpPr/>
          <p:nvPr>
            <p:ph idx="102" type="title" hasCustomPrompt="1"/>
          </p:nvPr>
        </p:nvSpPr>
        <p:spPr>
          <a:xfrm>
            <a:off x="640080" y="2286000"/>
            <a:ext cx="10881360" cy="1371600"/>
          </a:xfrm>
          <a:prstGeom prst="rect">
            <a:avLst/>
          </a:prstGeom>
          <a:noFill/>
          <a:ln/>
        </p:spPr>
        <p:txBody>
          <a:bodyPr wrap="square" lIns="0" tIns="0" rIns="0" bIns="0" rtlCol="0"/>
          <a:lstStyle/>
          <a:p>
            <a:pPr algn="l" indent="0" marL="0">
              <a:buNone/>
            </a:pPr>
            <a:r>
              <a:rPr lang="en-US" sz="3800" b="1" dirty="0">
                <a:solidFill>
                  <a:srgbClr val="16303F"/>
                </a:solidFill>
                <a:latin typeface="Manrope" pitchFamily="34" charset="0"/>
                <a:ea typeface="Manrope" pitchFamily="34" charset="-122"/>
                <a:cs typeface="Manrope" pitchFamily="34" charset="-120"/>
              </a:rPr>
              <a:t>A feature flag is just configuration</a:t>
            </a:r>
            <a:endParaRPr lang="en-US" sz="3800" dirty="0"/>
          </a:p>
        </p:txBody>
      </p:sp>
      <p:sp>
        <p:nvSpPr>
          <p:cNvPr id="25" name="Slide Number Placeholder 0"/>
          <p:cNvSpPr>
            <a:spLocks noGrp="1"/>
          </p:cNvSpPr>
          <p:nvPr>
            <p:ph type="sldNum" sz="quarter" idx="4294967295"/>
          </p:nvPr>
        </p:nvSpPr>
        <p:spPr>
          <a:xfrm>
            <a:off x="10881360" y="6199632"/>
            <a:ext cx="667512" cy="292608"/>
          </a:xfrm>
          <a:prstGeom prst="rect">
            <a:avLst/>
          </a:prstGeom>
          <a:extLst>
            <a:ext uri="{C572A759-6A51-4108-AA02-DFA0A04FC94B}">
              <ma14:wrappingTextBoxFlag xmlns:ma14="http://schemas.microsoft.com/office/mac/drawingml/2011/main" val="0"/>
            </a:ext>
          </a:extLst>
        </p:spPr>
        <p:txBody>
          <a:bodyPr/>
          <a:lstStyle>
            <a:lvl1pPr>
              <a:defRPr sz="1000">
                <a:solidFill>
                  <a:srgbClr val="16303F"/>
                </a:solidFill>
                <a:latin typeface="Manrope"/>
                <a:ea typeface="Manrope"/>
                <a:cs typeface="Manrope"/>
              </a:defRPr>
            </a:lvl1pPr>
          </a:lstStyle>
          <a:p>
            <a:pPr algn="r"/>
            <a:fld id="{F7021451-1387-4CA6-816F-3879F97B5CBC}" type="slidenum">
              <a:rPr b="1"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2"/>
          <p:cNvSpPr/>
          <p:nvPr>
            <p:ph idx="102" type="title" hasCustomPrompt="1"/>
          </p:nvPr>
        </p:nvSpPr>
        <p:spPr>
          <a:xfrm>
            <a:off x="640080" y="2286000"/>
            <a:ext cx="10881360" cy="1371600"/>
          </a:xfrm>
          <a:prstGeom prst="rect">
            <a:avLst/>
          </a:prstGeom>
          <a:noFill/>
          <a:ln/>
        </p:spPr>
        <p:txBody>
          <a:bodyPr wrap="square" lIns="0" tIns="0" rIns="0" bIns="0" rtlCol="0"/>
          <a:lstStyle/>
          <a:p>
            <a:pPr algn="l" indent="0" marL="0">
              <a:buNone/>
            </a:pPr>
            <a:r>
              <a:rPr lang="en-US" sz="3800" b="1" dirty="0">
                <a:solidFill>
                  <a:srgbClr val="16303F"/>
                </a:solidFill>
                <a:latin typeface="Manrope" pitchFamily="34" charset="0"/>
                <a:ea typeface="Manrope" pitchFamily="34" charset="-122"/>
                <a:cs typeface="Manrope" pitchFamily="34" charset="-120"/>
              </a:rPr>
              <a:t>Flags with no cloud at all</a:t>
            </a:r>
            <a:endParaRPr lang="en-US" sz="3800" dirty="0"/>
          </a:p>
        </p:txBody>
      </p:sp>
      <p:sp>
        <p:nvSpPr>
          <p:cNvPr id="25" name="Slide Number Placeholder 0"/>
          <p:cNvSpPr>
            <a:spLocks noGrp="1"/>
          </p:cNvSpPr>
          <p:nvPr>
            <p:ph type="sldNum" sz="quarter" idx="4294967295"/>
          </p:nvPr>
        </p:nvSpPr>
        <p:spPr>
          <a:xfrm>
            <a:off x="10881360" y="6199632"/>
            <a:ext cx="667512" cy="292608"/>
          </a:xfrm>
          <a:prstGeom prst="rect">
            <a:avLst/>
          </a:prstGeom>
          <a:extLst>
            <a:ext uri="{C572A759-6A51-4108-AA02-DFA0A04FC94B}">
              <ma14:wrappingTextBoxFlag xmlns:ma14="http://schemas.microsoft.com/office/mac/drawingml/2011/main" val="0"/>
            </a:ext>
          </a:extLst>
        </p:spPr>
        <p:txBody>
          <a:bodyPr/>
          <a:lstStyle>
            <a:lvl1pPr>
              <a:defRPr sz="1000">
                <a:solidFill>
                  <a:srgbClr val="16303F"/>
                </a:solidFill>
                <a:latin typeface="Manrope"/>
                <a:ea typeface="Manrope"/>
                <a:cs typeface="Manrope"/>
              </a:defRPr>
            </a:lvl1pPr>
          </a:lstStyle>
          <a:p>
            <a:pPr algn="r"/>
            <a:fld id="{F7021451-1387-4CA6-816F-3879F97B5CBC}" type="slidenum">
              <a:rPr b="1"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2"/>
          <p:cNvSpPr/>
          <p:nvPr>
            <p:ph idx="102" type="title" hasCustomPrompt="1"/>
          </p:nvPr>
        </p:nvSpPr>
        <p:spPr>
          <a:xfrm>
            <a:off x="640080" y="2286000"/>
            <a:ext cx="10881360" cy="1371600"/>
          </a:xfrm>
          <a:prstGeom prst="rect">
            <a:avLst/>
          </a:prstGeom>
          <a:noFill/>
          <a:ln/>
        </p:spPr>
        <p:txBody>
          <a:bodyPr wrap="square" lIns="0" tIns="0" rIns="0" bIns="0" rtlCol="0"/>
          <a:lstStyle/>
          <a:p>
            <a:pPr algn="l" indent="0" marL="0">
              <a:buNone/>
            </a:pPr>
            <a:r>
              <a:rPr lang="en-US" sz="3800" b="1" dirty="0">
                <a:solidFill>
                  <a:srgbClr val="16303F"/>
                </a:solidFill>
                <a:latin typeface="Manrope" pitchFamily="34" charset="0"/>
                <a:ea typeface="Manrope" pitchFamily="34" charset="-122"/>
                <a:cs typeface="Manrope" pitchFamily="34" charset="-120"/>
              </a:rPr>
              <a:t>Filters — and the percentage gotcha</a:t>
            </a:r>
            <a:endParaRPr lang="en-US" sz="3800" dirty="0"/>
          </a:p>
        </p:txBody>
      </p:sp>
      <p:sp>
        <p:nvSpPr>
          <p:cNvPr id="25" name="Slide Number Placeholder 0"/>
          <p:cNvSpPr>
            <a:spLocks noGrp="1"/>
          </p:cNvSpPr>
          <p:nvPr>
            <p:ph type="sldNum" sz="quarter" idx="4294967295"/>
          </p:nvPr>
        </p:nvSpPr>
        <p:spPr>
          <a:xfrm>
            <a:off x="10881360" y="6199632"/>
            <a:ext cx="667512" cy="292608"/>
          </a:xfrm>
          <a:prstGeom prst="rect">
            <a:avLst/>
          </a:prstGeom>
          <a:extLst>
            <a:ext uri="{C572A759-6A51-4108-AA02-DFA0A04FC94B}">
              <ma14:wrappingTextBoxFlag xmlns:ma14="http://schemas.microsoft.com/office/mac/drawingml/2011/main" val="0"/>
            </a:ext>
          </a:extLst>
        </p:spPr>
        <p:txBody>
          <a:bodyPr/>
          <a:lstStyle>
            <a:lvl1pPr>
              <a:defRPr sz="1000">
                <a:solidFill>
                  <a:srgbClr val="16303F"/>
                </a:solidFill>
                <a:latin typeface="Manrope"/>
                <a:ea typeface="Manrope"/>
                <a:cs typeface="Manrope"/>
              </a:defRPr>
            </a:lvl1pPr>
          </a:lstStyle>
          <a:p>
            <a:pPr algn="r"/>
            <a:fld id="{F7021451-1387-4CA6-816F-3879F97B5CBC}" type="slidenum">
              <a:rPr b="1"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2"/>
          <p:cNvSpPr/>
          <p:nvPr>
            <p:ph idx="102" type="title" hasCustomPrompt="1"/>
          </p:nvPr>
        </p:nvSpPr>
        <p:spPr>
          <a:xfrm>
            <a:off x="640080" y="2286000"/>
            <a:ext cx="10881360" cy="1371600"/>
          </a:xfrm>
          <a:prstGeom prst="rect">
            <a:avLst/>
          </a:prstGeom>
          <a:noFill/>
          <a:ln/>
        </p:spPr>
        <p:txBody>
          <a:bodyPr wrap="square" lIns="0" tIns="0" rIns="0" bIns="0" rtlCol="0"/>
          <a:lstStyle/>
          <a:p>
            <a:pPr algn="l" indent="0" marL="0">
              <a:buNone/>
            </a:pPr>
            <a:r>
              <a:rPr lang="en-US" sz="3800" b="1" dirty="0">
                <a:solidFill>
                  <a:srgbClr val="16303F"/>
                </a:solidFill>
                <a:latin typeface="Manrope" pitchFamily="34" charset="0"/>
                <a:ea typeface="Manrope" pitchFamily="34" charset="-122"/>
                <a:cs typeface="Manrope" pitchFamily="34" charset="-120"/>
              </a:rPr>
              <a:t>Variants</a:t>
            </a:r>
            <a:endParaRPr lang="en-US" sz="3800" dirty="0"/>
          </a:p>
        </p:txBody>
      </p:sp>
      <p:sp>
        <p:nvSpPr>
          <p:cNvPr id="25" name="Slide Number Placeholder 0"/>
          <p:cNvSpPr>
            <a:spLocks noGrp="1"/>
          </p:cNvSpPr>
          <p:nvPr>
            <p:ph type="sldNum" sz="quarter" idx="4294967295"/>
          </p:nvPr>
        </p:nvSpPr>
        <p:spPr>
          <a:xfrm>
            <a:off x="10881360" y="6199632"/>
            <a:ext cx="667512" cy="292608"/>
          </a:xfrm>
          <a:prstGeom prst="rect">
            <a:avLst/>
          </a:prstGeom>
          <a:extLst>
            <a:ext uri="{C572A759-6A51-4108-AA02-DFA0A04FC94B}">
              <ma14:wrappingTextBoxFlag xmlns:ma14="http://schemas.microsoft.com/office/mac/drawingml/2011/main" val="0"/>
            </a:ext>
          </a:extLst>
        </p:spPr>
        <p:txBody>
          <a:bodyPr/>
          <a:lstStyle>
            <a:lvl1pPr>
              <a:defRPr sz="1000">
                <a:solidFill>
                  <a:srgbClr val="16303F"/>
                </a:solidFill>
                <a:latin typeface="Manrope"/>
                <a:ea typeface="Manrope"/>
                <a:cs typeface="Manrope"/>
              </a:defRPr>
            </a:lvl1pPr>
          </a:lstStyle>
          <a:p>
            <a:pPr algn="r"/>
            <a:fld id="{F7021451-1387-4CA6-816F-3879F97B5CBC}" type="slidenum">
              <a:rPr b="1"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2"/>
          <p:cNvSpPr/>
          <p:nvPr>
            <p:ph idx="102" type="title" hasCustomPrompt="1"/>
          </p:nvPr>
        </p:nvSpPr>
        <p:spPr>
          <a:xfrm>
            <a:off x="640080" y="2286000"/>
            <a:ext cx="10881360" cy="1371600"/>
          </a:xfrm>
          <a:prstGeom prst="rect">
            <a:avLst/>
          </a:prstGeom>
          <a:noFill/>
          <a:ln/>
        </p:spPr>
        <p:txBody>
          <a:bodyPr wrap="square" lIns="0" tIns="0" rIns="0" bIns="0" rtlCol="0"/>
          <a:lstStyle/>
          <a:p>
            <a:pPr algn="l" indent="0" marL="0">
              <a:buNone/>
            </a:pPr>
            <a:r>
              <a:rPr lang="en-US" sz="3800" b="1" dirty="0">
                <a:solidFill>
                  <a:srgbClr val="16303F"/>
                </a:solidFill>
                <a:latin typeface="Manrope" pitchFamily="34" charset="0"/>
                <a:ea typeface="Manrope" pitchFamily="34" charset="-122"/>
                <a:cs typeface="Manrope" pitchFamily="34" charset="-120"/>
              </a:rPr>
              <a:t>Flag debt</a:t>
            </a:r>
            <a:endParaRPr lang="en-US" sz="3800" dirty="0"/>
          </a:p>
        </p:txBody>
      </p:sp>
      <p:sp>
        <p:nvSpPr>
          <p:cNvPr id="25" name="Slide Number Placeholder 0"/>
          <p:cNvSpPr>
            <a:spLocks noGrp="1"/>
          </p:cNvSpPr>
          <p:nvPr>
            <p:ph type="sldNum" sz="quarter" idx="4294967295"/>
          </p:nvPr>
        </p:nvSpPr>
        <p:spPr>
          <a:xfrm>
            <a:off x="10881360" y="6199632"/>
            <a:ext cx="667512" cy="292608"/>
          </a:xfrm>
          <a:prstGeom prst="rect">
            <a:avLst/>
          </a:prstGeom>
          <a:extLst>
            <a:ext uri="{C572A759-6A51-4108-AA02-DFA0A04FC94B}">
              <ma14:wrappingTextBoxFlag xmlns:ma14="http://schemas.microsoft.com/office/mac/drawingml/2011/main" val="0"/>
            </a:ext>
          </a:extLst>
        </p:spPr>
        <p:txBody>
          <a:bodyPr/>
          <a:lstStyle>
            <a:lvl1pPr>
              <a:defRPr sz="1000">
                <a:solidFill>
                  <a:srgbClr val="16303F"/>
                </a:solidFill>
                <a:latin typeface="Manrope"/>
                <a:ea typeface="Manrope"/>
                <a:cs typeface="Manrope"/>
              </a:defRPr>
            </a:lvl1pPr>
          </a:lstStyle>
          <a:p>
            <a:pPr algn="r"/>
            <a:fld id="{F7021451-1387-4CA6-816F-3879F97B5CBC}" type="slidenum">
              <a:rPr b="1"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2"/>
          <p:cNvSpPr/>
          <p:nvPr>
            <p:ph idx="102" type="title" hasCustomPrompt="1"/>
          </p:nvPr>
        </p:nvSpPr>
        <p:spPr>
          <a:xfrm>
            <a:off x="640080" y="2286000"/>
            <a:ext cx="10881360" cy="1371600"/>
          </a:xfrm>
          <a:prstGeom prst="rect">
            <a:avLst/>
          </a:prstGeom>
          <a:noFill/>
          <a:ln/>
        </p:spPr>
        <p:txBody>
          <a:bodyPr wrap="square" lIns="0" tIns="0" rIns="0" bIns="0" rtlCol="0"/>
          <a:lstStyle/>
          <a:p>
            <a:pPr algn="l" indent="0" marL="0">
              <a:buNone/>
            </a:pPr>
            <a:r>
              <a:rPr lang="en-US" sz="3800" b="1" dirty="0">
                <a:solidFill>
                  <a:srgbClr val="16303F"/>
                </a:solidFill>
                <a:latin typeface="Manrope" pitchFamily="34" charset="0"/>
                <a:ea typeface="Manrope" pitchFamily="34" charset="-122"/>
                <a:cs typeface="Manrope" pitchFamily="34" charset="-120"/>
              </a:rPr>
              <a:t>The honest counterargument</a:t>
            </a:r>
            <a:endParaRPr lang="en-US" sz="3800" dirty="0"/>
          </a:p>
        </p:txBody>
      </p:sp>
      <p:sp>
        <p:nvSpPr>
          <p:cNvPr id="25" name="Slide Number Placeholder 0"/>
          <p:cNvSpPr>
            <a:spLocks noGrp="1"/>
          </p:cNvSpPr>
          <p:nvPr>
            <p:ph type="sldNum" sz="quarter" idx="4294967295"/>
          </p:nvPr>
        </p:nvSpPr>
        <p:spPr>
          <a:xfrm>
            <a:off x="10881360" y="6199632"/>
            <a:ext cx="667512" cy="292608"/>
          </a:xfrm>
          <a:prstGeom prst="rect">
            <a:avLst/>
          </a:prstGeom>
          <a:extLst>
            <a:ext uri="{C572A759-6A51-4108-AA02-DFA0A04FC94B}">
              <ma14:wrappingTextBoxFlag xmlns:ma14="http://schemas.microsoft.com/office/mac/drawingml/2011/main" val="0"/>
            </a:ext>
          </a:extLst>
        </p:spPr>
        <p:txBody>
          <a:bodyPr/>
          <a:lstStyle>
            <a:lvl1pPr>
              <a:defRPr sz="1000">
                <a:solidFill>
                  <a:srgbClr val="16303F"/>
                </a:solidFill>
                <a:latin typeface="Manrope"/>
                <a:ea typeface="Manrope"/>
                <a:cs typeface="Manrope"/>
              </a:defRPr>
            </a:lvl1pPr>
          </a:lstStyle>
          <a:p>
            <a:pPr algn="r"/>
            <a:fld id="{F7021451-1387-4CA6-816F-3879F97B5CBC}" type="slidenum">
              <a:rPr b="1"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2"/>
          <p:cNvSpPr/>
          <p:nvPr>
            <p:ph idx="102" type="title" hasCustomPrompt="1"/>
          </p:nvPr>
        </p:nvSpPr>
        <p:spPr>
          <a:xfrm>
            <a:off x="640080" y="2286000"/>
            <a:ext cx="10881360" cy="1371600"/>
          </a:xfrm>
          <a:prstGeom prst="rect">
            <a:avLst/>
          </a:prstGeom>
          <a:noFill/>
          <a:ln/>
        </p:spPr>
        <p:txBody>
          <a:bodyPr wrap="square" lIns="0" tIns="0" rIns="0" bIns="0" rtlCol="0"/>
          <a:lstStyle/>
          <a:p>
            <a:pPr algn="l" indent="0" marL="0">
              <a:buNone/>
            </a:pPr>
            <a:r>
              <a:rPr lang="en-US" sz="3800" b="1" dirty="0">
                <a:solidFill>
                  <a:srgbClr val="16303F"/>
                </a:solidFill>
                <a:latin typeface="Manrope" pitchFamily="34" charset="0"/>
                <a:ea typeface="Manrope" pitchFamily="34" charset="-122"/>
                <a:cs typeface="Manrope" pitchFamily="34" charset="-120"/>
              </a:rPr>
              <a:t>Sort every setting into three buckets</a:t>
            </a:r>
            <a:endParaRPr lang="en-US" sz="3800" dirty="0"/>
          </a:p>
        </p:txBody>
      </p:sp>
      <p:sp>
        <p:nvSpPr>
          <p:cNvPr id="25" name="Slide Number Placeholder 0"/>
          <p:cNvSpPr>
            <a:spLocks noGrp="1"/>
          </p:cNvSpPr>
          <p:nvPr>
            <p:ph type="sldNum" sz="quarter" idx="4294967295"/>
          </p:nvPr>
        </p:nvSpPr>
        <p:spPr>
          <a:xfrm>
            <a:off x="10881360" y="6199632"/>
            <a:ext cx="667512" cy="292608"/>
          </a:xfrm>
          <a:prstGeom prst="rect">
            <a:avLst/>
          </a:prstGeom>
          <a:extLst>
            <a:ext uri="{C572A759-6A51-4108-AA02-DFA0A04FC94B}">
              <ma14:wrappingTextBoxFlag xmlns:ma14="http://schemas.microsoft.com/office/mac/drawingml/2011/main" val="0"/>
            </a:ext>
          </a:extLst>
        </p:spPr>
        <p:txBody>
          <a:bodyPr/>
          <a:lstStyle>
            <a:lvl1pPr>
              <a:defRPr sz="1000">
                <a:solidFill>
                  <a:srgbClr val="16303F"/>
                </a:solidFill>
                <a:latin typeface="Manrope"/>
                <a:ea typeface="Manrope"/>
                <a:cs typeface="Manrope"/>
              </a:defRPr>
            </a:lvl1pPr>
          </a:lstStyle>
          <a:p>
            <a:pPr algn="r"/>
            <a:fld id="{F7021451-1387-4CA6-816F-3879F97B5CBC}" type="slidenum">
              <a:rPr b="1" lang="en-US"/>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2"/>
          <p:cNvSpPr/>
          <p:nvPr>
            <p:ph idx="102" type="title" hasCustomPrompt="1"/>
          </p:nvPr>
        </p:nvSpPr>
        <p:spPr>
          <a:xfrm>
            <a:off x="640080" y="2286000"/>
            <a:ext cx="10881360" cy="1371600"/>
          </a:xfrm>
          <a:prstGeom prst="rect">
            <a:avLst/>
          </a:prstGeom>
          <a:noFill/>
          <a:ln/>
        </p:spPr>
        <p:txBody>
          <a:bodyPr wrap="square" lIns="0" tIns="0" rIns="0" bIns="0" rtlCol="0"/>
          <a:lstStyle/>
          <a:p>
            <a:pPr algn="l" indent="0" marL="0">
              <a:buNone/>
            </a:pPr>
            <a:r>
              <a:rPr lang="en-US" sz="3800" b="1" dirty="0">
                <a:solidFill>
                  <a:srgbClr val="16303F"/>
                </a:solidFill>
                <a:latin typeface="Manrope" pitchFamily="34" charset="0"/>
                <a:ea typeface="Manrope" pitchFamily="34" charset="-122"/>
                <a:cs typeface="Manrope" pitchFamily="34" charset="-120"/>
              </a:rPr>
              <a:t>By application shape</a:t>
            </a:r>
            <a:endParaRPr lang="en-US" sz="3800" dirty="0"/>
          </a:p>
        </p:txBody>
      </p:sp>
      <p:sp>
        <p:nvSpPr>
          <p:cNvPr id="25" name="Slide Number Placeholder 0"/>
          <p:cNvSpPr>
            <a:spLocks noGrp="1"/>
          </p:cNvSpPr>
          <p:nvPr>
            <p:ph type="sldNum" sz="quarter" idx="4294967295"/>
          </p:nvPr>
        </p:nvSpPr>
        <p:spPr>
          <a:xfrm>
            <a:off x="10881360" y="6199632"/>
            <a:ext cx="667512" cy="292608"/>
          </a:xfrm>
          <a:prstGeom prst="rect">
            <a:avLst/>
          </a:prstGeom>
          <a:extLst>
            <a:ext uri="{C572A759-6A51-4108-AA02-DFA0A04FC94B}">
              <ma14:wrappingTextBoxFlag xmlns:ma14="http://schemas.microsoft.com/office/mac/drawingml/2011/main" val="0"/>
            </a:ext>
          </a:extLst>
        </p:spPr>
        <p:txBody>
          <a:bodyPr/>
          <a:lstStyle>
            <a:lvl1pPr>
              <a:defRPr sz="1000">
                <a:solidFill>
                  <a:srgbClr val="16303F"/>
                </a:solidFill>
                <a:latin typeface="Manrope"/>
                <a:ea typeface="Manrope"/>
                <a:cs typeface="Manrope"/>
              </a:defRPr>
            </a:lvl1pPr>
          </a:lstStyle>
          <a:p>
            <a:pPr algn="r"/>
            <a:fld id="{F7021451-1387-4CA6-816F-3879F97B5CBC}" type="slidenum">
              <a:rPr b="1" lang="en-US"/>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2"/>
          <p:cNvSpPr/>
          <p:nvPr>
            <p:ph idx="102" type="title" hasCustomPrompt="1"/>
          </p:nvPr>
        </p:nvSpPr>
        <p:spPr>
          <a:xfrm>
            <a:off x="640080" y="2286000"/>
            <a:ext cx="10881360" cy="1371600"/>
          </a:xfrm>
          <a:prstGeom prst="rect">
            <a:avLst/>
          </a:prstGeom>
          <a:noFill/>
          <a:ln/>
        </p:spPr>
        <p:txBody>
          <a:bodyPr wrap="square" lIns="0" tIns="0" rIns="0" bIns="0" rtlCol="0"/>
          <a:lstStyle/>
          <a:p>
            <a:pPr algn="l" indent="0" marL="0">
              <a:buNone/>
            </a:pPr>
            <a:r>
              <a:rPr lang="en-US" sz="3800" b="1" dirty="0">
                <a:solidFill>
                  <a:srgbClr val="16303F"/>
                </a:solidFill>
                <a:latin typeface="Manrope" pitchFamily="34" charset="0"/>
                <a:ea typeface="Manrope" pitchFamily="34" charset="-122"/>
                <a:cs typeface="Manrope" pitchFamily="34" charset="-120"/>
              </a:rPr>
              <a:t>Don't do this</a:t>
            </a:r>
            <a:endParaRPr lang="en-US" sz="3800" dirty="0"/>
          </a:p>
        </p:txBody>
      </p:sp>
      <p:sp>
        <p:nvSpPr>
          <p:cNvPr id="25" name="Slide Number Placeholder 0"/>
          <p:cNvSpPr>
            <a:spLocks noGrp="1"/>
          </p:cNvSpPr>
          <p:nvPr>
            <p:ph type="sldNum" sz="quarter" idx="4294967295"/>
          </p:nvPr>
        </p:nvSpPr>
        <p:spPr>
          <a:xfrm>
            <a:off x="10881360" y="6199632"/>
            <a:ext cx="667512" cy="292608"/>
          </a:xfrm>
          <a:prstGeom prst="rect">
            <a:avLst/>
          </a:prstGeom>
          <a:extLst>
            <a:ext uri="{C572A759-6A51-4108-AA02-DFA0A04FC94B}">
              <ma14:wrappingTextBoxFlag xmlns:ma14="http://schemas.microsoft.com/office/mac/drawingml/2011/main" val="0"/>
            </a:ext>
          </a:extLst>
        </p:spPr>
        <p:txBody>
          <a:bodyPr/>
          <a:lstStyle>
            <a:lvl1pPr>
              <a:defRPr sz="1000">
                <a:solidFill>
                  <a:srgbClr val="16303F"/>
                </a:solidFill>
                <a:latin typeface="Manrope"/>
                <a:ea typeface="Manrope"/>
                <a:cs typeface="Manrope"/>
              </a:defRPr>
            </a:lvl1pPr>
          </a:lstStyle>
          <a:p>
            <a:pPr algn="r"/>
            <a:fld id="{F7021451-1387-4CA6-816F-3879F97B5CBC}" type="slidenum">
              <a:rPr b="1" lang="en-US"/>
              <a:t>50</a:t>
            </a:fld>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Text 2"/>
          <p:cNvSpPr/>
          <p:nvPr>
            <p:ph idx="102" type="title" hasCustomPrompt="1"/>
          </p:nvPr>
        </p:nvSpPr>
        <p:spPr>
          <a:xfrm>
            <a:off x="640080" y="2286000"/>
            <a:ext cx="10881360" cy="1371600"/>
          </a:xfrm>
          <a:prstGeom prst="rect">
            <a:avLst/>
          </a:prstGeom>
          <a:noFill/>
          <a:ln/>
        </p:spPr>
        <p:txBody>
          <a:bodyPr wrap="square" lIns="0" tIns="0" rIns="0" bIns="0" rtlCol="0"/>
          <a:lstStyle/>
          <a:p>
            <a:pPr algn="l" indent="0" marL="0">
              <a:buNone/>
            </a:pPr>
            <a:r>
              <a:rPr lang="en-US" sz="3800" b="1" dirty="0">
                <a:solidFill>
                  <a:srgbClr val="16303F"/>
                </a:solidFill>
                <a:latin typeface="Manrope" pitchFamily="34" charset="0"/>
                <a:ea typeface="Manrope" pitchFamily="34" charset="-122"/>
                <a:cs typeface="Manrope" pitchFamily="34" charset="-120"/>
              </a:rPr>
              <a:t>The desktop aside</a:t>
            </a:r>
            <a:endParaRPr lang="en-US" sz="3800" dirty="0"/>
          </a:p>
        </p:txBody>
      </p:sp>
      <p:sp>
        <p:nvSpPr>
          <p:cNvPr id="25" name="Slide Number Placeholder 0"/>
          <p:cNvSpPr>
            <a:spLocks noGrp="1"/>
          </p:cNvSpPr>
          <p:nvPr>
            <p:ph type="sldNum" sz="quarter" idx="4294967295"/>
          </p:nvPr>
        </p:nvSpPr>
        <p:spPr>
          <a:xfrm>
            <a:off x="10881360" y="6199632"/>
            <a:ext cx="667512" cy="292608"/>
          </a:xfrm>
          <a:prstGeom prst="rect">
            <a:avLst/>
          </a:prstGeom>
          <a:extLst>
            <a:ext uri="{C572A759-6A51-4108-AA02-DFA0A04FC94B}">
              <ma14:wrappingTextBoxFlag xmlns:ma14="http://schemas.microsoft.com/office/mac/drawingml/2011/main" val="0"/>
            </a:ext>
          </a:extLst>
        </p:spPr>
        <p:txBody>
          <a:bodyPr/>
          <a:lstStyle>
            <a:lvl1pPr>
              <a:defRPr sz="1000">
                <a:solidFill>
                  <a:srgbClr val="16303F"/>
                </a:solidFill>
                <a:latin typeface="Manrope"/>
                <a:ea typeface="Manrope"/>
                <a:cs typeface="Manrope"/>
              </a:defRPr>
            </a:lvl1pPr>
          </a:lstStyle>
          <a:p>
            <a:pPr algn="r"/>
            <a:fld id="{F7021451-1387-4CA6-816F-3879F97B5CBC}" type="slidenum">
              <a:rPr b="1" lang="en-US"/>
              <a:t>51</a:t>
            </a:fld>
            <a:endParaRPr lang="en-US"/>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spTree>
      <p:nvGrpSpPr>
        <p:cNvPr id="1" name=""/>
        <p:cNvGrpSpPr/>
        <p:nvPr/>
      </p:nvGrpSpPr>
      <p:grpSpPr>
        <a:xfrm>
          <a:off x="0" y="0"/>
          <a:ext cx="0" cy="0"/>
          <a:chOff x="0" y="0"/>
          <a:chExt cx="0" cy="0"/>
        </a:xfrm>
      </p:grpSpPr>
      <p:sp>
        <p:nvSpPr>
          <p:cNvPr id="2" name="Text 2"/>
          <p:cNvSpPr/>
          <p:nvPr>
            <p:ph idx="102" type="title" hasCustomPrompt="1"/>
          </p:nvPr>
        </p:nvSpPr>
        <p:spPr>
          <a:xfrm>
            <a:off x="640080" y="2286000"/>
            <a:ext cx="10881360" cy="1371600"/>
          </a:xfrm>
          <a:prstGeom prst="rect">
            <a:avLst/>
          </a:prstGeom>
          <a:noFill/>
          <a:ln/>
        </p:spPr>
        <p:txBody>
          <a:bodyPr wrap="square" lIns="0" tIns="0" rIns="0" bIns="0" rtlCol="0"/>
          <a:lstStyle/>
          <a:p>
            <a:pPr algn="l" indent="0" marL="0">
              <a:buNone/>
            </a:pPr>
            <a:r>
              <a:rPr lang="en-US" sz="3800" b="1" dirty="0">
                <a:solidFill>
                  <a:srgbClr val="16303F"/>
                </a:solidFill>
                <a:latin typeface="Manrope" pitchFamily="34" charset="0"/>
                <a:ea typeface="Manrope" pitchFamily="34" charset="-122"/>
                <a:cs typeface="Manrope" pitchFamily="34" charset="-120"/>
              </a:rPr>
              <a:t>What changed in .NET 10</a:t>
            </a:r>
            <a:endParaRPr lang="en-US" sz="3800" dirty="0"/>
          </a:p>
        </p:txBody>
      </p:sp>
      <p:sp>
        <p:nvSpPr>
          <p:cNvPr id="25" name="Slide Number Placeholder 0"/>
          <p:cNvSpPr>
            <a:spLocks noGrp="1"/>
          </p:cNvSpPr>
          <p:nvPr>
            <p:ph type="sldNum" sz="quarter" idx="4294967295"/>
          </p:nvPr>
        </p:nvSpPr>
        <p:spPr>
          <a:xfrm>
            <a:off x="10881360" y="6199632"/>
            <a:ext cx="667512" cy="292608"/>
          </a:xfrm>
          <a:prstGeom prst="rect">
            <a:avLst/>
          </a:prstGeom>
          <a:extLst>
            <a:ext uri="{C572A759-6A51-4108-AA02-DFA0A04FC94B}">
              <ma14:wrappingTextBoxFlag xmlns:ma14="http://schemas.microsoft.com/office/mac/drawingml/2011/main" val="0"/>
            </a:ext>
          </a:extLst>
        </p:spPr>
        <p:txBody>
          <a:bodyPr/>
          <a:lstStyle>
            <a:lvl1pPr>
              <a:defRPr sz="1000">
                <a:solidFill>
                  <a:srgbClr val="16303F"/>
                </a:solidFill>
                <a:latin typeface="Manrope"/>
                <a:ea typeface="Manrope"/>
                <a:cs typeface="Manrope"/>
              </a:defRPr>
            </a:lvl1pPr>
          </a:lstStyle>
          <a:p>
            <a:pPr algn="r"/>
            <a:fld id="{F7021451-1387-4CA6-816F-3879F97B5CBC}" type="slidenum">
              <a:rPr b="1" lang="en-US"/>
              <a:t>52</a:t>
            </a:fld>
            <a:endParaRPr lang="en-US"/>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spTree>
      <p:nvGrpSpPr>
        <p:cNvPr id="1" name=""/>
        <p:cNvGrpSpPr/>
        <p:nvPr/>
      </p:nvGrpSpPr>
      <p:grpSpPr>
        <a:xfrm>
          <a:off x="0" y="0"/>
          <a:ext cx="0" cy="0"/>
          <a:chOff x="0" y="0"/>
          <a:chExt cx="0" cy="0"/>
        </a:xfrm>
      </p:grpSpPr>
      <p:sp>
        <p:nvSpPr>
          <p:cNvPr id="2" name="Text 2"/>
          <p:cNvSpPr/>
          <p:nvPr>
            <p:ph idx="102" type="body" hasCustomPrompt="1"/>
          </p:nvPr>
        </p:nvSpPr>
        <p:spPr>
          <a:xfrm>
            <a:off x="640080" y="2331720"/>
            <a:ext cx="10881360" cy="365760"/>
          </a:xfrm>
          <a:prstGeom prst="rect">
            <a:avLst/>
          </a:prstGeom>
          <a:noFill/>
          <a:ln/>
        </p:spPr>
        <p:txBody>
          <a:bodyPr wrap="square" lIns="0" tIns="0" rIns="0" bIns="0" rtlCol="0"/>
          <a:lstStyle/>
          <a:p>
            <a:pPr indent="0" marL="0">
              <a:buNone/>
            </a:pPr>
            <a:endParaRPr lang="en-US" sz="1400" dirty="0"/>
          </a:p>
        </p:txBody>
      </p:sp>
      <p:sp>
        <p:nvSpPr>
          <p:cNvPr id="3" name="Text 2"/>
          <p:cNvSpPr/>
          <p:nvPr>
            <p:ph idx="103" type="title" hasCustomPrompt="1"/>
          </p:nvPr>
        </p:nvSpPr>
        <p:spPr>
          <a:xfrm>
            <a:off x="640080" y="3017520"/>
            <a:ext cx="10881360" cy="1371600"/>
          </a:xfrm>
          <a:prstGeom prst="rect">
            <a:avLst/>
          </a:prstGeom>
          <a:noFill/>
          <a:ln/>
        </p:spPr>
        <p:txBody>
          <a:bodyPr wrap="square" lIns="0" tIns="0" rIns="0" bIns="0" rtlCol="0"/>
          <a:lstStyle/>
          <a:p>
            <a:pPr algn="l" indent="0" marL="0">
              <a:buNone/>
            </a:pPr>
            <a:r>
              <a:rPr lang="en-US" sz="4400" b="1" dirty="0">
                <a:solidFill>
                  <a:srgbClr val="FFFFFF"/>
                </a:solidFill>
                <a:latin typeface="Manrope" pitchFamily="34" charset="0"/>
                <a:ea typeface="Manrope" pitchFamily="34" charset="-122"/>
                <a:cs typeface="Manrope" pitchFamily="34" charset="-120"/>
              </a:rPr>
              <a:t>Questions</a:t>
            </a:r>
            <a:endParaRPr lang="en-US" sz="4400" dirty="0"/>
          </a:p>
        </p:txBody>
      </p:sp>
      <p:sp>
        <p:nvSpPr>
          <p:cNvPr id="25" name="Slide Number Placeholder 0"/>
          <p:cNvSpPr>
            <a:spLocks noGrp="1"/>
          </p:cNvSpPr>
          <p:nvPr>
            <p:ph type="sldNum" sz="quarter" idx="4294967295"/>
          </p:nvPr>
        </p:nvSpPr>
        <p:spPr>
          <a:xfrm>
            <a:off x="10881360" y="6199632"/>
            <a:ext cx="667512" cy="292608"/>
          </a:xfrm>
          <a:prstGeom prst="rect">
            <a:avLst/>
          </a:prstGeom>
          <a:extLst>
            <a:ext uri="{C572A759-6A51-4108-AA02-DFA0A04FC94B}">
              <ma14:wrappingTextBoxFlag xmlns:ma14="http://schemas.microsoft.com/office/mac/drawingml/2011/main" val="0"/>
            </a:ext>
          </a:extLst>
        </p:spPr>
        <p:txBody>
          <a:bodyPr/>
          <a:lstStyle>
            <a:lvl1pPr>
              <a:defRPr sz="1000">
                <a:solidFill>
                  <a:srgbClr val="F4C233"/>
                </a:solidFill>
                <a:latin typeface="Manrope"/>
                <a:ea typeface="Manrope"/>
                <a:cs typeface="Manrope"/>
              </a:defRPr>
            </a:lvl1pPr>
          </a:lstStyle>
          <a:p>
            <a:pPr algn="r"/>
            <a:fld id="{F7021451-1387-4CA6-816F-3879F97B5CBC}" type="slidenum">
              <a:rPr b="1" lang="en-US"/>
              <a:t>53</a:t>
            </a:fld>
            <a:endParaRPr lang="en-US"/>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spTree>
      <p:nvGrpSpPr>
        <p:cNvPr id="1" name=""/>
        <p:cNvGrpSpPr/>
        <p:nvPr/>
      </p:nvGrpSpPr>
      <p:grpSpPr>
        <a:xfrm>
          <a:off x="0" y="0"/>
          <a:ext cx="0" cy="0"/>
          <a:chOff x="0" y="0"/>
          <a:chExt cx="0" cy="0"/>
        </a:xfrm>
      </p:grpSpPr>
      <p:sp>
        <p:nvSpPr>
          <p:cNvPr id="2" name="Text 2"/>
          <p:cNvSpPr/>
          <p:nvPr>
            <p:ph idx="104" type="title" hasCustomPrompt="1"/>
          </p:nvPr>
        </p:nvSpPr>
        <p:spPr>
          <a:xfrm>
            <a:off x="640080" y="2651760"/>
            <a:ext cx="6583680" cy="1737360"/>
          </a:xfrm>
          <a:prstGeom prst="rect">
            <a:avLst/>
          </a:prstGeom>
          <a:noFill/>
          <a:ln/>
        </p:spPr>
        <p:txBody>
          <a:bodyPr wrap="square" lIns="0" tIns="0" rIns="0" bIns="0" rtlCol="0"/>
          <a:lstStyle/>
          <a:p>
            <a:pPr algn="l" indent="0" marL="0">
              <a:buNone/>
            </a:pPr>
            <a:r>
              <a:rPr lang="en-US" sz="4000" b="1" dirty="0">
                <a:solidFill>
                  <a:srgbClr val="FFFFFF"/>
                </a:solidFill>
                <a:latin typeface="Manrope" pitchFamily="34" charset="0"/>
                <a:ea typeface="Manrope" pitchFamily="34" charset="-122"/>
                <a:cs typeface="Manrope" pitchFamily="34" charset="-120"/>
              </a:rPr>
              <a:t>Let's keep talking.</a:t>
            </a:r>
            <a:endParaRPr lang="en-US" sz="4000" dirty="0"/>
          </a:p>
        </p:txBody>
      </p:sp>
      <p:sp>
        <p:nvSpPr>
          <p:cNvPr id="3" name="Text 2"/>
          <p:cNvSpPr/>
          <p:nvPr>
            <p:ph idx="105" type="body" hasCustomPrompt="1"/>
          </p:nvPr>
        </p:nvSpPr>
        <p:spPr>
          <a:xfrm>
            <a:off x="640080" y="4343400"/>
            <a:ext cx="6583680" cy="1371600"/>
          </a:xfrm>
          <a:prstGeom prst="rect">
            <a:avLst/>
          </a:prstGeom>
          <a:noFill/>
          <a:ln/>
        </p:spPr>
        <p:txBody>
          <a:bodyPr wrap="square" lIns="0" tIns="0" rIns="0" bIns="0" rtlCol="0"/>
          <a:lstStyle/>
          <a:p>
            <a:pPr indent="0" marL="0">
              <a:spcAft>
                <a:spcPts val="800"/>
              </a:spcAft>
              <a:buNone/>
            </a:pPr>
            <a:r>
              <a:rPr lang="en-US" sz="1700" b="1" dirty="0">
                <a:solidFill>
                  <a:srgbClr val="FFFFFF"/>
                </a:solidFill>
                <a:latin typeface="Manrope" pitchFamily="34" charset="0"/>
                <a:ea typeface="Manrope" pitchFamily="34" charset="-122"/>
                <a:cs typeface="Manrope" pitchFamily="34" charset="-120"/>
              </a:rPr>
              <a:t>consultwithgriff.com</a:t>
            </a:r>
            <a:endParaRPr lang="en-US" sz="1500" dirty="0"/>
          </a:p>
          <a:p>
            <a:pPr marL="342900" indent="-342900">
              <a:spcAft>
                <a:spcPts val="800"/>
              </a:spcAft>
              <a:buSzPct val="100000"/>
              <a:buChar char="▪"/>
            </a:pPr>
            <a:r>
              <a:rPr lang="en-US" sz="1500" dirty="0">
                <a:solidFill>
                  <a:srgbClr val="F4C233"/>
                </a:solidFill>
                <a:latin typeface="Manrope" pitchFamily="34" charset="0"/>
                <a:ea typeface="Manrope" pitchFamily="34" charset="-122"/>
                <a:cs typeface="Manrope" pitchFamily="34" charset="-120"/>
              </a:rPr>
              <a:t>github.com/1kevgriff — slides and demos</a:t>
            </a:r>
            <a:endParaRPr lang="en-US" sz="1500" dirty="0"/>
          </a:p>
          <a:p>
            <a:pPr marL="342900" indent="-342900">
              <a:spcAft>
                <a:spcPts val="800"/>
              </a:spcAft>
              <a:buSzPct val="100000"/>
              <a:buChar char="▪"/>
            </a:pPr>
            <a:r>
              <a:rPr lang="en-US" sz="1500" dirty="0">
                <a:solidFill>
                  <a:srgbClr val="F4C233"/>
                </a:solidFill>
                <a:latin typeface="Manrope" pitchFamily="34" charset="0"/>
                <a:ea typeface="Manrope" pitchFamily="34" charset="-122"/>
                <a:cs typeface="Manrope" pitchFamily="34" charset="-120"/>
              </a:rPr>
              <a:t>@1kevgriff  ·  @consultwithgriff.com</a:t>
            </a:r>
            <a:endParaRPr lang="en-US" sz="1500" dirty="0"/>
          </a:p>
          <a:p>
            <a:pPr marL="342900" indent="-342900">
              <a:spcAft>
                <a:spcPts val="800"/>
              </a:spcAft>
              <a:buSzPct val="100000"/>
              <a:buChar char="▪"/>
            </a:pPr>
            <a:r>
              <a:rPr lang="en-US" sz="1500" dirty="0">
                <a:solidFill>
                  <a:srgbClr val="F4C233"/>
                </a:solidFill>
                <a:latin typeface="Manrope" pitchFamily="34" charset="0"/>
                <a:ea typeface="Manrope" pitchFamily="34" charset="-122"/>
                <a:cs typeface="Manrope" pitchFamily="34" charset="-120"/>
              </a:rPr>
              <a:t>linkedin.com/in/1kevgriff</a:t>
            </a:r>
            <a:endParaRPr lang="en-US" sz="1500" dirty="0"/>
          </a:p>
          <a:p>
            <a:pPr marL="342900" indent="-342900">
              <a:spcAft>
                <a:spcPts val="800"/>
              </a:spcAft>
              <a:buSzPct val="100000"/>
              <a:buChar char="▪"/>
            </a:pPr>
            <a:r>
              <a:rPr lang="en-US" sz="1500" dirty="0">
                <a:solidFill>
                  <a:srgbClr val="F4C233"/>
                </a:solidFill>
                <a:latin typeface="Manrope" pitchFamily="34" charset="0"/>
                <a:ea typeface="Manrope" pitchFamily="34" charset="-122"/>
                <a:cs typeface="Manrope" pitchFamily="34" charset="-120"/>
              </a:rPr>
              <a:t>youtube.com/@consultwithgriff</a:t>
            </a:r>
            <a:endParaRPr lang="en-US" sz="1500" dirty="0"/>
          </a:p>
        </p:txBody>
      </p:sp>
      <p:sp>
        <p:nvSpPr>
          <p:cNvPr id="5" name="Text 2"/>
          <p:cNvSpPr/>
          <p:nvPr>
            <p:ph idx="103" type="body" hasCustomPrompt="1"/>
          </p:nvPr>
        </p:nvSpPr>
        <p:spPr>
          <a:xfrm>
            <a:off x="640080" y="1938528"/>
            <a:ext cx="6583680" cy="365760"/>
          </a:xfrm>
          <a:prstGeom prst="rect">
            <a:avLst/>
          </a:prstGeom>
          <a:noFill/>
          <a:ln/>
        </p:spPr>
        <p:txBody>
          <a:bodyPr wrap="square" lIns="0" tIns="0" rIns="0" bIns="0" rtlCol="0"/>
          <a:lstStyle/>
          <a:p>
            <a:pPr indent="0" marL="0">
              <a:buNone/>
            </a:pPr>
            <a:endParaRPr lang="en-US" sz="1400" dirty="0"/>
          </a:p>
        </p:txBody>
      </p:sp>
      <p:sp>
        <p:nvSpPr>
          <p:cNvPr id="6" name="Text 2"/>
          <p:cNvSpPr/>
          <p:nvPr>
            <p:ph idx="106" type="body" hasCustomPrompt="1"/>
          </p:nvPr>
        </p:nvSpPr>
        <p:spPr>
          <a:xfrm>
            <a:off x="640080" y="5852160"/>
            <a:ext cx="6583680" cy="365760"/>
          </a:xfrm>
          <a:prstGeom prst="rect">
            <a:avLst/>
          </a:prstGeom>
          <a:noFill/>
          <a:ln/>
        </p:spPr>
        <p:txBody>
          <a:bodyPr wrap="square" lIns="0" tIns="0" rIns="0" bIns="0" rtlCol="0"/>
          <a:lstStyle/>
          <a:p>
            <a:pPr indent="0" marL="0">
              <a:buNone/>
            </a:pP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54</Slides>
  <Notes>54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54</vt:i4>
      </vt:variant>
    </vt:vector>
  </HeadingPairs>
  <TitlesOfParts>
    <vt:vector size="5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Modern .NET Configuration</dc:title>
  <dc:subject>PptxGenJS Presentation</dc:subject>
  <dc:creator>Kevin Griffin</dc:creator>
  <cp:lastModifiedBy>Kevin Griffin</cp:lastModifiedBy>
  <cp:revision>1</cp:revision>
  <dcterms:created xsi:type="dcterms:W3CDTF">2026-09-24T13:56:08Z</dcterms:created>
  <dcterms:modified xsi:type="dcterms:W3CDTF">2026-09-24T13:56:08Z</dcterms:modified>
</cp:coreProperties>
</file>